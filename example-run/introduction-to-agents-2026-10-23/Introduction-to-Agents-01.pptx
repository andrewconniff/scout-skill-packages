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147479705" r:id="rId2"/>
    <p:sldId id="2147481832" r:id="rId3"/>
    <p:sldId id="2147481833" r:id="rId4"/>
    <p:sldId id="2147481834" r:id="rId5"/>
    <p:sldId id="2147481835" r:id="rId6"/>
    <p:sldId id="2147481836" r:id="rId7"/>
    <p:sldId id="2147481837" r:id="rId8"/>
    <p:sldId id="2147481838" r:id="rId9"/>
    <p:sldId id="2147481839" r:id="rId10"/>
    <p:sldId id="2147481840" r:id="rId11"/>
    <p:sldId id="2147481841" r:id="rId12"/>
    <p:sldId id="2147481842" r:id="rId13"/>
    <p:sldId id="2147481844" r:id="rId14"/>
    <p:sldId id="2147481846" r:id="rId15"/>
    <p:sldId id="2147481847" r:id="rId16"/>
    <p:sldId id="2147481849" r:id="rId17"/>
    <p:sldId id="2147481850" r:id="rId18"/>
    <p:sldId id="2147481853" r:id="rId19"/>
    <p:sldId id="2147481854" r:id="rId20"/>
    <p:sldId id="2147481855" r:id="rId21"/>
    <p:sldId id="2147481856" r:id="rId22"/>
    <p:sldId id="2147481857" r:id="rId23"/>
    <p:sldId id="2147481858" r:id="rId24"/>
    <p:sldId id="2147481859" r:id="rId25"/>
    <p:sldId id="2147481860" r:id="rId26"/>
    <p:sldId id="2147481861" r:id="rId27"/>
    <p:sldId id="2147481862" r:id="rId28"/>
    <p:sldId id="2147481863" r:id="rId29"/>
    <p:sldId id="2147481864" r:id="rId30"/>
    <p:sldId id="2147481868" r:id="rId31"/>
    <p:sldId id="2147481869" r:id="rId32"/>
    <p:sldId id="2147481870" r:id="rId33"/>
    <p:sldId id="2147481871" r:id="rId34"/>
    <p:sldId id="2147481872" r:id="rId35"/>
    <p:sldId id="2147481873" r:id="rId36"/>
    <p:sldId id="2147481874" r:id="rId37"/>
    <p:sldId id="2147481876" r:id="rId38"/>
    <p:sldId id="2147481877" r:id="rId39"/>
    <p:sldId id="2147481878" r:id="rId40"/>
    <p:sldId id="2147481879" r:id="rId41"/>
    <p:sldId id="2147481880" r:id="rId42"/>
    <p:sldId id="2147481881" r:id="rId43"/>
    <p:sldId id="2147481882" r:id="rId44"/>
    <p:sldId id="2147481883" r:id="rId45"/>
    <p:sldId id="2147481884" r:id="rId46"/>
    <p:sldId id="2147481885" r:id="rId47"/>
    <p:sldId id="2147481886" r:id="rId48"/>
    <p:sldId id="2147481887" r:id="rId49"/>
    <p:sldId id="2147481888" r:id="rId50"/>
    <p:sldId id="214748188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453" autoAdjust="0"/>
  </p:normalViewPr>
  <p:slideViewPr>
    <p:cSldViewPr snapToGrid="0">
      <p:cViewPr varScale="1">
        <p:scale>
          <a:sx n="68" d="100"/>
          <a:sy n="68" d="100"/>
        </p:scale>
        <p:origin x="9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Conniff" userId="d41efbc9-6509-40d8-95d2-1c7e97e10586" providerId="ADAL" clId="{3D9D6D3A-180A-4CFB-8ED6-54A6BA3A7F29}"/>
    <pc:docChg chg="modSld">
      <pc:chgData name="Andrew Conniff" userId="d41efbc9-6509-40d8-95d2-1c7e97e10586" providerId="ADAL" clId="{3D9D6D3A-180A-4CFB-8ED6-54A6BA3A7F29}" dt="2026-10-23T19:18:00.819" v="1" actId="1076"/>
      <pc:docMkLst>
        <pc:docMk/>
      </pc:docMkLst>
      <pc:sldChg chg="modSp mod">
        <pc:chgData name="Andrew Conniff" userId="d41efbc9-6509-40d8-95d2-1c7e97e10586" providerId="ADAL" clId="{3D9D6D3A-180A-4CFB-8ED6-54A6BA3A7F29}" dt="2026-10-23T19:17:38.702" v="0" actId="1076"/>
        <pc:sldMkLst>
          <pc:docMk/>
          <pc:sldMk cId="3951485585" sldId="2147481860"/>
        </pc:sldMkLst>
        <pc:spChg chg="mod">
          <ac:chgData name="Andrew Conniff" userId="d41efbc9-6509-40d8-95d2-1c7e97e10586" providerId="ADAL" clId="{3D9D6D3A-180A-4CFB-8ED6-54A6BA3A7F29}" dt="2026-10-23T19:17:38.702" v="0" actId="1076"/>
          <ac:spMkLst>
            <pc:docMk/>
            <pc:sldMk cId="3951485585" sldId="2147481860"/>
            <ac:spMk id="5" creationId="{00000000-0000-0000-0000-000000000000}"/>
          </ac:spMkLst>
        </pc:spChg>
      </pc:sldChg>
      <pc:sldChg chg="modSp mod">
        <pc:chgData name="Andrew Conniff" userId="d41efbc9-6509-40d8-95d2-1c7e97e10586" providerId="ADAL" clId="{3D9D6D3A-180A-4CFB-8ED6-54A6BA3A7F29}" dt="2026-10-23T19:18:00.819" v="1" actId="1076"/>
        <pc:sldMkLst>
          <pc:docMk/>
          <pc:sldMk cId="3934245870" sldId="2147481887"/>
        </pc:sldMkLst>
        <pc:spChg chg="mod">
          <ac:chgData name="Andrew Conniff" userId="d41efbc9-6509-40d8-95d2-1c7e97e10586" providerId="ADAL" clId="{3D9D6D3A-180A-4CFB-8ED6-54A6BA3A7F29}" dt="2026-10-23T19:18:00.819" v="1" actId="1076"/>
          <ac:spMkLst>
            <pc:docMk/>
            <pc:sldMk cId="3934245870" sldId="2147481887"/>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B23148-049D-4310-A43B-5D5E3675B731}"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01D92-753C-4E33-AD0D-AB9F03EB9A7A}" type="slidenum">
              <a:rPr lang="en-US" smtClean="0"/>
              <a:t>‹#›</a:t>
            </a:fld>
            <a:endParaRPr lang="en-US"/>
          </a:p>
        </p:txBody>
      </p:sp>
    </p:spTree>
    <p:extLst>
      <p:ext uri="{BB962C8B-B14F-4D97-AF65-F5344CB8AC3E}">
        <p14:creationId xmlns:p14="http://schemas.microsoft.com/office/powerpoint/2010/main" val="1029472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Talk track: </a:t>
            </a:r>
            <a:r>
              <a:t>Fabrikam has one support agent for billing, technical support, and account management. Different teams own each area, updates collide, and some requests reach the wrong capability. Use that scenario to decide whether multiple agents are justified, how they coordinate, and which implementation options the selected harness supports.</a:t>
            </a:r>
            <a:endParaRPr lang="en-US"/>
          </a:p>
          <a:p>
            <a:r>
              <a:rPr b="1"/>
              <a:t>Instructor caveat: </a:t>
            </a:r>
            <a:r>
              <a:t>This shared module covers both the standard harness and the GitHub Copilot harness. Call out harness-specific capabilities explicitly; do not carry standard-harness options such as child agents or A2A into the GitHub Copilot harness.</a:t>
            </a:r>
          </a:p>
        </p:txBody>
      </p:sp>
    </p:spTree>
    <p:extLst>
      <p:ext uri="{BB962C8B-B14F-4D97-AF65-F5344CB8AC3E}">
        <p14:creationId xmlns:p14="http://schemas.microsoft.com/office/powerpoint/2010/main" val="3478051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The first design decision is whether a separate agent has a structural reason to exist. A behavior problem alone often calls for clearer descriptions, instructions, tools, or knowledge first.</a:t>
            </a:r>
            <a:endParaRPr lang="en-US"/>
          </a:p>
        </p:txBody>
      </p:sp>
    </p:spTree>
    <p:extLst>
      <p:ext uri="{BB962C8B-B14F-4D97-AF65-F5344CB8AC3E}">
        <p14:creationId xmlns:p14="http://schemas.microsoft.com/office/powerpoint/2010/main" val="281422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Talk track: </a:t>
            </a:r>
            <a:r>
              <a:t>A connected agent is a separately published agent. The primary agent considers the connected agent's name and description, the user's message, conversation context, and its own instructions before delegating.</a:t>
            </a:r>
            <a:endParaRPr lang="en-US"/>
          </a:p>
        </p:txBody>
      </p:sp>
    </p:spTree>
    <p:extLst>
      <p:ext uri="{BB962C8B-B14F-4D97-AF65-F5344CB8AC3E}">
        <p14:creationId xmlns:p14="http://schemas.microsoft.com/office/powerpoint/2010/main" val="3835818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confirm current harness availability before recommending a design.</a:t>
            </a:r>
            <a:endParaRPr lang="en-US"/>
          </a:p>
        </p:txBody>
      </p:sp>
    </p:spTree>
    <p:extLst>
      <p:ext uri="{BB962C8B-B14F-4D97-AF65-F5344CB8AC3E}">
        <p14:creationId xmlns:p14="http://schemas.microsoft.com/office/powerpoint/2010/main" val="4252517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Use class-wide discussion or small group discussion followed by share-out. Require each group to name the boundary they would accept as evidence. If the reason is only poor routing, ask what smaller change they would test first.</a:t>
            </a:r>
            <a:endParaRPr lang="en-US"/>
          </a:p>
        </p:txBody>
      </p:sp>
    </p:spTree>
    <p:extLst>
      <p:ext uri="{BB962C8B-B14F-4D97-AF65-F5344CB8AC3E}">
        <p14:creationId xmlns:p14="http://schemas.microsoft.com/office/powerpoint/2010/main" val="4247601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The coordination pattern depends on how much of the process path is known before runtime. The pattern controls predictability, testing, and governance.</a:t>
            </a:r>
            <a:endParaRPr lang="en-US"/>
          </a:p>
        </p:txBody>
      </p:sp>
    </p:spTree>
    <p:extLst>
      <p:ext uri="{BB962C8B-B14F-4D97-AF65-F5344CB8AC3E}">
        <p14:creationId xmlns:p14="http://schemas.microsoft.com/office/powerpoint/2010/main" val="1602399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Talk track: </a:t>
            </a:r>
            <a:r>
              <a:t>Avoid treating these patterns as mutually exclusive for an entire solution. One process can call workflows as tools and call agents from workflows.</a:t>
            </a:r>
            <a:endParaRPr lang="en-US"/>
          </a:p>
        </p:txBody>
      </p:sp>
    </p:spTree>
    <p:extLst>
      <p:ext uri="{BB962C8B-B14F-4D97-AF65-F5344CB8AC3E}">
        <p14:creationId xmlns:p14="http://schemas.microsoft.com/office/powerpoint/2010/main" val="1822425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Ask learners to classify a scenario by the first row before they read the rest of the table. The known path is the tie-breaker.</a:t>
            </a:r>
            <a:endParaRPr lang="en-US"/>
          </a:p>
        </p:txBody>
      </p:sp>
    </p:spTree>
    <p:extLst>
      <p:ext uri="{BB962C8B-B14F-4D97-AF65-F5344CB8AC3E}">
        <p14:creationId xmlns:p14="http://schemas.microsoft.com/office/powerpoint/2010/main" val="2258126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callout: </a:t>
            </a:r>
            <a:r>
              <a:t>Governance applies to either pattern. If the action affects people, money, compliance, or external systems, ask where approval and audit evidence belong.</a:t>
            </a:r>
            <a:endParaRPr lang="en-US"/>
          </a:p>
        </p:txBody>
      </p:sp>
    </p:spTree>
    <p:extLst>
      <p:ext uri="{BB962C8B-B14F-4D97-AF65-F5344CB8AC3E}">
        <p14:creationId xmlns:p14="http://schemas.microsoft.com/office/powerpoint/2010/main" val="1584739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The design questions are shared, but the implementation building blocks differ by harness. A common error is carrying a standard harness option into a GitHub Copilot harness design.</a:t>
            </a:r>
            <a:endParaRPr lang="en-US"/>
          </a:p>
        </p:txBody>
      </p:sp>
    </p:spTree>
    <p:extLst>
      <p:ext uri="{BB962C8B-B14F-4D97-AF65-F5344CB8AC3E}">
        <p14:creationId xmlns:p14="http://schemas.microsoft.com/office/powerpoint/2010/main" val="3849798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connections to Microsoft Foundry agents, Fabric data agents, and Microsoft 365 Agents SDK agents are preview on the standard harness and aren't meant for production use. Fabric data agents also have documented limitations for topic Redirect and Microsoft 365 Copilot deployment.</a:t>
            </a:r>
            <a:endParaRPr lang="en-US"/>
          </a:p>
        </p:txBody>
      </p:sp>
    </p:spTree>
    <p:extLst>
      <p:ext uri="{BB962C8B-B14F-4D97-AF65-F5344CB8AC3E}">
        <p14:creationId xmlns:p14="http://schemas.microsoft.com/office/powerpoint/2010/main" val="2790080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Talk track: </a:t>
            </a:r>
            <a:r>
              <a:t>The matching logic starts with ownership and lifecycle, then checks what the selected harness can implement. When the harness lacks a connection type, revise the design or choose a supported harness; don't imply undocumented support.</a:t>
            </a:r>
            <a:endParaRPr lang="en-US"/>
          </a:p>
        </p:txBody>
      </p:sp>
    </p:spTree>
    <p:extLst>
      <p:ext uri="{BB962C8B-B14F-4D97-AF65-F5344CB8AC3E}">
        <p14:creationId xmlns:p14="http://schemas.microsoft.com/office/powerpoint/2010/main" val="1392046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Q1 correct answer: </a:t>
            </a:r>
            <a:r>
              <a:t>Independent team ownership across three business domains means each team can build, update, and release their agent component without affecting the others.</a:t>
            </a:r>
            <a:endParaRPr lang="en-US"/>
          </a:p>
          <a:p>
            <a:r>
              <a:rPr b="1"/>
              <a:t>Q1 choice 1 explanation: </a:t>
            </a:r>
            <a:r>
              <a:t>Independent team ownership across distinct organizational boundaries is a structural reason to separate agents. Each team can build, update, and release its own agent without coupling to the others.</a:t>
            </a:r>
          </a:p>
          <a:p>
            <a:r>
              <a:rPr b="1"/>
              <a:t>Q1 choice 2 explanation: </a:t>
            </a:r>
            <a:r>
              <a:t>Different terminology across domains doesn't by itself require separate agents. A single agent's instructions and knowledge can cover several domains. The structural reason in this scenario is that each team needs to evolve its component independently.</a:t>
            </a:r>
          </a:p>
          <a:p>
            <a:r>
              <a:rPr b="1"/>
              <a:t>Q1 choice 3 explanation: </a:t>
            </a:r>
            <a:r>
              <a:t>Relative complexity between components doesn't necessarily justify multiple agents. The key driver for multi-agent design is a structural boundary, such as independent team ownership or reuse by other agents.</a:t>
            </a:r>
          </a:p>
        </p:txBody>
      </p:sp>
    </p:spTree>
    <p:extLst>
      <p:ext uri="{BB962C8B-B14F-4D97-AF65-F5344CB8AC3E}">
        <p14:creationId xmlns:p14="http://schemas.microsoft.com/office/powerpoint/2010/main" val="2557586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Q2 correct answer: </a:t>
            </a:r>
            <a:r>
              <a:t>Keep the procedure in the agent and review its descriptions and instructions to make them more distinct.</a:t>
            </a:r>
            <a:endParaRPr lang="en-US"/>
          </a:p>
          <a:p>
            <a:r>
              <a:rPr b="1"/>
              <a:t>Q2 choice 1 explanation: </a:t>
            </a:r>
            <a:r>
              <a:t>A separate agent adds an orchestration hop that can increase latency, and it adds another agent to test, manage, and govern. The same team owns the procedure and nothing reuses it, so no structural boundary justifies that cost.</a:t>
            </a:r>
          </a:p>
          <a:p>
            <a:r>
              <a:rPr b="1"/>
              <a:t>Q2 choice 2 explanation: </a:t>
            </a:r>
            <a:r>
              <a:t>Coordination patterns describe how several agents work together. With one team, one small procedure, and no reuse, the solution doesn't need a second agent to coordinate, so a pattern adds complexity without solving the problem.</a:t>
            </a:r>
          </a:p>
          <a:p>
            <a:r>
              <a:rPr b="1"/>
              <a:t>Q2 choice 3 explanation: </a:t>
            </a:r>
            <a:r>
              <a:t>Start with the smallest change that makes the agent reliable. Reviewing descriptions and instructions, or adding a tool to the same agent, addresses routing problems without the latency and governance costs of another agent.</a:t>
            </a:r>
          </a:p>
        </p:txBody>
      </p:sp>
    </p:spTree>
    <p:extLst>
      <p:ext uri="{BB962C8B-B14F-4D97-AF65-F5344CB8AC3E}">
        <p14:creationId xmlns:p14="http://schemas.microsoft.com/office/powerpoint/2010/main" val="4161701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Q3 correct answer: </a:t>
            </a:r>
            <a:r>
              <a:t>Workflow-oriented, because the process is deterministic with strict step ordering and a human approval gate.</a:t>
            </a:r>
            <a:endParaRPr lang="en-US"/>
          </a:p>
          <a:p>
            <a:r>
              <a:rPr b="1"/>
              <a:t>Q3 choice 1 explanation: </a:t>
            </a:r>
            <a:r>
              <a:t>Runtime routing is the defining characteristic of the orchestrator/subagent pattern, and it adds variability to a process that needs a fixed sequence. This procurement process requires every step to run in a defined order.</a:t>
            </a:r>
          </a:p>
          <a:p>
            <a:r>
              <a:rPr b="1"/>
              <a:t>Q3 choice 2 explanation: </a:t>
            </a:r>
            <a:r>
              <a:t>In the workflow-oriented pattern, a workflow engine calls agents as steps in a predefined process. It fits processes that require strict ordering, approval gates, and auditability, all of which this procurement process needs.</a:t>
            </a:r>
          </a:p>
          <a:p>
            <a:r>
              <a:rPr b="1"/>
              <a:t>Q3 choice 3 explanation: </a:t>
            </a:r>
            <a:r>
              <a:t>Concurrent execution ignores the requirement that compliance checks run in a defined order. Dynamic routing to the legal reviewer also adds variability where the process needs strict, auditable sequencing. A fully workflow-oriented approach is the better fit for this scenario.</a:t>
            </a:r>
          </a:p>
        </p:txBody>
      </p:sp>
    </p:spTree>
    <p:extLst>
      <p:ext uri="{BB962C8B-B14F-4D97-AF65-F5344CB8AC3E}">
        <p14:creationId xmlns:p14="http://schemas.microsoft.com/office/powerpoint/2010/main" val="2405787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Q4 correct answer: </a:t>
            </a:r>
            <a:r>
              <a:t>The orchestrator/subagent pattern, where the primary agent decides at runtime which connected agent handles each request.</a:t>
            </a:r>
            <a:endParaRPr lang="en-US"/>
          </a:p>
          <a:p>
            <a:r>
              <a:rPr b="1"/>
              <a:t>Q4 choice 1 explanation: </a:t>
            </a:r>
            <a:r>
              <a:t>A serial workflow fits a process whose steps are known before runtime. Here the path depends on each request, so a fixed order runs agents that the request doesn't need.</a:t>
            </a:r>
          </a:p>
          <a:p>
            <a:r>
              <a:rPr b="1"/>
              <a:t>Q4 choice 2 explanation: </a:t>
            </a:r>
            <a:r>
              <a:t>A concurrent workflow fits quorum or voting decisions and processes that benefit from parallel processing. These requests usually need one domain, and which domain isn't known in advance.</a:t>
            </a:r>
          </a:p>
          <a:p>
            <a:r>
              <a:rPr b="1"/>
              <a:t>Q4 choice 3 explanation: </a:t>
            </a:r>
            <a:r>
              <a:t>When little of the path is known before runtime, the primary agent routes each request at runtime. It hands the chosen connected agent the task, and that agent works in its own orchestration context and returns its response to the primary agent.</a:t>
            </a:r>
          </a:p>
        </p:txBody>
      </p:sp>
    </p:spTree>
    <p:extLst>
      <p:ext uri="{BB962C8B-B14F-4D97-AF65-F5344CB8AC3E}">
        <p14:creationId xmlns:p14="http://schemas.microsoft.com/office/powerpoint/2010/main" val="48702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Q5 correct answer: </a:t>
            </a:r>
            <a:r>
              <a:t>A connected Copilot Studio agent</a:t>
            </a:r>
            <a:endParaRPr lang="en-US"/>
          </a:p>
          <a:p>
            <a:r>
              <a:rPr b="1"/>
              <a:t>Q5 choice 1 explanation: </a:t>
            </a:r>
            <a:r>
              <a:t>Connecting another published Copilot Studio agent in the same environment is available on both harnesses, and it fits a capability that another team owns. On the GitHub Copilot harness, it's currently the only delegation option, and the connected agent must also be a GitHub Copilot harness agent.</a:t>
            </a:r>
          </a:p>
          <a:p>
            <a:r>
              <a:rPr b="1"/>
              <a:t>Q5 choice 2 explanation: </a:t>
            </a:r>
            <a:r>
              <a:t>Foundry agent connections are in preview on the standard harness and aren't currently available on the GitHub Copilot harness. The capability in this scenario is also a Copilot Studio agent, not a Foundry agent.</a:t>
            </a:r>
          </a:p>
          <a:p>
            <a:r>
              <a:rPr b="1"/>
              <a:t>Q5 choice 3 explanation: </a:t>
            </a:r>
            <a:r>
              <a:t>A2A connections are available on the standard harness but aren't currently available on the GitHub Copilot harness. On the standard harness, A2A fits an agent that's built on another platform.</a:t>
            </a:r>
          </a:p>
        </p:txBody>
      </p:sp>
    </p:spTree>
    <p:extLst>
      <p:ext uri="{BB962C8B-B14F-4D97-AF65-F5344CB8AC3E}">
        <p14:creationId xmlns:p14="http://schemas.microsoft.com/office/powerpoint/2010/main" val="1094261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Talk track: </a:t>
            </a:r>
            <a:r>
              <a:t>This module turns the multi-agent design from the previous module into a build: prepare specialist agents, connect them to a primary GitHub Copilot harness agent, test routing, and reuse a published agent from a workflow step.</a:t>
            </a:r>
            <a:endParaRPr lang="en-US"/>
          </a:p>
        </p:txBody>
      </p:sp>
    </p:spTree>
    <p:extLst>
      <p:ext uri="{BB962C8B-B14F-4D97-AF65-F5344CB8AC3E}">
        <p14:creationId xmlns:p14="http://schemas.microsoft.com/office/powerpoint/2010/main" val="1262217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an agent powered by the GitHub Copilot harness can connect only to other Copilot Studio agents that use the same harness. Check current docs before class.</a:t>
            </a:r>
            <a:endParaRPr lang="en-US"/>
          </a:p>
        </p:txBody>
      </p:sp>
    </p:spTree>
    <p:extLst>
      <p:ext uri="{BB962C8B-B14F-4D97-AF65-F5344CB8AC3E}">
        <p14:creationId xmlns:p14="http://schemas.microsoft.com/office/powerpoint/2010/main" val="2317243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The primary maker controls two routing inputs: each connected agent's name and description as they appear in the primary agent, and the primary agent's instructions.</a:t>
            </a:r>
            <a:endParaRPr lang="en-US"/>
          </a:p>
        </p:txBody>
      </p:sp>
    </p:spTree>
    <p:extLst>
      <p:ext uri="{BB962C8B-B14F-4D97-AF65-F5344CB8AC3E}">
        <p14:creationId xmlns:p14="http://schemas.microsoft.com/office/powerpoint/2010/main" val="3285646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If the help agent's instructions tell it to answer every benefits question from its own knowledge, those instructions compete with the HR benefits agent's description.</a:t>
            </a:r>
            <a:endParaRPr lang="en-US"/>
          </a:p>
        </p:txBody>
      </p:sp>
    </p:spTree>
    <p:extLst>
      <p:ext uri="{BB962C8B-B14F-4D97-AF65-F5344CB8AC3E}">
        <p14:creationId xmlns:p14="http://schemas.microsoft.com/office/powerpoint/2010/main" val="388931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Class-wide: test one volunteered description against the primary agent and another connected agent. Small groups: each learner writes a description, and a partner tries to write a user message that fits it and another agent equally well.</a:t>
            </a:r>
            <a:endParaRPr lang="en-US"/>
          </a:p>
        </p:txBody>
      </p:sp>
    </p:spTree>
    <p:extLst>
      <p:ext uri="{BB962C8B-B14F-4D97-AF65-F5344CB8AC3E}">
        <p14:creationId xmlns:p14="http://schemas.microsoft.com/office/powerpoint/2010/main" val="3603502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testing in Preview might consume Copilot Credits. Check current usage guidance before class.</a:t>
            </a:r>
            <a:endParaRPr lang="en-US"/>
          </a:p>
        </p:txBody>
      </p:sp>
    </p:spTree>
    <p:extLst>
      <p:ext uri="{BB962C8B-B14F-4D97-AF65-F5344CB8AC3E}">
        <p14:creationId xmlns:p14="http://schemas.microsoft.com/office/powerpoint/2010/main" val="3881963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Class-wide: collect boundary messages and ask which agent should own each one. Small groups: swap message sets and predict which agent responds, then share out any disagreement.</a:t>
            </a:r>
            <a:endParaRPr lang="en-US"/>
          </a:p>
        </p:txBody>
      </p:sp>
    </p:spTree>
    <p:extLst>
      <p:ext uri="{BB962C8B-B14F-4D97-AF65-F5344CB8AC3E}">
        <p14:creationId xmlns:p14="http://schemas.microsoft.com/office/powerpoint/2010/main" val="1710626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Key point: </a:t>
            </a:r>
            <a:r>
              <a:t>A workflow agent node is for work that starts from automation instead of from a user's conversation message.</a:t>
            </a:r>
            <a:endParaRPr lang="en-US"/>
          </a:p>
        </p:txBody>
      </p:sp>
    </p:spTree>
    <p:extLst>
      <p:ext uri="{BB962C8B-B14F-4D97-AF65-F5344CB8AC3E}">
        <p14:creationId xmlns:p14="http://schemas.microsoft.com/office/powerpoint/2010/main" val="2899639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the Copilot Studio connector in Power Automate cloud flows doesn't support agents powered by the GitHub Copilot harness. Check current docs before class.</a:t>
            </a:r>
            <a:endParaRPr lang="en-US"/>
          </a:p>
          <a:p>
            <a:r>
              <a:rPr b="1"/>
              <a:t>Key point: </a:t>
            </a:r>
            <a:r>
              <a:t>If the same agent is needed in more than one place, build it as a published agent and select it as an existing agent. Agent node evaluations are available only for inline agents.</a:t>
            </a:r>
          </a:p>
        </p:txBody>
      </p:sp>
    </p:spTree>
    <p:extLst>
      <p:ext uri="{BB962C8B-B14F-4D97-AF65-F5344CB8AC3E}">
        <p14:creationId xmlns:p14="http://schemas.microsoft.com/office/powerpoint/2010/main" val="8608256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demo: </a:t>
            </a:r>
            <a:r>
              <a:t>Open or create the workflow, select the Agent icon on the Add panel, choose An existing agent, select the published agent, and write a Message that includes dynamic content from earlier steps.</a:t>
            </a:r>
            <a:endParaRPr lang="en-US"/>
          </a:p>
        </p:txBody>
      </p:sp>
    </p:spTree>
    <p:extLst>
      <p:ext uri="{BB962C8B-B14F-4D97-AF65-F5344CB8AC3E}">
        <p14:creationId xmlns:p14="http://schemas.microsoft.com/office/powerpoint/2010/main" val="2598348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Instructor caveat: </a:t>
            </a:r>
            <a:r>
              <a:t>As of October 2026, Request human assistance when unsure is available in the new-agent-for-this-workflow path. Confirm the current product surface before demonstrating it.</a:t>
            </a:r>
            <a:endParaRPr lang="en-US"/>
          </a:p>
        </p:txBody>
      </p:sp>
    </p:spTree>
    <p:extLst>
      <p:ext uri="{BB962C8B-B14F-4D97-AF65-F5344CB8AC3E}">
        <p14:creationId xmlns:p14="http://schemas.microsoft.com/office/powerpoint/2010/main" val="40189249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Small groups: name the step and the cost of a wrong answer, then choose existing agent or new workflow agent. Share out one high-stakes example. Class-wide: poll which steps need human assistance and discuss disagreements.</a:t>
            </a:r>
            <a:endParaRPr lang="en-US"/>
          </a:p>
        </p:txBody>
      </p:sp>
    </p:spTree>
    <p:extLst>
      <p:ext uri="{BB962C8B-B14F-4D97-AF65-F5344CB8AC3E}">
        <p14:creationId xmlns:p14="http://schemas.microsoft.com/office/powerpoint/2010/main" val="4114861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Q1 correct answer: </a:t>
            </a:r>
            <a:r>
              <a:t>Turn on Allow other agents to connect in the benefits agent's settings, and then publish the agent</a:t>
            </a:r>
            <a:endParaRPr lang="en-US"/>
          </a:p>
          <a:p>
            <a:r>
              <a:rPr b="1"/>
              <a:t>Q1 choice 1 explanation: </a:t>
            </a:r>
            <a:r>
              <a:t>The primary agent adds the connected agent. The benefits agent doesn't need to connect back to the help agent.</a:t>
            </a:r>
          </a:p>
          <a:p>
            <a:r>
              <a:rPr b="1"/>
              <a:t>Q1 choice 2 explanation: </a:t>
            </a:r>
            <a:r>
              <a:t>A connected agent must be published and configured as available to connect. Settings changes take effect after the agent is saved and published.</a:t>
            </a:r>
          </a:p>
          <a:p>
            <a:r>
              <a:rPr b="1"/>
              <a:t>Q1 choice 3 explanation: </a:t>
            </a:r>
            <a:r>
              <a:t>The agent to connect must be in the same environment as the primary agent.</a:t>
            </a:r>
          </a:p>
          <a:p>
            <a:r>
              <a:rPr b="1"/>
              <a:t>Q2 correct answer: </a:t>
            </a:r>
            <a:r>
              <a:t>Rewrite both descriptions so each names a specific, distinct domain and the requests it handles</a:t>
            </a:r>
          </a:p>
          <a:p>
            <a:r>
              <a:rPr b="1"/>
              <a:t>Q2 choice 1 explanation: </a:t>
            </a:r>
            <a:r>
              <a:t>Removing the connection gives up the specialist that another team maintains and doesn't address why routing fails.</a:t>
            </a:r>
          </a:p>
          <a:p>
            <a:r>
              <a:rPr b="1"/>
              <a:t>Q2 choice 2 explanation: </a:t>
            </a:r>
            <a:r>
              <a:t>Request human assistance when unsure is a setting for a new agent in a workflow agent node. It doesn't change how a primary agent routes conversation messages.</a:t>
            </a:r>
          </a:p>
          <a:p>
            <a:r>
              <a:rPr b="1"/>
              <a:t>Q2 choice 3 explanation: </a:t>
            </a:r>
            <a:r>
              <a:t>The orchestrator routes partly on each connected agent's description. Overlapping descriptions make it harder to choose, so each description should name a distinct domain.</a:t>
            </a:r>
          </a:p>
        </p:txBody>
      </p:sp>
    </p:spTree>
    <p:extLst>
      <p:ext uri="{BB962C8B-B14F-4D97-AF65-F5344CB8AC3E}">
        <p14:creationId xmlns:p14="http://schemas.microsoft.com/office/powerpoint/2010/main" val="40900762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Q3 correct answer: </a:t>
            </a:r>
            <a:r>
              <a:t>The help agent's instructions, for guidance that conflicts with the benefits agent's domain</a:t>
            </a:r>
            <a:endParaRPr lang="en-US"/>
          </a:p>
          <a:p>
            <a:r>
              <a:rPr b="1"/>
              <a:t>Q3 choice 1 explanation: </a:t>
            </a:r>
            <a:r>
              <a:t>The primary agent's instructions are a routing input. Guidance such as answering every benefits question from its own knowledge competes with the connected agent's description.</a:t>
            </a:r>
          </a:p>
          <a:p>
            <a:r>
              <a:rPr b="1"/>
              <a:t>Q3 choice 2 explanation: </a:t>
            </a:r>
            <a:r>
              <a:t>Editing a connected agent's name or description doesn't delete it, and removing a connected agent doesn't delete the agent either.</a:t>
            </a:r>
          </a:p>
          <a:p>
            <a:r>
              <a:rPr b="1"/>
              <a:t>Q3 choice 3 explanation: </a:t>
            </a:r>
            <a:r>
              <a:t>The Power Automate connector isn't part of how a primary agent delegates to a connected agent.</a:t>
            </a:r>
          </a:p>
          <a:p>
            <a:r>
              <a:rPr b="1"/>
              <a:t>Q4 correct answer: </a:t>
            </a:r>
            <a:r>
              <a:t>Add an agent node, choose An existing agent, select the benefits agent, and write a Message that includes dynamic content from the trigger</a:t>
            </a:r>
          </a:p>
          <a:p>
            <a:r>
              <a:rPr b="1"/>
              <a:t>Q4 choice 1 explanation: </a:t>
            </a:r>
            <a:r>
              <a:t>The Copilot Studio connector in Power Automate doesn't support agents powered by the GitHub Copilot harness.</a:t>
            </a:r>
          </a:p>
          <a:p>
            <a:r>
              <a:rPr b="1"/>
              <a:t>Q4 choice 2 explanation: </a:t>
            </a:r>
            <a:r>
              <a:t>An inline agent is scoped to one workflow and can't be reused. Copying the instructions duplicates an agent that the HR team already maintains.</a:t>
            </a:r>
          </a:p>
          <a:p>
            <a:r>
              <a:rPr b="1"/>
              <a:t>Q4 choice 3 explanation: </a:t>
            </a:r>
            <a:r>
              <a:t>An existing agent fits an agent that another team owns. The Message field tells it what to do for this run, and dynamic content supplies the new hire's details.</a:t>
            </a:r>
          </a:p>
        </p:txBody>
      </p:sp>
    </p:spTree>
    <p:extLst>
      <p:ext uri="{BB962C8B-B14F-4D97-AF65-F5344CB8AC3E}">
        <p14:creationId xmlns:p14="http://schemas.microsoft.com/office/powerpoint/2010/main" val="466853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Q5 correct answer: </a:t>
            </a:r>
            <a:r>
              <a:t>Turn on Request human assistance when unsure for the agent node</a:t>
            </a:r>
            <a:endParaRPr lang="en-US"/>
          </a:p>
          <a:p>
            <a:r>
              <a:rPr b="1"/>
              <a:t>Q5 choice 1 explanation: </a:t>
            </a:r>
            <a:r>
              <a:t>A test run checks the node's configuration and output, but it doesn't give the agent a way to escalate uncertain cases in later runs.</a:t>
            </a:r>
          </a:p>
          <a:p>
            <a:r>
              <a:rPr b="1"/>
              <a:t>Q5 choice 2 explanation: </a:t>
            </a:r>
            <a:r>
              <a:t>With this setting on, the agent emails the connection owner for input and waits for a reply before it continues. It fits high-stakes decisions where being wrong costs more than being slow.</a:t>
            </a:r>
          </a:p>
          <a:p>
            <a:r>
              <a:rPr b="1"/>
              <a:t>Q5 choice 3 explanation: </a:t>
            </a:r>
            <a:r>
              <a:t>Preview is for makers testing an agent. It doesn't add human review to a workflow step.</a:t>
            </a:r>
          </a:p>
        </p:txBody>
      </p:sp>
    </p:spTree>
    <p:extLst>
      <p:ext uri="{BB962C8B-B14F-4D97-AF65-F5344CB8AC3E}">
        <p14:creationId xmlns:p14="http://schemas.microsoft.com/office/powerpoint/2010/main" val="17285237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a:xfrm>
            <a:off x="365760" y="1122363"/>
            <a:ext cx="8382000" cy="4351338"/>
          </a:xfrm>
          <a:prstGeom prst="rect">
            <a:avLst/>
          </a:prstGeom>
        </p:spPr>
        <p:txBody>
          <a:bodyPr/>
          <a:lstStyle/>
          <a:p>
            <a:r>
              <a:rPr b="1"/>
              <a:t>Facilitation: </a:t>
            </a:r>
            <a:r>
              <a:t>Learners complete this lab in their hosted lab environment, using the access instructions you provide. Run the labs in order in the same environment; each lab continues the agent from the previous lab. Estimated time: about 75 minutes.</a:t>
            </a:r>
            <a:endParaRPr lang="en-US"/>
          </a:p>
        </p:txBody>
      </p:sp>
    </p:spTree>
    <p:extLst>
      <p:ext uri="{BB962C8B-B14F-4D97-AF65-F5344CB8AC3E}">
        <p14:creationId xmlns:p14="http://schemas.microsoft.com/office/powerpoint/2010/main" val="658922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A8C8-16AD-D77D-9106-28CB1A11D3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AC95CE-66B4-EB71-3467-F1690E2524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4A48CA-F9B2-7D98-A844-4C2CE6132602}"/>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775981C8-9296-314B-7B1D-1F6839408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6DF9E-118A-0DEA-71CA-AEB8A7E19AA9}"/>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991704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2AED-6A14-EDDB-3D15-714AB4403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4D52ED-545A-7B82-190F-85E4BD2C19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60EAB6-FEFB-5B2E-C6AE-7D918865FDF0}"/>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F7323A6E-B361-19E1-DA6D-1E0309A20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9967D-37DE-A0D2-393C-0CA85784780E}"/>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904842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C1D70-B4F6-1C7D-AE0D-B4D7F2811E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FF2CCA-7E71-3094-91E7-05B2EAD1AB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FF7A19-22FA-B24F-F7AB-5937D49F0D0F}"/>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474A4377-80A6-0B1B-07E8-DB4C7A22E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CE86D-8A2B-B287-6528-00141992613F}"/>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1613699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284C1-B63E-CD9D-F219-1EEDF513F6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884EEB-A356-B7D0-D26F-E1B5A2A84C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CA713A-875D-ADBD-5FD5-4BE3F3E9E1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15B447-BC1B-6D66-A1F0-0659023D0017}"/>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6" name="Footer Placeholder 5">
            <a:extLst>
              <a:ext uri="{FF2B5EF4-FFF2-40B4-BE49-F238E27FC236}">
                <a16:creationId xmlns:a16="http://schemas.microsoft.com/office/drawing/2014/main" id="{B729D95F-FC3C-E8BF-454C-2A515017E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47B3C5-BFBE-A21B-3419-FC55B107000E}"/>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3668551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578E-287E-627C-67FE-FE58580013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9C6357-F1D9-E30D-56F3-BD93B9EE4F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AB9943-CF3A-80E8-AE6C-88FB89E594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2BEB09-812F-8494-391C-DA44353D9E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317195-3E0F-7E59-56BF-59B8554F4B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D93211-6A1B-81B3-A087-0F8A48F164E9}"/>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8" name="Footer Placeholder 7">
            <a:extLst>
              <a:ext uri="{FF2B5EF4-FFF2-40B4-BE49-F238E27FC236}">
                <a16:creationId xmlns:a16="http://schemas.microsoft.com/office/drawing/2014/main" id="{B31F81AB-B65D-14DB-7A40-AFE8893A7D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299F92-3765-8C1B-EC65-E197B9BF2A37}"/>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14884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407F-E4C5-997A-0D53-4C6B98BF88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7F2175-2367-6952-A187-1A8DAB7DF61C}"/>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4" name="Footer Placeholder 3">
            <a:extLst>
              <a:ext uri="{FF2B5EF4-FFF2-40B4-BE49-F238E27FC236}">
                <a16:creationId xmlns:a16="http://schemas.microsoft.com/office/drawing/2014/main" id="{947BC61B-4713-2CF3-C3F7-EBA9FE0CE6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756E16-A070-7C3A-187F-61E7739402BF}"/>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16317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931FB-5734-1D11-8D0B-51229F35F711}"/>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3" name="Footer Placeholder 2">
            <a:extLst>
              <a:ext uri="{FF2B5EF4-FFF2-40B4-BE49-F238E27FC236}">
                <a16:creationId xmlns:a16="http://schemas.microsoft.com/office/drawing/2014/main" id="{E57EC8A7-368A-70B0-1094-97BA3CC681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A661CB-E116-FAF2-F9F0-0B0364EA1A5D}"/>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182155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12685-6830-9397-FE9D-B40878F3A5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9DF7CF-A792-8E03-77A1-EB201617E4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FE0245-DE42-9617-394F-3D578FE91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095A38-8912-83D8-AA04-946A9F625297}"/>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6" name="Footer Placeholder 5">
            <a:extLst>
              <a:ext uri="{FF2B5EF4-FFF2-40B4-BE49-F238E27FC236}">
                <a16:creationId xmlns:a16="http://schemas.microsoft.com/office/drawing/2014/main" id="{079069D9-CF07-B132-AFDD-2B93C50DA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9B342-C265-1237-91CC-5ACB0F0A3BFF}"/>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399004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E788-9174-7F6E-7483-2BE036F12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1DCD65-FAB4-08CE-73D7-DEE5898A6FE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728D1A-0A3C-A6DC-5AD1-5639201300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67A7A8-8A58-B5F5-474B-DAF5D1194A27}"/>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6" name="Footer Placeholder 5">
            <a:extLst>
              <a:ext uri="{FF2B5EF4-FFF2-40B4-BE49-F238E27FC236}">
                <a16:creationId xmlns:a16="http://schemas.microsoft.com/office/drawing/2014/main" id="{7ABDF40D-E04F-D14E-AEB4-A567BDDC31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8F748D-94CE-A4F5-D536-69CCF3DF2BDA}"/>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879597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EE7E-595B-CDA5-C416-00B4DA0A46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C14296-46BA-C68B-F543-2B7BD0B487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0C0CB7-C7DB-48AC-C243-560F2A5DB1AE}"/>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B6C790EF-96D4-0240-EC31-690B45517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522B7-F31E-41D1-DDF4-D77C3119A7C7}"/>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2073081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65E434-2501-ED51-4042-EB784A1E20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770F25-0FB2-E739-5484-A6A2951365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519064-806D-0C3C-04CD-F023CEF5D11D}"/>
              </a:ext>
            </a:extLst>
          </p:cNvPr>
          <p:cNvSpPr>
            <a:spLocks noGrp="1"/>
          </p:cNvSpPr>
          <p:nvPr>
            <p:ph type="dt" sz="half" idx="10"/>
          </p:nvPr>
        </p:nvSpPr>
        <p:spPr/>
        <p:txBody>
          <a:body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BE678E5C-16A8-4F0A-1F26-ACEF002405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4A075-2115-60F4-F771-231B37169637}"/>
              </a:ext>
            </a:extLst>
          </p:cNvPr>
          <p:cNvSpPr>
            <a:spLocks noGrp="1"/>
          </p:cNvSpPr>
          <p:nvPr>
            <p:ph type="sldNum" sz="quarter" idx="12"/>
          </p:nvPr>
        </p:nvSpPr>
        <p:spPr/>
        <p:txBody>
          <a:bodyPr/>
          <a:lstStyle/>
          <a:p>
            <a:fld id="{9B02FF24-95A5-49A4-9F8F-F5D27C369BE4}" type="slidenum">
              <a:rPr lang="en-US" smtClean="0"/>
              <a:t>‹#›</a:t>
            </a:fld>
            <a:endParaRPr lang="en-US"/>
          </a:p>
        </p:txBody>
      </p:sp>
    </p:spTree>
    <p:extLst>
      <p:ext uri="{BB962C8B-B14F-4D97-AF65-F5344CB8AC3E}">
        <p14:creationId xmlns:p14="http://schemas.microsoft.com/office/powerpoint/2010/main" val="3174567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_Gradient_Light">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671D777-B835-0A62-E34D-B42F23B47F32}"/>
              </a:ext>
            </a:extLst>
          </p:cNvPr>
          <p:cNvPicPr>
            <a:picLocks noChangeAspect="1"/>
          </p:cNvPicPr>
          <p:nvPr userDrawn="1"/>
        </p:nvPicPr>
        <p:blipFill>
          <a:blip r:embed="rId2"/>
          <a:srcRect l="644" t="1099" r="412"/>
          <a:stretch>
            <a:fillRect/>
          </a:stretch>
        </p:blipFill>
        <p:spPr>
          <a:xfrm>
            <a:off x="5081" y="0"/>
            <a:ext cx="12186920" cy="6858000"/>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FEDF3DE4-8628-A0E3-0518-AA5354E77E18}"/>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46888"/>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9F62B460-7838-D919-2107-2AE2DB807FF1}"/>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Text Placeholder 4">
            <a:extLst>
              <a:ext uri="{FF2B5EF4-FFF2-40B4-BE49-F238E27FC236}">
                <a16:creationId xmlns:a16="http://schemas.microsoft.com/office/drawing/2014/main" id="{AE54E53D-428B-872F-679F-3347A7E78D46}"/>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7269757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C25A02-AC19-00D7-AA19-15FBBBA075A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
            <a:ext cx="12188952" cy="6856285"/>
          </a:xfrm>
          <a:prstGeom prst="rect">
            <a:avLst/>
          </a:prstGeom>
        </p:spPr>
      </p:pic>
      <p:pic>
        <p:nvPicPr>
          <p:cNvPr id="6" name="MS logo white - EMF" descr="Microsoft logo">
            <a:extLst>
              <a:ext uri="{FF2B5EF4-FFF2-40B4-BE49-F238E27FC236}">
                <a16:creationId xmlns:a16="http://schemas.microsoft.com/office/drawing/2014/main" id="{15F18C2F-44AE-47B2-AF66-6F44850A4565}"/>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1"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888833"/>
            <a:ext cx="8193024" cy="1111330"/>
          </a:xfrm>
          <a:noFill/>
        </p:spPr>
        <p:txBody>
          <a:bodyPr wrap="square" lIns="0" tIns="0" rIns="0" bIns="0" anchor="b" anchorCtr="0">
            <a:spAutoFit/>
          </a:bodyPr>
          <a:lstStyle>
            <a:lvl1pPr>
              <a:defRPr sz="3999"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9"/>
            <a:ext cx="8193024" cy="223074"/>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3" y="6446520"/>
            <a:ext cx="1645920" cy="139397"/>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39397"/>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7228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_1-column">
    <p:bg>
      <p:bgPr>
        <a:solidFill>
          <a:schemeClr val="bg1"/>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53A3CAD6-F9C5-DCCA-B5A0-1F02C35541A3}"/>
              </a:ext>
            </a:extLst>
          </p:cNvPr>
          <p:cNvSpPr>
            <a:spLocks noGrp="1"/>
          </p:cNvSpPr>
          <p:nvPr>
            <p:ph type="body" sz="quarter" idx="18"/>
          </p:nvPr>
        </p:nvSpPr>
        <p:spPr>
          <a:xfrm>
            <a:off x="588264" y="1818177"/>
            <a:ext cx="4606038" cy="369781"/>
          </a:xfrm>
          <a:prstGeom prst="rect">
            <a:avLst/>
          </a:prstGeom>
        </p:spPr>
        <p:txBody>
          <a:bodyPr wrap="square">
            <a:spAutoFit/>
          </a:bodyPr>
          <a:lstStyle>
            <a:lvl1pPr marL="182880" indent="-182880">
              <a:lnSpc>
                <a:spcPct val="110000"/>
              </a:lnSpc>
              <a:spcBef>
                <a:spcPts val="0"/>
              </a:spcBef>
              <a:spcAft>
                <a:spcPts val="1200"/>
              </a:spcAft>
              <a:buFont typeface="Arial" panose="020B0604020202020204" pitchFamily="34" charset="0"/>
              <a:buChar char="•"/>
              <a:defRPr kumimoji="0" lang="en-US" sz="1799" b="0" i="0" u="none" strike="noStrike" kern="1200" cap="none" spc="0" normalizeH="0" baseline="0" dirty="0">
                <a:ln>
                  <a:noFill/>
                </a:ln>
                <a:solidFill>
                  <a:srgbClr val="000000"/>
                </a:solidFill>
                <a:effectLst/>
                <a:uLnTx/>
                <a:uFillTx/>
                <a:latin typeface="Segoe Sans Display" pitchFamily="2" charset="0"/>
                <a:ea typeface="+mn-ea"/>
                <a:cs typeface="Segoe Sans Display" pitchFamily="2" charset="0"/>
              </a:defRPr>
            </a:lvl1pPr>
            <a:lvl2pPr marL="265096" indent="-127978">
              <a:buFont typeface="Arial" panose="020B0604020202020204" pitchFamily="34" charset="0"/>
              <a:buChar char="•"/>
              <a:defRPr>
                <a:solidFill>
                  <a:schemeClr val="tx1"/>
                </a:solidFill>
              </a:defRPr>
            </a:lvl2pPr>
            <a:lvl3pPr marL="383933" indent="-118836">
              <a:buFont typeface="Arial" panose="020B0604020202020204" pitchFamily="34" charset="0"/>
              <a:buChar char="•"/>
              <a:defRPr>
                <a:solidFill>
                  <a:schemeClr val="tx1"/>
                </a:solidFill>
              </a:defRPr>
            </a:lvl3pPr>
            <a:lvl4pPr marL="685594" indent="0">
              <a:buNone/>
              <a:defRPr/>
            </a:lvl4pPr>
            <a:lvl5pPr marL="914126" indent="0">
              <a:buNone/>
              <a:defRPr/>
            </a:lvl5pPr>
          </a:lstStyle>
          <a:p>
            <a:pPr marL="137119" marR="0" lvl="0" indent="-137119" algn="l" defTabSz="932462" rtl="0" eaLnBrk="1" fontAlgn="auto" latinLnBrk="0" hangingPunct="1">
              <a:lnSpc>
                <a:spcPct val="110000"/>
              </a:lnSpc>
              <a:spcBef>
                <a:spcPts val="0"/>
              </a:spcBef>
              <a:spcAft>
                <a:spcPts val="1200"/>
              </a:spcAft>
              <a:buClrTx/>
              <a:buSzPct val="90000"/>
              <a:buFont typeface="Arial" panose="020B0604020202020204" pitchFamily="34" charset="0"/>
              <a:buChar char="•"/>
              <a:tabLst/>
              <a:defRPr/>
            </a:pPr>
            <a:r>
              <a:rPr lang="en-US"/>
              <a:t>Click to edit Master text styles</a:t>
            </a:r>
          </a:p>
        </p:txBody>
      </p:sp>
      <p:sp>
        <p:nvSpPr>
          <p:cNvPr id="11" name="Title 1">
            <a:extLst>
              <a:ext uri="{FF2B5EF4-FFF2-40B4-BE49-F238E27FC236}">
                <a16:creationId xmlns:a16="http://schemas.microsoft.com/office/drawing/2014/main" id="{440FB0EE-2E13-E696-87D3-4BCBF6124CA4}"/>
              </a:ext>
            </a:extLst>
          </p:cNvPr>
          <p:cNvSpPr>
            <a:spLocks noGrp="1"/>
          </p:cNvSpPr>
          <p:nvPr>
            <p:ph type="title" hasCustomPrompt="1"/>
          </p:nvPr>
        </p:nvSpPr>
        <p:spPr>
          <a:xfrm>
            <a:off x="581726" y="548412"/>
            <a:ext cx="8505123" cy="387670"/>
          </a:xfrm>
          <a:prstGeom prst="rect">
            <a:avLst/>
          </a:prstGeom>
          <a:noFill/>
        </p:spPr>
        <p:txBody>
          <a:bodyPr wrap="square" lIns="0" tIns="0" rIns="0" bIns="0" anchor="b" anchorCtr="0">
            <a:spAutoFit/>
          </a:bodyPr>
          <a:lstStyle>
            <a:lvl1pPr>
              <a:defRPr lang="en-US" sz="2799" b="0" i="0" kern="1200" spc="-50" baseline="0" dirty="0">
                <a:solidFill>
                  <a:schemeClr val="tx1"/>
                </a:solidFill>
                <a:latin typeface="Segoe Sans Display Semibold" pitchFamily="2" charset="0"/>
                <a:ea typeface="+mn-ea"/>
                <a:cs typeface="Segoe Sans Display Semibold" pitchFamily="2" charset="0"/>
              </a:defRPr>
            </a:lvl1pPr>
          </a:lstStyle>
          <a:p>
            <a:r>
              <a:rPr lang="en-US" dirty="0"/>
              <a:t>Agenda</a:t>
            </a:r>
          </a:p>
        </p:txBody>
      </p:sp>
      <p:sp>
        <p:nvSpPr>
          <p:cNvPr id="2" name="Footer Placeholder 1">
            <a:extLst>
              <a:ext uri="{FF2B5EF4-FFF2-40B4-BE49-F238E27FC236}">
                <a16:creationId xmlns:a16="http://schemas.microsoft.com/office/drawing/2014/main" id="{AE5316C9-7F0C-F27B-0F21-DE9F4EA08905}"/>
              </a:ext>
            </a:extLst>
          </p:cNvPr>
          <p:cNvSpPr>
            <a:spLocks noGrp="1"/>
          </p:cNvSpPr>
          <p:nvPr>
            <p:ph type="ftr" sz="quarter" idx="19"/>
          </p:nvPr>
        </p:nvSpPr>
        <p:spPr/>
        <p:txBody>
          <a:bodyPr/>
          <a:lstStyle/>
          <a:p>
            <a:pPr defTabSz="914093">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240342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5753">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3E920D-D690-EAFC-6A45-5076BB2F063B}"/>
              </a:ext>
              <a:ext uri="{C183D7F6-B498-43B3-948B-1728B52AA6E4}">
                <adec:decorative xmlns:adec="http://schemas.microsoft.com/office/drawing/2017/decorative" val="1"/>
              </a:ext>
            </a:extLst>
          </p:cNvPr>
          <p:cNvPicPr>
            <a:picLocks noChangeAspect="1"/>
          </p:cNvPicPr>
          <p:nvPr userDrawn="1"/>
        </p:nvPicPr>
        <p:blipFill>
          <a:blip r:embed="rId2">
            <a:alphaModFix/>
          </a:blip>
          <a:srcRect/>
          <a:stretch/>
        </p:blipFill>
        <p:spPr>
          <a:xfrm>
            <a:off x="1" y="0"/>
            <a:ext cx="1219200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442705"/>
            <a:ext cx="8193024" cy="557460"/>
          </a:xfrm>
          <a:noFill/>
        </p:spPr>
        <p:txBody>
          <a:bodyPr wrap="square" lIns="0" tIns="0" rIns="0" bIns="0" anchor="b" anchorCtr="0">
            <a:spAutoFit/>
          </a:bodyPr>
          <a:lstStyle>
            <a:lvl1pPr>
              <a:defRPr sz="3999" b="0" i="0" spc="-50" baseline="0">
                <a:solidFill>
                  <a:schemeClr val="tx1"/>
                </a:solidFill>
                <a:latin typeface="+mn-lt"/>
                <a:cs typeface="Segoe UI" panose="020B0502040204020203" pitchFamily="34" charset="0"/>
              </a:defRPr>
            </a:lvl1pPr>
          </a:lstStyle>
          <a:p>
            <a:r>
              <a:rPr lang="en-US" dirty="0"/>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30"/>
            <a:ext cx="8193024" cy="223074"/>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3030500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Subtitle / 28 p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3" y="585218"/>
            <a:ext cx="11011601" cy="430887"/>
          </a:xfrm>
        </p:spPr>
        <p:txBody>
          <a:bodyPr/>
          <a:lstStyle>
            <a:lvl1pPr>
              <a:defRPr sz="2799"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69FCAF4-862E-4BC3-B27D-7A7B9021EFB4}"/>
              </a:ext>
            </a:extLst>
          </p:cNvPr>
          <p:cNvSpPr>
            <a:spLocks noGrp="1"/>
          </p:cNvSpPr>
          <p:nvPr>
            <p:ph type="body" sz="quarter" idx="14" hasCustomPrompt="1"/>
          </p:nvPr>
        </p:nvSpPr>
        <p:spPr>
          <a:xfrm>
            <a:off x="579439" y="1169627"/>
            <a:ext cx="11011601" cy="249235"/>
          </a:xfrm>
          <a:prstGeom prst="rect">
            <a:avLst/>
          </a:prstGeom>
        </p:spPr>
        <p:txBody>
          <a:bodyPr wrap="square" lIns="0" tIns="0" rIns="0" bIns="0">
            <a:spAutoFit/>
          </a:bodyPr>
          <a:lstStyle>
            <a:lvl1pPr marL="0" marR="0" indent="0" algn="l" defTabSz="914093" rtl="0" eaLnBrk="1" fontAlgn="auto" latinLnBrk="0" hangingPunct="1">
              <a:lnSpc>
                <a:spcPts val="1999"/>
              </a:lnSpc>
              <a:spcBef>
                <a:spcPts val="0"/>
              </a:spcBef>
              <a:spcAft>
                <a:spcPts val="0"/>
              </a:spcAft>
              <a:buClrTx/>
              <a:buSzPct val="90000"/>
              <a:buFont typeface="Wingdings" panose="05000000000000000000" pitchFamily="2" charset="2"/>
              <a:buNone/>
              <a:tabLst/>
              <a:defRPr lang="en-US" sz="1600" kern="1200" spc="0" baseline="0" dirty="0">
                <a:solidFill>
                  <a:srgbClr val="000000"/>
                </a:solidFill>
                <a:latin typeface="+mn-lt"/>
                <a:ea typeface="+mn-ea"/>
                <a:cs typeface="+mn-cs"/>
              </a:defRPr>
            </a:lvl1pPr>
            <a:lvl2pPr marL="224030" indent="0">
              <a:buNone/>
              <a:defRPr/>
            </a:lvl2pPr>
            <a:lvl3pPr marL="448059" indent="0">
              <a:buNone/>
              <a:defRPr/>
            </a:lvl3pPr>
            <a:lvl4pPr marL="672088" indent="0">
              <a:buNone/>
              <a:defRPr/>
            </a:lvl4pPr>
            <a:lvl5pPr marL="896117" indent="0">
              <a:buNone/>
              <a:defRPr/>
            </a:lvl5pPr>
          </a:lstStyle>
          <a:p>
            <a:pPr marL="0" marR="0" lvl="0" indent="0" algn="l" defTabSz="914093" rtl="0" eaLnBrk="1" fontAlgn="auto" latinLnBrk="0" hangingPunct="1">
              <a:lnSpc>
                <a:spcPts val="1999"/>
              </a:lnSpc>
              <a:spcBef>
                <a:spcPts val="0"/>
              </a:spcBef>
              <a:spcAft>
                <a:spcPts val="0"/>
              </a:spcAft>
              <a:buClrTx/>
              <a:buSzPct val="90000"/>
              <a:buFont typeface="Wingdings" panose="05000000000000000000" pitchFamily="2" charset="2"/>
              <a:buNone/>
              <a:tabLst/>
              <a:defRPr/>
            </a:pPr>
            <a:r>
              <a:rPr lang="en-US"/>
              <a:t>Subhead Segoe UI Regular 16pt</a:t>
            </a:r>
          </a:p>
        </p:txBody>
      </p:sp>
      <p:sp>
        <p:nvSpPr>
          <p:cNvPr id="5" name="Footer Placeholder 4">
            <a:extLst>
              <a:ext uri="{FF2B5EF4-FFF2-40B4-BE49-F238E27FC236}">
                <a16:creationId xmlns:a16="http://schemas.microsoft.com/office/drawing/2014/main" id="{5B5F67C4-26AA-C936-CB40-E5608BEB22FF}"/>
              </a:ext>
            </a:extLst>
          </p:cNvPr>
          <p:cNvSpPr>
            <a:spLocks noGrp="1"/>
          </p:cNvSpPr>
          <p:nvPr>
            <p:ph type="ftr" sz="quarter" idx="15"/>
          </p:nvPr>
        </p:nvSpPr>
        <p:spPr/>
        <p:txBody>
          <a:bodyPr/>
          <a:lstStyle/>
          <a:p>
            <a:pPr defTabSz="914093">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30288863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sour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8"/>
            <a:ext cx="8193024" cy="482633"/>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096" indent="-127978">
              <a:buFont typeface="Arial" panose="020B0604020202020204" pitchFamily="34" charset="0"/>
              <a:buChar char="•"/>
              <a:defRPr>
                <a:solidFill>
                  <a:schemeClr val="tx1"/>
                </a:solidFill>
              </a:defRPr>
            </a:lvl2pPr>
            <a:lvl3pPr marL="383933" indent="-118836">
              <a:buFont typeface="Arial"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1"/>
            <a:ext cx="8193024" cy="1532792"/>
          </a:xfrm>
          <a:prstGeom prst="rect">
            <a:avLst/>
          </a:prstGeom>
        </p:spPr>
        <p:txBody>
          <a:bodyPr wrap="square">
            <a:spAutoFit/>
          </a:bodyPr>
          <a:lstStyle>
            <a:lvl1pPr marL="137119" indent="-137119">
              <a:buFont typeface="Arial" panose="020B0604020202020204" pitchFamily="34" charset="0"/>
              <a:buChar char="•"/>
              <a:defRPr>
                <a:solidFill>
                  <a:schemeClr val="tx1"/>
                </a:solidFill>
              </a:defRPr>
            </a:lvl1pPr>
            <a:lvl2pPr marL="265096" indent="-127978">
              <a:buFont typeface="Arial" panose="020B0604020202020204" pitchFamily="34" charset="0"/>
              <a:buChar char="•"/>
              <a:defRPr>
                <a:solidFill>
                  <a:schemeClr val="tx1"/>
                </a:solidFill>
              </a:defRPr>
            </a:lvl2pPr>
            <a:lvl3pPr marL="383933" indent="-118836">
              <a:buFont typeface="Arial"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6"/>
            <a:ext cx="8193024" cy="482633"/>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096" indent="-127978">
              <a:buFont typeface="Arial" panose="020B0604020202020204" pitchFamily="34" charset="0"/>
              <a:buChar char="•"/>
              <a:defRPr>
                <a:solidFill>
                  <a:schemeClr val="tx1"/>
                </a:solidFill>
              </a:defRPr>
            </a:lvl2pPr>
            <a:lvl3pPr marL="383933" indent="-118836">
              <a:buFont typeface="Arial"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9"/>
            <a:ext cx="8193024" cy="1532792"/>
          </a:xfrm>
          <a:prstGeom prst="rect">
            <a:avLst/>
          </a:prstGeom>
        </p:spPr>
        <p:txBody>
          <a:bodyPr wrap="square">
            <a:spAutoFit/>
          </a:bodyPr>
          <a:lstStyle>
            <a:lvl1pPr marL="137119" indent="-137119">
              <a:buFont typeface="Arial" panose="020B0604020202020204" pitchFamily="34" charset="0"/>
              <a:buChar char="•"/>
              <a:defRPr>
                <a:solidFill>
                  <a:schemeClr val="tx1"/>
                </a:solidFill>
              </a:defRPr>
            </a:lvl1pPr>
            <a:lvl2pPr marL="265096" indent="-127978">
              <a:buFont typeface="Arial" panose="020B0604020202020204" pitchFamily="34" charset="0"/>
              <a:buChar char="•"/>
              <a:defRPr>
                <a:solidFill>
                  <a:schemeClr val="tx1"/>
                </a:solidFill>
              </a:defRPr>
            </a:lvl2pPr>
            <a:lvl3pPr marL="383933" indent="-118836">
              <a:buFont typeface="Arial"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09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48459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eveloper code righ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1999">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8"/>
            <a:ext cx="4042761" cy="307777"/>
          </a:xfrm>
        </p:spPr>
        <p:txBody>
          <a:bodyPr/>
          <a:lstStyle>
            <a:lvl1pPr>
              <a:defRPr sz="1999"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90" y="1594157"/>
            <a:ext cx="4042761" cy="160736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19" indent="0">
              <a:buFont typeface="Arial" panose="020B0604020202020204" pitchFamily="34" charset="0"/>
              <a:buNone/>
              <a:defRPr>
                <a:solidFill>
                  <a:schemeClr val="tx1"/>
                </a:solidFill>
              </a:defRPr>
            </a:lvl2pPr>
            <a:lvl3pPr marL="265096" indent="0">
              <a:buFont typeface="Arial" panose="020B0604020202020204" pitchFamily="34" charset="0"/>
              <a:buNone/>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4"/>
            <a:ext cx="5799138" cy="215444"/>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345" indent="0">
              <a:buNone/>
              <a:defRPr sz="2398">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57" indent="0">
              <a:buNone/>
              <a:defRPr sz="1998">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75" indent="0">
              <a:buNone/>
              <a:defRPr sz="1798">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367" indent="0">
              <a:buNone/>
              <a:defRPr sz="1798">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2" name="Footer Placeholder 1">
            <a:extLst>
              <a:ext uri="{FF2B5EF4-FFF2-40B4-BE49-F238E27FC236}">
                <a16:creationId xmlns:a16="http://schemas.microsoft.com/office/drawing/2014/main" id="{7B656E93-ABF2-EFDA-C03A-0B39E5D5D2B9}"/>
              </a:ext>
            </a:extLst>
          </p:cNvPr>
          <p:cNvSpPr>
            <a:spLocks noGrp="1"/>
          </p:cNvSpPr>
          <p:nvPr>
            <p:ph type="ftr" sz="quarter" idx="16"/>
          </p:nvPr>
        </p:nvSpPr>
        <p:spPr/>
        <p:txBody>
          <a:bodyPr/>
          <a:lstStyle/>
          <a:p>
            <a:pPr defTabSz="914093">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1223912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000AF1-85AC-0D5C-728E-04F6B9D192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007292-A4A1-22A1-5ED9-E6D3AA9AAB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51ABD9-B972-5441-E7DC-06906C14BF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F64B85-7454-4FB8-929B-4EB728D98DEA}" type="datetimeFigureOut">
              <a:rPr lang="en-US" smtClean="0"/>
              <a:t>10/23/2026</a:t>
            </a:fld>
            <a:endParaRPr lang="en-US"/>
          </a:p>
        </p:txBody>
      </p:sp>
      <p:sp>
        <p:nvSpPr>
          <p:cNvPr id="5" name="Footer Placeholder 4">
            <a:extLst>
              <a:ext uri="{FF2B5EF4-FFF2-40B4-BE49-F238E27FC236}">
                <a16:creationId xmlns:a16="http://schemas.microsoft.com/office/drawing/2014/main" id="{53874D9C-7740-85D9-A1DF-E2FF6CFA0A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93B978-4F7A-0300-658B-F1C484270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02FF24-95A5-49A4-9F8F-F5D27C369BE4}" type="slidenum">
              <a:rPr lang="en-US" smtClean="0"/>
              <a:t>‹#›</a:t>
            </a:fld>
            <a:endParaRPr lang="en-US"/>
          </a:p>
        </p:txBody>
      </p:sp>
    </p:spTree>
    <p:extLst>
      <p:ext uri="{BB962C8B-B14F-4D97-AF65-F5344CB8AC3E}">
        <p14:creationId xmlns:p14="http://schemas.microsoft.com/office/powerpoint/2010/main" val="2449841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8" Type="http://schemas.openxmlformats.org/officeDocument/2006/relationships/hyperlink" Target="https://learn.microsoft.com/en-us/agents/architecture/multi-agent-orchestrator-sub-agent" TargetMode="External"/><Relationship Id="rId3" Type="http://schemas.openxmlformats.org/officeDocument/2006/relationships/hyperlink" Target="https://learn.microsoft.com/en-us/microsoft-copilot-studio/authoring-add-other-agents" TargetMode="External"/><Relationship Id="rId7" Type="http://schemas.openxmlformats.org/officeDocument/2006/relationships/hyperlink" Target="https://learn.microsoft.com/en-us/power-automate/call-copilot-studio-agent" TargetMode="External"/><Relationship Id="rId2" Type="http://schemas.openxmlformats.org/officeDocument/2006/relationships/hyperlink" Target="https://learn.microsoft.com/en-us/microsoft-copilot-studio/harnesses-overview" TargetMode="External"/><Relationship Id="rId1" Type="http://schemas.openxmlformats.org/officeDocument/2006/relationships/slideLayout" Target="../slideLayouts/slideLayout17.xml"/><Relationship Id="rId6" Type="http://schemas.openxmlformats.org/officeDocument/2006/relationships/hyperlink" Target="https://learn.microsoft.com/en-us/microsoft-copilot-studio/workflows-experience/agent-node-workflow" TargetMode="External"/><Relationship Id="rId5" Type="http://schemas.openxmlformats.org/officeDocument/2006/relationships/hyperlink" Target="https://learn.microsoft.com/en-us/microsoft-copilot-studio/agents-experience/authoring-add-other-agents" TargetMode="External"/><Relationship Id="rId4" Type="http://schemas.openxmlformats.org/officeDocument/2006/relationships/hyperlink" Target="https://learn.microsoft.com/en-us/microsoft-copilot-studio/add-agent-child-agent" TargetMode="External"/><Relationship Id="rId9" Type="http://schemas.openxmlformats.org/officeDocument/2006/relationships/hyperlink" Target="https://learn.microsoft.com/en-us/agents/architecture/multi-agent-workflow-oriented"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8" Type="http://schemas.openxmlformats.org/officeDocument/2006/relationships/hyperlink" Target="https://learn.microsoft.com/en-us/microsoft-copilot-studio/workflows-experience/agent-node-workflow" TargetMode="External"/><Relationship Id="rId3" Type="http://schemas.openxmlformats.org/officeDocument/2006/relationships/hyperlink" Target="https://learn.microsoft.com/en-us/microsoft-copilot-studio/agents-experience/add-agent-connected" TargetMode="External"/><Relationship Id="rId7" Type="http://schemas.openxmlformats.org/officeDocument/2006/relationships/hyperlink" Target="https://learn.microsoft.com/en-us/microsoft-copilot-studio/agents-experience/authoring-activity-trace" TargetMode="External"/><Relationship Id="rId2" Type="http://schemas.openxmlformats.org/officeDocument/2006/relationships/hyperlink" Target="https://learn.microsoft.com/en-us/microsoft-copilot-studio/agents-experience/authoring-add-other-agents" TargetMode="External"/><Relationship Id="rId1" Type="http://schemas.openxmlformats.org/officeDocument/2006/relationships/slideLayout" Target="../slideLayouts/slideLayout17.xml"/><Relationship Id="rId6" Type="http://schemas.openxmlformats.org/officeDocument/2006/relationships/hyperlink" Target="https://learn.microsoft.com/en-us/microsoft-copilot-studio/agents-experience/authoring-share-agent" TargetMode="External"/><Relationship Id="rId5" Type="http://schemas.openxmlformats.org/officeDocument/2006/relationships/hyperlink" Target="https://learn.microsoft.com/en-us/microsoft-copilot-studio/agents-experience/publication-publish-agent" TargetMode="External"/><Relationship Id="rId4" Type="http://schemas.openxmlformats.org/officeDocument/2006/relationships/hyperlink" Target="https://learn.microsoft.com/en-us/microsoft-copilot-studio/agents-experience/manage-connected-agents"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99EF934-0A90-5A97-B7AC-C1A867FBBFEF}"/>
              </a:ext>
            </a:extLst>
          </p:cNvPr>
          <p:cNvSpPr>
            <a:spLocks noGrp="1"/>
          </p:cNvSpPr>
          <p:nvPr>
            <p:ph type="title"/>
          </p:nvPr>
        </p:nvSpPr>
        <p:spPr>
          <a:xfrm>
            <a:off x="569912" y="3442574"/>
            <a:ext cx="8193024" cy="557589"/>
          </a:xfrm>
        </p:spPr>
        <p:txBody>
          <a:bodyPr/>
          <a:lstStyle/>
          <a:p>
            <a:r>
              <a:rPr lang="en-US"/>
              <a:t>Introduction to Agents</a:t>
            </a:r>
            <a:endParaRPr lang="en-IN"/>
          </a:p>
        </p:txBody>
      </p:sp>
      <p:sp>
        <p:nvSpPr>
          <p:cNvPr id="21" name="Text Placeholder 20">
            <a:extLst>
              <a:ext uri="{FF2B5EF4-FFF2-40B4-BE49-F238E27FC236}">
                <a16:creationId xmlns:a16="http://schemas.microsoft.com/office/drawing/2014/main" id="{5589D9D6-4222-E597-11AC-747700C47F4E}"/>
              </a:ext>
            </a:extLst>
          </p:cNvPr>
          <p:cNvSpPr>
            <a:spLocks noGrp="1"/>
          </p:cNvSpPr>
          <p:nvPr>
            <p:ph type="body" sz="quarter" idx="13"/>
          </p:nvPr>
        </p:nvSpPr>
        <p:spPr/>
        <p:txBody>
          <a:bodyPr/>
          <a:lstStyle/>
          <a:p>
            <a:endParaRPr lang="en-IN"/>
          </a:p>
        </p:txBody>
      </p:sp>
      <p:sp>
        <p:nvSpPr>
          <p:cNvPr id="22" name="Text Placeholder 21">
            <a:extLst>
              <a:ext uri="{FF2B5EF4-FFF2-40B4-BE49-F238E27FC236}">
                <a16:creationId xmlns:a16="http://schemas.microsoft.com/office/drawing/2014/main" id="{EBC20F14-113E-B5D5-635E-738EF060E905}"/>
              </a:ext>
            </a:extLst>
          </p:cNvPr>
          <p:cNvSpPr>
            <a:spLocks noGrp="1"/>
          </p:cNvSpPr>
          <p:nvPr>
            <p:ph type="body" sz="quarter" idx="14"/>
          </p:nvPr>
        </p:nvSpPr>
        <p:spPr/>
        <p:txBody>
          <a:bodyPr/>
          <a:lstStyle/>
          <a:p>
            <a:endParaRPr lang="en-IN"/>
          </a:p>
        </p:txBody>
      </p:sp>
    </p:spTree>
    <p:custDataLst>
      <p:tags r:id="rId1"/>
    </p:custDataLst>
    <p:extLst>
      <p:ext uri="{BB962C8B-B14F-4D97-AF65-F5344CB8AC3E}">
        <p14:creationId xmlns:p14="http://schemas.microsoft.com/office/powerpoint/2010/main" val="172256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Design multi-agent solutions in Microsoft Copilot Studio</a:t>
            </a:r>
          </a:p>
        </p:txBody>
      </p:sp>
      <p:sp>
        <p:nvSpPr>
          <p:cNvPr id="3" name="Text Placeholder 2"/>
          <p:cNvSpPr>
            <a:spLocks noGrp="1"/>
          </p:cNvSpPr>
          <p:nvPr>
            <p:ph type="body" sz="quarter" idx="12"/>
          </p:nvPr>
        </p:nvSpPr>
        <p:spPr/>
        <p:txBody>
          <a:bodyPr/>
          <a:lstStyle/>
          <a:p>
            <a:endParaRPr/>
          </a:p>
        </p:txBody>
      </p:sp>
      <p:sp>
        <p:nvSpPr>
          <p:cNvPr id="4" name="Text Placeholder 3"/>
          <p:cNvSpPr>
            <a:spLocks noGrp="1"/>
          </p:cNvSpPr>
          <p:nvPr>
            <p:ph type="body" sz="quarter" idx="13"/>
          </p:nvPr>
        </p:nvSpPr>
        <p:spPr>
          <a:xfrm>
            <a:off x="583479" y="6446520"/>
            <a:ext cx="3500000" cy="300000"/>
          </a:xfrm>
        </p:spPr>
        <p:txBody>
          <a:bodyPr wrap="none">
            <a:noAutofit/>
          </a:bodyPr>
          <a:lstStyle/>
          <a:p>
            <a:r>
              <a:t>Intermediate • October 2026</a:t>
            </a:r>
          </a:p>
        </p:txBody>
      </p:sp>
      <p:sp>
        <p:nvSpPr>
          <p:cNvPr id="5" name="Text Placeholder 4"/>
          <p:cNvSpPr>
            <a:spLocks noGrp="1"/>
          </p:cNvSpPr>
          <p:nvPr>
            <p:ph type="body" sz="quarter" idx="14"/>
          </p:nvPr>
        </p:nvSpPr>
        <p:spPr/>
        <p:txBody>
          <a:bodyPr/>
          <a:lstStyle/>
          <a:p>
            <a:endParaRPr/>
          </a:p>
        </p:txBody>
      </p:sp>
    </p:spTree>
    <p:extLst>
      <p:ext uri="{BB962C8B-B14F-4D97-AF65-F5344CB8AC3E}">
        <p14:creationId xmlns:p14="http://schemas.microsoft.com/office/powerpoint/2010/main" val="191312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Learning objectives</a:t>
            </a:r>
          </a:p>
        </p:txBody>
      </p:sp>
      <p:sp>
        <p:nvSpPr>
          <p:cNvPr id="2" name="Text Placeholder 1"/>
          <p:cNvSpPr>
            <a:spLocks noGrp="1"/>
          </p:cNvSpPr>
          <p:nvPr>
            <p:ph type="body" sz="quarter" idx="18"/>
          </p:nvPr>
        </p:nvSpPr>
        <p:spPr>
          <a:xfrm>
            <a:off x="586804" y="1250000"/>
            <a:ext cx="11018520" cy="400000"/>
          </a:xfrm>
        </p:spPr>
        <p:txBody>
          <a:bodyPr wrap="square" anchor="t">
            <a:noAutofit/>
          </a:bodyPr>
          <a:lstStyle/>
          <a:p>
            <a:pPr>
              <a:buNone/>
              <a:defRPr sz="1400"/>
            </a:pPr>
            <a:r>
              <a:t>After completing this module, you'll be able to:</a:t>
            </a:r>
          </a:p>
        </p:txBody>
      </p:sp>
      <p:sp>
        <p:nvSpPr>
          <p:cNvPr id="4" name="Rounded Rectangle 3">
            <a:extLst>
              <a:ext uri="{C183D7F6-B498-43B3-948B-1728B52AA6E4}">
                <adec:decorative xmlns:adec="http://schemas.microsoft.com/office/drawing/2017/decorative" val="1"/>
              </a:ext>
            </a:extLst>
          </p:cNvPr>
          <p:cNvSpPr/>
          <p:nvPr/>
        </p:nvSpPr>
        <p:spPr>
          <a:xfrm>
            <a:off x="586804" y="2610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descr="Item 1">
            <a:extLst>
              <a:ext uri="{C183D7F6-B498-43B3-948B-1728B52AA6E4}">
                <adec:decorative xmlns:adec="http://schemas.microsoft.com/office/drawing/2017/decorative" val="0"/>
              </a:ext>
            </a:extLst>
          </p:cNvPr>
          <p:cNvSpPr/>
          <p:nvPr/>
        </p:nvSpPr>
        <p:spPr>
          <a:xfrm>
            <a:off x="815403" y="282225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6" name="TextBox 5"/>
          <p:cNvSpPr txBox="1"/>
          <p:nvPr/>
        </p:nvSpPr>
        <p:spPr>
          <a:xfrm>
            <a:off x="1464628" y="2898418"/>
            <a:ext cx="9940696" cy="323165"/>
          </a:xfrm>
          <a:prstGeom prst="rect">
            <a:avLst/>
          </a:prstGeom>
          <a:noFill/>
        </p:spPr>
        <p:txBody>
          <a:bodyPr wrap="square" anchor="ctr">
            <a:spAutoFit/>
          </a:bodyPr>
          <a:lstStyle/>
          <a:p>
            <a:pPr>
              <a:defRPr sz="1500" b="0">
                <a:solidFill>
                  <a:srgbClr val="000000"/>
                </a:solidFill>
              </a:defRPr>
            </a:pPr>
            <a:r>
              <a:rPr sz="1500"/>
              <a:t>Evaluate when a multi-agent architecture is appropriate compared to a single agent.</a:t>
            </a:r>
          </a:p>
        </p:txBody>
      </p:sp>
      <p:sp>
        <p:nvSpPr>
          <p:cNvPr id="7" name="Rounded Rectangle 6">
            <a:extLst>
              <a:ext uri="{C183D7F6-B498-43B3-948B-1728B52AA6E4}">
                <adec:decorative xmlns:adec="http://schemas.microsoft.com/office/drawing/2017/decorative" val="1"/>
              </a:ext>
            </a:extLst>
          </p:cNvPr>
          <p:cNvSpPr/>
          <p:nvPr/>
        </p:nvSpPr>
        <p:spPr>
          <a:xfrm>
            <a:off x="586804" y="3600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descr="Item 2">
            <a:extLst>
              <a:ext uri="{C183D7F6-B498-43B3-948B-1728B52AA6E4}">
                <adec:decorative xmlns:adec="http://schemas.microsoft.com/office/drawing/2017/decorative" val="0"/>
              </a:ext>
            </a:extLst>
          </p:cNvPr>
          <p:cNvSpPr/>
          <p:nvPr/>
        </p:nvSpPr>
        <p:spPr>
          <a:xfrm>
            <a:off x="815403" y="381225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9" name="TextBox 8"/>
          <p:cNvSpPr txBox="1"/>
          <p:nvPr/>
        </p:nvSpPr>
        <p:spPr>
          <a:xfrm>
            <a:off x="1464628" y="3888418"/>
            <a:ext cx="9940696" cy="323165"/>
          </a:xfrm>
          <a:prstGeom prst="rect">
            <a:avLst/>
          </a:prstGeom>
          <a:noFill/>
        </p:spPr>
        <p:txBody>
          <a:bodyPr wrap="square" anchor="ctr">
            <a:spAutoFit/>
          </a:bodyPr>
          <a:lstStyle/>
          <a:p>
            <a:pPr>
              <a:defRPr sz="1500" b="0">
                <a:solidFill>
                  <a:srgbClr val="000000"/>
                </a:solidFill>
              </a:defRPr>
            </a:pPr>
            <a:r>
              <a:rPr sz="1500"/>
              <a:t>Compare multi-agent patterns to choose how agents coordinate.</a:t>
            </a:r>
          </a:p>
        </p:txBody>
      </p:sp>
      <p:sp>
        <p:nvSpPr>
          <p:cNvPr id="10" name="Rounded Rectangle 9">
            <a:extLst>
              <a:ext uri="{C183D7F6-B498-43B3-948B-1728B52AA6E4}">
                <adec:decorative xmlns:adec="http://schemas.microsoft.com/office/drawing/2017/decorative" val="1"/>
              </a:ext>
            </a:extLst>
          </p:cNvPr>
          <p:cNvSpPr/>
          <p:nvPr/>
        </p:nvSpPr>
        <p:spPr>
          <a:xfrm>
            <a:off x="586804" y="4590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descr="Item 3">
            <a:extLst>
              <a:ext uri="{C183D7F6-B498-43B3-948B-1728B52AA6E4}">
                <adec:decorative xmlns:adec="http://schemas.microsoft.com/office/drawing/2017/decorative" val="0"/>
              </a:ext>
            </a:extLst>
          </p:cNvPr>
          <p:cNvSpPr/>
          <p:nvPr/>
        </p:nvSpPr>
        <p:spPr>
          <a:xfrm>
            <a:off x="815403" y="480225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2" name="TextBox 11"/>
          <p:cNvSpPr txBox="1"/>
          <p:nvPr/>
        </p:nvSpPr>
        <p:spPr>
          <a:xfrm>
            <a:off x="1464628" y="4878418"/>
            <a:ext cx="9940696" cy="323165"/>
          </a:xfrm>
          <a:prstGeom prst="rect">
            <a:avLst/>
          </a:prstGeom>
          <a:noFill/>
        </p:spPr>
        <p:txBody>
          <a:bodyPr wrap="square" anchor="ctr">
            <a:spAutoFit/>
          </a:bodyPr>
          <a:lstStyle/>
          <a:p>
            <a:pPr>
              <a:defRPr sz="1500" b="0">
                <a:solidFill>
                  <a:srgbClr val="000000"/>
                </a:solidFill>
              </a:defRPr>
            </a:pPr>
            <a:r>
              <a:rPr sz="1500"/>
              <a:t>Identify the multi-agent implementation options available on the standard and GitHub Copilot harnesses.</a:t>
            </a:r>
          </a:p>
        </p:txBody>
      </p:sp>
    </p:spTree>
    <p:extLst>
      <p:ext uri="{BB962C8B-B14F-4D97-AF65-F5344CB8AC3E}">
        <p14:creationId xmlns:p14="http://schemas.microsoft.com/office/powerpoint/2010/main" val="236616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1: Decide when to use multiple agents</a:t>
            </a:r>
          </a:p>
        </p:txBody>
      </p:sp>
    </p:spTree>
    <p:extLst>
      <p:ext uri="{BB962C8B-B14F-4D97-AF65-F5344CB8AC3E}">
        <p14:creationId xmlns:p14="http://schemas.microsoft.com/office/powerpoint/2010/main" val="1426728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How a multi-agent architecture works</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The primary agent is the front door and delegates when another agent's domain fits the request.</a:t>
            </a:r>
          </a:p>
        </p:txBody>
      </p:sp>
      <p:sp>
        <p:nvSpPr>
          <p:cNvPr id="5" name="Rounded Rectangle 4">
            <a:extLst>
              <a:ext uri="{C183D7F6-B498-43B3-948B-1728B52AA6E4}">
                <adec:decorative xmlns:adec="http://schemas.microsoft.com/office/drawing/2017/decorative" val="1"/>
              </a:ext>
            </a:extLst>
          </p:cNvPr>
          <p:cNvSpPr/>
          <p:nvPr/>
        </p:nvSpPr>
        <p:spPr>
          <a:xfrm>
            <a:off x="3101404" y="1600200"/>
            <a:ext cx="5989320" cy="800000"/>
          </a:xfrm>
          <a:prstGeom prst="roundRect">
            <a:avLst>
              <a:gd name="adj" fmla="val 5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95882" y="1709928"/>
            <a:ext cx="1800365" cy="400110"/>
          </a:xfrm>
          <a:prstGeom prst="rect">
            <a:avLst/>
          </a:prstGeom>
          <a:noFill/>
        </p:spPr>
        <p:txBody>
          <a:bodyPr wrap="none">
            <a:spAutoFit/>
          </a:bodyPr>
          <a:lstStyle/>
          <a:p>
            <a:pPr algn="ctr">
              <a:defRPr sz="2000" b="1">
                <a:solidFill>
                  <a:srgbClr val="FFFFFF"/>
                </a:solidFill>
              </a:defRPr>
            </a:pPr>
            <a:r>
              <a:rPr sz="2000"/>
              <a:t>Primary agent</a:t>
            </a:r>
          </a:p>
        </p:txBody>
      </p:sp>
      <p:sp>
        <p:nvSpPr>
          <p:cNvPr id="7" name="Down Arrow 6">
            <a:extLst>
              <a:ext uri="{C183D7F6-B498-43B3-948B-1728B52AA6E4}">
                <adec:decorative xmlns:adec="http://schemas.microsoft.com/office/drawing/2017/decorative" val="1"/>
              </a:ext>
            </a:extLst>
          </p:cNvPr>
          <p:cNvSpPr/>
          <p:nvPr/>
        </p:nvSpPr>
        <p:spPr>
          <a:xfrm>
            <a:off x="2039712" y="2500200"/>
            <a:ext cx="640080" cy="502920"/>
          </a:xfrm>
          <a:prstGeom prst="downArrow">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C183D7F6-B498-43B3-948B-1728B52AA6E4}">
                <adec:decorative xmlns:adec="http://schemas.microsoft.com/office/drawing/2017/decorative" val="1"/>
              </a:ext>
            </a:extLst>
          </p:cNvPr>
          <p:cNvSpPr/>
          <p:nvPr/>
        </p:nvSpPr>
        <p:spPr>
          <a:xfrm>
            <a:off x="586804" y="326888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C183D7F6-B498-43B3-948B-1728B52AA6E4}">
                <adec:decorative xmlns:adec="http://schemas.microsoft.com/office/drawing/2017/decorative" val="1"/>
              </a:ext>
            </a:extLst>
          </p:cNvPr>
          <p:cNvSpPr/>
          <p:nvPr/>
        </p:nvSpPr>
        <p:spPr>
          <a:xfrm>
            <a:off x="586804" y="326888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C183D7F6-B498-43B3-948B-1728B52AA6E4}">
                <adec:decorative xmlns:adec="http://schemas.microsoft.com/office/drawing/2017/decorative" val="1"/>
              </a:ext>
            </a:extLst>
          </p:cNvPr>
          <p:cNvSpPr/>
          <p:nvPr/>
        </p:nvSpPr>
        <p:spPr>
          <a:xfrm>
            <a:off x="586804" y="363464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684" y="3346491"/>
            <a:ext cx="3225896" cy="338554"/>
          </a:xfrm>
          <a:prstGeom prst="rect">
            <a:avLst/>
          </a:prstGeom>
          <a:noFill/>
        </p:spPr>
        <p:txBody>
          <a:bodyPr wrap="square" anchor="ctr">
            <a:spAutoFit/>
          </a:bodyPr>
          <a:lstStyle/>
          <a:p>
            <a:pPr>
              <a:defRPr sz="1600" b="1">
                <a:solidFill>
                  <a:srgbClr val="FFFFFF"/>
                </a:solidFill>
              </a:defRPr>
            </a:pPr>
            <a:r>
              <a:rPr sz="1600"/>
              <a:t>Billing agent</a:t>
            </a:r>
          </a:p>
        </p:txBody>
      </p:sp>
      <p:sp>
        <p:nvSpPr>
          <p:cNvPr id="12" name="TextBox 11"/>
          <p:cNvSpPr txBox="1"/>
          <p:nvPr/>
        </p:nvSpPr>
        <p:spPr>
          <a:xfrm>
            <a:off x="824548" y="3908720"/>
            <a:ext cx="3110792" cy="1133644"/>
          </a:xfrm>
          <a:prstGeom prst="rect">
            <a:avLst/>
          </a:prstGeom>
          <a:noFill/>
        </p:spPr>
        <p:txBody>
          <a:bodyPr wrap="square">
            <a:spAutoFit/>
          </a:bodyPr>
          <a:lstStyle/>
          <a:p>
            <a:pPr>
              <a:spcAft>
                <a:spcPts val="1400"/>
              </a:spcAft>
              <a:defRPr sz="1400">
                <a:solidFill>
                  <a:srgbClr val="000000"/>
                </a:solidFill>
              </a:defRPr>
            </a:pPr>
            <a:r>
              <a:rPr sz="1400"/>
              <a:t>•  Own instructions, knowledge, and tools</a:t>
            </a:r>
          </a:p>
          <a:p>
            <a:pPr>
              <a:spcAft>
                <a:spcPts val="1400"/>
              </a:spcAft>
              <a:defRPr sz="1400">
                <a:solidFill>
                  <a:srgbClr val="000000"/>
                </a:solidFill>
              </a:defRPr>
            </a:pPr>
            <a:r>
              <a:rPr sz="1400"/>
              <a:t>•  Returns a response to the primary agent</a:t>
            </a:r>
          </a:p>
        </p:txBody>
      </p:sp>
      <p:sp>
        <p:nvSpPr>
          <p:cNvPr id="13" name="Down Arrow 12">
            <a:extLst>
              <a:ext uri="{C183D7F6-B498-43B3-948B-1728B52AA6E4}">
                <adec:decorative xmlns:adec="http://schemas.microsoft.com/office/drawing/2017/decorative" val="1"/>
              </a:ext>
            </a:extLst>
          </p:cNvPr>
          <p:cNvSpPr/>
          <p:nvPr/>
        </p:nvSpPr>
        <p:spPr>
          <a:xfrm>
            <a:off x="5776024" y="2500200"/>
            <a:ext cx="640080" cy="502920"/>
          </a:xfrm>
          <a:prstGeom prst="downArrow">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C183D7F6-B498-43B3-948B-1728B52AA6E4}">
                <adec:decorative xmlns:adec="http://schemas.microsoft.com/office/drawing/2017/decorative" val="1"/>
              </a:ext>
            </a:extLst>
          </p:cNvPr>
          <p:cNvSpPr/>
          <p:nvPr/>
        </p:nvSpPr>
        <p:spPr>
          <a:xfrm>
            <a:off x="4323116" y="326888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4323116" y="326888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4323116" y="363464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05996" y="3346491"/>
            <a:ext cx="3225896" cy="338554"/>
          </a:xfrm>
          <a:prstGeom prst="rect">
            <a:avLst/>
          </a:prstGeom>
          <a:noFill/>
        </p:spPr>
        <p:txBody>
          <a:bodyPr wrap="square" anchor="ctr">
            <a:spAutoFit/>
          </a:bodyPr>
          <a:lstStyle/>
          <a:p>
            <a:pPr>
              <a:defRPr sz="1600" b="1">
                <a:solidFill>
                  <a:srgbClr val="FFFFFF"/>
                </a:solidFill>
              </a:defRPr>
            </a:pPr>
            <a:r>
              <a:rPr sz="1600"/>
              <a:t>Technical support agent</a:t>
            </a:r>
          </a:p>
        </p:txBody>
      </p:sp>
      <p:sp>
        <p:nvSpPr>
          <p:cNvPr id="18" name="TextBox 17"/>
          <p:cNvSpPr txBox="1"/>
          <p:nvPr/>
        </p:nvSpPr>
        <p:spPr>
          <a:xfrm>
            <a:off x="4560860" y="3908720"/>
            <a:ext cx="3110792" cy="702756"/>
          </a:xfrm>
          <a:prstGeom prst="rect">
            <a:avLst/>
          </a:prstGeom>
          <a:noFill/>
        </p:spPr>
        <p:txBody>
          <a:bodyPr wrap="square">
            <a:spAutoFit/>
          </a:bodyPr>
          <a:lstStyle/>
          <a:p>
            <a:pPr>
              <a:spcAft>
                <a:spcPts val="1400"/>
              </a:spcAft>
              <a:defRPr sz="1400">
                <a:solidFill>
                  <a:srgbClr val="000000"/>
                </a:solidFill>
              </a:defRPr>
            </a:pPr>
            <a:r>
              <a:rPr sz="1400"/>
              <a:t>•  Own orchestration context</a:t>
            </a:r>
          </a:p>
          <a:p>
            <a:pPr>
              <a:spcAft>
                <a:spcPts val="1400"/>
              </a:spcAft>
              <a:defRPr sz="1400">
                <a:solidFill>
                  <a:srgbClr val="000000"/>
                </a:solidFill>
              </a:defRPr>
            </a:pPr>
            <a:r>
              <a:rPr sz="1400"/>
              <a:t>•  Focused on its domain</a:t>
            </a:r>
          </a:p>
        </p:txBody>
      </p:sp>
      <p:sp>
        <p:nvSpPr>
          <p:cNvPr id="19" name="Down Arrow 18">
            <a:extLst>
              <a:ext uri="{C183D7F6-B498-43B3-948B-1728B52AA6E4}">
                <adec:decorative xmlns:adec="http://schemas.microsoft.com/office/drawing/2017/decorative" val="1"/>
              </a:ext>
            </a:extLst>
          </p:cNvPr>
          <p:cNvSpPr/>
          <p:nvPr/>
        </p:nvSpPr>
        <p:spPr>
          <a:xfrm>
            <a:off x="9512336" y="2500200"/>
            <a:ext cx="640080" cy="502920"/>
          </a:xfrm>
          <a:prstGeom prst="down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a:extLst>
              <a:ext uri="{C183D7F6-B498-43B3-948B-1728B52AA6E4}">
                <adec:decorative xmlns:adec="http://schemas.microsoft.com/office/drawing/2017/decorative" val="1"/>
              </a:ext>
            </a:extLst>
          </p:cNvPr>
          <p:cNvSpPr/>
          <p:nvPr/>
        </p:nvSpPr>
        <p:spPr>
          <a:xfrm>
            <a:off x="8059428" y="326888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a:extLst>
              <a:ext uri="{C183D7F6-B498-43B3-948B-1728B52AA6E4}">
                <adec:decorative xmlns:adec="http://schemas.microsoft.com/office/drawing/2017/decorative" val="1"/>
              </a:ext>
            </a:extLst>
          </p:cNvPr>
          <p:cNvSpPr/>
          <p:nvPr/>
        </p:nvSpPr>
        <p:spPr>
          <a:xfrm>
            <a:off x="8059428" y="326888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C183D7F6-B498-43B3-948B-1728B52AA6E4}">
                <adec:decorative xmlns:adec="http://schemas.microsoft.com/office/drawing/2017/decorative" val="1"/>
              </a:ext>
            </a:extLst>
          </p:cNvPr>
          <p:cNvSpPr/>
          <p:nvPr/>
        </p:nvSpPr>
        <p:spPr>
          <a:xfrm>
            <a:off x="8059428" y="363464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42308" y="3346491"/>
            <a:ext cx="3225896" cy="338554"/>
          </a:xfrm>
          <a:prstGeom prst="rect">
            <a:avLst/>
          </a:prstGeom>
          <a:noFill/>
        </p:spPr>
        <p:txBody>
          <a:bodyPr wrap="square" anchor="ctr">
            <a:spAutoFit/>
          </a:bodyPr>
          <a:lstStyle/>
          <a:p>
            <a:pPr>
              <a:defRPr sz="1600" b="1">
                <a:solidFill>
                  <a:srgbClr val="FFFFFF"/>
                </a:solidFill>
              </a:defRPr>
            </a:pPr>
            <a:r>
              <a:rPr sz="1600"/>
              <a:t>Account management agent</a:t>
            </a:r>
          </a:p>
        </p:txBody>
      </p:sp>
      <p:sp>
        <p:nvSpPr>
          <p:cNvPr id="24" name="TextBox 23"/>
          <p:cNvSpPr txBox="1"/>
          <p:nvPr/>
        </p:nvSpPr>
        <p:spPr>
          <a:xfrm>
            <a:off x="8297172" y="3908720"/>
            <a:ext cx="3110792" cy="702756"/>
          </a:xfrm>
          <a:prstGeom prst="rect">
            <a:avLst/>
          </a:prstGeom>
          <a:noFill/>
        </p:spPr>
        <p:txBody>
          <a:bodyPr wrap="square">
            <a:spAutoFit/>
          </a:bodyPr>
          <a:lstStyle/>
          <a:p>
            <a:pPr>
              <a:spcAft>
                <a:spcPts val="1400"/>
              </a:spcAft>
              <a:defRPr sz="1400">
                <a:solidFill>
                  <a:srgbClr val="000000"/>
                </a:solidFill>
              </a:defRPr>
            </a:pPr>
            <a:r>
              <a:rPr sz="1400"/>
              <a:t>•  Published separately</a:t>
            </a:r>
          </a:p>
          <a:p>
            <a:pPr>
              <a:spcAft>
                <a:spcPts val="1400"/>
              </a:spcAft>
              <a:defRPr sz="1400">
                <a:solidFill>
                  <a:srgbClr val="000000"/>
                </a:solidFill>
              </a:defRPr>
            </a:pPr>
            <a:r>
              <a:rPr sz="1400"/>
              <a:t>•  Maintained by its owning team</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580896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Start with one agent</a:t>
            </a:r>
          </a:p>
        </p:txBody>
      </p:sp>
      <p:sp>
        <p:nvSpPr>
          <p:cNvPr id="4" name="Rounded Rectangle 3">
            <a:extLst>
              <a:ext uri="{C183D7F6-B498-43B3-948B-1728B52AA6E4}">
                <adec:decorative xmlns:adec="http://schemas.microsoft.com/office/drawing/2017/decorative" val="1"/>
              </a:ext>
            </a:extLst>
          </p:cNvPr>
          <p:cNvSpPr/>
          <p:nvPr/>
        </p:nvSpPr>
        <p:spPr>
          <a:xfrm>
            <a:off x="586804" y="2360000"/>
            <a:ext cx="3545896" cy="2180000"/>
          </a:xfrm>
          <a:prstGeom prst="roundRect">
            <a:avLst>
              <a:gd name="adj" fmla="val 4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86804" y="236000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86804" y="272576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9684" y="2465043"/>
            <a:ext cx="3225896" cy="338554"/>
          </a:xfrm>
          <a:prstGeom prst="rect">
            <a:avLst/>
          </a:prstGeom>
          <a:noFill/>
        </p:spPr>
        <p:txBody>
          <a:bodyPr wrap="square" anchor="ctr">
            <a:spAutoFit/>
          </a:bodyPr>
          <a:lstStyle/>
          <a:p>
            <a:pPr>
              <a:defRPr sz="1600" b="1">
                <a:solidFill>
                  <a:srgbClr val="FFFFFF"/>
                </a:solidFill>
              </a:defRPr>
            </a:pPr>
            <a:r>
              <a:rPr sz="1600"/>
              <a:t>Keep the design small</a:t>
            </a:r>
          </a:p>
        </p:txBody>
      </p:sp>
      <p:sp>
        <p:nvSpPr>
          <p:cNvPr id="8" name="TextBox 7"/>
          <p:cNvSpPr txBox="1"/>
          <p:nvPr/>
        </p:nvSpPr>
        <p:spPr>
          <a:xfrm>
            <a:off x="769684" y="3030001"/>
            <a:ext cx="3180136" cy="728405"/>
          </a:xfrm>
          <a:prstGeom prst="rect">
            <a:avLst/>
          </a:prstGeom>
          <a:noFill/>
        </p:spPr>
        <p:txBody>
          <a:bodyPr wrap="square">
            <a:spAutoFit/>
          </a:bodyPr>
          <a:lstStyle/>
          <a:p>
            <a:pPr>
              <a:spcAft>
                <a:spcPts val="1600"/>
              </a:spcAft>
              <a:defRPr sz="1400">
                <a:solidFill>
                  <a:srgbClr val="000000"/>
                </a:solidFill>
              </a:defRPr>
            </a:pPr>
            <a:r>
              <a:rPr sz="1400"/>
              <a:t>One set of instructions</a:t>
            </a:r>
          </a:p>
          <a:p>
            <a:pPr>
              <a:spcAft>
                <a:spcPts val="1600"/>
              </a:spcAft>
              <a:defRPr sz="1400">
                <a:solidFill>
                  <a:srgbClr val="000000"/>
                </a:solidFill>
              </a:defRPr>
            </a:pPr>
            <a:r>
              <a:rPr sz="1400"/>
              <a:t>One agent to test, publish, and govern</a:t>
            </a:r>
          </a:p>
        </p:txBody>
      </p:sp>
      <p:sp>
        <p:nvSpPr>
          <p:cNvPr id="9" name="Rounded Rectangle 8">
            <a:extLst>
              <a:ext uri="{C183D7F6-B498-43B3-948B-1728B52AA6E4}">
                <adec:decorative xmlns:adec="http://schemas.microsoft.com/office/drawing/2017/decorative" val="1"/>
              </a:ext>
            </a:extLst>
          </p:cNvPr>
          <p:cNvSpPr/>
          <p:nvPr/>
        </p:nvSpPr>
        <p:spPr>
          <a:xfrm>
            <a:off x="4323116" y="2360000"/>
            <a:ext cx="3545896" cy="2180000"/>
          </a:xfrm>
          <a:prstGeom prst="roundRect">
            <a:avLst>
              <a:gd name="adj" fmla="val 4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C183D7F6-B498-43B3-948B-1728B52AA6E4}">
                <adec:decorative xmlns:adec="http://schemas.microsoft.com/office/drawing/2017/decorative" val="1"/>
              </a:ext>
            </a:extLst>
          </p:cNvPr>
          <p:cNvSpPr/>
          <p:nvPr/>
        </p:nvSpPr>
        <p:spPr>
          <a:xfrm>
            <a:off x="4323116" y="236000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323116" y="272576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5996" y="2465043"/>
            <a:ext cx="3225896" cy="338554"/>
          </a:xfrm>
          <a:prstGeom prst="rect">
            <a:avLst/>
          </a:prstGeom>
          <a:noFill/>
        </p:spPr>
        <p:txBody>
          <a:bodyPr wrap="square" anchor="ctr">
            <a:spAutoFit/>
          </a:bodyPr>
          <a:lstStyle/>
          <a:p>
            <a:pPr>
              <a:defRPr sz="1600" b="1">
                <a:solidFill>
                  <a:srgbClr val="FFFFFF"/>
                </a:solidFill>
              </a:defRPr>
            </a:pPr>
            <a:r>
              <a:rPr sz="1600"/>
              <a:t>Improve routing first</a:t>
            </a:r>
          </a:p>
        </p:txBody>
      </p:sp>
      <p:sp>
        <p:nvSpPr>
          <p:cNvPr id="13" name="TextBox 12"/>
          <p:cNvSpPr txBox="1"/>
          <p:nvPr/>
        </p:nvSpPr>
        <p:spPr>
          <a:xfrm>
            <a:off x="4505996" y="3030000"/>
            <a:ext cx="3180136" cy="1159292"/>
          </a:xfrm>
          <a:prstGeom prst="rect">
            <a:avLst/>
          </a:prstGeom>
          <a:noFill/>
        </p:spPr>
        <p:txBody>
          <a:bodyPr wrap="square">
            <a:spAutoFit/>
          </a:bodyPr>
          <a:lstStyle/>
          <a:p>
            <a:pPr>
              <a:spcAft>
                <a:spcPts val="1600"/>
              </a:spcAft>
              <a:defRPr sz="1400">
                <a:solidFill>
                  <a:srgbClr val="000000"/>
                </a:solidFill>
              </a:defRPr>
            </a:pPr>
            <a:r>
              <a:rPr sz="1400"/>
              <a:t>Make descriptions and instructions distinct</a:t>
            </a:r>
          </a:p>
          <a:p>
            <a:pPr>
              <a:spcAft>
                <a:spcPts val="1600"/>
              </a:spcAft>
              <a:defRPr sz="1400">
                <a:solidFill>
                  <a:srgbClr val="000000"/>
                </a:solidFill>
              </a:defRPr>
            </a:pPr>
            <a:r>
              <a:rPr sz="1400"/>
              <a:t>Add a tool or knowledge source when that solves the need</a:t>
            </a:r>
          </a:p>
        </p:txBody>
      </p:sp>
      <p:sp>
        <p:nvSpPr>
          <p:cNvPr id="14" name="Rounded Rectangle 13">
            <a:extLst>
              <a:ext uri="{C183D7F6-B498-43B3-948B-1728B52AA6E4}">
                <adec:decorative xmlns:adec="http://schemas.microsoft.com/office/drawing/2017/decorative" val="1"/>
              </a:ext>
            </a:extLst>
          </p:cNvPr>
          <p:cNvSpPr/>
          <p:nvPr/>
        </p:nvSpPr>
        <p:spPr>
          <a:xfrm>
            <a:off x="8059428" y="2360000"/>
            <a:ext cx="3545896" cy="2180000"/>
          </a:xfrm>
          <a:prstGeom prst="roundRect">
            <a:avLst>
              <a:gd name="adj" fmla="val 4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8059428" y="236000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059428" y="272576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2308" y="2465043"/>
            <a:ext cx="3225896" cy="338554"/>
          </a:xfrm>
          <a:prstGeom prst="rect">
            <a:avLst/>
          </a:prstGeom>
          <a:noFill/>
        </p:spPr>
        <p:txBody>
          <a:bodyPr wrap="square" anchor="ctr">
            <a:spAutoFit/>
          </a:bodyPr>
          <a:lstStyle/>
          <a:p>
            <a:pPr>
              <a:defRPr sz="1600" b="1">
                <a:solidFill>
                  <a:srgbClr val="FFFFFF"/>
                </a:solidFill>
              </a:defRPr>
            </a:pPr>
            <a:r>
              <a:rPr sz="1600"/>
              <a:t>Split only for structure</a:t>
            </a:r>
          </a:p>
        </p:txBody>
      </p:sp>
      <p:sp>
        <p:nvSpPr>
          <p:cNvPr id="18" name="TextBox 17"/>
          <p:cNvSpPr txBox="1"/>
          <p:nvPr/>
        </p:nvSpPr>
        <p:spPr>
          <a:xfrm>
            <a:off x="8242308" y="3030000"/>
            <a:ext cx="3180136" cy="523220"/>
          </a:xfrm>
          <a:prstGeom prst="rect">
            <a:avLst/>
          </a:prstGeom>
          <a:noFill/>
        </p:spPr>
        <p:txBody>
          <a:bodyPr wrap="square">
            <a:spAutoFit/>
          </a:bodyPr>
          <a:lstStyle/>
          <a:p>
            <a:pPr>
              <a:spcAft>
                <a:spcPts val="1600"/>
              </a:spcAft>
              <a:defRPr sz="1400">
                <a:solidFill>
                  <a:srgbClr val="000000"/>
                </a:solidFill>
              </a:defRPr>
            </a:pPr>
            <a:r>
              <a:rPr sz="1400"/>
              <a:t>Use a separate agent when a named boundary justifies the added surface</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23550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Structural signals for separate agents</a:t>
            </a:r>
          </a:p>
        </p:txBody>
      </p:sp>
      <p:sp>
        <p:nvSpPr>
          <p:cNvPr id="4" name="Rounded Rectangle 3">
            <a:extLst>
              <a:ext uri="{C183D7F6-B498-43B3-948B-1728B52AA6E4}">
                <adec:decorative xmlns:adec="http://schemas.microsoft.com/office/drawing/2017/decorative" val="1"/>
              </a:ext>
            </a:extLst>
          </p:cNvPr>
          <p:cNvSpPr/>
          <p:nvPr/>
        </p:nvSpPr>
        <p:spPr>
          <a:xfrm>
            <a:off x="586804" y="2300000"/>
            <a:ext cx="3594888" cy="208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1104" y="2414300"/>
            <a:ext cx="530352" cy="530352"/>
          </a:xfrm>
          <a:prstGeom prst="rect">
            <a:avLst/>
          </a:prstGeom>
        </p:spPr>
      </p:pic>
      <p:sp>
        <p:nvSpPr>
          <p:cNvPr id="6" name="TextBox 5"/>
          <p:cNvSpPr txBox="1"/>
          <p:nvPr/>
        </p:nvSpPr>
        <p:spPr>
          <a:xfrm>
            <a:off x="1327456" y="2428001"/>
            <a:ext cx="2724536" cy="323165"/>
          </a:xfrm>
          <a:prstGeom prst="rect">
            <a:avLst/>
          </a:prstGeom>
          <a:noFill/>
        </p:spPr>
        <p:txBody>
          <a:bodyPr wrap="square">
            <a:spAutoFit/>
          </a:bodyPr>
          <a:lstStyle/>
          <a:p>
            <a:pPr>
              <a:defRPr sz="1500" b="1">
                <a:solidFill>
                  <a:srgbClr val="000000"/>
                </a:solidFill>
              </a:defRPr>
            </a:pPr>
            <a:r>
              <a:rPr sz="1500"/>
              <a:t>Team ownership</a:t>
            </a:r>
          </a:p>
        </p:txBody>
      </p:sp>
      <p:sp>
        <p:nvSpPr>
          <p:cNvPr id="7" name="TextBox 6"/>
          <p:cNvSpPr txBox="1"/>
          <p:nvPr/>
        </p:nvSpPr>
        <p:spPr>
          <a:xfrm>
            <a:off x="1327456" y="3020000"/>
            <a:ext cx="2724536" cy="1260000"/>
          </a:xfrm>
          <a:prstGeom prst="rect">
            <a:avLst/>
          </a:prstGeom>
          <a:noFill/>
        </p:spPr>
        <p:txBody>
          <a:bodyPr wrap="square">
            <a:noAutofit/>
          </a:bodyPr>
          <a:lstStyle/>
          <a:p>
            <a:pPr>
              <a:spcAft>
                <a:spcPts val="1400"/>
              </a:spcAft>
              <a:defRPr sz="1400">
                <a:solidFill>
                  <a:srgbClr val="333333"/>
                </a:solidFill>
              </a:defRPr>
            </a:pPr>
            <a:r>
              <a:rPr sz="1400"/>
              <a:t>Different teams maintain different parts independently.</a:t>
            </a:r>
          </a:p>
        </p:txBody>
      </p:sp>
      <p:sp>
        <p:nvSpPr>
          <p:cNvPr id="8" name="Rounded Rectangle 7">
            <a:extLst>
              <a:ext uri="{C183D7F6-B498-43B3-948B-1728B52AA6E4}">
                <adec:decorative xmlns:adec="http://schemas.microsoft.com/office/drawing/2017/decorative" val="1"/>
              </a:ext>
            </a:extLst>
          </p:cNvPr>
          <p:cNvSpPr/>
          <p:nvPr/>
        </p:nvSpPr>
        <p:spPr>
          <a:xfrm>
            <a:off x="4298620" y="2300000"/>
            <a:ext cx="3594888" cy="208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12920" y="2414300"/>
            <a:ext cx="530352" cy="530352"/>
          </a:xfrm>
          <a:prstGeom prst="rect">
            <a:avLst/>
          </a:prstGeom>
        </p:spPr>
      </p:pic>
      <p:sp>
        <p:nvSpPr>
          <p:cNvPr id="10" name="TextBox 9"/>
          <p:cNvSpPr txBox="1"/>
          <p:nvPr/>
        </p:nvSpPr>
        <p:spPr>
          <a:xfrm>
            <a:off x="5039272" y="2428001"/>
            <a:ext cx="2724536" cy="323165"/>
          </a:xfrm>
          <a:prstGeom prst="rect">
            <a:avLst/>
          </a:prstGeom>
          <a:noFill/>
        </p:spPr>
        <p:txBody>
          <a:bodyPr wrap="square">
            <a:spAutoFit/>
          </a:bodyPr>
          <a:lstStyle/>
          <a:p>
            <a:pPr>
              <a:defRPr sz="1500" b="1">
                <a:solidFill>
                  <a:srgbClr val="000000"/>
                </a:solidFill>
              </a:defRPr>
            </a:pPr>
            <a:r>
              <a:rPr sz="1500"/>
              <a:t>Distinct domains</a:t>
            </a:r>
          </a:p>
        </p:txBody>
      </p:sp>
      <p:sp>
        <p:nvSpPr>
          <p:cNvPr id="11" name="TextBox 10"/>
          <p:cNvSpPr txBox="1"/>
          <p:nvPr/>
        </p:nvSpPr>
        <p:spPr>
          <a:xfrm>
            <a:off x="5039272" y="3020000"/>
            <a:ext cx="2724536" cy="1260000"/>
          </a:xfrm>
          <a:prstGeom prst="rect">
            <a:avLst/>
          </a:prstGeom>
          <a:noFill/>
        </p:spPr>
        <p:txBody>
          <a:bodyPr wrap="square">
            <a:noAutofit/>
          </a:bodyPr>
          <a:lstStyle/>
          <a:p>
            <a:pPr>
              <a:spcAft>
                <a:spcPts val="1400"/>
              </a:spcAft>
              <a:defRPr sz="1400">
                <a:solidFill>
                  <a:srgbClr val="333333"/>
                </a:solidFill>
              </a:defRPr>
            </a:pPr>
            <a:r>
              <a:rPr sz="1400"/>
              <a:t>Large domains need their own instructions, knowledge, and tools.</a:t>
            </a:r>
          </a:p>
        </p:txBody>
      </p:sp>
      <p:sp>
        <p:nvSpPr>
          <p:cNvPr id="12" name="Rounded Rectangle 11">
            <a:extLst>
              <a:ext uri="{C183D7F6-B498-43B3-948B-1728B52AA6E4}">
                <adec:decorative xmlns:adec="http://schemas.microsoft.com/office/drawing/2017/decorative" val="1"/>
              </a:ext>
            </a:extLst>
          </p:cNvPr>
          <p:cNvSpPr/>
          <p:nvPr/>
        </p:nvSpPr>
        <p:spPr>
          <a:xfrm>
            <a:off x="8010436" y="2300000"/>
            <a:ext cx="3594888" cy="208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24736" y="2414300"/>
            <a:ext cx="530352" cy="530352"/>
          </a:xfrm>
          <a:prstGeom prst="rect">
            <a:avLst/>
          </a:prstGeom>
        </p:spPr>
      </p:pic>
      <p:sp>
        <p:nvSpPr>
          <p:cNvPr id="14" name="TextBox 13"/>
          <p:cNvSpPr txBox="1"/>
          <p:nvPr/>
        </p:nvSpPr>
        <p:spPr>
          <a:xfrm>
            <a:off x="8751088" y="2428001"/>
            <a:ext cx="2724536" cy="323165"/>
          </a:xfrm>
          <a:prstGeom prst="rect">
            <a:avLst/>
          </a:prstGeom>
          <a:noFill/>
        </p:spPr>
        <p:txBody>
          <a:bodyPr wrap="square">
            <a:spAutoFit/>
          </a:bodyPr>
          <a:lstStyle/>
          <a:p>
            <a:pPr>
              <a:defRPr sz="1500" b="1">
                <a:solidFill>
                  <a:srgbClr val="000000"/>
                </a:solidFill>
              </a:defRPr>
            </a:pPr>
            <a:r>
              <a:rPr sz="1500"/>
              <a:t>Reuse</a:t>
            </a:r>
          </a:p>
        </p:txBody>
      </p:sp>
      <p:sp>
        <p:nvSpPr>
          <p:cNvPr id="15" name="TextBox 14"/>
          <p:cNvSpPr txBox="1"/>
          <p:nvPr/>
        </p:nvSpPr>
        <p:spPr>
          <a:xfrm>
            <a:off x="8751088" y="3020000"/>
            <a:ext cx="2724536" cy="1260000"/>
          </a:xfrm>
          <a:prstGeom prst="rect">
            <a:avLst/>
          </a:prstGeom>
          <a:noFill/>
        </p:spPr>
        <p:txBody>
          <a:bodyPr wrap="square">
            <a:noAutofit/>
          </a:bodyPr>
          <a:lstStyle/>
          <a:p>
            <a:pPr>
              <a:spcAft>
                <a:spcPts val="1400"/>
              </a:spcAft>
              <a:defRPr sz="1400">
                <a:solidFill>
                  <a:srgbClr val="333333"/>
                </a:solidFill>
              </a:defRPr>
            </a:pPr>
            <a:r>
              <a:rPr sz="1400"/>
              <a:t>More than one primary agent needs the same capability.</a:t>
            </a:r>
          </a:p>
        </p:txBody>
      </p:sp>
      <p:sp>
        <p:nvSpPr>
          <p:cNvPr id="16" name="Rounded Rectangle 15">
            <a:extLst>
              <a:ext uri="{C183D7F6-B498-43B3-948B-1728B52AA6E4}">
                <adec:decorative xmlns:adec="http://schemas.microsoft.com/office/drawing/2017/decorative" val="1"/>
              </a:ext>
            </a:extLst>
          </p:cNvPr>
          <p:cNvSpPr/>
          <p:nvPr/>
        </p:nvSpPr>
        <p:spPr>
          <a:xfrm>
            <a:off x="586804" y="4620000"/>
            <a:ext cx="11018520" cy="520000"/>
          </a:xfrm>
          <a:prstGeom prst="roundRect">
            <a:avLst>
              <a:gd name="adj" fmla="val 12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C183D7F6-B498-43B3-948B-1728B52AA6E4}">
                <adec:decorative xmlns:adec="http://schemas.microsoft.com/office/drawing/2017/decorative" val="1"/>
              </a:ext>
            </a:extLst>
          </p:cNvPr>
          <p:cNvSpPr/>
          <p:nvPr/>
        </p:nvSpPr>
        <p:spPr>
          <a:xfrm>
            <a:off x="586804" y="4620000"/>
            <a:ext cx="109728" cy="520000"/>
          </a:xfrm>
          <a:prstGeom prst="roundRect">
            <a:avLst/>
          </a:prstGeom>
          <a:solidFill>
            <a:srgbClr val="49C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1124" y="4710723"/>
            <a:ext cx="10698520" cy="338554"/>
          </a:xfrm>
          <a:prstGeom prst="rect">
            <a:avLst/>
          </a:prstGeom>
          <a:noFill/>
        </p:spPr>
        <p:txBody>
          <a:bodyPr wrap="square" anchor="ctr">
            <a:spAutoFit/>
          </a:bodyPr>
          <a:lstStyle/>
          <a:p>
            <a:pPr>
              <a:defRPr sz="1600">
                <a:solidFill>
                  <a:srgbClr val="FFFFFF"/>
                </a:solidFill>
              </a:defRPr>
            </a:pPr>
            <a:r>
              <a:rPr sz="1600"/>
              <a:t>At Fabrikam, billing, technical support, and account management map to independently owned support domains.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216577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Harness affects the keep-it-inside option</a:t>
            </a:r>
          </a:p>
        </p:txBody>
      </p:sp>
      <p:sp>
        <p:nvSpPr>
          <p:cNvPr id="4" name="Rounded Rectangle 3">
            <a:extLst>
              <a:ext uri="{C183D7F6-B498-43B3-948B-1728B52AA6E4}">
                <adec:decorative xmlns:adec="http://schemas.microsoft.com/office/drawing/2017/decorative" val="1"/>
              </a:ext>
            </a:extLst>
          </p:cNvPr>
          <p:cNvSpPr/>
          <p:nvPr/>
        </p:nvSpPr>
        <p:spPr>
          <a:xfrm>
            <a:off x="586804" y="1900000"/>
            <a:ext cx="5426964" cy="365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C183D7F6-B498-43B3-948B-1728B52AA6E4}">
                <adec:decorative xmlns:adec="http://schemas.microsoft.com/office/drawing/2017/decorative" val="1"/>
              </a:ext>
            </a:extLst>
          </p:cNvPr>
          <p:cNvSpPr/>
          <p:nvPr/>
        </p:nvSpPr>
        <p:spPr>
          <a:xfrm>
            <a:off x="586804" y="2631520"/>
            <a:ext cx="5426964"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684" y="2082880"/>
            <a:ext cx="530352" cy="530352"/>
          </a:xfrm>
          <a:prstGeom prst="rect">
            <a:avLst/>
          </a:prstGeom>
        </p:spPr>
      </p:pic>
      <p:sp>
        <p:nvSpPr>
          <p:cNvPr id="7" name="TextBox 6"/>
          <p:cNvSpPr txBox="1"/>
          <p:nvPr/>
        </p:nvSpPr>
        <p:spPr>
          <a:xfrm>
            <a:off x="1365684" y="2180229"/>
            <a:ext cx="4498084" cy="353943"/>
          </a:xfrm>
          <a:prstGeom prst="rect">
            <a:avLst/>
          </a:prstGeom>
          <a:noFill/>
        </p:spPr>
        <p:txBody>
          <a:bodyPr wrap="square" anchor="ctr">
            <a:spAutoFit/>
          </a:bodyPr>
          <a:lstStyle/>
          <a:p>
            <a:pPr>
              <a:defRPr sz="1700" b="1">
                <a:solidFill>
                  <a:srgbClr val="000000"/>
                </a:solidFill>
              </a:defRPr>
            </a:pPr>
            <a:r>
              <a:rPr sz="1700"/>
              <a:t>Standard harness</a:t>
            </a:r>
          </a:p>
        </p:txBody>
      </p:sp>
      <p:sp>
        <p:nvSpPr>
          <p:cNvPr id="8" name="Rounded Rectangle 7"/>
          <p:cNvSpPr/>
          <p:nvPr/>
        </p:nvSpPr>
        <p:spPr>
          <a:xfrm>
            <a:off x="769684" y="2814400"/>
            <a:ext cx="2400000" cy="292608"/>
          </a:xfrm>
          <a:prstGeom prst="roundRect">
            <a:avLst>
              <a:gd name="adj" fmla="val 50000"/>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INSIDE THE PRIMARY AGENT</a:t>
            </a:r>
          </a:p>
        </p:txBody>
      </p:sp>
      <p:sp>
        <p:nvSpPr>
          <p:cNvPr id="9" name="TextBox 8"/>
          <p:cNvSpPr txBox="1"/>
          <p:nvPr/>
        </p:nvSpPr>
        <p:spPr>
          <a:xfrm>
            <a:off x="769684" y="3225880"/>
            <a:ext cx="5061204" cy="1364476"/>
          </a:xfrm>
          <a:prstGeom prst="rect">
            <a:avLst/>
          </a:prstGeom>
          <a:noFill/>
        </p:spPr>
        <p:txBody>
          <a:bodyPr wrap="square">
            <a:spAutoFit/>
          </a:bodyPr>
          <a:lstStyle/>
          <a:p>
            <a:pPr>
              <a:spcAft>
                <a:spcPts val="1600"/>
              </a:spcAft>
              <a:defRPr sz="1400">
                <a:solidFill>
                  <a:srgbClr val="000000"/>
                </a:solidFill>
              </a:defRPr>
            </a:pPr>
            <a:r>
              <a:rPr sz="1400"/>
              <a:t>•  Use a child agent for a lightweight internal agent.</a:t>
            </a:r>
          </a:p>
          <a:p>
            <a:pPr>
              <a:spcAft>
                <a:spcPts val="1600"/>
              </a:spcAft>
              <a:defRPr sz="1400">
                <a:solidFill>
                  <a:srgbClr val="000000"/>
                </a:solidFill>
              </a:defRPr>
            </a:pPr>
            <a:r>
              <a:rPr sz="1400"/>
              <a:t>•  Consider separate configuration, lifecycle, and routing choice volume.</a:t>
            </a:r>
          </a:p>
          <a:p>
            <a:pPr>
              <a:spcAft>
                <a:spcPts val="1600"/>
              </a:spcAft>
              <a:defRPr sz="1400">
                <a:solidFill>
                  <a:srgbClr val="000000"/>
                </a:solidFill>
              </a:defRPr>
            </a:pPr>
            <a:r>
              <a:rPr sz="1400"/>
              <a:t>•  Test descriptions before splitting.</a:t>
            </a:r>
          </a:p>
        </p:txBody>
      </p:sp>
      <p:sp>
        <p:nvSpPr>
          <p:cNvPr id="10" name="Rounded Rectangle 9">
            <a:extLst>
              <a:ext uri="{C183D7F6-B498-43B3-948B-1728B52AA6E4}">
                <adec:decorative xmlns:adec="http://schemas.microsoft.com/office/drawing/2017/decorative" val="1"/>
              </a:ext>
            </a:extLst>
          </p:cNvPr>
          <p:cNvSpPr/>
          <p:nvPr/>
        </p:nvSpPr>
        <p:spPr>
          <a:xfrm>
            <a:off x="6178360" y="1900000"/>
            <a:ext cx="5426964" cy="365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6178360" y="2631520"/>
            <a:ext cx="5426964"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361240" y="2082880"/>
            <a:ext cx="530352" cy="530352"/>
          </a:xfrm>
          <a:prstGeom prst="rect">
            <a:avLst/>
          </a:prstGeom>
        </p:spPr>
      </p:pic>
      <p:sp>
        <p:nvSpPr>
          <p:cNvPr id="13" name="TextBox 12"/>
          <p:cNvSpPr txBox="1"/>
          <p:nvPr/>
        </p:nvSpPr>
        <p:spPr>
          <a:xfrm>
            <a:off x="6957240" y="2180229"/>
            <a:ext cx="4498084" cy="353943"/>
          </a:xfrm>
          <a:prstGeom prst="rect">
            <a:avLst/>
          </a:prstGeom>
          <a:noFill/>
        </p:spPr>
        <p:txBody>
          <a:bodyPr wrap="square" anchor="ctr">
            <a:spAutoFit/>
          </a:bodyPr>
          <a:lstStyle/>
          <a:p>
            <a:pPr>
              <a:defRPr sz="1700" b="1">
                <a:solidFill>
                  <a:srgbClr val="000000"/>
                </a:solidFill>
              </a:defRPr>
            </a:pPr>
            <a:r>
              <a:rPr sz="1700"/>
              <a:t>GitHub Copilot harness</a:t>
            </a:r>
          </a:p>
        </p:txBody>
      </p:sp>
      <p:sp>
        <p:nvSpPr>
          <p:cNvPr id="14" name="Rounded Rectangle 13"/>
          <p:cNvSpPr/>
          <p:nvPr/>
        </p:nvSpPr>
        <p:spPr>
          <a:xfrm>
            <a:off x="6361240" y="2814400"/>
            <a:ext cx="2400000" cy="292608"/>
          </a:xfrm>
          <a:prstGeom prst="roundRect">
            <a:avLst>
              <a:gd name="adj" fmla="val 50000"/>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INSIDE THE PRIMARY AGENT</a:t>
            </a:r>
          </a:p>
        </p:txBody>
      </p:sp>
      <p:sp>
        <p:nvSpPr>
          <p:cNvPr id="15" name="TextBox 14"/>
          <p:cNvSpPr txBox="1"/>
          <p:nvPr/>
        </p:nvSpPr>
        <p:spPr>
          <a:xfrm>
            <a:off x="6361240" y="3225880"/>
            <a:ext cx="5061204" cy="1364476"/>
          </a:xfrm>
          <a:prstGeom prst="rect">
            <a:avLst/>
          </a:prstGeom>
          <a:noFill/>
        </p:spPr>
        <p:txBody>
          <a:bodyPr wrap="square">
            <a:spAutoFit/>
          </a:bodyPr>
          <a:lstStyle/>
          <a:p>
            <a:pPr>
              <a:spcAft>
                <a:spcPts val="1600"/>
              </a:spcAft>
              <a:defRPr sz="1400">
                <a:solidFill>
                  <a:srgbClr val="000000"/>
                </a:solidFill>
              </a:defRPr>
            </a:pPr>
            <a:r>
              <a:rPr sz="1400"/>
              <a:t>•  Use instructions, a skill, or a tool.</a:t>
            </a:r>
          </a:p>
          <a:p>
            <a:pPr>
              <a:spcAft>
                <a:spcPts val="1600"/>
              </a:spcAft>
              <a:defRPr sz="1400">
                <a:solidFill>
                  <a:srgbClr val="000000"/>
                </a:solidFill>
              </a:defRPr>
            </a:pPr>
            <a:r>
              <a:rPr sz="1400"/>
              <a:t>•  A skill is a reusable, task-specific instruction set.</a:t>
            </a:r>
          </a:p>
          <a:p>
            <a:pPr>
              <a:spcAft>
                <a:spcPts val="1600"/>
              </a:spcAft>
              <a:defRPr sz="1400">
                <a:solidFill>
                  <a:srgbClr val="000000"/>
                </a:solidFill>
              </a:defRPr>
            </a:pPr>
            <a:r>
              <a:rPr sz="1400"/>
              <a:t>•  Child agents aren't stated as a GitHub Copilot harness option.</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2696317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Weigh the tradeoffs of adding agents</a:t>
            </a:r>
          </a:p>
        </p:txBody>
      </p:sp>
      <p:sp>
        <p:nvSpPr>
          <p:cNvPr id="4" name="Rounded Rectangle 3">
            <a:extLst>
              <a:ext uri="{C183D7F6-B498-43B3-948B-1728B52AA6E4}">
                <adec:decorative xmlns:adec="http://schemas.microsoft.com/office/drawing/2017/decorative" val="1"/>
              </a:ext>
            </a:extLst>
          </p:cNvPr>
          <p:cNvSpPr/>
          <p:nvPr/>
        </p:nvSpPr>
        <p:spPr>
          <a:xfrm>
            <a:off x="586804" y="1920000"/>
            <a:ext cx="11018520" cy="7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86804" y="1920000"/>
            <a:ext cx="146304" cy="720000"/>
          </a:xfrm>
          <a:prstGeom prst="round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0852" y="2040000"/>
            <a:ext cx="480000" cy="480000"/>
          </a:xfrm>
          <a:prstGeom prst="rect">
            <a:avLst/>
          </a:prstGeom>
        </p:spPr>
      </p:pic>
      <p:sp>
        <p:nvSpPr>
          <p:cNvPr id="7" name="TextBox 6"/>
          <p:cNvSpPr txBox="1"/>
          <p:nvPr/>
        </p:nvSpPr>
        <p:spPr>
          <a:xfrm>
            <a:off x="1706804" y="2126112"/>
            <a:ext cx="3291840" cy="307777"/>
          </a:xfrm>
          <a:prstGeom prst="rect">
            <a:avLst/>
          </a:prstGeom>
          <a:noFill/>
        </p:spPr>
        <p:txBody>
          <a:bodyPr wrap="square" anchor="ctr">
            <a:spAutoFit/>
          </a:bodyPr>
          <a:lstStyle/>
          <a:p>
            <a:pPr>
              <a:defRPr sz="1400" b="1">
                <a:solidFill>
                  <a:srgbClr val="000000"/>
                </a:solidFill>
              </a:defRPr>
            </a:pPr>
            <a:r>
              <a:rPr sz="1400"/>
              <a:t>Latency</a:t>
            </a:r>
          </a:p>
        </p:txBody>
      </p:sp>
      <p:sp>
        <p:nvSpPr>
          <p:cNvPr id="8" name="TextBox 7"/>
          <p:cNvSpPr txBox="1"/>
          <p:nvPr/>
        </p:nvSpPr>
        <p:spPr>
          <a:xfrm>
            <a:off x="5128644" y="2133806"/>
            <a:ext cx="6326680" cy="292388"/>
          </a:xfrm>
          <a:prstGeom prst="rect">
            <a:avLst/>
          </a:prstGeom>
          <a:noFill/>
        </p:spPr>
        <p:txBody>
          <a:bodyPr wrap="square" anchor="ctr">
            <a:spAutoFit/>
          </a:bodyPr>
          <a:lstStyle/>
          <a:p>
            <a:pPr>
              <a:defRPr sz="1300">
                <a:solidFill>
                  <a:srgbClr val="333333"/>
                </a:solidFill>
              </a:defRPr>
            </a:pPr>
            <a:r>
              <a:rPr sz="1300"/>
              <a:t>Each delegated agent adds an orchestration hop.</a:t>
            </a:r>
          </a:p>
        </p:txBody>
      </p:sp>
      <p:sp>
        <p:nvSpPr>
          <p:cNvPr id="9" name="Rounded Rectangle 8">
            <a:extLst>
              <a:ext uri="{C183D7F6-B498-43B3-948B-1728B52AA6E4}">
                <adec:decorative xmlns:adec="http://schemas.microsoft.com/office/drawing/2017/decorative" val="1"/>
              </a:ext>
            </a:extLst>
          </p:cNvPr>
          <p:cNvSpPr/>
          <p:nvPr/>
        </p:nvSpPr>
        <p:spPr>
          <a:xfrm>
            <a:off x="586804" y="2730000"/>
            <a:ext cx="11018520" cy="7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C183D7F6-B498-43B3-948B-1728B52AA6E4}">
                <adec:decorative xmlns:adec="http://schemas.microsoft.com/office/drawing/2017/decorative" val="1"/>
              </a:ext>
            </a:extLst>
          </p:cNvPr>
          <p:cNvSpPr/>
          <p:nvPr/>
        </p:nvSpPr>
        <p:spPr>
          <a:xfrm>
            <a:off x="586804" y="2730000"/>
            <a:ext cx="146304" cy="72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0852" y="2850000"/>
            <a:ext cx="480000" cy="480000"/>
          </a:xfrm>
          <a:prstGeom prst="rect">
            <a:avLst/>
          </a:prstGeom>
        </p:spPr>
      </p:pic>
      <p:sp>
        <p:nvSpPr>
          <p:cNvPr id="12" name="TextBox 11"/>
          <p:cNvSpPr txBox="1"/>
          <p:nvPr/>
        </p:nvSpPr>
        <p:spPr>
          <a:xfrm>
            <a:off x="1706804" y="2936112"/>
            <a:ext cx="3291840" cy="307777"/>
          </a:xfrm>
          <a:prstGeom prst="rect">
            <a:avLst/>
          </a:prstGeom>
          <a:noFill/>
        </p:spPr>
        <p:txBody>
          <a:bodyPr wrap="square" anchor="ctr">
            <a:spAutoFit/>
          </a:bodyPr>
          <a:lstStyle/>
          <a:p>
            <a:pPr>
              <a:defRPr sz="1400" b="1">
                <a:solidFill>
                  <a:srgbClr val="000000"/>
                </a:solidFill>
              </a:defRPr>
            </a:pPr>
            <a:r>
              <a:rPr sz="1400"/>
              <a:t>Testing</a:t>
            </a:r>
          </a:p>
        </p:txBody>
      </p:sp>
      <p:sp>
        <p:nvSpPr>
          <p:cNvPr id="13" name="TextBox 12"/>
          <p:cNvSpPr txBox="1"/>
          <p:nvPr/>
        </p:nvSpPr>
        <p:spPr>
          <a:xfrm>
            <a:off x="5128644" y="2943806"/>
            <a:ext cx="6326680" cy="292388"/>
          </a:xfrm>
          <a:prstGeom prst="rect">
            <a:avLst/>
          </a:prstGeom>
          <a:noFill/>
        </p:spPr>
        <p:txBody>
          <a:bodyPr wrap="square" anchor="ctr">
            <a:spAutoFit/>
          </a:bodyPr>
          <a:lstStyle/>
          <a:p>
            <a:pPr>
              <a:defRPr sz="1300">
                <a:solidFill>
                  <a:srgbClr val="333333"/>
                </a:solidFill>
              </a:defRPr>
            </a:pPr>
            <a:r>
              <a:rPr sz="1300"/>
              <a:t>Every extra agent expands the test plan.</a:t>
            </a:r>
          </a:p>
        </p:txBody>
      </p:sp>
      <p:sp>
        <p:nvSpPr>
          <p:cNvPr id="14" name="Rounded Rectangle 13">
            <a:extLst>
              <a:ext uri="{C183D7F6-B498-43B3-948B-1728B52AA6E4}">
                <adec:decorative xmlns:adec="http://schemas.microsoft.com/office/drawing/2017/decorative" val="1"/>
              </a:ext>
            </a:extLst>
          </p:cNvPr>
          <p:cNvSpPr/>
          <p:nvPr/>
        </p:nvSpPr>
        <p:spPr>
          <a:xfrm>
            <a:off x="586804" y="3540000"/>
            <a:ext cx="11018520" cy="7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586804" y="3540000"/>
            <a:ext cx="146304" cy="720000"/>
          </a:xfrm>
          <a:prstGeom prst="round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0852" y="3660000"/>
            <a:ext cx="480000" cy="480000"/>
          </a:xfrm>
          <a:prstGeom prst="rect">
            <a:avLst/>
          </a:prstGeom>
        </p:spPr>
      </p:pic>
      <p:sp>
        <p:nvSpPr>
          <p:cNvPr id="17" name="TextBox 16"/>
          <p:cNvSpPr txBox="1"/>
          <p:nvPr/>
        </p:nvSpPr>
        <p:spPr>
          <a:xfrm>
            <a:off x="1706804" y="3746112"/>
            <a:ext cx="3291840" cy="307777"/>
          </a:xfrm>
          <a:prstGeom prst="rect">
            <a:avLst/>
          </a:prstGeom>
          <a:noFill/>
        </p:spPr>
        <p:txBody>
          <a:bodyPr wrap="square" anchor="ctr">
            <a:spAutoFit/>
          </a:bodyPr>
          <a:lstStyle/>
          <a:p>
            <a:pPr>
              <a:defRPr sz="1400" b="1">
                <a:solidFill>
                  <a:srgbClr val="000000"/>
                </a:solidFill>
              </a:defRPr>
            </a:pPr>
            <a:r>
              <a:rPr sz="1400"/>
              <a:t>Governance</a:t>
            </a:r>
          </a:p>
        </p:txBody>
      </p:sp>
      <p:sp>
        <p:nvSpPr>
          <p:cNvPr id="18" name="TextBox 17"/>
          <p:cNvSpPr txBox="1"/>
          <p:nvPr/>
        </p:nvSpPr>
        <p:spPr>
          <a:xfrm>
            <a:off x="5128644" y="3753806"/>
            <a:ext cx="6326680" cy="292388"/>
          </a:xfrm>
          <a:prstGeom prst="rect">
            <a:avLst/>
          </a:prstGeom>
          <a:noFill/>
        </p:spPr>
        <p:txBody>
          <a:bodyPr wrap="square" anchor="ctr">
            <a:spAutoFit/>
          </a:bodyPr>
          <a:lstStyle/>
          <a:p>
            <a:pPr>
              <a:defRPr sz="1300">
                <a:solidFill>
                  <a:srgbClr val="333333"/>
                </a:solidFill>
              </a:defRPr>
            </a:pPr>
            <a:r>
              <a:rPr sz="1300"/>
              <a:t>Each agent adds permissions, policy, and oversight to manage.</a:t>
            </a:r>
          </a:p>
        </p:txBody>
      </p:sp>
      <p:sp>
        <p:nvSpPr>
          <p:cNvPr id="19" name="Rounded Rectangle 18">
            <a:extLst>
              <a:ext uri="{C183D7F6-B498-43B3-948B-1728B52AA6E4}">
                <adec:decorative xmlns:adec="http://schemas.microsoft.com/office/drawing/2017/decorative" val="1"/>
              </a:ext>
            </a:extLst>
          </p:cNvPr>
          <p:cNvSpPr/>
          <p:nvPr/>
        </p:nvSpPr>
        <p:spPr>
          <a:xfrm>
            <a:off x="586804" y="4350000"/>
            <a:ext cx="11018520" cy="7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a:extLst>
              <a:ext uri="{C183D7F6-B498-43B3-948B-1728B52AA6E4}">
                <adec:decorative xmlns:adec="http://schemas.microsoft.com/office/drawing/2017/decorative" val="1"/>
              </a:ext>
            </a:extLst>
          </p:cNvPr>
          <p:cNvSpPr/>
          <p:nvPr/>
        </p:nvSpPr>
        <p:spPr>
          <a:xfrm>
            <a:off x="586804" y="4350000"/>
            <a:ext cx="146304" cy="720000"/>
          </a:xfrm>
          <a:prstGeom prst="round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70852" y="4470000"/>
            <a:ext cx="480000" cy="480000"/>
          </a:xfrm>
          <a:prstGeom prst="rect">
            <a:avLst/>
          </a:prstGeom>
        </p:spPr>
      </p:pic>
      <p:sp>
        <p:nvSpPr>
          <p:cNvPr id="22" name="TextBox 21"/>
          <p:cNvSpPr txBox="1"/>
          <p:nvPr/>
        </p:nvSpPr>
        <p:spPr>
          <a:xfrm>
            <a:off x="1706804" y="4556112"/>
            <a:ext cx="3291840" cy="307777"/>
          </a:xfrm>
          <a:prstGeom prst="rect">
            <a:avLst/>
          </a:prstGeom>
          <a:noFill/>
        </p:spPr>
        <p:txBody>
          <a:bodyPr wrap="square" anchor="ctr">
            <a:spAutoFit/>
          </a:bodyPr>
          <a:lstStyle/>
          <a:p>
            <a:pPr>
              <a:defRPr sz="1400" b="1">
                <a:solidFill>
                  <a:srgbClr val="000000"/>
                </a:solidFill>
              </a:defRPr>
            </a:pPr>
            <a:r>
              <a:rPr sz="1400"/>
              <a:t>Boundary benefit</a:t>
            </a:r>
          </a:p>
        </p:txBody>
      </p:sp>
      <p:sp>
        <p:nvSpPr>
          <p:cNvPr id="23" name="TextBox 22"/>
          <p:cNvSpPr txBox="1"/>
          <p:nvPr/>
        </p:nvSpPr>
        <p:spPr>
          <a:xfrm>
            <a:off x="5128644" y="4563806"/>
            <a:ext cx="6326680" cy="292388"/>
          </a:xfrm>
          <a:prstGeom prst="rect">
            <a:avLst/>
          </a:prstGeom>
          <a:noFill/>
        </p:spPr>
        <p:txBody>
          <a:bodyPr wrap="square" anchor="ctr">
            <a:spAutoFit/>
          </a:bodyPr>
          <a:lstStyle/>
          <a:p>
            <a:pPr>
              <a:defRPr sz="1300">
                <a:solidFill>
                  <a:srgbClr val="333333"/>
                </a:solidFill>
              </a:defRPr>
            </a:pPr>
            <a:r>
              <a:rPr sz="1300"/>
              <a:t>The structural reason must outweigh the added surface.</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82272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pPr>
            <a:r>
              <a:t>Discussion</a:t>
            </a:r>
          </a:p>
        </p:txBody>
      </p:sp>
      <p:sp>
        <p:nvSpPr>
          <p:cNvPr id="3" name="Text Placeholder 2"/>
          <p:cNvSpPr>
            <a:spLocks noGrp="1"/>
          </p:cNvSpPr>
          <p:nvPr>
            <p:ph type="body" sz="quarter" idx="12"/>
          </p:nvPr>
        </p:nvSpPr>
        <p:spPr>
          <a:xfrm>
            <a:off x="586804" y="4215829"/>
            <a:ext cx="11018520" cy="900000"/>
          </a:xfrm>
        </p:spPr>
        <p:txBody>
          <a:bodyPr wrap="square">
            <a:noAutofit/>
          </a:bodyPr>
          <a:lstStyle/>
          <a:p>
            <a:pPr>
              <a:defRPr sz="2000" b="0"/>
            </a:pPr>
            <a:r>
              <a:t>For an agent you own or plan, what structural boundary would justify a separate agent?</a:t>
            </a:r>
          </a:p>
        </p:txBody>
      </p:sp>
    </p:spTree>
    <p:extLst>
      <p:ext uri="{BB962C8B-B14F-4D97-AF65-F5344CB8AC3E}">
        <p14:creationId xmlns:p14="http://schemas.microsoft.com/office/powerpoint/2010/main" val="369481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2: Choose a coordination pattern</a:t>
            </a:r>
          </a:p>
        </p:txBody>
      </p:sp>
    </p:spTree>
    <p:extLst>
      <p:ext uri="{BB962C8B-B14F-4D97-AF65-F5344CB8AC3E}">
        <p14:creationId xmlns:p14="http://schemas.microsoft.com/office/powerpoint/2010/main" val="133950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Decide how much of the path is known</a:t>
            </a:r>
          </a:p>
        </p:txBody>
      </p:sp>
      <p:sp>
        <p:nvSpPr>
          <p:cNvPr id="4" name="Rounded Rectangle 3">
            <a:extLst>
              <a:ext uri="{C183D7F6-B498-43B3-948B-1728B52AA6E4}">
                <adec:decorative xmlns:adec="http://schemas.microsoft.com/office/drawing/2017/decorative" val="1"/>
              </a:ext>
            </a:extLst>
          </p:cNvPr>
          <p:cNvSpPr/>
          <p:nvPr/>
        </p:nvSpPr>
        <p:spPr>
          <a:xfrm>
            <a:off x="586804" y="2260000"/>
            <a:ext cx="3545896" cy="2080000"/>
          </a:xfrm>
          <a:prstGeom prst="roundRect">
            <a:avLst>
              <a:gd name="adj" fmla="val 442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86804" y="226000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86804" y="262576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9684" y="2365043"/>
            <a:ext cx="3225896" cy="338554"/>
          </a:xfrm>
          <a:prstGeom prst="rect">
            <a:avLst/>
          </a:prstGeom>
          <a:noFill/>
        </p:spPr>
        <p:txBody>
          <a:bodyPr wrap="square" anchor="ctr">
            <a:spAutoFit/>
          </a:bodyPr>
          <a:lstStyle/>
          <a:p>
            <a:pPr>
              <a:defRPr sz="1600" b="1">
                <a:solidFill>
                  <a:srgbClr val="FFFFFF"/>
                </a:solidFill>
              </a:defRPr>
            </a:pPr>
            <a:r>
              <a:rPr sz="1600"/>
              <a:t>Known before runtime</a:t>
            </a:r>
          </a:p>
        </p:txBody>
      </p:sp>
      <p:sp>
        <p:nvSpPr>
          <p:cNvPr id="8" name="TextBox 7"/>
          <p:cNvSpPr txBox="1"/>
          <p:nvPr/>
        </p:nvSpPr>
        <p:spPr>
          <a:xfrm>
            <a:off x="769684" y="2930000"/>
            <a:ext cx="3180136" cy="943848"/>
          </a:xfrm>
          <a:prstGeom prst="rect">
            <a:avLst/>
          </a:prstGeom>
          <a:noFill/>
        </p:spPr>
        <p:txBody>
          <a:bodyPr wrap="square">
            <a:spAutoFit/>
          </a:bodyPr>
          <a:lstStyle/>
          <a:p>
            <a:pPr>
              <a:spcAft>
                <a:spcPts val="1600"/>
              </a:spcAft>
              <a:defRPr sz="1400">
                <a:solidFill>
                  <a:srgbClr val="000000"/>
                </a:solidFill>
              </a:defRPr>
            </a:pPr>
            <a:r>
              <a:rPr sz="1400"/>
              <a:t>The process has start and end points.</a:t>
            </a:r>
          </a:p>
          <a:p>
            <a:pPr>
              <a:spcAft>
                <a:spcPts val="1600"/>
              </a:spcAft>
              <a:defRPr sz="1400">
                <a:solidFill>
                  <a:srgbClr val="000000"/>
                </a:solidFill>
              </a:defRPr>
            </a:pPr>
            <a:r>
              <a:rPr sz="1400"/>
              <a:t>A defined sequence or approval path controls the work.</a:t>
            </a:r>
          </a:p>
        </p:txBody>
      </p:sp>
      <p:sp>
        <p:nvSpPr>
          <p:cNvPr id="9" name="Rounded Rectangle 8">
            <a:extLst>
              <a:ext uri="{C183D7F6-B498-43B3-948B-1728B52AA6E4}">
                <adec:decorative xmlns:adec="http://schemas.microsoft.com/office/drawing/2017/decorative" val="1"/>
              </a:ext>
            </a:extLst>
          </p:cNvPr>
          <p:cNvSpPr/>
          <p:nvPr/>
        </p:nvSpPr>
        <p:spPr>
          <a:xfrm>
            <a:off x="4323116" y="2260000"/>
            <a:ext cx="3545896" cy="2080000"/>
          </a:xfrm>
          <a:prstGeom prst="roundRect">
            <a:avLst>
              <a:gd name="adj" fmla="val 442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C183D7F6-B498-43B3-948B-1728B52AA6E4}">
                <adec:decorative xmlns:adec="http://schemas.microsoft.com/office/drawing/2017/decorative" val="1"/>
              </a:ext>
            </a:extLst>
          </p:cNvPr>
          <p:cNvSpPr/>
          <p:nvPr/>
        </p:nvSpPr>
        <p:spPr>
          <a:xfrm>
            <a:off x="4323116" y="226000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323116" y="262576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5996" y="2365043"/>
            <a:ext cx="3225896" cy="338554"/>
          </a:xfrm>
          <a:prstGeom prst="rect">
            <a:avLst/>
          </a:prstGeom>
          <a:noFill/>
        </p:spPr>
        <p:txBody>
          <a:bodyPr wrap="square" anchor="ctr">
            <a:spAutoFit/>
          </a:bodyPr>
          <a:lstStyle/>
          <a:p>
            <a:pPr>
              <a:defRPr sz="1600" b="1">
                <a:solidFill>
                  <a:srgbClr val="FFFFFF"/>
                </a:solidFill>
              </a:defRPr>
            </a:pPr>
            <a:r>
              <a:rPr sz="1600"/>
              <a:t>Known at runtime</a:t>
            </a:r>
          </a:p>
        </p:txBody>
      </p:sp>
      <p:sp>
        <p:nvSpPr>
          <p:cNvPr id="13" name="TextBox 12"/>
          <p:cNvSpPr txBox="1"/>
          <p:nvPr/>
        </p:nvSpPr>
        <p:spPr>
          <a:xfrm>
            <a:off x="4505996" y="2930000"/>
            <a:ext cx="3180136" cy="1159292"/>
          </a:xfrm>
          <a:prstGeom prst="rect">
            <a:avLst/>
          </a:prstGeom>
          <a:noFill/>
        </p:spPr>
        <p:txBody>
          <a:bodyPr wrap="square">
            <a:spAutoFit/>
          </a:bodyPr>
          <a:lstStyle/>
          <a:p>
            <a:pPr>
              <a:spcAft>
                <a:spcPts val="1600"/>
              </a:spcAft>
              <a:defRPr sz="1400">
                <a:solidFill>
                  <a:srgbClr val="000000"/>
                </a:solidFill>
              </a:defRPr>
            </a:pPr>
            <a:r>
              <a:rPr sz="1400"/>
              <a:t>The user's request determines the path.</a:t>
            </a:r>
          </a:p>
          <a:p>
            <a:pPr>
              <a:spcAft>
                <a:spcPts val="1600"/>
              </a:spcAft>
              <a:defRPr sz="1400">
                <a:solidFill>
                  <a:srgbClr val="000000"/>
                </a:solidFill>
              </a:defRPr>
            </a:pPr>
            <a:r>
              <a:rPr sz="1400"/>
              <a:t>The primary agent decides which capability fits.</a:t>
            </a:r>
          </a:p>
        </p:txBody>
      </p:sp>
      <p:sp>
        <p:nvSpPr>
          <p:cNvPr id="14" name="Rounded Rectangle 13">
            <a:extLst>
              <a:ext uri="{C183D7F6-B498-43B3-948B-1728B52AA6E4}">
                <adec:decorative xmlns:adec="http://schemas.microsoft.com/office/drawing/2017/decorative" val="1"/>
              </a:ext>
            </a:extLst>
          </p:cNvPr>
          <p:cNvSpPr/>
          <p:nvPr/>
        </p:nvSpPr>
        <p:spPr>
          <a:xfrm>
            <a:off x="8059428" y="2260000"/>
            <a:ext cx="3545896" cy="2080000"/>
          </a:xfrm>
          <a:prstGeom prst="roundRect">
            <a:avLst>
              <a:gd name="adj" fmla="val 442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8059428" y="226000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059428" y="262576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2308" y="2365043"/>
            <a:ext cx="3225896" cy="338554"/>
          </a:xfrm>
          <a:prstGeom prst="rect">
            <a:avLst/>
          </a:prstGeom>
          <a:noFill/>
        </p:spPr>
        <p:txBody>
          <a:bodyPr wrap="square" anchor="ctr">
            <a:spAutoFit/>
          </a:bodyPr>
          <a:lstStyle/>
          <a:p>
            <a:pPr>
              <a:defRPr sz="1600" b="1">
                <a:solidFill>
                  <a:srgbClr val="FFFFFF"/>
                </a:solidFill>
              </a:defRPr>
            </a:pPr>
            <a:r>
              <a:rPr sz="1600"/>
              <a:t>Mixed process</a:t>
            </a:r>
          </a:p>
        </p:txBody>
      </p:sp>
      <p:sp>
        <p:nvSpPr>
          <p:cNvPr id="18" name="TextBox 17"/>
          <p:cNvSpPr txBox="1"/>
          <p:nvPr/>
        </p:nvSpPr>
        <p:spPr>
          <a:xfrm>
            <a:off x="8242308" y="2930000"/>
            <a:ext cx="3180136" cy="1159292"/>
          </a:xfrm>
          <a:prstGeom prst="rect">
            <a:avLst/>
          </a:prstGeom>
          <a:noFill/>
        </p:spPr>
        <p:txBody>
          <a:bodyPr wrap="square">
            <a:spAutoFit/>
          </a:bodyPr>
          <a:lstStyle/>
          <a:p>
            <a:pPr>
              <a:spcAft>
                <a:spcPts val="1600"/>
              </a:spcAft>
              <a:defRPr sz="1400">
                <a:solidFill>
                  <a:srgbClr val="000000"/>
                </a:solidFill>
              </a:defRPr>
            </a:pPr>
            <a:r>
              <a:rPr sz="1400"/>
              <a:t>Use a workflow for predictable sections.</a:t>
            </a:r>
          </a:p>
          <a:p>
            <a:pPr>
              <a:spcAft>
                <a:spcPts val="1600"/>
              </a:spcAft>
              <a:defRPr sz="1400">
                <a:solidFill>
                  <a:srgbClr val="000000"/>
                </a:solidFill>
              </a:defRPr>
            </a:pPr>
            <a:r>
              <a:rPr sz="1400"/>
              <a:t>Use agents where reasoning or judgment is needed.</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39959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Run agents in a defined workflow</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Use when strict ordering, approval gates, or auditability control the path.</a:t>
            </a:r>
          </a:p>
        </p:txBody>
      </p:sp>
      <p:sp>
        <p:nvSpPr>
          <p:cNvPr id="5" name="Rounded Rectangle 4">
            <a:extLst>
              <a:ext uri="{C183D7F6-B498-43B3-948B-1728B52AA6E4}">
                <adec:decorative xmlns:adec="http://schemas.microsoft.com/office/drawing/2017/decorative" val="1"/>
              </a:ext>
            </a:extLst>
          </p:cNvPr>
          <p:cNvSpPr/>
          <p:nvPr/>
        </p:nvSpPr>
        <p:spPr>
          <a:xfrm>
            <a:off x="586804" y="270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descr="Item 1">
            <a:extLst>
              <a:ext uri="{C183D7F6-B498-43B3-948B-1728B52AA6E4}">
                <adec:decorative xmlns:adec="http://schemas.microsoft.com/office/drawing/2017/decorative" val="0"/>
              </a:ext>
            </a:extLst>
          </p:cNvPr>
          <p:cNvSpPr/>
          <p:nvPr/>
        </p:nvSpPr>
        <p:spPr>
          <a:xfrm>
            <a:off x="815403" y="287807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7" name="TextBox 6"/>
          <p:cNvSpPr txBox="1"/>
          <p:nvPr/>
        </p:nvSpPr>
        <p:spPr>
          <a:xfrm>
            <a:off x="1464628" y="2954238"/>
            <a:ext cx="9940696" cy="323165"/>
          </a:xfrm>
          <a:prstGeom prst="rect">
            <a:avLst/>
          </a:prstGeom>
          <a:noFill/>
        </p:spPr>
        <p:txBody>
          <a:bodyPr wrap="square" anchor="ctr">
            <a:spAutoFit/>
          </a:bodyPr>
          <a:lstStyle/>
          <a:p>
            <a:pPr>
              <a:defRPr sz="1500" b="0">
                <a:solidFill>
                  <a:srgbClr val="000000"/>
                </a:solidFill>
              </a:defRPr>
            </a:pPr>
            <a:r>
              <a:rPr sz="1500"/>
              <a:t>Validate the contract against the first required compliance check.</a:t>
            </a:r>
          </a:p>
        </p:txBody>
      </p:sp>
      <p:sp>
        <p:nvSpPr>
          <p:cNvPr id="8" name="Rounded Rectangle 7">
            <a:extLst>
              <a:ext uri="{C183D7F6-B498-43B3-948B-1728B52AA6E4}">
                <adec:decorative xmlns:adec="http://schemas.microsoft.com/office/drawing/2017/decorative" val="1"/>
              </a:ext>
            </a:extLst>
          </p:cNvPr>
          <p:cNvSpPr/>
          <p:nvPr/>
        </p:nvSpPr>
        <p:spPr>
          <a:xfrm>
            <a:off x="586804" y="358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descr="Item 2">
            <a:extLst>
              <a:ext uri="{C183D7F6-B498-43B3-948B-1728B52AA6E4}">
                <adec:decorative xmlns:adec="http://schemas.microsoft.com/office/drawing/2017/decorative" val="0"/>
              </a:ext>
            </a:extLst>
          </p:cNvPr>
          <p:cNvSpPr/>
          <p:nvPr/>
        </p:nvSpPr>
        <p:spPr>
          <a:xfrm>
            <a:off x="815403" y="375807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10" name="TextBox 9"/>
          <p:cNvSpPr txBox="1"/>
          <p:nvPr/>
        </p:nvSpPr>
        <p:spPr>
          <a:xfrm>
            <a:off x="1464628" y="3834238"/>
            <a:ext cx="9940696" cy="323165"/>
          </a:xfrm>
          <a:prstGeom prst="rect">
            <a:avLst/>
          </a:prstGeom>
          <a:noFill/>
        </p:spPr>
        <p:txBody>
          <a:bodyPr wrap="square" anchor="ctr">
            <a:spAutoFit/>
          </a:bodyPr>
          <a:lstStyle/>
          <a:p>
            <a:pPr>
              <a:defRPr sz="1500" b="0">
                <a:solidFill>
                  <a:srgbClr val="000000"/>
                </a:solidFill>
              </a:defRPr>
            </a:pPr>
            <a:r>
              <a:rPr sz="1500"/>
              <a:t>Run the next required compliance check after the previous result is complete.</a:t>
            </a:r>
          </a:p>
        </p:txBody>
      </p:sp>
      <p:sp>
        <p:nvSpPr>
          <p:cNvPr id="11" name="Rounded Rectangle 10">
            <a:extLst>
              <a:ext uri="{C183D7F6-B498-43B3-948B-1728B52AA6E4}">
                <adec:decorative xmlns:adec="http://schemas.microsoft.com/office/drawing/2017/decorative" val="1"/>
              </a:ext>
            </a:extLst>
          </p:cNvPr>
          <p:cNvSpPr/>
          <p:nvPr/>
        </p:nvSpPr>
        <p:spPr>
          <a:xfrm>
            <a:off x="586804" y="446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descr="Item 3">
            <a:extLst>
              <a:ext uri="{C183D7F6-B498-43B3-948B-1728B52AA6E4}">
                <adec:decorative xmlns:adec="http://schemas.microsoft.com/office/drawing/2017/decorative" val="0"/>
              </a:ext>
            </a:extLst>
          </p:cNvPr>
          <p:cNvSpPr/>
          <p:nvPr/>
        </p:nvSpPr>
        <p:spPr>
          <a:xfrm>
            <a:off x="815403" y="463807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3" name="TextBox 12"/>
          <p:cNvSpPr txBox="1"/>
          <p:nvPr/>
        </p:nvSpPr>
        <p:spPr>
          <a:xfrm>
            <a:off x="1464628" y="4714238"/>
            <a:ext cx="9940696" cy="323165"/>
          </a:xfrm>
          <a:prstGeom prst="rect">
            <a:avLst/>
          </a:prstGeom>
          <a:noFill/>
        </p:spPr>
        <p:txBody>
          <a:bodyPr wrap="square" anchor="ctr">
            <a:spAutoFit/>
          </a:bodyPr>
          <a:lstStyle/>
          <a:p>
            <a:pPr>
              <a:defRPr sz="1500" b="0">
                <a:solidFill>
                  <a:srgbClr val="000000"/>
                </a:solidFill>
              </a:defRPr>
            </a:pPr>
            <a:r>
              <a:rPr sz="1500"/>
              <a:t>Route approved contracts to a legal reviewer before final sign-off.</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228484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Compare coordination patterns</a:t>
            </a:r>
          </a:p>
        </p:txBody>
      </p:sp>
      <p:graphicFrame>
        <p:nvGraphicFramePr>
          <p:cNvPr id="4" name="Table 3"/>
          <p:cNvGraphicFramePr>
            <a:graphicFrameLocks noGrp="1"/>
          </p:cNvGraphicFramePr>
          <p:nvPr/>
        </p:nvGraphicFramePr>
        <p:xfrm>
          <a:off x="586804" y="1729569"/>
          <a:ext cx="11018520" cy="4456644"/>
        </p:xfrm>
        <a:graphic>
          <a:graphicData uri="http://schemas.openxmlformats.org/drawingml/2006/table">
            <a:tbl>
              <a:tblPr firstRow="1" bandRow="1">
                <a:tableStyleId>{5C22544A-7EE6-4342-B048-85BDC9FD1C3A}</a:tableStyleId>
              </a:tblPr>
              <a:tblGrid>
                <a:gridCol w="2820000">
                  <a:extLst>
                    <a:ext uri="{9D8B030D-6E8A-4147-A177-3AD203B41FA5}">
                      <a16:colId xmlns:a16="http://schemas.microsoft.com/office/drawing/2014/main" val="20000"/>
                    </a:ext>
                  </a:extLst>
                </a:gridCol>
                <a:gridCol w="4090000">
                  <a:extLst>
                    <a:ext uri="{9D8B030D-6E8A-4147-A177-3AD203B41FA5}">
                      <a16:colId xmlns:a16="http://schemas.microsoft.com/office/drawing/2014/main" val="20001"/>
                    </a:ext>
                  </a:extLst>
                </a:gridCol>
                <a:gridCol w="4108520">
                  <a:extLst>
                    <a:ext uri="{9D8B030D-6E8A-4147-A177-3AD203B41FA5}">
                      <a16:colId xmlns:a16="http://schemas.microsoft.com/office/drawing/2014/main" val="20002"/>
                    </a:ext>
                  </a:extLst>
                </a:gridCol>
              </a:tblGrid>
              <a:tr h="356644">
                <a:tc>
                  <a:txBody>
                    <a:bodyPr/>
                    <a:lstStyle/>
                    <a:p>
                      <a:pPr>
                        <a:defRPr sz="1400" b="1">
                          <a:solidFill>
                            <a:srgbClr val="FFFFFF"/>
                          </a:solidFill>
                        </a:defRPr>
                      </a:pPr>
                      <a:r>
                        <a:t>Factor</a:t>
                      </a:r>
                    </a:p>
                  </a:txBody>
                  <a:tcPr marT="54864" marB="54864" anchor="ctr">
                    <a:solidFill>
                      <a:srgbClr val="0078D4"/>
                    </a:solidFill>
                  </a:tcPr>
                </a:tc>
                <a:tc>
                  <a:txBody>
                    <a:bodyPr/>
                    <a:lstStyle/>
                    <a:p>
                      <a:pPr>
                        <a:defRPr sz="1400" b="1">
                          <a:solidFill>
                            <a:srgbClr val="FFFFFF"/>
                          </a:solidFill>
                        </a:defRPr>
                      </a:pPr>
                      <a:r>
                        <a:t>Orchestrator/subagent</a:t>
                      </a:r>
                    </a:p>
                  </a:txBody>
                  <a:tcPr marT="54864" marB="54864" anchor="ctr">
                    <a:solidFill>
                      <a:srgbClr val="0078D4"/>
                    </a:solidFill>
                  </a:tcPr>
                </a:tc>
                <a:tc>
                  <a:txBody>
                    <a:bodyPr/>
                    <a:lstStyle/>
                    <a:p>
                      <a:pPr>
                        <a:defRPr sz="1400" b="1">
                          <a:solidFill>
                            <a:srgbClr val="FFFFFF"/>
                          </a:solidFill>
                        </a:defRPr>
                      </a:pPr>
                      <a:r>
                        <a:t>Workflow-oriented</a:t>
                      </a:r>
                    </a:p>
                  </a:txBody>
                  <a:tcPr marT="54864" marB="54864" anchor="ctr">
                    <a:solidFill>
                      <a:srgbClr val="0078D4"/>
                    </a:solidFill>
                  </a:tcPr>
                </a:tc>
                <a:extLst>
                  <a:ext uri="{0D108BD9-81ED-4DB2-BD59-A6C34878D82A}">
                    <a16:rowId xmlns:a16="http://schemas.microsoft.com/office/drawing/2014/main" val="10000"/>
                  </a:ext>
                </a:extLst>
              </a:tr>
              <a:tr h="820000">
                <a:tc>
                  <a:txBody>
                    <a:bodyPr/>
                    <a:lstStyle/>
                    <a:p>
                      <a:pPr>
                        <a:defRPr sz="1400" b="1">
                          <a:solidFill>
                            <a:srgbClr val="000000"/>
                          </a:solidFill>
                        </a:defRPr>
                      </a:pPr>
                      <a:r>
                        <a:t>Path known before runtime</a:t>
                      </a:r>
                    </a:p>
                  </a:txBody>
                  <a:tcPr marT="54864" marB="54864" anchor="ctr">
                    <a:solidFill>
                      <a:srgbClr val="FFF8F3"/>
                    </a:solidFill>
                  </a:tcPr>
                </a:tc>
                <a:tc>
                  <a:txBody>
                    <a:bodyPr/>
                    <a:lstStyle/>
                    <a:p>
                      <a:pPr>
                        <a:defRPr sz="1400">
                          <a:solidFill>
                            <a:srgbClr val="000000"/>
                          </a:solidFill>
                        </a:defRPr>
                      </a:pPr>
                      <a:r>
                        <a:t>Little; depends on each request</a:t>
                      </a:r>
                    </a:p>
                  </a:txBody>
                  <a:tcPr marT="54864" marB="54864" anchor="ctr">
                    <a:solidFill>
                      <a:srgbClr val="FFFFFF"/>
                    </a:solidFill>
                  </a:tcPr>
                </a:tc>
                <a:tc>
                  <a:txBody>
                    <a:bodyPr/>
                    <a:lstStyle/>
                    <a:p>
                      <a:pPr>
                        <a:defRPr sz="1400">
                          <a:solidFill>
                            <a:srgbClr val="000000"/>
                          </a:solidFill>
                        </a:defRPr>
                      </a:pPr>
                      <a:r>
                        <a:t>Most; steps are known</a:t>
                      </a:r>
                    </a:p>
                  </a:txBody>
                  <a:tcPr marT="54864" marB="54864" anchor="ctr">
                    <a:solidFill>
                      <a:srgbClr val="FFFFFF"/>
                    </a:solidFill>
                  </a:tcPr>
                </a:tc>
                <a:extLst>
                  <a:ext uri="{0D108BD9-81ED-4DB2-BD59-A6C34878D82A}">
                    <a16:rowId xmlns:a16="http://schemas.microsoft.com/office/drawing/2014/main" val="10001"/>
                  </a:ext>
                </a:extLst>
              </a:tr>
              <a:tr h="820000">
                <a:tc>
                  <a:txBody>
                    <a:bodyPr/>
                    <a:lstStyle/>
                    <a:p>
                      <a:pPr>
                        <a:defRPr sz="1400" b="1">
                          <a:solidFill>
                            <a:srgbClr val="000000"/>
                          </a:solidFill>
                        </a:defRPr>
                      </a:pPr>
                      <a:r>
                        <a:t>Process structure</a:t>
                      </a:r>
                    </a:p>
                  </a:txBody>
                  <a:tcPr marT="54864" marB="54864" anchor="ctr">
                    <a:solidFill>
                      <a:srgbClr val="FFF8F3"/>
                    </a:solidFill>
                  </a:tcPr>
                </a:tc>
                <a:tc>
                  <a:txBody>
                    <a:bodyPr/>
                    <a:lstStyle/>
                    <a:p>
                      <a:pPr>
                        <a:defRPr sz="1400">
                          <a:solidFill>
                            <a:srgbClr val="000000"/>
                          </a:solidFill>
                        </a:defRPr>
                      </a:pPr>
                      <a:r>
                        <a:t>Open-ended and dynamic</a:t>
                      </a:r>
                    </a:p>
                  </a:txBody>
                  <a:tcPr marT="54864" marB="54864" anchor="ctr">
                    <a:solidFill>
                      <a:srgbClr val="F7F6FA"/>
                    </a:solidFill>
                  </a:tcPr>
                </a:tc>
                <a:tc>
                  <a:txBody>
                    <a:bodyPr/>
                    <a:lstStyle/>
                    <a:p>
                      <a:pPr>
                        <a:defRPr sz="1400">
                          <a:solidFill>
                            <a:srgbClr val="000000"/>
                          </a:solidFill>
                        </a:defRPr>
                      </a:pPr>
                      <a:r>
                        <a:t>Predefined and deterministic</a:t>
                      </a:r>
                    </a:p>
                  </a:txBody>
                  <a:tcPr marT="54864" marB="54864" anchor="ctr">
                    <a:solidFill>
                      <a:srgbClr val="F7F6FA"/>
                    </a:solidFill>
                  </a:tcPr>
                </a:tc>
                <a:extLst>
                  <a:ext uri="{0D108BD9-81ED-4DB2-BD59-A6C34878D82A}">
                    <a16:rowId xmlns:a16="http://schemas.microsoft.com/office/drawing/2014/main" val="10002"/>
                  </a:ext>
                </a:extLst>
              </a:tr>
              <a:tr h="820000">
                <a:tc>
                  <a:txBody>
                    <a:bodyPr/>
                    <a:lstStyle/>
                    <a:p>
                      <a:pPr>
                        <a:defRPr sz="1400" b="1">
                          <a:solidFill>
                            <a:srgbClr val="000000"/>
                          </a:solidFill>
                        </a:defRPr>
                      </a:pPr>
                      <a:r>
                        <a:t>Routing decision</a:t>
                      </a:r>
                    </a:p>
                  </a:txBody>
                  <a:tcPr marT="54864" marB="54864" anchor="ctr">
                    <a:solidFill>
                      <a:srgbClr val="FFF8F3"/>
                    </a:solidFill>
                  </a:tcPr>
                </a:tc>
                <a:tc>
                  <a:txBody>
                    <a:bodyPr/>
                    <a:lstStyle/>
                    <a:p>
                      <a:pPr>
                        <a:defRPr sz="1400">
                          <a:solidFill>
                            <a:srgbClr val="000000"/>
                          </a:solidFill>
                        </a:defRPr>
                      </a:pPr>
                      <a:r>
                        <a:t>Primary agent decides at runtime</a:t>
                      </a:r>
                    </a:p>
                  </a:txBody>
                  <a:tcPr marT="54864" marB="54864" anchor="ctr">
                    <a:solidFill>
                      <a:srgbClr val="FFFFFF"/>
                    </a:solidFill>
                  </a:tcPr>
                </a:tc>
                <a:tc>
                  <a:txBody>
                    <a:bodyPr/>
                    <a:lstStyle/>
                    <a:p>
                      <a:pPr>
                        <a:defRPr sz="1400">
                          <a:solidFill>
                            <a:srgbClr val="000000"/>
                          </a:solidFill>
                        </a:defRPr>
                      </a:pPr>
                      <a:r>
                        <a:t>Workflow defines upfront</a:t>
                      </a:r>
                    </a:p>
                  </a:txBody>
                  <a:tcPr marT="54864" marB="54864" anchor="ctr">
                    <a:solidFill>
                      <a:srgbClr val="FFFFFF"/>
                    </a:solidFill>
                  </a:tcPr>
                </a:tc>
                <a:extLst>
                  <a:ext uri="{0D108BD9-81ED-4DB2-BD59-A6C34878D82A}">
                    <a16:rowId xmlns:a16="http://schemas.microsoft.com/office/drawing/2014/main" val="10003"/>
                  </a:ext>
                </a:extLst>
              </a:tr>
              <a:tr h="820000">
                <a:tc>
                  <a:txBody>
                    <a:bodyPr/>
                    <a:lstStyle/>
                    <a:p>
                      <a:pPr>
                        <a:defRPr sz="1400" b="1">
                          <a:solidFill>
                            <a:srgbClr val="000000"/>
                          </a:solidFill>
                        </a:defRPr>
                      </a:pPr>
                      <a:r>
                        <a:t>Consistency</a:t>
                      </a:r>
                    </a:p>
                  </a:txBody>
                  <a:tcPr marT="54864" marB="54864" anchor="ctr">
                    <a:solidFill>
                      <a:srgbClr val="FFF8F3"/>
                    </a:solidFill>
                  </a:tcPr>
                </a:tc>
                <a:tc>
                  <a:txBody>
                    <a:bodyPr/>
                    <a:lstStyle/>
                    <a:p>
                      <a:pPr>
                        <a:defRPr sz="1400">
                          <a:solidFill>
                            <a:srgbClr val="000000"/>
                          </a:solidFill>
                        </a:defRPr>
                      </a:pPr>
                      <a:r>
                        <a:t>Some variability accepted</a:t>
                      </a:r>
                    </a:p>
                  </a:txBody>
                  <a:tcPr marT="54864" marB="54864" anchor="ctr">
                    <a:solidFill>
                      <a:srgbClr val="F7F6FA"/>
                    </a:solidFill>
                  </a:tcPr>
                </a:tc>
                <a:tc>
                  <a:txBody>
                    <a:bodyPr/>
                    <a:lstStyle/>
                    <a:p>
                      <a:pPr>
                        <a:defRPr sz="1400">
                          <a:solidFill>
                            <a:srgbClr val="000000"/>
                          </a:solidFill>
                        </a:defRPr>
                      </a:pPr>
                      <a:r>
                        <a:t>Higher; workflow controls order</a:t>
                      </a:r>
                    </a:p>
                  </a:txBody>
                  <a:tcPr marT="54864" marB="54864" anchor="ctr">
                    <a:solidFill>
                      <a:srgbClr val="F7F6FA"/>
                    </a:solidFill>
                  </a:tcPr>
                </a:tc>
                <a:extLst>
                  <a:ext uri="{0D108BD9-81ED-4DB2-BD59-A6C34878D82A}">
                    <a16:rowId xmlns:a16="http://schemas.microsoft.com/office/drawing/2014/main" val="10004"/>
                  </a:ext>
                </a:extLst>
              </a:tr>
              <a:tr h="820000">
                <a:tc>
                  <a:txBody>
                    <a:bodyPr/>
                    <a:lstStyle/>
                    <a:p>
                      <a:pPr>
                        <a:defRPr sz="1400" b="1">
                          <a:solidFill>
                            <a:srgbClr val="000000"/>
                          </a:solidFill>
                        </a:defRPr>
                      </a:pPr>
                      <a:r>
                        <a:t>Typical use cases</a:t>
                      </a:r>
                    </a:p>
                  </a:txBody>
                  <a:tcPr marT="54864" marB="54864" anchor="ctr">
                    <a:solidFill>
                      <a:srgbClr val="FFF8F3"/>
                    </a:solidFill>
                  </a:tcPr>
                </a:tc>
                <a:tc>
                  <a:txBody>
                    <a:bodyPr/>
                    <a:lstStyle/>
                    <a:p>
                      <a:pPr>
                        <a:defRPr sz="1400">
                          <a:solidFill>
                            <a:srgbClr val="000000"/>
                          </a:solidFill>
                        </a:defRPr>
                      </a:pPr>
                      <a:r>
                        <a:t>Domains or functional areas</a:t>
                      </a:r>
                    </a:p>
                  </a:txBody>
                  <a:tcPr marT="54864" marB="54864" anchor="ctr">
                    <a:solidFill>
                      <a:srgbClr val="FFFFFF"/>
                    </a:solidFill>
                  </a:tcPr>
                </a:tc>
                <a:tc>
                  <a:txBody>
                    <a:bodyPr/>
                    <a:lstStyle/>
                    <a:p>
                      <a:pPr>
                        <a:defRPr sz="1400">
                          <a:solidFill>
                            <a:srgbClr val="000000"/>
                          </a:solidFill>
                        </a:defRPr>
                      </a:pPr>
                      <a:r>
                        <a:rPr dirty="0"/>
                        <a:t>Approvals, compliance, evidence collection</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150269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Govern how agents work together</a:t>
            </a:r>
          </a:p>
        </p:txBody>
      </p:sp>
      <p:sp>
        <p:nvSpPr>
          <p:cNvPr id="4" name="Rounded Rectangle 3">
            <a:extLst>
              <a:ext uri="{C183D7F6-B498-43B3-948B-1728B52AA6E4}">
                <adec:decorative xmlns:adec="http://schemas.microsoft.com/office/drawing/2017/decorative" val="1"/>
              </a:ext>
            </a:extLst>
          </p:cNvPr>
          <p:cNvSpPr/>
          <p:nvPr/>
        </p:nvSpPr>
        <p:spPr>
          <a:xfrm>
            <a:off x="586804" y="2300000"/>
            <a:ext cx="2666934" cy="174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1104" y="2414300"/>
            <a:ext cx="530352" cy="530352"/>
          </a:xfrm>
          <a:prstGeom prst="rect">
            <a:avLst/>
          </a:prstGeom>
        </p:spPr>
      </p:pic>
      <p:sp>
        <p:nvSpPr>
          <p:cNvPr id="6" name="TextBox 5"/>
          <p:cNvSpPr txBox="1"/>
          <p:nvPr/>
        </p:nvSpPr>
        <p:spPr>
          <a:xfrm>
            <a:off x="1327456" y="2428001"/>
            <a:ext cx="1796582" cy="323165"/>
          </a:xfrm>
          <a:prstGeom prst="rect">
            <a:avLst/>
          </a:prstGeom>
          <a:noFill/>
        </p:spPr>
        <p:txBody>
          <a:bodyPr wrap="square">
            <a:spAutoFit/>
          </a:bodyPr>
          <a:lstStyle/>
          <a:p>
            <a:pPr>
              <a:defRPr sz="1500" b="1">
                <a:solidFill>
                  <a:srgbClr val="000000"/>
                </a:solidFill>
              </a:defRPr>
            </a:pPr>
            <a:r>
              <a:rPr sz="1500"/>
              <a:t>Least privilege</a:t>
            </a:r>
          </a:p>
        </p:txBody>
      </p:sp>
      <p:sp>
        <p:nvSpPr>
          <p:cNvPr id="7" name="TextBox 6"/>
          <p:cNvSpPr txBox="1"/>
          <p:nvPr/>
        </p:nvSpPr>
        <p:spPr>
          <a:xfrm>
            <a:off x="1327456" y="3020000"/>
            <a:ext cx="1796582" cy="920000"/>
          </a:xfrm>
          <a:prstGeom prst="rect">
            <a:avLst/>
          </a:prstGeom>
          <a:noFill/>
        </p:spPr>
        <p:txBody>
          <a:bodyPr wrap="square">
            <a:noAutofit/>
          </a:bodyPr>
          <a:lstStyle/>
          <a:p>
            <a:pPr>
              <a:spcAft>
                <a:spcPts val="1400"/>
              </a:spcAft>
              <a:defRPr sz="1400">
                <a:solidFill>
                  <a:srgbClr val="333333"/>
                </a:solidFill>
              </a:defRPr>
            </a:pPr>
            <a:r>
              <a:rPr sz="1400"/>
              <a:t>Limit every agent and tool call to the access it needs.</a:t>
            </a:r>
          </a:p>
        </p:txBody>
      </p:sp>
      <p:sp>
        <p:nvSpPr>
          <p:cNvPr id="8" name="Rounded Rectangle 7">
            <a:extLst>
              <a:ext uri="{C183D7F6-B498-43B3-948B-1728B52AA6E4}">
                <adec:decorative xmlns:adec="http://schemas.microsoft.com/office/drawing/2017/decorative" val="1"/>
              </a:ext>
            </a:extLst>
          </p:cNvPr>
          <p:cNvSpPr/>
          <p:nvPr/>
        </p:nvSpPr>
        <p:spPr>
          <a:xfrm>
            <a:off x="3370666" y="2300000"/>
            <a:ext cx="2666934" cy="174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484966" y="2414300"/>
            <a:ext cx="530352" cy="530352"/>
          </a:xfrm>
          <a:prstGeom prst="rect">
            <a:avLst/>
          </a:prstGeom>
        </p:spPr>
      </p:pic>
      <p:sp>
        <p:nvSpPr>
          <p:cNvPr id="10" name="TextBox 9"/>
          <p:cNvSpPr txBox="1"/>
          <p:nvPr/>
        </p:nvSpPr>
        <p:spPr>
          <a:xfrm>
            <a:off x="4111318" y="2428001"/>
            <a:ext cx="1796582" cy="323165"/>
          </a:xfrm>
          <a:prstGeom prst="rect">
            <a:avLst/>
          </a:prstGeom>
          <a:noFill/>
        </p:spPr>
        <p:txBody>
          <a:bodyPr wrap="square">
            <a:spAutoFit/>
          </a:bodyPr>
          <a:lstStyle/>
          <a:p>
            <a:pPr>
              <a:defRPr sz="1500" b="1">
                <a:solidFill>
                  <a:srgbClr val="000000"/>
                </a:solidFill>
              </a:defRPr>
            </a:pPr>
            <a:r>
              <a:rPr sz="1500"/>
              <a:t>Minimum context</a:t>
            </a:r>
          </a:p>
        </p:txBody>
      </p:sp>
      <p:sp>
        <p:nvSpPr>
          <p:cNvPr id="11" name="TextBox 10"/>
          <p:cNvSpPr txBox="1"/>
          <p:nvPr/>
        </p:nvSpPr>
        <p:spPr>
          <a:xfrm>
            <a:off x="4111318" y="3020000"/>
            <a:ext cx="1796582" cy="920000"/>
          </a:xfrm>
          <a:prstGeom prst="rect">
            <a:avLst/>
          </a:prstGeom>
          <a:noFill/>
        </p:spPr>
        <p:txBody>
          <a:bodyPr wrap="square">
            <a:noAutofit/>
          </a:bodyPr>
          <a:lstStyle/>
          <a:p>
            <a:pPr>
              <a:spcAft>
                <a:spcPts val="1400"/>
              </a:spcAft>
              <a:defRPr sz="1400">
                <a:solidFill>
                  <a:srgbClr val="333333"/>
                </a:solidFill>
              </a:defRPr>
            </a:pPr>
            <a:r>
              <a:rPr sz="1400"/>
              <a:t>Pass only the context the receiving agent needs.</a:t>
            </a:r>
          </a:p>
        </p:txBody>
      </p:sp>
      <p:sp>
        <p:nvSpPr>
          <p:cNvPr id="12" name="Rounded Rectangle 11">
            <a:extLst>
              <a:ext uri="{C183D7F6-B498-43B3-948B-1728B52AA6E4}">
                <adec:decorative xmlns:adec="http://schemas.microsoft.com/office/drawing/2017/decorative" val="1"/>
              </a:ext>
            </a:extLst>
          </p:cNvPr>
          <p:cNvSpPr/>
          <p:nvPr/>
        </p:nvSpPr>
        <p:spPr>
          <a:xfrm>
            <a:off x="6154528" y="2300000"/>
            <a:ext cx="2666934" cy="174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68828" y="2414300"/>
            <a:ext cx="530352" cy="530352"/>
          </a:xfrm>
          <a:prstGeom prst="rect">
            <a:avLst/>
          </a:prstGeom>
        </p:spPr>
      </p:pic>
      <p:sp>
        <p:nvSpPr>
          <p:cNvPr id="14" name="TextBox 13"/>
          <p:cNvSpPr txBox="1"/>
          <p:nvPr/>
        </p:nvSpPr>
        <p:spPr>
          <a:xfrm>
            <a:off x="6895180" y="2428001"/>
            <a:ext cx="1796582" cy="323165"/>
          </a:xfrm>
          <a:prstGeom prst="rect">
            <a:avLst/>
          </a:prstGeom>
          <a:noFill/>
        </p:spPr>
        <p:txBody>
          <a:bodyPr wrap="square">
            <a:spAutoFit/>
          </a:bodyPr>
          <a:lstStyle/>
          <a:p>
            <a:pPr>
              <a:defRPr sz="1500" b="1">
                <a:solidFill>
                  <a:srgbClr val="000000"/>
                </a:solidFill>
              </a:defRPr>
            </a:pPr>
            <a:r>
              <a:rPr sz="1500"/>
              <a:t>Human approval</a:t>
            </a:r>
          </a:p>
        </p:txBody>
      </p:sp>
      <p:sp>
        <p:nvSpPr>
          <p:cNvPr id="15" name="TextBox 14"/>
          <p:cNvSpPr txBox="1"/>
          <p:nvPr/>
        </p:nvSpPr>
        <p:spPr>
          <a:xfrm>
            <a:off x="6895180" y="3020000"/>
            <a:ext cx="1796582" cy="920000"/>
          </a:xfrm>
          <a:prstGeom prst="rect">
            <a:avLst/>
          </a:prstGeom>
          <a:noFill/>
        </p:spPr>
        <p:txBody>
          <a:bodyPr wrap="square">
            <a:noAutofit/>
          </a:bodyPr>
          <a:lstStyle/>
          <a:p>
            <a:pPr>
              <a:spcAft>
                <a:spcPts val="1400"/>
              </a:spcAft>
              <a:defRPr sz="1400">
                <a:solidFill>
                  <a:srgbClr val="333333"/>
                </a:solidFill>
              </a:defRPr>
            </a:pPr>
            <a:r>
              <a:rPr sz="1400"/>
              <a:t>Require review for high-impact cross-agent actions.</a:t>
            </a:r>
          </a:p>
        </p:txBody>
      </p:sp>
      <p:sp>
        <p:nvSpPr>
          <p:cNvPr id="16" name="Rounded Rectangle 15">
            <a:extLst>
              <a:ext uri="{C183D7F6-B498-43B3-948B-1728B52AA6E4}">
                <adec:decorative xmlns:adec="http://schemas.microsoft.com/office/drawing/2017/decorative" val="1"/>
              </a:ext>
            </a:extLst>
          </p:cNvPr>
          <p:cNvSpPr/>
          <p:nvPr/>
        </p:nvSpPr>
        <p:spPr>
          <a:xfrm>
            <a:off x="8938390" y="2300000"/>
            <a:ext cx="2666934" cy="174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52690" y="2414300"/>
            <a:ext cx="530352" cy="530352"/>
          </a:xfrm>
          <a:prstGeom prst="rect">
            <a:avLst/>
          </a:prstGeom>
        </p:spPr>
      </p:pic>
      <p:sp>
        <p:nvSpPr>
          <p:cNvPr id="18" name="TextBox 17"/>
          <p:cNvSpPr txBox="1"/>
          <p:nvPr/>
        </p:nvSpPr>
        <p:spPr>
          <a:xfrm>
            <a:off x="9679042" y="2428001"/>
            <a:ext cx="1796582" cy="323165"/>
          </a:xfrm>
          <a:prstGeom prst="rect">
            <a:avLst/>
          </a:prstGeom>
          <a:noFill/>
        </p:spPr>
        <p:txBody>
          <a:bodyPr wrap="square">
            <a:spAutoFit/>
          </a:bodyPr>
          <a:lstStyle/>
          <a:p>
            <a:pPr>
              <a:defRPr sz="1500" b="1">
                <a:solidFill>
                  <a:srgbClr val="000000"/>
                </a:solidFill>
              </a:defRPr>
            </a:pPr>
            <a:r>
              <a:rPr sz="1500"/>
              <a:t>Traceability</a:t>
            </a:r>
          </a:p>
        </p:txBody>
      </p:sp>
      <p:sp>
        <p:nvSpPr>
          <p:cNvPr id="19" name="TextBox 18"/>
          <p:cNvSpPr txBox="1"/>
          <p:nvPr/>
        </p:nvSpPr>
        <p:spPr>
          <a:xfrm>
            <a:off x="9679042" y="3020000"/>
            <a:ext cx="1796582" cy="920000"/>
          </a:xfrm>
          <a:prstGeom prst="rect">
            <a:avLst/>
          </a:prstGeom>
          <a:noFill/>
        </p:spPr>
        <p:txBody>
          <a:bodyPr wrap="square">
            <a:noAutofit/>
          </a:bodyPr>
          <a:lstStyle/>
          <a:p>
            <a:pPr>
              <a:spcAft>
                <a:spcPts val="1400"/>
              </a:spcAft>
              <a:defRPr sz="1400">
                <a:solidFill>
                  <a:srgbClr val="333333"/>
                </a:solidFill>
              </a:defRPr>
            </a:pPr>
            <a:r>
              <a:rPr sz="1400"/>
              <a:t>Plan to follow a request across every agent it touches.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18100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3: Identify implementation options by harness</a:t>
            </a:r>
          </a:p>
        </p:txBody>
      </p:sp>
    </p:spTree>
    <p:extLst>
      <p:ext uri="{BB962C8B-B14F-4D97-AF65-F5344CB8AC3E}">
        <p14:creationId xmlns:p14="http://schemas.microsoft.com/office/powerpoint/2010/main" val="612206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Compare delegation options by harness</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Confirm current availability before committing to a design.</a:t>
            </a:r>
          </a:p>
        </p:txBody>
      </p:sp>
      <p:graphicFrame>
        <p:nvGraphicFramePr>
          <p:cNvPr id="5" name="Table 4"/>
          <p:cNvGraphicFramePr>
            <a:graphicFrameLocks noGrp="1"/>
          </p:cNvGraphicFramePr>
          <p:nvPr/>
        </p:nvGraphicFramePr>
        <p:xfrm>
          <a:off x="586804" y="1751640"/>
          <a:ext cx="11018520" cy="3808360"/>
        </p:xfrm>
        <a:graphic>
          <a:graphicData uri="http://schemas.openxmlformats.org/drawingml/2006/table">
            <a:tbl>
              <a:tblPr firstRow="1" bandRow="1">
                <a:tableStyleId>{5C22544A-7EE6-4342-B048-85BDC9FD1C3A}</a:tableStyleId>
              </a:tblPr>
              <a:tblGrid>
                <a:gridCol w="3520000">
                  <a:extLst>
                    <a:ext uri="{9D8B030D-6E8A-4147-A177-3AD203B41FA5}">
                      <a16:colId xmlns:a16="http://schemas.microsoft.com/office/drawing/2014/main" val="20000"/>
                    </a:ext>
                  </a:extLst>
                </a:gridCol>
                <a:gridCol w="3840000">
                  <a:extLst>
                    <a:ext uri="{9D8B030D-6E8A-4147-A177-3AD203B41FA5}">
                      <a16:colId xmlns:a16="http://schemas.microsoft.com/office/drawing/2014/main" val="20001"/>
                    </a:ext>
                  </a:extLst>
                </a:gridCol>
                <a:gridCol w="3658520">
                  <a:extLst>
                    <a:ext uri="{9D8B030D-6E8A-4147-A177-3AD203B41FA5}">
                      <a16:colId xmlns:a16="http://schemas.microsoft.com/office/drawing/2014/main" val="20002"/>
                    </a:ext>
                  </a:extLst>
                </a:gridCol>
              </a:tblGrid>
              <a:tr h="356644">
                <a:tc>
                  <a:txBody>
                    <a:bodyPr/>
                    <a:lstStyle/>
                    <a:p>
                      <a:pPr>
                        <a:defRPr sz="1400" b="1">
                          <a:solidFill>
                            <a:srgbClr val="FFFFFF"/>
                          </a:solidFill>
                        </a:defRPr>
                      </a:pPr>
                      <a:r>
                        <a:t>Building block</a:t>
                      </a:r>
                    </a:p>
                  </a:txBody>
                  <a:tcPr marT="54864" marB="54864" anchor="ctr">
                    <a:solidFill>
                      <a:srgbClr val="0078D4"/>
                    </a:solidFill>
                  </a:tcPr>
                </a:tc>
                <a:tc>
                  <a:txBody>
                    <a:bodyPr/>
                    <a:lstStyle/>
                    <a:p>
                      <a:pPr>
                        <a:defRPr sz="1400" b="1">
                          <a:solidFill>
                            <a:srgbClr val="FFFFFF"/>
                          </a:solidFill>
                        </a:defRPr>
                      </a:pPr>
                      <a:r>
                        <a:t>Standard harness</a:t>
                      </a:r>
                    </a:p>
                  </a:txBody>
                  <a:tcPr marT="54864" marB="54864" anchor="ctr">
                    <a:solidFill>
                      <a:srgbClr val="0078D4"/>
                    </a:solidFill>
                  </a:tcPr>
                </a:tc>
                <a:tc>
                  <a:txBody>
                    <a:bodyPr/>
                    <a:lstStyle/>
                    <a:p>
                      <a:pPr>
                        <a:defRPr sz="1400" b="1">
                          <a:solidFill>
                            <a:srgbClr val="FFFFFF"/>
                          </a:solidFill>
                        </a:defRPr>
                      </a:pPr>
                      <a:r>
                        <a:t>GitHub Copilot harness</a:t>
                      </a:r>
                    </a:p>
                  </a:txBody>
                  <a:tcPr marT="54864" marB="54864" anchor="ctr">
                    <a:solidFill>
                      <a:srgbClr val="0078D4"/>
                    </a:solidFill>
                  </a:tcPr>
                </a:tc>
                <a:extLst>
                  <a:ext uri="{0D108BD9-81ED-4DB2-BD59-A6C34878D82A}">
                    <a16:rowId xmlns:a16="http://schemas.microsoft.com/office/drawing/2014/main" val="10000"/>
                  </a:ext>
                </a:extLst>
              </a:tr>
              <a:tr h="575286">
                <a:tc>
                  <a:txBody>
                    <a:bodyPr/>
                    <a:lstStyle/>
                    <a:p>
                      <a:pPr>
                        <a:defRPr sz="1400" b="1">
                          <a:solidFill>
                            <a:srgbClr val="000000"/>
                          </a:solidFill>
                        </a:defRPr>
                      </a:pPr>
                      <a:r>
                        <a:t>Connected Copilot Studio agent</a:t>
                      </a:r>
                    </a:p>
                  </a:txBody>
                  <a:tcPr marT="54864" marB="54864" anchor="ctr">
                    <a:solidFill>
                      <a:srgbClr val="FFF8F3"/>
                    </a:solidFill>
                  </a:tcPr>
                </a:tc>
                <a:tc>
                  <a:txBody>
                    <a:bodyPr/>
                    <a:lstStyle/>
                    <a:p>
                      <a:pPr>
                        <a:defRPr sz="1400">
                          <a:solidFill>
                            <a:srgbClr val="000000"/>
                          </a:solidFill>
                        </a:defRPr>
                      </a:pPr>
                      <a:r>
                        <a:t>Yes</a:t>
                      </a:r>
                    </a:p>
                  </a:txBody>
                  <a:tcPr marT="54864" marB="54864" anchor="ctr">
                    <a:solidFill>
                      <a:srgbClr val="FFFFFF"/>
                    </a:solidFill>
                  </a:tcPr>
                </a:tc>
                <a:tc>
                  <a:txBody>
                    <a:bodyPr/>
                    <a:lstStyle/>
                    <a:p>
                      <a:pPr>
                        <a:defRPr sz="1400">
                          <a:solidFill>
                            <a:srgbClr val="000000"/>
                          </a:solidFill>
                        </a:defRPr>
                      </a:pPr>
                      <a:r>
                        <a:t>Yes; currently the only connection type</a:t>
                      </a:r>
                    </a:p>
                  </a:txBody>
                  <a:tcPr marT="54864" marB="54864" anchor="ctr">
                    <a:solidFill>
                      <a:srgbClr val="FFFFFF"/>
                    </a:solidFill>
                  </a:tcPr>
                </a:tc>
                <a:extLst>
                  <a:ext uri="{0D108BD9-81ED-4DB2-BD59-A6C34878D82A}">
                    <a16:rowId xmlns:a16="http://schemas.microsoft.com/office/drawing/2014/main" val="10001"/>
                  </a:ext>
                </a:extLst>
              </a:tr>
              <a:tr h="575286">
                <a:tc>
                  <a:txBody>
                    <a:bodyPr/>
                    <a:lstStyle/>
                    <a:p>
                      <a:pPr>
                        <a:defRPr sz="1400" b="1">
                          <a:solidFill>
                            <a:srgbClr val="000000"/>
                          </a:solidFill>
                        </a:defRPr>
                      </a:pPr>
                      <a:r>
                        <a:t>Microsoft Foundry agent</a:t>
                      </a:r>
                    </a:p>
                  </a:txBody>
                  <a:tcPr marT="54864" marB="54864" anchor="ctr">
                    <a:solidFill>
                      <a:srgbClr val="FFF8F3"/>
                    </a:solidFill>
                  </a:tcPr>
                </a:tc>
                <a:tc>
                  <a:txBody>
                    <a:bodyPr/>
                    <a:lstStyle/>
                    <a:p>
                      <a:pPr>
                        <a:defRPr sz="1400">
                          <a:solidFill>
                            <a:srgbClr val="000000"/>
                          </a:solidFill>
                        </a:defRPr>
                      </a:pPr>
                      <a:r>
                        <a:t>Preview</a:t>
                      </a:r>
                    </a:p>
                  </a:txBody>
                  <a:tcPr marT="54864" marB="54864" anchor="ctr">
                    <a:solidFill>
                      <a:srgbClr val="F7F6FA"/>
                    </a:solidFill>
                  </a:tcPr>
                </a:tc>
                <a:tc>
                  <a:txBody>
                    <a:bodyPr/>
                    <a:lstStyle/>
                    <a:p>
                      <a:pPr>
                        <a:defRPr sz="1400">
                          <a:solidFill>
                            <a:srgbClr val="000000"/>
                          </a:solidFill>
                        </a:defRPr>
                      </a:pPr>
                      <a:r>
                        <a:t>Not currently</a:t>
                      </a:r>
                    </a:p>
                  </a:txBody>
                  <a:tcPr marT="54864" marB="54864" anchor="ctr">
                    <a:solidFill>
                      <a:srgbClr val="F7F6FA"/>
                    </a:solidFill>
                  </a:tcPr>
                </a:tc>
                <a:extLst>
                  <a:ext uri="{0D108BD9-81ED-4DB2-BD59-A6C34878D82A}">
                    <a16:rowId xmlns:a16="http://schemas.microsoft.com/office/drawing/2014/main" val="10002"/>
                  </a:ext>
                </a:extLst>
              </a:tr>
              <a:tr h="575286">
                <a:tc>
                  <a:txBody>
                    <a:bodyPr/>
                    <a:lstStyle/>
                    <a:p>
                      <a:pPr>
                        <a:defRPr sz="1400" b="1">
                          <a:solidFill>
                            <a:srgbClr val="000000"/>
                          </a:solidFill>
                        </a:defRPr>
                      </a:pPr>
                      <a:r>
                        <a:t>Microsoft Fabric data agent</a:t>
                      </a:r>
                    </a:p>
                  </a:txBody>
                  <a:tcPr marT="54864" marB="54864" anchor="ctr">
                    <a:solidFill>
                      <a:srgbClr val="FFF8F3"/>
                    </a:solidFill>
                  </a:tcPr>
                </a:tc>
                <a:tc>
                  <a:txBody>
                    <a:bodyPr/>
                    <a:lstStyle/>
                    <a:p>
                      <a:pPr>
                        <a:defRPr sz="1400">
                          <a:solidFill>
                            <a:srgbClr val="000000"/>
                          </a:solidFill>
                        </a:defRPr>
                      </a:pPr>
                      <a:r>
                        <a:t>Preview</a:t>
                      </a:r>
                    </a:p>
                  </a:txBody>
                  <a:tcPr marT="54864" marB="54864" anchor="ctr">
                    <a:solidFill>
                      <a:srgbClr val="FFFFFF"/>
                    </a:solidFill>
                  </a:tcPr>
                </a:tc>
                <a:tc>
                  <a:txBody>
                    <a:bodyPr/>
                    <a:lstStyle/>
                    <a:p>
                      <a:pPr>
                        <a:defRPr sz="1400">
                          <a:solidFill>
                            <a:srgbClr val="000000"/>
                          </a:solidFill>
                        </a:defRPr>
                      </a:pPr>
                      <a:r>
                        <a:t>Not currently</a:t>
                      </a:r>
                    </a:p>
                  </a:txBody>
                  <a:tcPr marT="54864" marB="54864" anchor="ctr">
                    <a:solidFill>
                      <a:srgbClr val="FFFFFF"/>
                    </a:solidFill>
                  </a:tcPr>
                </a:tc>
                <a:extLst>
                  <a:ext uri="{0D108BD9-81ED-4DB2-BD59-A6C34878D82A}">
                    <a16:rowId xmlns:a16="http://schemas.microsoft.com/office/drawing/2014/main" val="10003"/>
                  </a:ext>
                </a:extLst>
              </a:tr>
              <a:tr h="575286">
                <a:tc>
                  <a:txBody>
                    <a:bodyPr/>
                    <a:lstStyle/>
                    <a:p>
                      <a:pPr>
                        <a:defRPr sz="1400" b="1">
                          <a:solidFill>
                            <a:srgbClr val="000000"/>
                          </a:solidFill>
                        </a:defRPr>
                      </a:pPr>
                      <a:r>
                        <a:t>Microsoft 365 Agents SDK agent</a:t>
                      </a:r>
                    </a:p>
                  </a:txBody>
                  <a:tcPr marT="54864" marB="54864" anchor="ctr">
                    <a:solidFill>
                      <a:srgbClr val="FFF8F3"/>
                    </a:solidFill>
                  </a:tcPr>
                </a:tc>
                <a:tc>
                  <a:txBody>
                    <a:bodyPr/>
                    <a:lstStyle/>
                    <a:p>
                      <a:pPr>
                        <a:defRPr sz="1400">
                          <a:solidFill>
                            <a:srgbClr val="000000"/>
                          </a:solidFill>
                        </a:defRPr>
                      </a:pPr>
                      <a:r>
                        <a:t>Preview</a:t>
                      </a:r>
                    </a:p>
                  </a:txBody>
                  <a:tcPr marT="54864" marB="54864" anchor="ctr">
                    <a:solidFill>
                      <a:srgbClr val="F7F6FA"/>
                    </a:solidFill>
                  </a:tcPr>
                </a:tc>
                <a:tc>
                  <a:txBody>
                    <a:bodyPr/>
                    <a:lstStyle/>
                    <a:p>
                      <a:pPr>
                        <a:defRPr sz="1400">
                          <a:solidFill>
                            <a:srgbClr val="000000"/>
                          </a:solidFill>
                        </a:defRPr>
                      </a:pPr>
                      <a:r>
                        <a:t>Not currently</a:t>
                      </a:r>
                    </a:p>
                  </a:txBody>
                  <a:tcPr marT="54864" marB="54864" anchor="ctr">
                    <a:solidFill>
                      <a:srgbClr val="F7F6FA"/>
                    </a:solidFill>
                  </a:tcPr>
                </a:tc>
                <a:extLst>
                  <a:ext uri="{0D108BD9-81ED-4DB2-BD59-A6C34878D82A}">
                    <a16:rowId xmlns:a16="http://schemas.microsoft.com/office/drawing/2014/main" val="10004"/>
                  </a:ext>
                </a:extLst>
              </a:tr>
              <a:tr h="575286">
                <a:tc>
                  <a:txBody>
                    <a:bodyPr/>
                    <a:lstStyle/>
                    <a:p>
                      <a:pPr>
                        <a:defRPr sz="1400" b="1">
                          <a:solidFill>
                            <a:srgbClr val="000000"/>
                          </a:solidFill>
                        </a:defRPr>
                      </a:pPr>
                      <a:r>
                        <a:t>Agent2Agent (A2A) protocol agent</a:t>
                      </a:r>
                    </a:p>
                  </a:txBody>
                  <a:tcPr marT="54864" marB="54864" anchor="ctr">
                    <a:solidFill>
                      <a:srgbClr val="FFF8F3"/>
                    </a:solidFill>
                  </a:tcPr>
                </a:tc>
                <a:tc>
                  <a:txBody>
                    <a:bodyPr/>
                    <a:lstStyle/>
                    <a:p>
                      <a:pPr>
                        <a:defRPr sz="1400">
                          <a:solidFill>
                            <a:srgbClr val="000000"/>
                          </a:solidFill>
                        </a:defRPr>
                      </a:pPr>
                      <a:r>
                        <a:t>Yes</a:t>
                      </a:r>
                    </a:p>
                  </a:txBody>
                  <a:tcPr marT="54864" marB="54864" anchor="ctr">
                    <a:solidFill>
                      <a:srgbClr val="FFFFFF"/>
                    </a:solidFill>
                  </a:tcPr>
                </a:tc>
                <a:tc>
                  <a:txBody>
                    <a:bodyPr/>
                    <a:lstStyle/>
                    <a:p>
                      <a:pPr>
                        <a:defRPr sz="1400">
                          <a:solidFill>
                            <a:srgbClr val="000000"/>
                          </a:solidFill>
                        </a:defRPr>
                      </a:pPr>
                      <a:r>
                        <a:t>Not currently</a:t>
                      </a:r>
                    </a:p>
                  </a:txBody>
                  <a:tcPr marT="54864" marB="54864" anchor="ctr">
                    <a:solidFill>
                      <a:srgbClr val="FFFFFF"/>
                    </a:solidFill>
                  </a:tcPr>
                </a:tc>
                <a:extLst>
                  <a:ext uri="{0D108BD9-81ED-4DB2-BD59-A6C34878D82A}">
                    <a16:rowId xmlns:a16="http://schemas.microsoft.com/office/drawing/2014/main" val="10005"/>
                  </a:ext>
                </a:extLst>
              </a:tr>
              <a:tr h="575286">
                <a:tc>
                  <a:txBody>
                    <a:bodyPr/>
                    <a:lstStyle/>
                    <a:p>
                      <a:pPr>
                        <a:defRPr sz="1400" b="1">
                          <a:solidFill>
                            <a:srgbClr val="000000"/>
                          </a:solidFill>
                        </a:defRPr>
                      </a:pPr>
                      <a:r>
                        <a:t>Child agent</a:t>
                      </a:r>
                    </a:p>
                  </a:txBody>
                  <a:tcPr marT="54864" marB="54864" anchor="ctr">
                    <a:solidFill>
                      <a:srgbClr val="FFF8F3"/>
                    </a:solidFill>
                  </a:tcPr>
                </a:tc>
                <a:tc>
                  <a:txBody>
                    <a:bodyPr/>
                    <a:lstStyle/>
                    <a:p>
                      <a:pPr>
                        <a:defRPr sz="1400">
                          <a:solidFill>
                            <a:srgbClr val="000000"/>
                          </a:solidFill>
                        </a:defRPr>
                      </a:pPr>
                      <a:r>
                        <a:t>Yes; inside the primary agent</a:t>
                      </a:r>
                    </a:p>
                  </a:txBody>
                  <a:tcPr marT="54864" marB="54864" anchor="ctr">
                    <a:solidFill>
                      <a:srgbClr val="F7F6FA"/>
                    </a:solidFill>
                  </a:tcPr>
                </a:tc>
                <a:tc>
                  <a:txBody>
                    <a:bodyPr/>
                    <a:lstStyle/>
                    <a:p>
                      <a:pPr>
                        <a:defRPr sz="1400">
                          <a:solidFill>
                            <a:srgbClr val="000000"/>
                          </a:solidFill>
                        </a:defRPr>
                      </a:pPr>
                      <a:r>
                        <a:rPr dirty="0"/>
                        <a:t>Not stated as an option</a:t>
                      </a:r>
                    </a:p>
                  </a:txBody>
                  <a:tcPr marT="54864" marB="54864" anchor="ctr">
                    <a:solidFill>
                      <a:srgbClr val="F7F6FA"/>
                    </a:solidFill>
                  </a:tcPr>
                </a:tc>
                <a:extLst>
                  <a:ext uri="{0D108BD9-81ED-4DB2-BD59-A6C34878D82A}">
                    <a16:rowId xmlns:a16="http://schemas.microsoft.com/office/drawing/2014/main" val="10006"/>
                  </a:ext>
                </a:extLst>
              </a:tr>
            </a:tbl>
          </a:graphicData>
        </a:graphic>
      </p:graphicFrame>
      <p:sp>
        <p:nvSpPr>
          <p:cNvPr id="6" name="Rounded Rectangle 5">
            <a:extLst>
              <a:ext uri="{C183D7F6-B498-43B3-948B-1728B52AA6E4}">
                <adec:decorative xmlns:adec="http://schemas.microsoft.com/office/drawing/2017/decorative" val="1"/>
              </a:ext>
            </a:extLst>
          </p:cNvPr>
          <p:cNvSpPr/>
          <p:nvPr/>
        </p:nvSpPr>
        <p:spPr>
          <a:xfrm>
            <a:off x="586804" y="5780000"/>
            <a:ext cx="11018520" cy="502920"/>
          </a:xfrm>
          <a:prstGeom prst="roundRect">
            <a:avLst>
              <a:gd name="adj" fmla="val 12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C183D7F6-B498-43B3-948B-1728B52AA6E4}">
                <adec:decorative xmlns:adec="http://schemas.microsoft.com/office/drawing/2017/decorative" val="1"/>
              </a:ext>
            </a:extLst>
          </p:cNvPr>
          <p:cNvSpPr/>
          <p:nvPr/>
        </p:nvSpPr>
        <p:spPr>
          <a:xfrm>
            <a:off x="586804" y="5780000"/>
            <a:ext cx="109728" cy="502920"/>
          </a:xfrm>
          <a:prstGeom prst="roundRect">
            <a:avLst/>
          </a:prstGeom>
          <a:solidFill>
            <a:srgbClr val="49C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1124" y="5862183"/>
            <a:ext cx="10698520" cy="338554"/>
          </a:xfrm>
          <a:prstGeom prst="rect">
            <a:avLst/>
          </a:prstGeom>
          <a:noFill/>
        </p:spPr>
        <p:txBody>
          <a:bodyPr wrap="square" anchor="ctr">
            <a:spAutoFit/>
          </a:bodyPr>
          <a:lstStyle/>
          <a:p>
            <a:pPr>
              <a:defRPr sz="1600">
                <a:solidFill>
                  <a:srgbClr val="FFFFFF"/>
                </a:solidFill>
              </a:defRPr>
            </a:pPr>
            <a:r>
              <a:rPr sz="1600"/>
              <a:t>GitHub Copilot harness connected agents must also be GitHub Copilot harness agents.</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93632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Match a capability to an option</a:t>
            </a:r>
          </a:p>
        </p:txBody>
      </p:sp>
      <p:sp>
        <p:nvSpPr>
          <p:cNvPr id="4" name="Rounded Rectangle 3">
            <a:extLst>
              <a:ext uri="{C183D7F6-B498-43B3-948B-1728B52AA6E4}">
                <adec:decorative xmlns:adec="http://schemas.microsoft.com/office/drawing/2017/decorative" val="1"/>
              </a:ext>
            </a:extLst>
          </p:cNvPr>
          <p:cNvSpPr/>
          <p:nvPr/>
        </p:nvSpPr>
        <p:spPr>
          <a:xfrm>
            <a:off x="586804" y="2160000"/>
            <a:ext cx="3545896" cy="2240000"/>
          </a:xfrm>
          <a:prstGeom prst="roundRect">
            <a:avLst>
              <a:gd name="adj" fmla="val 41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86804" y="216000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86804" y="252576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9684" y="2141934"/>
            <a:ext cx="3225896" cy="584775"/>
          </a:xfrm>
          <a:prstGeom prst="rect">
            <a:avLst/>
          </a:prstGeom>
          <a:noFill/>
        </p:spPr>
        <p:txBody>
          <a:bodyPr wrap="square" anchor="ctr">
            <a:spAutoFit/>
          </a:bodyPr>
          <a:lstStyle/>
          <a:p>
            <a:pPr>
              <a:defRPr sz="1600" b="1">
                <a:solidFill>
                  <a:srgbClr val="FFFFFF"/>
                </a:solidFill>
              </a:defRPr>
            </a:pPr>
            <a:r>
              <a:rPr sz="1600"/>
              <a:t>Same team; no separate lifecycle</a:t>
            </a:r>
          </a:p>
        </p:txBody>
      </p:sp>
      <p:sp>
        <p:nvSpPr>
          <p:cNvPr id="8" name="TextBox 7"/>
          <p:cNvSpPr txBox="1"/>
          <p:nvPr/>
        </p:nvSpPr>
        <p:spPr>
          <a:xfrm>
            <a:off x="769684" y="2830000"/>
            <a:ext cx="3180136" cy="943848"/>
          </a:xfrm>
          <a:prstGeom prst="rect">
            <a:avLst/>
          </a:prstGeom>
          <a:noFill/>
        </p:spPr>
        <p:txBody>
          <a:bodyPr wrap="square">
            <a:spAutoFit/>
          </a:bodyPr>
          <a:lstStyle/>
          <a:p>
            <a:pPr>
              <a:spcAft>
                <a:spcPts val="1600"/>
              </a:spcAft>
              <a:defRPr sz="1400">
                <a:solidFill>
                  <a:srgbClr val="000000"/>
                </a:solidFill>
              </a:defRPr>
            </a:pPr>
            <a:r>
              <a:rPr sz="1400"/>
              <a:t>Standard harness: Child agent.</a:t>
            </a:r>
          </a:p>
          <a:p>
            <a:pPr>
              <a:spcAft>
                <a:spcPts val="1600"/>
              </a:spcAft>
              <a:defRPr sz="1400">
                <a:solidFill>
                  <a:srgbClr val="000000"/>
                </a:solidFill>
              </a:defRPr>
            </a:pPr>
            <a:r>
              <a:rPr sz="1400"/>
              <a:t>GitHub Copilot harness: Instructions, a skill, or a tool.</a:t>
            </a:r>
          </a:p>
        </p:txBody>
      </p:sp>
      <p:sp>
        <p:nvSpPr>
          <p:cNvPr id="9" name="Rounded Rectangle 8">
            <a:extLst>
              <a:ext uri="{C183D7F6-B498-43B3-948B-1728B52AA6E4}">
                <adec:decorative xmlns:adec="http://schemas.microsoft.com/office/drawing/2017/decorative" val="1"/>
              </a:ext>
            </a:extLst>
          </p:cNvPr>
          <p:cNvSpPr/>
          <p:nvPr/>
        </p:nvSpPr>
        <p:spPr>
          <a:xfrm>
            <a:off x="4323116" y="2160000"/>
            <a:ext cx="3545896" cy="2240000"/>
          </a:xfrm>
          <a:prstGeom prst="roundRect">
            <a:avLst>
              <a:gd name="adj" fmla="val 41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C183D7F6-B498-43B3-948B-1728B52AA6E4}">
                <adec:decorative xmlns:adec="http://schemas.microsoft.com/office/drawing/2017/decorative" val="1"/>
              </a:ext>
            </a:extLst>
          </p:cNvPr>
          <p:cNvSpPr/>
          <p:nvPr/>
        </p:nvSpPr>
        <p:spPr>
          <a:xfrm>
            <a:off x="4323116" y="216000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323116" y="252576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5996" y="2141934"/>
            <a:ext cx="3225896" cy="584775"/>
          </a:xfrm>
          <a:prstGeom prst="rect">
            <a:avLst/>
          </a:prstGeom>
          <a:noFill/>
        </p:spPr>
        <p:txBody>
          <a:bodyPr wrap="square" anchor="ctr">
            <a:spAutoFit/>
          </a:bodyPr>
          <a:lstStyle/>
          <a:p>
            <a:pPr>
              <a:defRPr sz="1600" b="1">
                <a:solidFill>
                  <a:srgbClr val="FFFFFF"/>
                </a:solidFill>
              </a:defRPr>
            </a:pPr>
            <a:r>
              <a:rPr sz="1600"/>
              <a:t>Other team, reused, or already published</a:t>
            </a:r>
          </a:p>
        </p:txBody>
      </p:sp>
      <p:sp>
        <p:nvSpPr>
          <p:cNvPr id="13" name="TextBox 12"/>
          <p:cNvSpPr txBox="1"/>
          <p:nvPr/>
        </p:nvSpPr>
        <p:spPr>
          <a:xfrm>
            <a:off x="4505996" y="2830000"/>
            <a:ext cx="3180136" cy="1159292"/>
          </a:xfrm>
          <a:prstGeom prst="rect">
            <a:avLst/>
          </a:prstGeom>
          <a:noFill/>
        </p:spPr>
        <p:txBody>
          <a:bodyPr wrap="square">
            <a:spAutoFit/>
          </a:bodyPr>
          <a:lstStyle/>
          <a:p>
            <a:pPr>
              <a:spcAft>
                <a:spcPts val="1600"/>
              </a:spcAft>
              <a:defRPr sz="1400">
                <a:solidFill>
                  <a:srgbClr val="000000"/>
                </a:solidFill>
              </a:defRPr>
            </a:pPr>
            <a:r>
              <a:rPr sz="1400"/>
              <a:t>Both harnesses: Connected Copilot Studio agent.</a:t>
            </a:r>
          </a:p>
          <a:p>
            <a:pPr>
              <a:spcAft>
                <a:spcPts val="1600"/>
              </a:spcAft>
              <a:defRPr sz="1400">
                <a:solidFill>
                  <a:srgbClr val="000000"/>
                </a:solidFill>
              </a:defRPr>
            </a:pPr>
            <a:r>
              <a:rPr sz="1400"/>
              <a:t>Use this for Fabrikam's account management team agent.</a:t>
            </a:r>
          </a:p>
        </p:txBody>
      </p:sp>
      <p:sp>
        <p:nvSpPr>
          <p:cNvPr id="14" name="Rounded Rectangle 13">
            <a:extLst>
              <a:ext uri="{C183D7F6-B498-43B3-948B-1728B52AA6E4}">
                <adec:decorative xmlns:adec="http://schemas.microsoft.com/office/drawing/2017/decorative" val="1"/>
              </a:ext>
            </a:extLst>
          </p:cNvPr>
          <p:cNvSpPr/>
          <p:nvPr/>
        </p:nvSpPr>
        <p:spPr>
          <a:xfrm>
            <a:off x="8059428" y="2160000"/>
            <a:ext cx="3545896" cy="2240000"/>
          </a:xfrm>
          <a:prstGeom prst="roundRect">
            <a:avLst>
              <a:gd name="adj" fmla="val 41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8059428" y="216000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059428" y="252576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2308" y="2265043"/>
            <a:ext cx="3225896" cy="338554"/>
          </a:xfrm>
          <a:prstGeom prst="rect">
            <a:avLst/>
          </a:prstGeom>
          <a:noFill/>
        </p:spPr>
        <p:txBody>
          <a:bodyPr wrap="square" anchor="ctr">
            <a:spAutoFit/>
          </a:bodyPr>
          <a:lstStyle/>
          <a:p>
            <a:pPr>
              <a:defRPr sz="1600" b="1">
                <a:solidFill>
                  <a:srgbClr val="FFFFFF"/>
                </a:solidFill>
              </a:defRPr>
            </a:pPr>
            <a:r>
              <a:rPr sz="1600"/>
              <a:t>Built on another platform</a:t>
            </a:r>
          </a:p>
        </p:txBody>
      </p:sp>
      <p:sp>
        <p:nvSpPr>
          <p:cNvPr id="18" name="TextBox 17"/>
          <p:cNvSpPr txBox="1"/>
          <p:nvPr/>
        </p:nvSpPr>
        <p:spPr>
          <a:xfrm>
            <a:off x="8242308" y="2830000"/>
            <a:ext cx="3180136" cy="1159292"/>
          </a:xfrm>
          <a:prstGeom prst="rect">
            <a:avLst/>
          </a:prstGeom>
          <a:noFill/>
        </p:spPr>
        <p:txBody>
          <a:bodyPr wrap="square">
            <a:spAutoFit/>
          </a:bodyPr>
          <a:lstStyle/>
          <a:p>
            <a:pPr>
              <a:spcAft>
                <a:spcPts val="1600"/>
              </a:spcAft>
              <a:defRPr sz="1400">
                <a:solidFill>
                  <a:srgbClr val="000000"/>
                </a:solidFill>
              </a:defRPr>
            </a:pPr>
            <a:r>
              <a:rPr sz="1400"/>
              <a:t>Standard harness: Use the matching connection type.</a:t>
            </a:r>
          </a:p>
          <a:p>
            <a:pPr>
              <a:spcAft>
                <a:spcPts val="1600"/>
              </a:spcAft>
              <a:defRPr sz="1400">
                <a:solidFill>
                  <a:srgbClr val="000000"/>
                </a:solidFill>
              </a:defRPr>
            </a:pPr>
            <a:r>
              <a:rPr sz="1400"/>
              <a:t>GitHub Copilot harness: Not currently available.</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481456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(1 of 5)</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1. A maker is designing an employee service solution where three business units (HR, IT, and Finance) each maintain their own procedures and need to evolve their agent components independently. Which characteristic of this scenario best justifies a multi-agent architecture?</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Independent team ownership across three business domains means each team can build, update, and release their agent component without affecting the others.</a:t>
            </a:r>
          </a:p>
          <a:p>
            <a:pPr>
              <a:spcAft>
                <a:spcPts val="900"/>
              </a:spcAft>
            </a:pPr>
            <a:r>
              <a:rPr sz="1400">
                <a:solidFill>
                  <a:srgbClr val="333333"/>
                </a:solidFill>
              </a:rPr>
              <a:t>☐  Each business unit uses its own terminology, so a single agent's instructions can't describe all three domains.</a:t>
            </a:r>
          </a:p>
          <a:p>
            <a:pPr>
              <a:spcAft>
                <a:spcPts val="900"/>
              </a:spcAft>
            </a:pPr>
            <a:r>
              <a:rPr sz="1400">
                <a:solidFill>
                  <a:srgbClr val="333333"/>
                </a:solidFill>
              </a:rPr>
              <a:t>☐  The IT team's procedures are more complex than the HR and Finance procedures.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074098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(2 of 5)</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2. A maker's agent handles employee IT requests with a handful of tools. The maker wants to move one small procedure into its own connected agent to improve accuracy. The same team owns the procedure, and no other agent reuses it. What should the maker do first?</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Publish the procedure as a separate agent and connect it to the primary agent.</a:t>
            </a:r>
          </a:p>
          <a:p>
            <a:pPr>
              <a:spcAft>
                <a:spcPts val="900"/>
              </a:spcAft>
            </a:pPr>
            <a:r>
              <a:rPr sz="1400">
                <a:solidFill>
                  <a:srgbClr val="333333"/>
                </a:solidFill>
              </a:rPr>
              <a:t>☐  Use the workflow-oriented pattern to run the procedure as a separate agent in a fixed sequence.</a:t>
            </a:r>
          </a:p>
          <a:p>
            <a:pPr>
              <a:spcAft>
                <a:spcPts val="900"/>
              </a:spcAft>
            </a:pPr>
            <a:r>
              <a:rPr sz="1400">
                <a:solidFill>
                  <a:srgbClr val="333333"/>
                </a:solidFill>
              </a:rPr>
              <a:t>☐  Keep the procedure in the agent and review its descriptions and instructions to make them more distinct.</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236780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(3 of 5)</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3. A procurement team needs to validate vendor contracts through three mandatory compliance checks in a defined order, then route approved contracts to a legal reviewer before final sign-off. No step can be skipped or reordered. Which orchestration pattern is most appropriate?</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Orchestrator/subagent, because the orchestrator can evaluate each compliance agent's output and decide which agent to call next.</a:t>
            </a:r>
          </a:p>
          <a:p>
            <a:pPr>
              <a:spcAft>
                <a:spcPts val="900"/>
              </a:spcAft>
            </a:pPr>
            <a:r>
              <a:rPr sz="1400">
                <a:solidFill>
                  <a:srgbClr val="333333"/>
                </a:solidFill>
              </a:rPr>
              <a:t>☐  Workflow-oriented, because the process is deterministic with strict step ordering and a human approval gate.</a:t>
            </a:r>
          </a:p>
          <a:p>
            <a:pPr>
              <a:spcAft>
                <a:spcPts val="900"/>
              </a:spcAft>
            </a:pPr>
            <a:r>
              <a:rPr sz="1400">
                <a:solidFill>
                  <a:srgbClr val="333333"/>
                </a:solidFill>
              </a:rPr>
              <a:t>☐  A hybrid pattern: concurrent compliance checks for speed, followed by dynamic routing to the legal reviewer.</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76285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(4 of 5)</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4. A support organization's primary agent receives open-ended requests that might need a billing, technical support, or account management agent. Which agent a request needs isn't known until the user asks. Which coordination approach fits best?</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A serial workflow that runs the billing, technical support, and account management agents in a fixed order for every request.</a:t>
            </a:r>
          </a:p>
          <a:p>
            <a:pPr>
              <a:spcAft>
                <a:spcPts val="900"/>
              </a:spcAft>
            </a:pPr>
            <a:r>
              <a:rPr sz="1400">
                <a:solidFill>
                  <a:srgbClr val="333333"/>
                </a:solidFill>
              </a:rPr>
              <a:t>☐  A concurrent workflow that runs all three agents in parallel and combines their outputs.</a:t>
            </a:r>
          </a:p>
          <a:p>
            <a:pPr>
              <a:spcAft>
                <a:spcPts val="900"/>
              </a:spcAft>
            </a:pPr>
            <a:r>
              <a:rPr sz="1400">
                <a:solidFill>
                  <a:srgbClr val="333333"/>
                </a:solidFill>
              </a:rPr>
              <a:t>☐  The orchestrator/subagent pattern, where the primary agent decides at runtime which connected agent handles each request.</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936389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(5 of 5)</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5. Two makers in the same environment are designing multi-agent solutions, one on the standard harness and one on the GitHub Copilot harness. Each wants its primary agent to delegate to a capability that another team owns and publishes as a Copilot Studio agent. Which delegation option do both harnesses support?</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A connected Copilot Studio agent</a:t>
            </a:r>
          </a:p>
          <a:p>
            <a:pPr>
              <a:spcAft>
                <a:spcPts val="900"/>
              </a:spcAft>
            </a:pPr>
            <a:r>
              <a:rPr sz="1400">
                <a:solidFill>
                  <a:srgbClr val="333333"/>
                </a:solidFill>
              </a:rPr>
              <a:t>☐  A Microsoft Foundry agent connection</a:t>
            </a:r>
          </a:p>
          <a:p>
            <a:pPr>
              <a:spcAft>
                <a:spcPts val="900"/>
              </a:spcAft>
            </a:pPr>
            <a:r>
              <a:rPr sz="1400">
                <a:solidFill>
                  <a:srgbClr val="333333"/>
                </a:solidFill>
              </a:rPr>
              <a:t>☐  An Agent2Agent (A2A) protocol connection</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293054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Module recap</a:t>
            </a:r>
          </a:p>
        </p:txBody>
      </p:sp>
      <p:sp>
        <p:nvSpPr>
          <p:cNvPr id="4" name="Rounded Rectangle 3">
            <a:extLst>
              <a:ext uri="{C183D7F6-B498-43B3-948B-1728B52AA6E4}">
                <adec:decorative xmlns:adec="http://schemas.microsoft.com/office/drawing/2017/decorative" val="1"/>
              </a:ext>
            </a:extLst>
          </p:cNvPr>
          <p:cNvSpPr/>
          <p:nvPr/>
        </p:nvSpPr>
        <p:spPr>
          <a:xfrm>
            <a:off x="586804" y="2050000"/>
            <a:ext cx="11018520" cy="88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descr="Item 1">
            <a:extLst>
              <a:ext uri="{C183D7F6-B498-43B3-948B-1728B52AA6E4}">
                <adec:decorative xmlns:adec="http://schemas.microsoft.com/office/drawing/2017/decorative" val="0"/>
              </a:ext>
            </a:extLst>
          </p:cNvPr>
          <p:cNvSpPr/>
          <p:nvPr/>
        </p:nvSpPr>
        <p:spPr>
          <a:xfrm>
            <a:off x="815403" y="225225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6" name="TextBox 5"/>
          <p:cNvSpPr txBox="1"/>
          <p:nvPr/>
        </p:nvSpPr>
        <p:spPr>
          <a:xfrm>
            <a:off x="1464629" y="2095001"/>
            <a:ext cx="3089179" cy="307777"/>
          </a:xfrm>
          <a:prstGeom prst="rect">
            <a:avLst/>
          </a:prstGeom>
          <a:noFill/>
        </p:spPr>
        <p:txBody>
          <a:bodyPr wrap="none">
            <a:spAutoFit/>
          </a:bodyPr>
          <a:lstStyle/>
          <a:p>
            <a:pPr>
              <a:defRPr sz="1400" b="1">
                <a:solidFill>
                  <a:srgbClr val="000000"/>
                </a:solidFill>
              </a:defRPr>
            </a:pPr>
            <a:r>
              <a:rPr sz="1400"/>
              <a:t>Decide when to use multiple agents</a:t>
            </a:r>
          </a:p>
        </p:txBody>
      </p:sp>
      <p:sp>
        <p:nvSpPr>
          <p:cNvPr id="7" name="TextBox 6"/>
          <p:cNvSpPr txBox="1"/>
          <p:nvPr/>
        </p:nvSpPr>
        <p:spPr>
          <a:xfrm>
            <a:off x="1464628" y="2369321"/>
            <a:ext cx="9940696" cy="307777"/>
          </a:xfrm>
          <a:prstGeom prst="rect">
            <a:avLst/>
          </a:prstGeom>
          <a:noFill/>
        </p:spPr>
        <p:txBody>
          <a:bodyPr wrap="square">
            <a:spAutoFit/>
          </a:bodyPr>
          <a:lstStyle/>
          <a:p>
            <a:pPr>
              <a:defRPr sz="1400">
                <a:solidFill>
                  <a:srgbClr val="333333"/>
                </a:solidFill>
              </a:defRPr>
            </a:pPr>
            <a:r>
              <a:rPr sz="1400"/>
              <a:t>Name a structural boundary before adding latency and governance surface.</a:t>
            </a:r>
          </a:p>
        </p:txBody>
      </p:sp>
      <p:sp>
        <p:nvSpPr>
          <p:cNvPr id="8" name="Rounded Rectangle 7">
            <a:extLst>
              <a:ext uri="{C183D7F6-B498-43B3-948B-1728B52AA6E4}">
                <adec:decorative xmlns:adec="http://schemas.microsoft.com/office/drawing/2017/decorative" val="1"/>
              </a:ext>
            </a:extLst>
          </p:cNvPr>
          <p:cNvSpPr/>
          <p:nvPr/>
        </p:nvSpPr>
        <p:spPr>
          <a:xfrm>
            <a:off x="586804" y="3060000"/>
            <a:ext cx="11018520" cy="88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descr="Item 2">
            <a:extLst>
              <a:ext uri="{C183D7F6-B498-43B3-948B-1728B52AA6E4}">
                <adec:decorative xmlns:adec="http://schemas.microsoft.com/office/drawing/2017/decorative" val="0"/>
              </a:ext>
            </a:extLst>
          </p:cNvPr>
          <p:cNvSpPr/>
          <p:nvPr/>
        </p:nvSpPr>
        <p:spPr>
          <a:xfrm>
            <a:off x="815403" y="326225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10" name="TextBox 9"/>
          <p:cNvSpPr txBox="1"/>
          <p:nvPr/>
        </p:nvSpPr>
        <p:spPr>
          <a:xfrm>
            <a:off x="1464628" y="3105001"/>
            <a:ext cx="2665730" cy="307777"/>
          </a:xfrm>
          <a:prstGeom prst="rect">
            <a:avLst/>
          </a:prstGeom>
          <a:noFill/>
        </p:spPr>
        <p:txBody>
          <a:bodyPr wrap="none">
            <a:spAutoFit/>
          </a:bodyPr>
          <a:lstStyle/>
          <a:p>
            <a:pPr>
              <a:defRPr sz="1400" b="1">
                <a:solidFill>
                  <a:srgbClr val="000000"/>
                </a:solidFill>
              </a:defRPr>
            </a:pPr>
            <a:r>
              <a:rPr sz="1400"/>
              <a:t>Choose a coordination pattern</a:t>
            </a:r>
          </a:p>
        </p:txBody>
      </p:sp>
      <p:sp>
        <p:nvSpPr>
          <p:cNvPr id="11" name="TextBox 10"/>
          <p:cNvSpPr txBox="1"/>
          <p:nvPr/>
        </p:nvSpPr>
        <p:spPr>
          <a:xfrm>
            <a:off x="1464628" y="3379321"/>
            <a:ext cx="9940696" cy="307777"/>
          </a:xfrm>
          <a:prstGeom prst="rect">
            <a:avLst/>
          </a:prstGeom>
          <a:noFill/>
        </p:spPr>
        <p:txBody>
          <a:bodyPr wrap="square">
            <a:spAutoFit/>
          </a:bodyPr>
          <a:lstStyle/>
          <a:p>
            <a:pPr>
              <a:defRPr sz="1400">
                <a:solidFill>
                  <a:srgbClr val="333333"/>
                </a:solidFill>
              </a:defRPr>
            </a:pPr>
            <a:r>
              <a:rPr sz="1400"/>
              <a:t>Use runtime routing for open-ended requests and workflows for defined paths.</a:t>
            </a:r>
          </a:p>
        </p:txBody>
      </p:sp>
      <p:sp>
        <p:nvSpPr>
          <p:cNvPr id="12" name="Rounded Rectangle 11">
            <a:extLst>
              <a:ext uri="{C183D7F6-B498-43B3-948B-1728B52AA6E4}">
                <adec:decorative xmlns:adec="http://schemas.microsoft.com/office/drawing/2017/decorative" val="1"/>
              </a:ext>
            </a:extLst>
          </p:cNvPr>
          <p:cNvSpPr/>
          <p:nvPr/>
        </p:nvSpPr>
        <p:spPr>
          <a:xfrm>
            <a:off x="586804" y="4070000"/>
            <a:ext cx="11018520" cy="88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descr="Item 3">
            <a:extLst>
              <a:ext uri="{C183D7F6-B498-43B3-948B-1728B52AA6E4}">
                <adec:decorative xmlns:adec="http://schemas.microsoft.com/office/drawing/2017/decorative" val="0"/>
              </a:ext>
            </a:extLst>
          </p:cNvPr>
          <p:cNvSpPr/>
          <p:nvPr/>
        </p:nvSpPr>
        <p:spPr>
          <a:xfrm>
            <a:off x="815403" y="427225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4" name="TextBox 13"/>
          <p:cNvSpPr txBox="1"/>
          <p:nvPr/>
        </p:nvSpPr>
        <p:spPr>
          <a:xfrm>
            <a:off x="1464629" y="4115001"/>
            <a:ext cx="3741281" cy="307777"/>
          </a:xfrm>
          <a:prstGeom prst="rect">
            <a:avLst/>
          </a:prstGeom>
          <a:noFill/>
        </p:spPr>
        <p:txBody>
          <a:bodyPr wrap="none">
            <a:spAutoFit/>
          </a:bodyPr>
          <a:lstStyle/>
          <a:p>
            <a:pPr>
              <a:defRPr sz="1400" b="1">
                <a:solidFill>
                  <a:srgbClr val="000000"/>
                </a:solidFill>
              </a:defRPr>
            </a:pPr>
            <a:r>
              <a:rPr sz="1400"/>
              <a:t>Identify implementation options by harness</a:t>
            </a:r>
          </a:p>
        </p:txBody>
      </p:sp>
      <p:sp>
        <p:nvSpPr>
          <p:cNvPr id="15" name="TextBox 14"/>
          <p:cNvSpPr txBox="1"/>
          <p:nvPr/>
        </p:nvSpPr>
        <p:spPr>
          <a:xfrm>
            <a:off x="1464628" y="4389321"/>
            <a:ext cx="9940696" cy="307777"/>
          </a:xfrm>
          <a:prstGeom prst="rect">
            <a:avLst/>
          </a:prstGeom>
          <a:noFill/>
        </p:spPr>
        <p:txBody>
          <a:bodyPr wrap="square">
            <a:spAutoFit/>
          </a:bodyPr>
          <a:lstStyle/>
          <a:p>
            <a:pPr>
              <a:defRPr sz="1400">
                <a:solidFill>
                  <a:srgbClr val="333333"/>
                </a:solidFill>
              </a:defRPr>
            </a:pPr>
            <a:r>
              <a:rPr sz="1400"/>
              <a:t>Map the design to building blocks the selected harness supports.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778103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Resources</a:t>
            </a:r>
          </a:p>
        </p:txBody>
      </p:sp>
      <p:sp>
        <p:nvSpPr>
          <p:cNvPr id="3" name="Text Placeholder 2"/>
          <p:cNvSpPr>
            <a:spLocks noGrp="1"/>
          </p:cNvSpPr>
          <p:nvPr>
            <p:ph type="body" sz="quarter" idx="15"/>
          </p:nvPr>
        </p:nvSpPr>
        <p:spPr/>
        <p:txBody>
          <a:bodyPr/>
          <a:lstStyle/>
          <a:p>
            <a:r>
              <a:t>Harness and delegation</a:t>
            </a:r>
          </a:p>
        </p:txBody>
      </p:sp>
      <p:sp>
        <p:nvSpPr>
          <p:cNvPr id="4" name="Text Placeholder 3"/>
          <p:cNvSpPr>
            <a:spLocks noGrp="1"/>
          </p:cNvSpPr>
          <p:nvPr>
            <p:ph type="body" sz="quarter" idx="19"/>
          </p:nvPr>
        </p:nvSpPr>
        <p:spPr>
          <a:xfrm>
            <a:off x="587824" y="2081710"/>
            <a:ext cx="8190890" cy="2030749"/>
          </a:xfrm>
        </p:spPr>
        <p:txBody>
          <a:bodyPr/>
          <a:lstStyle/>
          <a:p>
            <a:r>
              <a:rPr>
                <a:solidFill>
                  <a:srgbClr val="2A446F"/>
                </a:solidFill>
                <a:hlinkClick r:id="rId2">
                  <a:extLst>
                    <a:ext uri="{A12FA001-AC4F-418D-AE19-62706E023703}">
                      <ahyp:hlinkClr xmlns:ahyp="http://schemas.microsoft.com/office/drawing/2018/hyperlinkcolor" val="tx"/>
                    </a:ext>
                  </a:extLst>
                </a:hlinkClick>
              </a:rPr>
              <a:t>Harnesses in Copilot Studio</a:t>
            </a:r>
          </a:p>
          <a:p>
            <a:r>
              <a:rPr>
                <a:solidFill>
                  <a:srgbClr val="2A446F"/>
                </a:solidFill>
                <a:hlinkClick r:id="rId3">
                  <a:extLst>
                    <a:ext uri="{A12FA001-AC4F-418D-AE19-62706E023703}">
                      <ahyp:hlinkClr xmlns:ahyp="http://schemas.microsoft.com/office/drawing/2018/hyperlinkcolor" val="tx"/>
                    </a:ext>
                  </a:extLst>
                </a:hlinkClick>
              </a:rPr>
              <a:t>Add other agents overview</a:t>
            </a:r>
          </a:p>
          <a:p>
            <a:r>
              <a:rPr>
                <a:solidFill>
                  <a:srgbClr val="2A446F"/>
                </a:solidFill>
                <a:hlinkClick r:id="rId4">
                  <a:extLst>
                    <a:ext uri="{A12FA001-AC4F-418D-AE19-62706E023703}">
                      <ahyp:hlinkClr xmlns:ahyp="http://schemas.microsoft.com/office/drawing/2018/hyperlinkcolor" val="tx"/>
                    </a:ext>
                  </a:extLst>
                </a:hlinkClick>
              </a:rPr>
              <a:t>Add a child agent</a:t>
            </a:r>
          </a:p>
          <a:p>
            <a:r>
              <a:rPr>
                <a:solidFill>
                  <a:srgbClr val="2A446F"/>
                </a:solidFill>
                <a:hlinkClick r:id="rId5">
                  <a:extLst>
                    <a:ext uri="{A12FA001-AC4F-418D-AE19-62706E023703}">
                      <ahyp:hlinkClr xmlns:ahyp="http://schemas.microsoft.com/office/drawing/2018/hyperlinkcolor" val="tx"/>
                    </a:ext>
                  </a:extLst>
                </a:hlinkClick>
              </a:rPr>
              <a:t>Connected agents overview</a:t>
            </a:r>
          </a:p>
        </p:txBody>
      </p:sp>
      <p:sp>
        <p:nvSpPr>
          <p:cNvPr id="5" name="Text Placeholder 4"/>
          <p:cNvSpPr>
            <a:spLocks noGrp="1"/>
          </p:cNvSpPr>
          <p:nvPr>
            <p:ph type="body" sz="quarter" idx="20"/>
          </p:nvPr>
        </p:nvSpPr>
        <p:spPr>
          <a:xfrm>
            <a:off x="586389" y="901014"/>
            <a:ext cx="8193024" cy="482633"/>
          </a:xfrm>
        </p:spPr>
        <p:txBody>
          <a:bodyPr/>
          <a:lstStyle/>
          <a:p>
            <a:r>
              <a:rPr dirty="0"/>
              <a:t>Workflows and patterns</a:t>
            </a:r>
          </a:p>
        </p:txBody>
      </p:sp>
      <p:sp>
        <p:nvSpPr>
          <p:cNvPr id="6" name="Text Placeholder 5"/>
          <p:cNvSpPr>
            <a:spLocks noGrp="1"/>
          </p:cNvSpPr>
          <p:nvPr>
            <p:ph type="body" sz="quarter" idx="21"/>
          </p:nvPr>
        </p:nvSpPr>
        <p:spPr>
          <a:xfrm>
            <a:off x="587824" y="4077778"/>
            <a:ext cx="8190890" cy="2030749"/>
          </a:xfrm>
        </p:spPr>
        <p:txBody>
          <a:bodyPr/>
          <a:lstStyle/>
          <a:p>
            <a:r>
              <a:rPr>
                <a:solidFill>
                  <a:srgbClr val="2A446F"/>
                </a:solidFill>
                <a:hlinkClick r:id="rId6">
                  <a:extLst>
                    <a:ext uri="{A12FA001-AC4F-418D-AE19-62706E023703}">
                      <ahyp:hlinkClr xmlns:ahyp="http://schemas.microsoft.com/office/drawing/2018/hyperlinkcolor" val="tx"/>
                    </a:ext>
                  </a:extLst>
                </a:hlinkClick>
              </a:rPr>
              <a:t>Add an agent node to a workflow</a:t>
            </a:r>
          </a:p>
          <a:p>
            <a:r>
              <a:rPr>
                <a:solidFill>
                  <a:srgbClr val="2A446F"/>
                </a:solidFill>
                <a:hlinkClick r:id="rId7">
                  <a:extLst>
                    <a:ext uri="{A12FA001-AC4F-418D-AE19-62706E023703}">
                      <ahyp:hlinkClr xmlns:ahyp="http://schemas.microsoft.com/office/drawing/2018/hyperlinkcolor" val="tx"/>
                    </a:ext>
                  </a:extLst>
                </a:hlinkClick>
              </a:rPr>
              <a:t>Call Copilot Studio agents from Power Automate</a:t>
            </a:r>
          </a:p>
          <a:p>
            <a:r>
              <a:rPr>
                <a:solidFill>
                  <a:srgbClr val="2A446F"/>
                </a:solidFill>
                <a:hlinkClick r:id="rId8">
                  <a:extLst>
                    <a:ext uri="{A12FA001-AC4F-418D-AE19-62706E023703}">
                      <ahyp:hlinkClr xmlns:ahyp="http://schemas.microsoft.com/office/drawing/2018/hyperlinkcolor" val="tx"/>
                    </a:ext>
                  </a:extLst>
                </a:hlinkClick>
              </a:rPr>
              <a:t>Orchestrator and subagent patterns</a:t>
            </a:r>
          </a:p>
          <a:p>
            <a:r>
              <a:rPr>
                <a:solidFill>
                  <a:srgbClr val="2A446F"/>
                </a:solidFill>
                <a:hlinkClick r:id="rId9">
                  <a:extLst>
                    <a:ext uri="{A12FA001-AC4F-418D-AE19-62706E023703}">
                      <ahyp:hlinkClr xmlns:ahyp="http://schemas.microsoft.com/office/drawing/2018/hyperlinkcolor" val="tx"/>
                    </a:ext>
                  </a:extLst>
                </a:hlinkClick>
              </a:rPr>
              <a:t>Workflow-oriented patterns</a:t>
            </a:r>
          </a:p>
        </p:txBody>
      </p:sp>
    </p:spTree>
    <p:extLst>
      <p:ext uri="{BB962C8B-B14F-4D97-AF65-F5344CB8AC3E}">
        <p14:creationId xmlns:p14="http://schemas.microsoft.com/office/powerpoint/2010/main" val="3951485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334964"/>
            <a:ext cx="8193024" cy="1665199"/>
          </a:xfrm>
        </p:spPr>
        <p:txBody>
          <a:bodyPr/>
          <a:lstStyle/>
          <a:p>
            <a:r>
              <a:t>Module: Build connected agent solutions in Microsoft Copilot Studio (GitHub Copilot)</a:t>
            </a:r>
          </a:p>
        </p:txBody>
      </p:sp>
      <p:sp>
        <p:nvSpPr>
          <p:cNvPr id="3" name="Text Placeholder 2"/>
          <p:cNvSpPr>
            <a:spLocks noGrp="1"/>
          </p:cNvSpPr>
          <p:nvPr>
            <p:ph type="body" sz="quarter" idx="12"/>
          </p:nvPr>
        </p:nvSpPr>
        <p:spPr/>
        <p:txBody>
          <a:bodyPr/>
          <a:lstStyle/>
          <a:p>
            <a:endParaRPr/>
          </a:p>
        </p:txBody>
      </p:sp>
      <p:sp>
        <p:nvSpPr>
          <p:cNvPr id="4" name="Text Placeholder 3"/>
          <p:cNvSpPr>
            <a:spLocks noGrp="1"/>
          </p:cNvSpPr>
          <p:nvPr>
            <p:ph type="body" sz="quarter" idx="13"/>
          </p:nvPr>
        </p:nvSpPr>
        <p:spPr>
          <a:xfrm>
            <a:off x="583479" y="6446520"/>
            <a:ext cx="3500000" cy="300000"/>
          </a:xfrm>
        </p:spPr>
        <p:txBody>
          <a:bodyPr wrap="none">
            <a:noAutofit/>
          </a:bodyPr>
          <a:lstStyle/>
          <a:p>
            <a:r>
              <a:t>Intermediate • October 2026</a:t>
            </a:r>
          </a:p>
        </p:txBody>
      </p:sp>
      <p:sp>
        <p:nvSpPr>
          <p:cNvPr id="5" name="Text Placeholder 4"/>
          <p:cNvSpPr>
            <a:spLocks noGrp="1"/>
          </p:cNvSpPr>
          <p:nvPr>
            <p:ph type="body" sz="quarter" idx="14"/>
          </p:nvPr>
        </p:nvSpPr>
        <p:spPr/>
        <p:txBody>
          <a:bodyPr/>
          <a:lstStyle/>
          <a:p>
            <a:endParaRPr/>
          </a:p>
        </p:txBody>
      </p:sp>
    </p:spTree>
    <p:extLst>
      <p:ext uri="{BB962C8B-B14F-4D97-AF65-F5344CB8AC3E}">
        <p14:creationId xmlns:p14="http://schemas.microsoft.com/office/powerpoint/2010/main" val="931577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Learning objectives</a:t>
            </a:r>
          </a:p>
        </p:txBody>
      </p:sp>
      <p:sp>
        <p:nvSpPr>
          <p:cNvPr id="2" name="Text Placeholder 1"/>
          <p:cNvSpPr>
            <a:spLocks noGrp="1"/>
          </p:cNvSpPr>
          <p:nvPr>
            <p:ph type="body" sz="quarter" idx="18"/>
          </p:nvPr>
        </p:nvSpPr>
        <p:spPr>
          <a:xfrm>
            <a:off x="586804" y="1250000"/>
            <a:ext cx="11018520" cy="400000"/>
          </a:xfrm>
        </p:spPr>
        <p:txBody>
          <a:bodyPr wrap="square" anchor="t">
            <a:noAutofit/>
          </a:bodyPr>
          <a:lstStyle/>
          <a:p>
            <a:pPr>
              <a:buNone/>
              <a:defRPr sz="1400"/>
            </a:pPr>
            <a:r>
              <a:t>After completing this module, you'll be able to:</a:t>
            </a:r>
          </a:p>
        </p:txBody>
      </p:sp>
      <p:sp>
        <p:nvSpPr>
          <p:cNvPr id="4" name="Rounded Rectangle 3">
            <a:extLst>
              <a:ext uri="{C183D7F6-B498-43B3-948B-1728B52AA6E4}">
                <adec:decorative xmlns:adec="http://schemas.microsoft.com/office/drawing/2017/decorative" val="1"/>
              </a:ext>
            </a:extLst>
          </p:cNvPr>
          <p:cNvSpPr/>
          <p:nvPr/>
        </p:nvSpPr>
        <p:spPr>
          <a:xfrm>
            <a:off x="586804" y="2115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descr="Item 1">
            <a:extLst>
              <a:ext uri="{C183D7F6-B498-43B3-948B-1728B52AA6E4}">
                <adec:decorative xmlns:adec="http://schemas.microsoft.com/office/drawing/2017/decorative" val="0"/>
              </a:ext>
            </a:extLst>
          </p:cNvPr>
          <p:cNvSpPr/>
          <p:nvPr/>
        </p:nvSpPr>
        <p:spPr>
          <a:xfrm>
            <a:off x="815403" y="232725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6" name="TextBox 5"/>
          <p:cNvSpPr txBox="1"/>
          <p:nvPr/>
        </p:nvSpPr>
        <p:spPr>
          <a:xfrm>
            <a:off x="1464628" y="2403418"/>
            <a:ext cx="9940696" cy="323165"/>
          </a:xfrm>
          <a:prstGeom prst="rect">
            <a:avLst/>
          </a:prstGeom>
          <a:noFill/>
        </p:spPr>
        <p:txBody>
          <a:bodyPr wrap="square" anchor="ctr">
            <a:spAutoFit/>
          </a:bodyPr>
          <a:lstStyle/>
          <a:p>
            <a:pPr>
              <a:defRPr sz="1500" b="0">
                <a:solidFill>
                  <a:srgbClr val="000000"/>
                </a:solidFill>
              </a:defRPr>
            </a:pPr>
            <a:r>
              <a:rPr sz="1500"/>
              <a:t>Prepare an agent so that other agents can connect to it.</a:t>
            </a:r>
          </a:p>
        </p:txBody>
      </p:sp>
      <p:sp>
        <p:nvSpPr>
          <p:cNvPr id="7" name="Rounded Rectangle 6">
            <a:extLst>
              <a:ext uri="{C183D7F6-B498-43B3-948B-1728B52AA6E4}">
                <adec:decorative xmlns:adec="http://schemas.microsoft.com/office/drawing/2017/decorative" val="1"/>
              </a:ext>
            </a:extLst>
          </p:cNvPr>
          <p:cNvSpPr/>
          <p:nvPr/>
        </p:nvSpPr>
        <p:spPr>
          <a:xfrm>
            <a:off x="586804" y="3105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descr="Item 2">
            <a:extLst>
              <a:ext uri="{C183D7F6-B498-43B3-948B-1728B52AA6E4}">
                <adec:decorative xmlns:adec="http://schemas.microsoft.com/office/drawing/2017/decorative" val="0"/>
              </a:ext>
            </a:extLst>
          </p:cNvPr>
          <p:cNvSpPr/>
          <p:nvPr/>
        </p:nvSpPr>
        <p:spPr>
          <a:xfrm>
            <a:off x="815403" y="331725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9" name="TextBox 8"/>
          <p:cNvSpPr txBox="1"/>
          <p:nvPr/>
        </p:nvSpPr>
        <p:spPr>
          <a:xfrm>
            <a:off x="1464628" y="3393418"/>
            <a:ext cx="9940696" cy="323165"/>
          </a:xfrm>
          <a:prstGeom prst="rect">
            <a:avLst/>
          </a:prstGeom>
          <a:noFill/>
        </p:spPr>
        <p:txBody>
          <a:bodyPr wrap="square" anchor="ctr">
            <a:spAutoFit/>
          </a:bodyPr>
          <a:lstStyle/>
          <a:p>
            <a:pPr>
              <a:defRPr sz="1500" b="0">
                <a:solidFill>
                  <a:srgbClr val="000000"/>
                </a:solidFill>
              </a:defRPr>
            </a:pPr>
            <a:r>
              <a:rPr sz="1500"/>
              <a:t>Add a connected agent with a specific, distinct routing description.</a:t>
            </a:r>
          </a:p>
        </p:txBody>
      </p:sp>
      <p:sp>
        <p:nvSpPr>
          <p:cNvPr id="10" name="Rounded Rectangle 9">
            <a:extLst>
              <a:ext uri="{C183D7F6-B498-43B3-948B-1728B52AA6E4}">
                <adec:decorative xmlns:adec="http://schemas.microsoft.com/office/drawing/2017/decorative" val="1"/>
              </a:ext>
            </a:extLst>
          </p:cNvPr>
          <p:cNvSpPr/>
          <p:nvPr/>
        </p:nvSpPr>
        <p:spPr>
          <a:xfrm>
            <a:off x="586804" y="4095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descr="Item 3">
            <a:extLst>
              <a:ext uri="{C183D7F6-B498-43B3-948B-1728B52AA6E4}">
                <adec:decorative xmlns:adec="http://schemas.microsoft.com/office/drawing/2017/decorative" val="0"/>
              </a:ext>
            </a:extLst>
          </p:cNvPr>
          <p:cNvSpPr/>
          <p:nvPr/>
        </p:nvSpPr>
        <p:spPr>
          <a:xfrm>
            <a:off x="815403" y="430725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2" name="TextBox 11"/>
          <p:cNvSpPr txBox="1"/>
          <p:nvPr/>
        </p:nvSpPr>
        <p:spPr>
          <a:xfrm>
            <a:off x="1464628" y="4383418"/>
            <a:ext cx="9940696" cy="323165"/>
          </a:xfrm>
          <a:prstGeom prst="rect">
            <a:avLst/>
          </a:prstGeom>
          <a:noFill/>
        </p:spPr>
        <p:txBody>
          <a:bodyPr wrap="square" anchor="ctr">
            <a:spAutoFit/>
          </a:bodyPr>
          <a:lstStyle/>
          <a:p>
            <a:pPr>
              <a:defRPr sz="1500" b="0">
                <a:solidFill>
                  <a:srgbClr val="000000"/>
                </a:solidFill>
              </a:defRPr>
            </a:pPr>
            <a:r>
              <a:rPr sz="1500"/>
              <a:t>Test delegation in Preview and troubleshoot misrouted requests.</a:t>
            </a:r>
          </a:p>
        </p:txBody>
      </p:sp>
      <p:sp>
        <p:nvSpPr>
          <p:cNvPr id="13" name="Rounded Rectangle 12">
            <a:extLst>
              <a:ext uri="{C183D7F6-B498-43B3-948B-1728B52AA6E4}">
                <adec:decorative xmlns:adec="http://schemas.microsoft.com/office/drawing/2017/decorative" val="1"/>
              </a:ext>
            </a:extLst>
          </p:cNvPr>
          <p:cNvSpPr/>
          <p:nvPr/>
        </p:nvSpPr>
        <p:spPr>
          <a:xfrm>
            <a:off x="586804" y="508500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descr="Item 4">
            <a:extLst>
              <a:ext uri="{C183D7F6-B498-43B3-948B-1728B52AA6E4}">
                <adec:decorative xmlns:adec="http://schemas.microsoft.com/office/drawing/2017/decorative" val="0"/>
              </a:ext>
            </a:extLst>
          </p:cNvPr>
          <p:cNvSpPr/>
          <p:nvPr/>
        </p:nvSpPr>
        <p:spPr>
          <a:xfrm>
            <a:off x="815403" y="5297256"/>
            <a:ext cx="475488" cy="475488"/>
          </a:xfrm>
          <a:prstGeom prst="ellipse">
            <a:avLst/>
          </a:prstGeom>
          <a:solidFill>
            <a:srgbClr val="ECC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4</a:t>
            </a:r>
          </a:p>
        </p:txBody>
      </p:sp>
      <p:sp>
        <p:nvSpPr>
          <p:cNvPr id="15" name="TextBox 14"/>
          <p:cNvSpPr txBox="1"/>
          <p:nvPr/>
        </p:nvSpPr>
        <p:spPr>
          <a:xfrm>
            <a:off x="1464628" y="5373418"/>
            <a:ext cx="9940696" cy="323165"/>
          </a:xfrm>
          <a:prstGeom prst="rect">
            <a:avLst/>
          </a:prstGeom>
          <a:noFill/>
        </p:spPr>
        <p:txBody>
          <a:bodyPr wrap="square" anchor="ctr">
            <a:spAutoFit/>
          </a:bodyPr>
          <a:lstStyle/>
          <a:p>
            <a:pPr>
              <a:defRPr sz="1500" b="0">
                <a:solidFill>
                  <a:srgbClr val="000000"/>
                </a:solidFill>
              </a:defRPr>
            </a:pPr>
            <a:r>
              <a:rPr sz="1500"/>
              <a:t>Call a published agent from a workflow and use its response.</a:t>
            </a:r>
          </a:p>
        </p:txBody>
      </p:sp>
    </p:spTree>
    <p:extLst>
      <p:ext uri="{BB962C8B-B14F-4D97-AF65-F5344CB8AC3E}">
        <p14:creationId xmlns:p14="http://schemas.microsoft.com/office/powerpoint/2010/main" val="1412395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1: Prepare an agent for other agents to connect</a:t>
            </a:r>
          </a:p>
        </p:txBody>
      </p:sp>
    </p:spTree>
    <p:extLst>
      <p:ext uri="{BB962C8B-B14F-4D97-AF65-F5344CB8AC3E}">
        <p14:creationId xmlns:p14="http://schemas.microsoft.com/office/powerpoint/2010/main" val="2058954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Connection requirements</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Confirm all requirements before adding a connected agent.</a:t>
            </a:r>
          </a:p>
        </p:txBody>
      </p:sp>
      <p:sp>
        <p:nvSpPr>
          <p:cNvPr id="5" name="Rounded Rectangle 4">
            <a:extLst>
              <a:ext uri="{C183D7F6-B498-43B3-948B-1728B52AA6E4}">
                <adec:decorative xmlns:adec="http://schemas.microsoft.com/office/drawing/2017/decorative" val="1"/>
              </a:ext>
            </a:extLst>
          </p:cNvPr>
          <p:cNvSpPr/>
          <p:nvPr/>
        </p:nvSpPr>
        <p:spPr>
          <a:xfrm>
            <a:off x="586804" y="1800000"/>
            <a:ext cx="5450796" cy="185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1104" y="1914300"/>
            <a:ext cx="530352" cy="530352"/>
          </a:xfrm>
          <a:prstGeom prst="rect">
            <a:avLst/>
          </a:prstGeom>
        </p:spPr>
      </p:pic>
      <p:sp>
        <p:nvSpPr>
          <p:cNvPr id="7" name="TextBox 6"/>
          <p:cNvSpPr txBox="1"/>
          <p:nvPr/>
        </p:nvSpPr>
        <p:spPr>
          <a:xfrm>
            <a:off x="1327456" y="1928001"/>
            <a:ext cx="4580444" cy="323165"/>
          </a:xfrm>
          <a:prstGeom prst="rect">
            <a:avLst/>
          </a:prstGeom>
          <a:noFill/>
        </p:spPr>
        <p:txBody>
          <a:bodyPr wrap="square">
            <a:spAutoFit/>
          </a:bodyPr>
          <a:lstStyle/>
          <a:p>
            <a:pPr>
              <a:defRPr sz="1500" b="1">
                <a:solidFill>
                  <a:srgbClr val="000000"/>
                </a:solidFill>
              </a:defRPr>
            </a:pPr>
            <a:r>
              <a:rPr sz="1500"/>
              <a:t>Same harness</a:t>
            </a:r>
          </a:p>
        </p:txBody>
      </p:sp>
      <p:sp>
        <p:nvSpPr>
          <p:cNvPr id="8" name="TextBox 7"/>
          <p:cNvSpPr txBox="1"/>
          <p:nvPr/>
        </p:nvSpPr>
        <p:spPr>
          <a:xfrm>
            <a:off x="1327456" y="2520000"/>
            <a:ext cx="4580444" cy="1030000"/>
          </a:xfrm>
          <a:prstGeom prst="rect">
            <a:avLst/>
          </a:prstGeom>
          <a:noFill/>
        </p:spPr>
        <p:txBody>
          <a:bodyPr wrap="square">
            <a:noAutofit/>
          </a:bodyPr>
          <a:lstStyle/>
          <a:p>
            <a:pPr>
              <a:spcAft>
                <a:spcPts val="1400"/>
              </a:spcAft>
              <a:defRPr sz="1400">
                <a:solidFill>
                  <a:srgbClr val="333333"/>
                </a:solidFill>
              </a:defRPr>
            </a:pPr>
            <a:r>
              <a:rPr sz="1400"/>
              <a:t>Both agents are powered by the GitHub Copilot harness.</a:t>
            </a:r>
          </a:p>
        </p:txBody>
      </p:sp>
      <p:sp>
        <p:nvSpPr>
          <p:cNvPr id="9" name="Rounded Rectangle 8">
            <a:extLst>
              <a:ext uri="{C183D7F6-B498-43B3-948B-1728B52AA6E4}">
                <adec:decorative xmlns:adec="http://schemas.microsoft.com/office/drawing/2017/decorative" val="1"/>
              </a:ext>
            </a:extLst>
          </p:cNvPr>
          <p:cNvSpPr/>
          <p:nvPr/>
        </p:nvSpPr>
        <p:spPr>
          <a:xfrm>
            <a:off x="6154528" y="1800000"/>
            <a:ext cx="5450796" cy="185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268828" y="1914300"/>
            <a:ext cx="530352" cy="530352"/>
          </a:xfrm>
          <a:prstGeom prst="rect">
            <a:avLst/>
          </a:prstGeom>
        </p:spPr>
      </p:pic>
      <p:sp>
        <p:nvSpPr>
          <p:cNvPr id="11" name="TextBox 10"/>
          <p:cNvSpPr txBox="1"/>
          <p:nvPr/>
        </p:nvSpPr>
        <p:spPr>
          <a:xfrm>
            <a:off x="6895180" y="1928001"/>
            <a:ext cx="4580444" cy="323165"/>
          </a:xfrm>
          <a:prstGeom prst="rect">
            <a:avLst/>
          </a:prstGeom>
          <a:noFill/>
        </p:spPr>
        <p:txBody>
          <a:bodyPr wrap="square">
            <a:spAutoFit/>
          </a:bodyPr>
          <a:lstStyle/>
          <a:p>
            <a:pPr>
              <a:defRPr sz="1500" b="1">
                <a:solidFill>
                  <a:srgbClr val="000000"/>
                </a:solidFill>
              </a:defRPr>
            </a:pPr>
            <a:r>
              <a:rPr sz="1500"/>
              <a:t>Same environment</a:t>
            </a:r>
          </a:p>
        </p:txBody>
      </p:sp>
      <p:sp>
        <p:nvSpPr>
          <p:cNvPr id="12" name="TextBox 11"/>
          <p:cNvSpPr txBox="1"/>
          <p:nvPr/>
        </p:nvSpPr>
        <p:spPr>
          <a:xfrm>
            <a:off x="6895180" y="2520000"/>
            <a:ext cx="4580444" cy="1030000"/>
          </a:xfrm>
          <a:prstGeom prst="rect">
            <a:avLst/>
          </a:prstGeom>
          <a:noFill/>
        </p:spPr>
        <p:txBody>
          <a:bodyPr wrap="square">
            <a:noAutofit/>
          </a:bodyPr>
          <a:lstStyle/>
          <a:p>
            <a:pPr>
              <a:spcAft>
                <a:spcPts val="1400"/>
              </a:spcAft>
              <a:defRPr sz="1400">
                <a:solidFill>
                  <a:srgbClr val="333333"/>
                </a:solidFill>
              </a:defRPr>
            </a:pPr>
            <a:r>
              <a:rPr sz="1400"/>
              <a:t>The agent you connect is in the primary agent's environment.</a:t>
            </a:r>
          </a:p>
        </p:txBody>
      </p:sp>
      <p:sp>
        <p:nvSpPr>
          <p:cNvPr id="13" name="Rounded Rectangle 12">
            <a:extLst>
              <a:ext uri="{C183D7F6-B498-43B3-948B-1728B52AA6E4}">
                <adec:decorative xmlns:adec="http://schemas.microsoft.com/office/drawing/2017/decorative" val="1"/>
              </a:ext>
            </a:extLst>
          </p:cNvPr>
          <p:cNvSpPr/>
          <p:nvPr/>
        </p:nvSpPr>
        <p:spPr>
          <a:xfrm>
            <a:off x="586804" y="3766928"/>
            <a:ext cx="5450796" cy="185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1104" y="3881228"/>
            <a:ext cx="530352" cy="530352"/>
          </a:xfrm>
          <a:prstGeom prst="rect">
            <a:avLst/>
          </a:prstGeom>
        </p:spPr>
      </p:pic>
      <p:sp>
        <p:nvSpPr>
          <p:cNvPr id="15" name="TextBox 14"/>
          <p:cNvSpPr txBox="1"/>
          <p:nvPr/>
        </p:nvSpPr>
        <p:spPr>
          <a:xfrm>
            <a:off x="1327456" y="3894929"/>
            <a:ext cx="4580444" cy="323165"/>
          </a:xfrm>
          <a:prstGeom prst="rect">
            <a:avLst/>
          </a:prstGeom>
          <a:noFill/>
        </p:spPr>
        <p:txBody>
          <a:bodyPr wrap="square">
            <a:spAutoFit/>
          </a:bodyPr>
          <a:lstStyle/>
          <a:p>
            <a:pPr>
              <a:defRPr sz="1500" b="1">
                <a:solidFill>
                  <a:srgbClr val="000000"/>
                </a:solidFill>
              </a:defRPr>
            </a:pPr>
            <a:r>
              <a:rPr sz="1500"/>
              <a:t>Available to connect</a:t>
            </a:r>
          </a:p>
        </p:txBody>
      </p:sp>
      <p:sp>
        <p:nvSpPr>
          <p:cNvPr id="16" name="TextBox 15"/>
          <p:cNvSpPr txBox="1"/>
          <p:nvPr/>
        </p:nvSpPr>
        <p:spPr>
          <a:xfrm>
            <a:off x="1327456" y="4486928"/>
            <a:ext cx="4580444" cy="1030000"/>
          </a:xfrm>
          <a:prstGeom prst="rect">
            <a:avLst/>
          </a:prstGeom>
          <a:noFill/>
        </p:spPr>
        <p:txBody>
          <a:bodyPr wrap="square">
            <a:noAutofit/>
          </a:bodyPr>
          <a:lstStyle/>
          <a:p>
            <a:pPr>
              <a:spcAft>
                <a:spcPts val="1400"/>
              </a:spcAft>
              <a:defRPr sz="1400">
                <a:solidFill>
                  <a:srgbClr val="333333"/>
                </a:solidFill>
              </a:defRPr>
            </a:pPr>
            <a:r>
              <a:rPr sz="1400"/>
              <a:t>The agent is published with Allow other agents to connect turned on.</a:t>
            </a:r>
          </a:p>
        </p:txBody>
      </p:sp>
      <p:sp>
        <p:nvSpPr>
          <p:cNvPr id="17" name="Rounded Rectangle 16">
            <a:extLst>
              <a:ext uri="{C183D7F6-B498-43B3-948B-1728B52AA6E4}">
                <adec:decorative xmlns:adec="http://schemas.microsoft.com/office/drawing/2017/decorative" val="1"/>
              </a:ext>
            </a:extLst>
          </p:cNvPr>
          <p:cNvSpPr/>
          <p:nvPr/>
        </p:nvSpPr>
        <p:spPr>
          <a:xfrm>
            <a:off x="6154528" y="3766928"/>
            <a:ext cx="5450796" cy="1850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68828" y="3881228"/>
            <a:ext cx="530352" cy="530352"/>
          </a:xfrm>
          <a:prstGeom prst="rect">
            <a:avLst/>
          </a:prstGeom>
        </p:spPr>
      </p:pic>
      <p:sp>
        <p:nvSpPr>
          <p:cNvPr id="19" name="TextBox 18"/>
          <p:cNvSpPr txBox="1"/>
          <p:nvPr/>
        </p:nvSpPr>
        <p:spPr>
          <a:xfrm>
            <a:off x="6895180" y="3894929"/>
            <a:ext cx="4580444" cy="323165"/>
          </a:xfrm>
          <a:prstGeom prst="rect">
            <a:avLst/>
          </a:prstGeom>
          <a:noFill/>
        </p:spPr>
        <p:txBody>
          <a:bodyPr wrap="square">
            <a:spAutoFit/>
          </a:bodyPr>
          <a:lstStyle/>
          <a:p>
            <a:pPr>
              <a:defRPr sz="1500" b="1">
                <a:solidFill>
                  <a:srgbClr val="000000"/>
                </a:solidFill>
              </a:defRPr>
            </a:pPr>
            <a:r>
              <a:rPr sz="1500"/>
              <a:t>Owned or shared</a:t>
            </a:r>
          </a:p>
        </p:txBody>
      </p:sp>
      <p:sp>
        <p:nvSpPr>
          <p:cNvPr id="20" name="TextBox 19"/>
          <p:cNvSpPr txBox="1"/>
          <p:nvPr/>
        </p:nvSpPr>
        <p:spPr>
          <a:xfrm>
            <a:off x="6895180" y="4486928"/>
            <a:ext cx="4580444" cy="1030000"/>
          </a:xfrm>
          <a:prstGeom prst="rect">
            <a:avLst/>
          </a:prstGeom>
          <a:noFill/>
        </p:spPr>
        <p:txBody>
          <a:bodyPr wrap="square">
            <a:noAutofit/>
          </a:bodyPr>
          <a:lstStyle/>
          <a:p>
            <a:pPr>
              <a:spcAft>
                <a:spcPts val="1400"/>
              </a:spcAft>
              <a:defRPr sz="1400">
                <a:solidFill>
                  <a:srgbClr val="333333"/>
                </a:solidFill>
              </a:defRPr>
            </a:pPr>
            <a:r>
              <a:rPr sz="1400"/>
              <a:t>The primary agent's maker owns the agent or has it shared with them.</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754591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2: Add a connected agent with a routing description</a:t>
            </a:r>
          </a:p>
        </p:txBody>
      </p:sp>
    </p:spTree>
    <p:extLst>
      <p:ext uri="{BB962C8B-B14F-4D97-AF65-F5344CB8AC3E}">
        <p14:creationId xmlns:p14="http://schemas.microsoft.com/office/powerpoint/2010/main" val="1130574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Add a connected agent</a:t>
            </a:r>
          </a:p>
        </p:txBody>
      </p:sp>
      <p:sp>
        <p:nvSpPr>
          <p:cNvPr id="4" name="Rounded Rectangle 3">
            <a:extLst>
              <a:ext uri="{C183D7F6-B498-43B3-948B-1728B52AA6E4}">
                <adec:decorative xmlns:adec="http://schemas.microsoft.com/office/drawing/2017/decorative" val="1"/>
              </a:ext>
            </a:extLst>
          </p:cNvPr>
          <p:cNvSpPr/>
          <p:nvPr/>
        </p:nvSpPr>
        <p:spPr>
          <a:xfrm>
            <a:off x="586804" y="226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descr="Item 1">
            <a:extLst>
              <a:ext uri="{C183D7F6-B498-43B3-948B-1728B52AA6E4}">
                <adec:decorative xmlns:adec="http://schemas.microsoft.com/office/drawing/2017/decorative" val="0"/>
              </a:ext>
            </a:extLst>
          </p:cNvPr>
          <p:cNvSpPr/>
          <p:nvPr/>
        </p:nvSpPr>
        <p:spPr>
          <a:xfrm>
            <a:off x="815403" y="243807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6" name="TextBox 5"/>
          <p:cNvSpPr txBox="1"/>
          <p:nvPr/>
        </p:nvSpPr>
        <p:spPr>
          <a:xfrm>
            <a:off x="1464628" y="2514238"/>
            <a:ext cx="9940696" cy="323165"/>
          </a:xfrm>
          <a:prstGeom prst="rect">
            <a:avLst/>
          </a:prstGeom>
          <a:noFill/>
        </p:spPr>
        <p:txBody>
          <a:bodyPr wrap="square" anchor="ctr">
            <a:spAutoFit/>
          </a:bodyPr>
          <a:lstStyle/>
          <a:p>
            <a:pPr>
              <a:defRPr sz="1500" b="0">
                <a:solidFill>
                  <a:srgbClr val="000000"/>
                </a:solidFill>
              </a:defRPr>
            </a:pPr>
            <a:r>
              <a:rPr sz="1500"/>
              <a:t>In the primary agent, select Build, then Connected agents in the components panel.</a:t>
            </a:r>
          </a:p>
        </p:txBody>
      </p:sp>
      <p:sp>
        <p:nvSpPr>
          <p:cNvPr id="7" name="Rounded Rectangle 6">
            <a:extLst>
              <a:ext uri="{C183D7F6-B498-43B3-948B-1728B52AA6E4}">
                <adec:decorative xmlns:adec="http://schemas.microsoft.com/office/drawing/2017/decorative" val="1"/>
              </a:ext>
            </a:extLst>
          </p:cNvPr>
          <p:cNvSpPr/>
          <p:nvPr/>
        </p:nvSpPr>
        <p:spPr>
          <a:xfrm>
            <a:off x="586804" y="314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descr="Item 2">
            <a:extLst>
              <a:ext uri="{C183D7F6-B498-43B3-948B-1728B52AA6E4}">
                <adec:decorative xmlns:adec="http://schemas.microsoft.com/office/drawing/2017/decorative" val="0"/>
              </a:ext>
            </a:extLst>
          </p:cNvPr>
          <p:cNvSpPr/>
          <p:nvPr/>
        </p:nvSpPr>
        <p:spPr>
          <a:xfrm>
            <a:off x="815403" y="331807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9" name="TextBox 8"/>
          <p:cNvSpPr txBox="1"/>
          <p:nvPr/>
        </p:nvSpPr>
        <p:spPr>
          <a:xfrm>
            <a:off x="1464628" y="3394238"/>
            <a:ext cx="9940696" cy="323165"/>
          </a:xfrm>
          <a:prstGeom prst="rect">
            <a:avLst/>
          </a:prstGeom>
          <a:noFill/>
        </p:spPr>
        <p:txBody>
          <a:bodyPr wrap="square" anchor="ctr">
            <a:spAutoFit/>
          </a:bodyPr>
          <a:lstStyle/>
          <a:p>
            <a:pPr>
              <a:defRPr sz="1500" b="0">
                <a:solidFill>
                  <a:srgbClr val="000000"/>
                </a:solidFill>
              </a:defRPr>
            </a:pPr>
            <a:r>
              <a:rPr sz="1500"/>
              <a:t>In Add a connected agent, browse or search for the agent and review its capabilities.</a:t>
            </a:r>
          </a:p>
        </p:txBody>
      </p:sp>
      <p:sp>
        <p:nvSpPr>
          <p:cNvPr id="10" name="Rounded Rectangle 9">
            <a:extLst>
              <a:ext uri="{C183D7F6-B498-43B3-948B-1728B52AA6E4}">
                <adec:decorative xmlns:adec="http://schemas.microsoft.com/office/drawing/2017/decorative" val="1"/>
              </a:ext>
            </a:extLst>
          </p:cNvPr>
          <p:cNvSpPr/>
          <p:nvPr/>
        </p:nvSpPr>
        <p:spPr>
          <a:xfrm>
            <a:off x="586804" y="402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descr="Item 3">
            <a:extLst>
              <a:ext uri="{C183D7F6-B498-43B3-948B-1728B52AA6E4}">
                <adec:decorative xmlns:adec="http://schemas.microsoft.com/office/drawing/2017/decorative" val="0"/>
              </a:ext>
            </a:extLst>
          </p:cNvPr>
          <p:cNvSpPr/>
          <p:nvPr/>
        </p:nvSpPr>
        <p:spPr>
          <a:xfrm>
            <a:off x="815403" y="419807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2" name="TextBox 11"/>
          <p:cNvSpPr txBox="1"/>
          <p:nvPr/>
        </p:nvSpPr>
        <p:spPr>
          <a:xfrm>
            <a:off x="1464628" y="4274238"/>
            <a:ext cx="9940696" cy="323165"/>
          </a:xfrm>
          <a:prstGeom prst="rect">
            <a:avLst/>
          </a:prstGeom>
          <a:noFill/>
        </p:spPr>
        <p:txBody>
          <a:bodyPr wrap="square" anchor="ctr">
            <a:spAutoFit/>
          </a:bodyPr>
          <a:lstStyle/>
          <a:p>
            <a:pPr>
              <a:defRPr sz="1500" b="0">
                <a:solidFill>
                  <a:srgbClr val="000000"/>
                </a:solidFill>
              </a:defRPr>
            </a:pPr>
            <a:r>
              <a:rPr sz="1500"/>
              <a:t>Add a clear description of when the primary agent should use the agent.</a:t>
            </a:r>
          </a:p>
        </p:txBody>
      </p:sp>
      <p:sp>
        <p:nvSpPr>
          <p:cNvPr id="13" name="Rounded Rectangle 12">
            <a:extLst>
              <a:ext uri="{C183D7F6-B498-43B3-948B-1728B52AA6E4}">
                <adec:decorative xmlns:adec="http://schemas.microsoft.com/office/drawing/2017/decorative" val="1"/>
              </a:ext>
            </a:extLst>
          </p:cNvPr>
          <p:cNvSpPr/>
          <p:nvPr/>
        </p:nvSpPr>
        <p:spPr>
          <a:xfrm>
            <a:off x="586804" y="4905820"/>
            <a:ext cx="11018520" cy="82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descr="Item 4">
            <a:extLst>
              <a:ext uri="{C183D7F6-B498-43B3-948B-1728B52AA6E4}">
                <adec:decorative xmlns:adec="http://schemas.microsoft.com/office/drawing/2017/decorative" val="0"/>
              </a:ext>
            </a:extLst>
          </p:cNvPr>
          <p:cNvSpPr/>
          <p:nvPr/>
        </p:nvSpPr>
        <p:spPr>
          <a:xfrm>
            <a:off x="815403" y="5078076"/>
            <a:ext cx="475488" cy="475488"/>
          </a:xfrm>
          <a:prstGeom prst="ellipse">
            <a:avLst/>
          </a:prstGeom>
          <a:solidFill>
            <a:srgbClr val="ECC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4</a:t>
            </a:r>
          </a:p>
        </p:txBody>
      </p:sp>
      <p:sp>
        <p:nvSpPr>
          <p:cNvPr id="15" name="TextBox 14"/>
          <p:cNvSpPr txBox="1"/>
          <p:nvPr/>
        </p:nvSpPr>
        <p:spPr>
          <a:xfrm>
            <a:off x="1464628" y="5154238"/>
            <a:ext cx="9940696" cy="323165"/>
          </a:xfrm>
          <a:prstGeom prst="rect">
            <a:avLst/>
          </a:prstGeom>
          <a:noFill/>
        </p:spPr>
        <p:txBody>
          <a:bodyPr wrap="square" anchor="ctr">
            <a:spAutoFit/>
          </a:bodyPr>
          <a:lstStyle/>
          <a:p>
            <a:pPr>
              <a:defRPr sz="1500" b="0">
                <a:solidFill>
                  <a:srgbClr val="000000"/>
                </a:solidFill>
              </a:defRPr>
            </a:pPr>
            <a:r>
              <a:rPr sz="1500"/>
              <a:t>Select Connect, then confirm that the agent appears in the components panel.</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351604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How the primary agent routes each message</a:t>
            </a:r>
          </a:p>
        </p:txBody>
      </p:sp>
      <p:sp>
        <p:nvSpPr>
          <p:cNvPr id="4" name="Rounded Rectangle 3">
            <a:extLst>
              <a:ext uri="{C183D7F6-B498-43B3-948B-1728B52AA6E4}">
                <adec:decorative xmlns:adec="http://schemas.microsoft.com/office/drawing/2017/decorative" val="1"/>
              </a:ext>
            </a:extLst>
          </p:cNvPr>
          <p:cNvSpPr/>
          <p:nvPr/>
        </p:nvSpPr>
        <p:spPr>
          <a:xfrm>
            <a:off x="3101404" y="1600200"/>
            <a:ext cx="5989320" cy="1234440"/>
          </a:xfrm>
          <a:prstGeom prst="roundRect">
            <a:avLst>
              <a:gd name="adj" fmla="val 5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443015" y="1709928"/>
            <a:ext cx="3306098" cy="400110"/>
          </a:xfrm>
          <a:prstGeom prst="rect">
            <a:avLst/>
          </a:prstGeom>
          <a:noFill/>
        </p:spPr>
        <p:txBody>
          <a:bodyPr wrap="none">
            <a:spAutoFit/>
          </a:bodyPr>
          <a:lstStyle/>
          <a:p>
            <a:pPr algn="ctr">
              <a:defRPr sz="2000" b="1">
                <a:solidFill>
                  <a:srgbClr val="FFFFFF"/>
                </a:solidFill>
              </a:defRPr>
            </a:pPr>
            <a:r>
              <a:rPr sz="2000"/>
              <a:t>Primary agent orchestrator</a:t>
            </a:r>
          </a:p>
        </p:txBody>
      </p:sp>
      <p:sp>
        <p:nvSpPr>
          <p:cNvPr id="6" name="TextBox 5"/>
          <p:cNvSpPr txBox="1"/>
          <p:nvPr/>
        </p:nvSpPr>
        <p:spPr>
          <a:xfrm>
            <a:off x="3284284" y="2103120"/>
            <a:ext cx="5623560" cy="523220"/>
          </a:xfrm>
          <a:prstGeom prst="rect">
            <a:avLst/>
          </a:prstGeom>
          <a:noFill/>
        </p:spPr>
        <p:txBody>
          <a:bodyPr wrap="square">
            <a:spAutoFit/>
          </a:bodyPr>
          <a:lstStyle/>
          <a:p>
            <a:pPr algn="ctr">
              <a:defRPr sz="1400">
                <a:solidFill>
                  <a:srgbClr val="49C5B1"/>
                </a:solidFill>
              </a:defRPr>
            </a:pPr>
            <a:r>
              <a:rPr sz="1400"/>
              <a:t>Routes on the connected agent's name and description, the user's message and context, and the primary agent's instructions.</a:t>
            </a:r>
          </a:p>
        </p:txBody>
      </p:sp>
      <p:sp>
        <p:nvSpPr>
          <p:cNvPr id="7" name="Down Arrow 6">
            <a:extLst>
              <a:ext uri="{C183D7F6-B498-43B3-948B-1728B52AA6E4}">
                <adec:decorative xmlns:adec="http://schemas.microsoft.com/office/drawing/2017/decorative" val="1"/>
              </a:ext>
            </a:extLst>
          </p:cNvPr>
          <p:cNvSpPr/>
          <p:nvPr/>
        </p:nvSpPr>
        <p:spPr>
          <a:xfrm>
            <a:off x="2039712" y="2934640"/>
            <a:ext cx="640080" cy="502920"/>
          </a:xfrm>
          <a:prstGeom prst="downArrow">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C183D7F6-B498-43B3-948B-1728B52AA6E4}">
                <adec:decorative xmlns:adec="http://schemas.microsoft.com/office/drawing/2017/decorative" val="1"/>
              </a:ext>
            </a:extLst>
          </p:cNvPr>
          <p:cNvSpPr/>
          <p:nvPr/>
        </p:nvSpPr>
        <p:spPr>
          <a:xfrm>
            <a:off x="586804" y="370332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C183D7F6-B498-43B3-948B-1728B52AA6E4}">
                <adec:decorative xmlns:adec="http://schemas.microsoft.com/office/drawing/2017/decorative" val="1"/>
              </a:ext>
            </a:extLst>
          </p:cNvPr>
          <p:cNvSpPr/>
          <p:nvPr/>
        </p:nvSpPr>
        <p:spPr>
          <a:xfrm>
            <a:off x="586804" y="370332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C183D7F6-B498-43B3-948B-1728B52AA6E4}">
                <adec:decorative xmlns:adec="http://schemas.microsoft.com/office/drawing/2017/decorative" val="1"/>
              </a:ext>
            </a:extLst>
          </p:cNvPr>
          <p:cNvSpPr/>
          <p:nvPr/>
        </p:nvSpPr>
        <p:spPr>
          <a:xfrm>
            <a:off x="586804" y="406908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684" y="3780931"/>
            <a:ext cx="3225896" cy="338554"/>
          </a:xfrm>
          <a:prstGeom prst="rect">
            <a:avLst/>
          </a:prstGeom>
          <a:noFill/>
        </p:spPr>
        <p:txBody>
          <a:bodyPr wrap="square" anchor="ctr">
            <a:spAutoFit/>
          </a:bodyPr>
          <a:lstStyle/>
          <a:p>
            <a:pPr>
              <a:defRPr sz="1600" b="1">
                <a:solidFill>
                  <a:srgbClr val="FFFFFF"/>
                </a:solidFill>
              </a:defRPr>
            </a:pPr>
            <a:r>
              <a:rPr sz="1600"/>
              <a:t>IT support agent</a:t>
            </a:r>
          </a:p>
        </p:txBody>
      </p:sp>
      <p:sp>
        <p:nvSpPr>
          <p:cNvPr id="12" name="TextBox 11"/>
          <p:cNvSpPr txBox="1"/>
          <p:nvPr/>
        </p:nvSpPr>
        <p:spPr>
          <a:xfrm>
            <a:off x="824548" y="4343160"/>
            <a:ext cx="3110792" cy="918200"/>
          </a:xfrm>
          <a:prstGeom prst="rect">
            <a:avLst/>
          </a:prstGeom>
          <a:noFill/>
        </p:spPr>
        <p:txBody>
          <a:bodyPr wrap="square">
            <a:spAutoFit/>
          </a:bodyPr>
          <a:lstStyle/>
          <a:p>
            <a:pPr>
              <a:spcAft>
                <a:spcPts val="1400"/>
              </a:spcAft>
              <a:defRPr sz="1400">
                <a:solidFill>
                  <a:srgbClr val="000000"/>
                </a:solidFill>
              </a:defRPr>
            </a:pPr>
            <a:r>
              <a:rPr sz="1400"/>
              <a:t>•  Example: “My laptop won't connect to the VPN.”</a:t>
            </a:r>
          </a:p>
          <a:p>
            <a:pPr>
              <a:spcAft>
                <a:spcPts val="1400"/>
              </a:spcAft>
              <a:defRPr sz="1400">
                <a:solidFill>
                  <a:srgbClr val="000000"/>
                </a:solidFill>
              </a:defRPr>
            </a:pPr>
            <a:r>
              <a:rPr sz="1400"/>
              <a:t>•  Delegated to the connected agent</a:t>
            </a:r>
          </a:p>
        </p:txBody>
      </p:sp>
      <p:sp>
        <p:nvSpPr>
          <p:cNvPr id="13" name="Down Arrow 12">
            <a:extLst>
              <a:ext uri="{C183D7F6-B498-43B3-948B-1728B52AA6E4}">
                <adec:decorative xmlns:adec="http://schemas.microsoft.com/office/drawing/2017/decorative" val="1"/>
              </a:ext>
            </a:extLst>
          </p:cNvPr>
          <p:cNvSpPr/>
          <p:nvPr/>
        </p:nvSpPr>
        <p:spPr>
          <a:xfrm>
            <a:off x="5776024" y="2934640"/>
            <a:ext cx="640080" cy="502920"/>
          </a:xfrm>
          <a:prstGeom prst="downArrow">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C183D7F6-B498-43B3-948B-1728B52AA6E4}">
                <adec:decorative xmlns:adec="http://schemas.microsoft.com/office/drawing/2017/decorative" val="1"/>
              </a:ext>
            </a:extLst>
          </p:cNvPr>
          <p:cNvSpPr/>
          <p:nvPr/>
        </p:nvSpPr>
        <p:spPr>
          <a:xfrm>
            <a:off x="4323116" y="370332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4323116" y="370332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4323116" y="406908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05996" y="3780931"/>
            <a:ext cx="3225896" cy="338554"/>
          </a:xfrm>
          <a:prstGeom prst="rect">
            <a:avLst/>
          </a:prstGeom>
          <a:noFill/>
        </p:spPr>
        <p:txBody>
          <a:bodyPr wrap="square" anchor="ctr">
            <a:spAutoFit/>
          </a:bodyPr>
          <a:lstStyle/>
          <a:p>
            <a:pPr>
              <a:defRPr sz="1600" b="1">
                <a:solidFill>
                  <a:srgbClr val="FFFFFF"/>
                </a:solidFill>
              </a:defRPr>
            </a:pPr>
            <a:r>
              <a:rPr sz="1600"/>
              <a:t>HR benefits agent</a:t>
            </a:r>
          </a:p>
        </p:txBody>
      </p:sp>
      <p:sp>
        <p:nvSpPr>
          <p:cNvPr id="18" name="TextBox 17"/>
          <p:cNvSpPr txBox="1"/>
          <p:nvPr/>
        </p:nvSpPr>
        <p:spPr>
          <a:xfrm>
            <a:off x="4560860" y="4343160"/>
            <a:ext cx="3110792" cy="918200"/>
          </a:xfrm>
          <a:prstGeom prst="rect">
            <a:avLst/>
          </a:prstGeom>
          <a:noFill/>
        </p:spPr>
        <p:txBody>
          <a:bodyPr wrap="square">
            <a:spAutoFit/>
          </a:bodyPr>
          <a:lstStyle/>
          <a:p>
            <a:pPr>
              <a:spcAft>
                <a:spcPts val="1400"/>
              </a:spcAft>
              <a:defRPr sz="1400">
                <a:solidFill>
                  <a:srgbClr val="000000"/>
                </a:solidFill>
              </a:defRPr>
            </a:pPr>
            <a:r>
              <a:rPr sz="1400"/>
              <a:t>•  Example: “When does benefits enrollment open?”</a:t>
            </a:r>
          </a:p>
          <a:p>
            <a:pPr>
              <a:spcAft>
                <a:spcPts val="1400"/>
              </a:spcAft>
              <a:defRPr sz="1400">
                <a:solidFill>
                  <a:srgbClr val="000000"/>
                </a:solidFill>
              </a:defRPr>
            </a:pPr>
            <a:r>
              <a:rPr sz="1400"/>
              <a:t>•  Delegated to the connected agent</a:t>
            </a:r>
          </a:p>
        </p:txBody>
      </p:sp>
      <p:sp>
        <p:nvSpPr>
          <p:cNvPr id="19" name="Down Arrow 18">
            <a:extLst>
              <a:ext uri="{C183D7F6-B498-43B3-948B-1728B52AA6E4}">
                <adec:decorative xmlns:adec="http://schemas.microsoft.com/office/drawing/2017/decorative" val="1"/>
              </a:ext>
            </a:extLst>
          </p:cNvPr>
          <p:cNvSpPr/>
          <p:nvPr/>
        </p:nvSpPr>
        <p:spPr>
          <a:xfrm>
            <a:off x="9512336" y="2934640"/>
            <a:ext cx="640080" cy="502920"/>
          </a:xfrm>
          <a:prstGeom prst="down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a:extLst>
              <a:ext uri="{C183D7F6-B498-43B3-948B-1728B52AA6E4}">
                <adec:decorative xmlns:adec="http://schemas.microsoft.com/office/drawing/2017/decorative" val="1"/>
              </a:ext>
            </a:extLst>
          </p:cNvPr>
          <p:cNvSpPr/>
          <p:nvPr/>
        </p:nvSpPr>
        <p:spPr>
          <a:xfrm>
            <a:off x="8059428" y="3703320"/>
            <a:ext cx="3545896"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a:extLst>
              <a:ext uri="{C183D7F6-B498-43B3-948B-1728B52AA6E4}">
                <adec:decorative xmlns:adec="http://schemas.microsoft.com/office/drawing/2017/decorative" val="1"/>
              </a:ext>
            </a:extLst>
          </p:cNvPr>
          <p:cNvSpPr/>
          <p:nvPr/>
        </p:nvSpPr>
        <p:spPr>
          <a:xfrm>
            <a:off x="8059428" y="370332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C183D7F6-B498-43B3-948B-1728B52AA6E4}">
                <adec:decorative xmlns:adec="http://schemas.microsoft.com/office/drawing/2017/decorative" val="1"/>
              </a:ext>
            </a:extLst>
          </p:cNvPr>
          <p:cNvSpPr/>
          <p:nvPr/>
        </p:nvSpPr>
        <p:spPr>
          <a:xfrm>
            <a:off x="8059428" y="406908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42308" y="3780931"/>
            <a:ext cx="3225896" cy="338554"/>
          </a:xfrm>
          <a:prstGeom prst="rect">
            <a:avLst/>
          </a:prstGeom>
          <a:noFill/>
        </p:spPr>
        <p:txBody>
          <a:bodyPr wrap="square" anchor="ctr">
            <a:spAutoFit/>
          </a:bodyPr>
          <a:lstStyle/>
          <a:p>
            <a:pPr>
              <a:defRPr sz="1600" b="1">
                <a:solidFill>
                  <a:srgbClr val="FFFFFF"/>
                </a:solidFill>
              </a:defRPr>
            </a:pPr>
            <a:r>
              <a:rPr sz="1600"/>
              <a:t>Primary agent</a:t>
            </a:r>
          </a:p>
        </p:txBody>
      </p:sp>
      <p:sp>
        <p:nvSpPr>
          <p:cNvPr id="24" name="TextBox 23"/>
          <p:cNvSpPr txBox="1"/>
          <p:nvPr/>
        </p:nvSpPr>
        <p:spPr>
          <a:xfrm>
            <a:off x="8297172" y="4343160"/>
            <a:ext cx="3110792" cy="918200"/>
          </a:xfrm>
          <a:prstGeom prst="rect">
            <a:avLst/>
          </a:prstGeom>
          <a:noFill/>
        </p:spPr>
        <p:txBody>
          <a:bodyPr wrap="square">
            <a:spAutoFit/>
          </a:bodyPr>
          <a:lstStyle/>
          <a:p>
            <a:pPr>
              <a:spcAft>
                <a:spcPts val="1400"/>
              </a:spcAft>
              <a:defRPr sz="1400">
                <a:solidFill>
                  <a:srgbClr val="000000"/>
                </a:solidFill>
              </a:defRPr>
            </a:pPr>
            <a:r>
              <a:rPr sz="1400"/>
              <a:t>•  Example: “Where's the cafeteria menu?”</a:t>
            </a:r>
          </a:p>
          <a:p>
            <a:pPr>
              <a:spcAft>
                <a:spcPts val="1400"/>
              </a:spcAft>
              <a:defRPr sz="1400">
                <a:solidFill>
                  <a:srgbClr val="000000"/>
                </a:solidFill>
              </a:defRPr>
            </a:pPr>
            <a:r>
              <a:rPr sz="1400"/>
              <a:t>•  Handled by the help agent itself</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27325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Write distinct routing descriptions</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Name one domain and the request words users are likely to use.</a:t>
            </a:r>
          </a:p>
        </p:txBody>
      </p:sp>
      <p:graphicFrame>
        <p:nvGraphicFramePr>
          <p:cNvPr id="5" name="Table 4"/>
          <p:cNvGraphicFramePr>
            <a:graphicFrameLocks noGrp="1"/>
          </p:cNvGraphicFramePr>
          <p:nvPr/>
        </p:nvGraphicFramePr>
        <p:xfrm>
          <a:off x="586804" y="2204569"/>
          <a:ext cx="11018520" cy="1996644"/>
        </p:xfrm>
        <a:graphic>
          <a:graphicData uri="http://schemas.openxmlformats.org/drawingml/2006/table">
            <a:tbl>
              <a:tblPr firstRow="1" bandRow="1">
                <a:tableStyleId>{5C22544A-7EE6-4342-B048-85BDC9FD1C3A}</a:tableStyleId>
              </a:tblPr>
              <a:tblGrid>
                <a:gridCol w="2300000">
                  <a:extLst>
                    <a:ext uri="{9D8B030D-6E8A-4147-A177-3AD203B41FA5}">
                      <a16:colId xmlns:a16="http://schemas.microsoft.com/office/drawing/2014/main" val="20000"/>
                    </a:ext>
                  </a:extLst>
                </a:gridCol>
                <a:gridCol w="3200000">
                  <a:extLst>
                    <a:ext uri="{9D8B030D-6E8A-4147-A177-3AD203B41FA5}">
                      <a16:colId xmlns:a16="http://schemas.microsoft.com/office/drawing/2014/main" val="20001"/>
                    </a:ext>
                  </a:extLst>
                </a:gridCol>
                <a:gridCol w="5518520">
                  <a:extLst>
                    <a:ext uri="{9D8B030D-6E8A-4147-A177-3AD203B41FA5}">
                      <a16:colId xmlns:a16="http://schemas.microsoft.com/office/drawing/2014/main" val="20002"/>
                    </a:ext>
                  </a:extLst>
                </a:gridCol>
              </a:tblGrid>
              <a:tr h="356644">
                <a:tc>
                  <a:txBody>
                    <a:bodyPr/>
                    <a:lstStyle/>
                    <a:p>
                      <a:pPr>
                        <a:defRPr sz="1400" b="1">
                          <a:solidFill>
                            <a:srgbClr val="FFFFFF"/>
                          </a:solidFill>
                        </a:defRPr>
                      </a:pPr>
                      <a:r>
                        <a:t>Connected agent</a:t>
                      </a:r>
                    </a:p>
                  </a:txBody>
                  <a:tcPr marT="54864" marB="54864" anchor="ctr">
                    <a:solidFill>
                      <a:srgbClr val="0078D4"/>
                    </a:solidFill>
                  </a:tcPr>
                </a:tc>
                <a:tc>
                  <a:txBody>
                    <a:bodyPr/>
                    <a:lstStyle/>
                    <a:p>
                      <a:pPr>
                        <a:defRPr sz="1400" b="1">
                          <a:solidFill>
                            <a:srgbClr val="FFFFFF"/>
                          </a:solidFill>
                        </a:defRPr>
                      </a:pPr>
                      <a:r>
                        <a:t>Vague description</a:t>
                      </a:r>
                    </a:p>
                  </a:txBody>
                  <a:tcPr marT="54864" marB="54864" anchor="ctr">
                    <a:solidFill>
                      <a:srgbClr val="0078D4"/>
                    </a:solidFill>
                  </a:tcPr>
                </a:tc>
                <a:tc>
                  <a:txBody>
                    <a:bodyPr/>
                    <a:lstStyle/>
                    <a:p>
                      <a:pPr>
                        <a:defRPr sz="1400" b="1">
                          <a:solidFill>
                            <a:srgbClr val="FFFFFF"/>
                          </a:solidFill>
                        </a:defRPr>
                      </a:pPr>
                      <a:r>
                        <a:t>Specific description</a:t>
                      </a:r>
                    </a:p>
                  </a:txBody>
                  <a:tcPr marT="54864" marB="54864" anchor="ctr">
                    <a:solidFill>
                      <a:srgbClr val="0078D4"/>
                    </a:solidFill>
                  </a:tcPr>
                </a:tc>
                <a:extLst>
                  <a:ext uri="{0D108BD9-81ED-4DB2-BD59-A6C34878D82A}">
                    <a16:rowId xmlns:a16="http://schemas.microsoft.com/office/drawing/2014/main" val="10000"/>
                  </a:ext>
                </a:extLst>
              </a:tr>
              <a:tr h="820000">
                <a:tc>
                  <a:txBody>
                    <a:bodyPr/>
                    <a:lstStyle/>
                    <a:p>
                      <a:pPr>
                        <a:defRPr sz="1400" b="1">
                          <a:solidFill>
                            <a:srgbClr val="000000"/>
                          </a:solidFill>
                        </a:defRPr>
                      </a:pPr>
                      <a:r>
                        <a:t>IT support agent</a:t>
                      </a:r>
                    </a:p>
                  </a:txBody>
                  <a:tcPr marT="54864" marB="54864" anchor="ctr">
                    <a:solidFill>
                      <a:srgbClr val="FFF8F3"/>
                    </a:solidFill>
                  </a:tcPr>
                </a:tc>
                <a:tc>
                  <a:txBody>
                    <a:bodyPr/>
                    <a:lstStyle/>
                    <a:p>
                      <a:pPr>
                        <a:defRPr sz="1400">
                          <a:solidFill>
                            <a:srgbClr val="000000"/>
                          </a:solidFill>
                        </a:defRPr>
                      </a:pPr>
                      <a:r>
                        <a:t>Helps employees with their questions.</a:t>
                      </a:r>
                    </a:p>
                  </a:txBody>
                  <a:tcPr marT="54864" marB="54864" anchor="ctr">
                    <a:solidFill>
                      <a:srgbClr val="FFFFFF"/>
                    </a:solidFill>
                  </a:tcPr>
                </a:tc>
                <a:tc>
                  <a:txBody>
                    <a:bodyPr/>
                    <a:lstStyle/>
                    <a:p>
                      <a:pPr>
                        <a:defRPr sz="1400">
                          <a:solidFill>
                            <a:srgbClr val="000000"/>
                          </a:solidFill>
                        </a:defRPr>
                      </a:pPr>
                      <a:r>
                        <a:t>Handles IT support requests, such as device problems, software access, password resets, and equipment orders.</a:t>
                      </a:r>
                    </a:p>
                  </a:txBody>
                  <a:tcPr marT="54864" marB="54864" anchor="ctr">
                    <a:solidFill>
                      <a:srgbClr val="FFFFFF"/>
                    </a:solidFill>
                  </a:tcPr>
                </a:tc>
                <a:extLst>
                  <a:ext uri="{0D108BD9-81ED-4DB2-BD59-A6C34878D82A}">
                    <a16:rowId xmlns:a16="http://schemas.microsoft.com/office/drawing/2014/main" val="10001"/>
                  </a:ext>
                </a:extLst>
              </a:tr>
              <a:tr h="820000">
                <a:tc>
                  <a:txBody>
                    <a:bodyPr/>
                    <a:lstStyle/>
                    <a:p>
                      <a:pPr>
                        <a:defRPr sz="1400" b="1">
                          <a:solidFill>
                            <a:srgbClr val="000000"/>
                          </a:solidFill>
                        </a:defRPr>
                      </a:pPr>
                      <a:r>
                        <a:t>HR benefits agent</a:t>
                      </a:r>
                    </a:p>
                  </a:txBody>
                  <a:tcPr marT="54864" marB="54864" anchor="ctr">
                    <a:solidFill>
                      <a:srgbClr val="FFF8F3"/>
                    </a:solidFill>
                  </a:tcPr>
                </a:tc>
                <a:tc>
                  <a:txBody>
                    <a:bodyPr/>
                    <a:lstStyle/>
                    <a:p>
                      <a:pPr>
                        <a:defRPr sz="1400">
                          <a:solidFill>
                            <a:srgbClr val="000000"/>
                          </a:solidFill>
                        </a:defRPr>
                      </a:pPr>
                      <a:r>
                        <a:t>Answers employee questions.</a:t>
                      </a:r>
                    </a:p>
                  </a:txBody>
                  <a:tcPr marT="54864" marB="54864" anchor="ctr">
                    <a:solidFill>
                      <a:srgbClr val="F7F6FA"/>
                    </a:solidFill>
                  </a:tcPr>
                </a:tc>
                <a:tc>
                  <a:txBody>
                    <a:bodyPr/>
                    <a:lstStyle/>
                    <a:p>
                      <a:pPr>
                        <a:defRPr sz="1400">
                          <a:solidFill>
                            <a:srgbClr val="000000"/>
                          </a:solidFill>
                        </a:defRPr>
                      </a:pPr>
                      <a:r>
                        <a:rPr dirty="0"/>
                        <a:t>Answers questions about employee benefits, such as health plans, retirement plans, and benefits enrollment.</a:t>
                      </a:r>
                    </a:p>
                  </a:txBody>
                  <a:tcPr marT="54864" marB="54864" anchor="ctr">
                    <a:solidFill>
                      <a:srgbClr val="F7F6FA"/>
                    </a:solidFill>
                  </a:tcPr>
                </a:tc>
                <a:extLst>
                  <a:ext uri="{0D108BD9-81ED-4DB2-BD59-A6C34878D82A}">
                    <a16:rowId xmlns:a16="http://schemas.microsoft.com/office/drawing/2014/main" val="10002"/>
                  </a:ext>
                </a:extLst>
              </a:tr>
            </a:tbl>
          </a:graphicData>
        </a:graphic>
      </p:graphicFrame>
      <p:sp>
        <p:nvSpPr>
          <p:cNvPr id="6" name="Rounded Rectangle 5">
            <a:extLst>
              <a:ext uri="{C183D7F6-B498-43B3-948B-1728B52AA6E4}">
                <adec:decorative xmlns:adec="http://schemas.microsoft.com/office/drawing/2017/decorative" val="1"/>
              </a:ext>
            </a:extLst>
          </p:cNvPr>
          <p:cNvSpPr/>
          <p:nvPr/>
        </p:nvSpPr>
        <p:spPr>
          <a:xfrm>
            <a:off x="586804" y="4421213"/>
            <a:ext cx="11018520" cy="731520"/>
          </a:xfrm>
          <a:prstGeom prst="roundRect">
            <a:avLst>
              <a:gd name="adj" fmla="val 12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C183D7F6-B498-43B3-948B-1728B52AA6E4}">
                <adec:decorative xmlns:adec="http://schemas.microsoft.com/office/drawing/2017/decorative" val="1"/>
              </a:ext>
            </a:extLst>
          </p:cNvPr>
          <p:cNvSpPr/>
          <p:nvPr/>
        </p:nvSpPr>
        <p:spPr>
          <a:xfrm>
            <a:off x="586804" y="4421213"/>
            <a:ext cx="109728" cy="731520"/>
          </a:xfrm>
          <a:prstGeom prst="roundRect">
            <a:avLst/>
          </a:prstGeom>
          <a:solidFill>
            <a:srgbClr val="49C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1124" y="4617696"/>
            <a:ext cx="10698520" cy="338554"/>
          </a:xfrm>
          <a:prstGeom prst="rect">
            <a:avLst/>
          </a:prstGeom>
          <a:noFill/>
        </p:spPr>
        <p:txBody>
          <a:bodyPr wrap="square" anchor="ctr">
            <a:spAutoFit/>
          </a:bodyPr>
          <a:lstStyle/>
          <a:p>
            <a:pPr>
              <a:defRPr sz="1600">
                <a:solidFill>
                  <a:srgbClr val="FFFFFF"/>
                </a:solidFill>
              </a:defRPr>
            </a:pPr>
            <a:r>
              <a:rPr sz="1600"/>
              <a:t>Check the primary agent's instructions for guidance that competes with a connected agent's domain.</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942785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pPr>
            <a:r>
              <a:t>Discussion</a:t>
            </a:r>
          </a:p>
        </p:txBody>
      </p:sp>
      <p:sp>
        <p:nvSpPr>
          <p:cNvPr id="3" name="Text Placeholder 2"/>
          <p:cNvSpPr>
            <a:spLocks noGrp="1"/>
          </p:cNvSpPr>
          <p:nvPr>
            <p:ph type="body" sz="quarter" idx="12"/>
          </p:nvPr>
        </p:nvSpPr>
        <p:spPr>
          <a:xfrm>
            <a:off x="586804" y="4215829"/>
            <a:ext cx="11018520" cy="900000"/>
          </a:xfrm>
        </p:spPr>
        <p:txBody>
          <a:bodyPr wrap="square">
            <a:noAutofit/>
          </a:bodyPr>
          <a:lstStyle/>
          <a:p>
            <a:pPr>
              <a:defRPr sz="2000" b="0"/>
            </a:pPr>
            <a:r>
              <a:t>Write a one-sentence description for a specialist agent in your own solution. Could any other connected agent, or the primary agent itself, claim the same requests?</a:t>
            </a:r>
          </a:p>
        </p:txBody>
      </p:sp>
    </p:spTree>
    <p:extLst>
      <p:ext uri="{BB962C8B-B14F-4D97-AF65-F5344CB8AC3E}">
        <p14:creationId xmlns:p14="http://schemas.microsoft.com/office/powerpoint/2010/main" val="1571212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3: Test and troubleshoot delegation</a:t>
            </a:r>
          </a:p>
        </p:txBody>
      </p:sp>
    </p:spTree>
    <p:extLst>
      <p:ext uri="{BB962C8B-B14F-4D97-AF65-F5344CB8AC3E}">
        <p14:creationId xmlns:p14="http://schemas.microsoft.com/office/powerpoint/2010/main" val="1738892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Test both sides of each connection in Preview</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Send each message type and compare who responds with who should.</a:t>
            </a:r>
          </a:p>
        </p:txBody>
      </p:sp>
      <p:sp>
        <p:nvSpPr>
          <p:cNvPr id="5" name="Rounded Rectangle 4">
            <a:extLst>
              <a:ext uri="{C183D7F6-B498-43B3-948B-1728B52AA6E4}">
                <adec:decorative xmlns:adec="http://schemas.microsoft.com/office/drawing/2017/decorative" val="1"/>
              </a:ext>
            </a:extLst>
          </p:cNvPr>
          <p:cNvSpPr/>
          <p:nvPr/>
        </p:nvSpPr>
        <p:spPr>
          <a:xfrm>
            <a:off x="586804" y="1751640"/>
            <a:ext cx="3563112" cy="32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86804" y="2483160"/>
            <a:ext cx="3563112"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9684" y="2031869"/>
            <a:ext cx="3230232" cy="353943"/>
          </a:xfrm>
          <a:prstGeom prst="rect">
            <a:avLst/>
          </a:prstGeom>
          <a:noFill/>
        </p:spPr>
        <p:txBody>
          <a:bodyPr wrap="square" anchor="ctr">
            <a:spAutoFit/>
          </a:bodyPr>
          <a:lstStyle/>
          <a:p>
            <a:pPr>
              <a:defRPr sz="1700" b="1">
                <a:solidFill>
                  <a:srgbClr val="000000"/>
                </a:solidFill>
              </a:defRPr>
            </a:pPr>
            <a:r>
              <a:rPr sz="1700"/>
              <a:t>In domain</a:t>
            </a:r>
          </a:p>
        </p:txBody>
      </p:sp>
      <p:sp>
        <p:nvSpPr>
          <p:cNvPr id="8" name="Rounded Rectangle 7"/>
          <p:cNvSpPr/>
          <p:nvPr/>
        </p:nvSpPr>
        <p:spPr>
          <a:xfrm>
            <a:off x="769684" y="2666040"/>
            <a:ext cx="2400000" cy="292608"/>
          </a:xfrm>
          <a:prstGeom prst="roundRect">
            <a:avLst>
              <a:gd name="adj" fmla="val 50000"/>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CONNECTED AGENT</a:t>
            </a:r>
          </a:p>
        </p:txBody>
      </p:sp>
      <p:sp>
        <p:nvSpPr>
          <p:cNvPr id="9" name="TextBox 8"/>
          <p:cNvSpPr txBox="1"/>
          <p:nvPr/>
        </p:nvSpPr>
        <p:spPr>
          <a:xfrm>
            <a:off x="769684" y="3077520"/>
            <a:ext cx="3197352" cy="943848"/>
          </a:xfrm>
          <a:prstGeom prst="rect">
            <a:avLst/>
          </a:prstGeom>
          <a:noFill/>
        </p:spPr>
        <p:txBody>
          <a:bodyPr wrap="square">
            <a:spAutoFit/>
          </a:bodyPr>
          <a:lstStyle/>
          <a:p>
            <a:pPr>
              <a:spcAft>
                <a:spcPts val="1600"/>
              </a:spcAft>
              <a:defRPr sz="1400">
                <a:solidFill>
                  <a:srgbClr val="000000"/>
                </a:solidFill>
              </a:defRPr>
            </a:pPr>
            <a:r>
              <a:rPr sz="1400"/>
              <a:t>•  “When does benefits enrollment open?”</a:t>
            </a:r>
          </a:p>
          <a:p>
            <a:pPr>
              <a:spcAft>
                <a:spcPts val="1600"/>
              </a:spcAft>
              <a:defRPr sz="1400">
                <a:solidFill>
                  <a:srgbClr val="000000"/>
                </a:solidFill>
              </a:defRPr>
            </a:pPr>
            <a:r>
              <a:rPr sz="1400"/>
              <a:t>•  The connected agent responds.</a:t>
            </a:r>
          </a:p>
        </p:txBody>
      </p:sp>
      <p:sp>
        <p:nvSpPr>
          <p:cNvPr id="10" name="Rounded Rectangle 9">
            <a:extLst>
              <a:ext uri="{C183D7F6-B498-43B3-948B-1728B52AA6E4}">
                <adec:decorative xmlns:adec="http://schemas.microsoft.com/office/drawing/2017/decorative" val="1"/>
              </a:ext>
            </a:extLst>
          </p:cNvPr>
          <p:cNvSpPr/>
          <p:nvPr/>
        </p:nvSpPr>
        <p:spPr>
          <a:xfrm>
            <a:off x="4314508" y="1751640"/>
            <a:ext cx="3563112" cy="32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314508" y="2483160"/>
            <a:ext cx="3563112"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7388" y="2031869"/>
            <a:ext cx="3230232" cy="353943"/>
          </a:xfrm>
          <a:prstGeom prst="rect">
            <a:avLst/>
          </a:prstGeom>
          <a:noFill/>
        </p:spPr>
        <p:txBody>
          <a:bodyPr wrap="square" anchor="ctr">
            <a:spAutoFit/>
          </a:bodyPr>
          <a:lstStyle/>
          <a:p>
            <a:pPr>
              <a:defRPr sz="1700" b="1">
                <a:solidFill>
                  <a:srgbClr val="000000"/>
                </a:solidFill>
              </a:defRPr>
            </a:pPr>
            <a:r>
              <a:rPr sz="1700"/>
              <a:t>Out of domain</a:t>
            </a:r>
          </a:p>
        </p:txBody>
      </p:sp>
      <p:sp>
        <p:nvSpPr>
          <p:cNvPr id="13" name="Rounded Rectangle 12"/>
          <p:cNvSpPr/>
          <p:nvPr/>
        </p:nvSpPr>
        <p:spPr>
          <a:xfrm>
            <a:off x="4497388" y="2666040"/>
            <a:ext cx="2400000" cy="292608"/>
          </a:xfrm>
          <a:prstGeom prst="roundRect">
            <a:avLst>
              <a:gd name="adj" fmla="val 50000"/>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PRIMARY AGENT</a:t>
            </a:r>
          </a:p>
        </p:txBody>
      </p:sp>
      <p:sp>
        <p:nvSpPr>
          <p:cNvPr id="14" name="TextBox 13"/>
          <p:cNvSpPr txBox="1"/>
          <p:nvPr/>
        </p:nvSpPr>
        <p:spPr>
          <a:xfrm>
            <a:off x="4497388" y="3077521"/>
            <a:ext cx="3197352" cy="728405"/>
          </a:xfrm>
          <a:prstGeom prst="rect">
            <a:avLst/>
          </a:prstGeom>
          <a:noFill/>
        </p:spPr>
        <p:txBody>
          <a:bodyPr wrap="square">
            <a:spAutoFit/>
          </a:bodyPr>
          <a:lstStyle/>
          <a:p>
            <a:pPr>
              <a:spcAft>
                <a:spcPts val="1600"/>
              </a:spcAft>
              <a:defRPr sz="1400">
                <a:solidFill>
                  <a:srgbClr val="000000"/>
                </a:solidFill>
              </a:defRPr>
            </a:pPr>
            <a:r>
              <a:rPr sz="1400"/>
              <a:t>•  “Where's the cafeteria menu?”</a:t>
            </a:r>
          </a:p>
          <a:p>
            <a:pPr>
              <a:spcAft>
                <a:spcPts val="1600"/>
              </a:spcAft>
              <a:defRPr sz="1400">
                <a:solidFill>
                  <a:srgbClr val="000000"/>
                </a:solidFill>
              </a:defRPr>
            </a:pPr>
            <a:r>
              <a:rPr sz="1400"/>
              <a:t>•  The primary agent handles it.</a:t>
            </a:r>
          </a:p>
        </p:txBody>
      </p:sp>
      <p:sp>
        <p:nvSpPr>
          <p:cNvPr id="15" name="Rounded Rectangle 14">
            <a:extLst>
              <a:ext uri="{C183D7F6-B498-43B3-948B-1728B52AA6E4}">
                <adec:decorative xmlns:adec="http://schemas.microsoft.com/office/drawing/2017/decorative" val="1"/>
              </a:ext>
            </a:extLst>
          </p:cNvPr>
          <p:cNvSpPr/>
          <p:nvPr/>
        </p:nvSpPr>
        <p:spPr>
          <a:xfrm>
            <a:off x="8042212" y="1751640"/>
            <a:ext cx="3563112" cy="32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042212" y="2483160"/>
            <a:ext cx="3563112"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5092" y="2031869"/>
            <a:ext cx="3230232" cy="353943"/>
          </a:xfrm>
          <a:prstGeom prst="rect">
            <a:avLst/>
          </a:prstGeom>
          <a:noFill/>
        </p:spPr>
        <p:txBody>
          <a:bodyPr wrap="square" anchor="ctr">
            <a:spAutoFit/>
          </a:bodyPr>
          <a:lstStyle/>
          <a:p>
            <a:pPr>
              <a:defRPr sz="1700" b="1">
                <a:solidFill>
                  <a:srgbClr val="000000"/>
                </a:solidFill>
              </a:defRPr>
            </a:pPr>
            <a:r>
              <a:rPr sz="1700"/>
              <a:t>Boundary</a:t>
            </a:r>
          </a:p>
        </p:txBody>
      </p:sp>
      <p:sp>
        <p:nvSpPr>
          <p:cNvPr id="18" name="Rounded Rectangle 17"/>
          <p:cNvSpPr/>
          <p:nvPr/>
        </p:nvSpPr>
        <p:spPr>
          <a:xfrm>
            <a:off x="8225092" y="2666040"/>
            <a:ext cx="2400000" cy="292608"/>
          </a:xfrm>
          <a:prstGeom prst="roundRect">
            <a:avLst>
              <a:gd name="adj" fmla="val 50000"/>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SHOWS OVERLAP</a:t>
            </a:r>
          </a:p>
        </p:txBody>
      </p:sp>
      <p:sp>
        <p:nvSpPr>
          <p:cNvPr id="19" name="TextBox 18"/>
          <p:cNvSpPr txBox="1"/>
          <p:nvPr/>
        </p:nvSpPr>
        <p:spPr>
          <a:xfrm>
            <a:off x="8225092" y="3077520"/>
            <a:ext cx="3197352" cy="1159292"/>
          </a:xfrm>
          <a:prstGeom prst="rect">
            <a:avLst/>
          </a:prstGeom>
          <a:noFill/>
        </p:spPr>
        <p:txBody>
          <a:bodyPr wrap="square">
            <a:spAutoFit/>
          </a:bodyPr>
          <a:lstStyle/>
          <a:p>
            <a:pPr>
              <a:spcAft>
                <a:spcPts val="1600"/>
              </a:spcAft>
              <a:defRPr sz="1400">
                <a:solidFill>
                  <a:srgbClr val="000000"/>
                </a:solidFill>
              </a:defRPr>
            </a:pPr>
            <a:r>
              <a:rPr sz="1400"/>
              <a:t>•  “I need to update my health plan in the HR portal, but I can't sign in.”</a:t>
            </a:r>
          </a:p>
          <a:p>
            <a:pPr>
              <a:spcAft>
                <a:spcPts val="1600"/>
              </a:spcAft>
              <a:defRPr sz="1400">
                <a:solidFill>
                  <a:srgbClr val="000000"/>
                </a:solidFill>
              </a:defRPr>
            </a:pPr>
            <a:r>
              <a:rPr sz="1400"/>
              <a:t>•  Shows how the orchestrator handles overlap.</a:t>
            </a:r>
          </a:p>
        </p:txBody>
      </p:sp>
      <p:sp>
        <p:nvSpPr>
          <p:cNvPr id="20" name="Rounded Rectangle 19">
            <a:extLst>
              <a:ext uri="{C183D7F6-B498-43B3-948B-1728B52AA6E4}">
                <adec:decorative xmlns:adec="http://schemas.microsoft.com/office/drawing/2017/decorative" val="1"/>
              </a:ext>
            </a:extLst>
          </p:cNvPr>
          <p:cNvSpPr/>
          <p:nvPr/>
        </p:nvSpPr>
        <p:spPr>
          <a:xfrm>
            <a:off x="586804" y="5071640"/>
            <a:ext cx="11018520" cy="502920"/>
          </a:xfrm>
          <a:prstGeom prst="roundRect">
            <a:avLst>
              <a:gd name="adj" fmla="val 12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a:extLst>
              <a:ext uri="{C183D7F6-B498-43B3-948B-1728B52AA6E4}">
                <adec:decorative xmlns:adec="http://schemas.microsoft.com/office/drawing/2017/decorative" val="1"/>
              </a:ext>
            </a:extLst>
          </p:cNvPr>
          <p:cNvSpPr/>
          <p:nvPr/>
        </p:nvSpPr>
        <p:spPr>
          <a:xfrm>
            <a:off x="586804" y="5071640"/>
            <a:ext cx="109728" cy="502920"/>
          </a:xfrm>
          <a:prstGeom prst="roundRect">
            <a:avLst/>
          </a:prstGeom>
          <a:solidFill>
            <a:srgbClr val="49C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1124" y="5153823"/>
            <a:ext cx="10698520" cy="338554"/>
          </a:xfrm>
          <a:prstGeom prst="rect">
            <a:avLst/>
          </a:prstGeom>
          <a:noFill/>
        </p:spPr>
        <p:txBody>
          <a:bodyPr wrap="square" anchor="ctr">
            <a:spAutoFit/>
          </a:bodyPr>
          <a:lstStyle/>
          <a:p>
            <a:pPr>
              <a:defRPr sz="1600">
                <a:solidFill>
                  <a:srgbClr val="FFFFFF"/>
                </a:solidFill>
              </a:defRPr>
            </a:pPr>
            <a:r>
              <a:rPr sz="1600"/>
              <a:t>With End user preview off, the activity trace shows the steps behind each response.</a:t>
            </a:r>
          </a:p>
        </p:txBody>
      </p:sp>
      <p:sp>
        <p:nvSpPr>
          <p:cNvPr id="4" name="TextBox 3">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695196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Troubleshoot routing</a:t>
            </a:r>
          </a:p>
        </p:txBody>
      </p:sp>
      <p:graphicFrame>
        <p:nvGraphicFramePr>
          <p:cNvPr id="4" name="Table 3"/>
          <p:cNvGraphicFramePr>
            <a:graphicFrameLocks noGrp="1"/>
          </p:cNvGraphicFramePr>
          <p:nvPr/>
        </p:nvGraphicFramePr>
        <p:xfrm>
          <a:off x="586804" y="1934569"/>
          <a:ext cx="11118520" cy="3636644"/>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7518520">
                  <a:extLst>
                    <a:ext uri="{9D8B030D-6E8A-4147-A177-3AD203B41FA5}">
                      <a16:colId xmlns:a16="http://schemas.microsoft.com/office/drawing/2014/main" val="20001"/>
                    </a:ext>
                  </a:extLst>
                </a:gridCol>
              </a:tblGrid>
              <a:tr h="356644">
                <a:tc>
                  <a:txBody>
                    <a:bodyPr/>
                    <a:lstStyle/>
                    <a:p>
                      <a:pPr>
                        <a:defRPr sz="1400" b="1">
                          <a:solidFill>
                            <a:srgbClr val="FFFFFF"/>
                          </a:solidFill>
                        </a:defRPr>
                      </a:pPr>
                      <a:r>
                        <a:t>Symptom</a:t>
                      </a:r>
                    </a:p>
                  </a:txBody>
                  <a:tcPr marT="54864" marB="54864" anchor="ctr">
                    <a:solidFill>
                      <a:srgbClr val="0078D4"/>
                    </a:solidFill>
                  </a:tcPr>
                </a:tc>
                <a:tc>
                  <a:txBody>
                    <a:bodyPr/>
                    <a:lstStyle/>
                    <a:p>
                      <a:pPr>
                        <a:defRPr sz="1400" b="1">
                          <a:solidFill>
                            <a:srgbClr val="FFFFFF"/>
                          </a:solidFill>
                        </a:defRPr>
                      </a:pPr>
                      <a:r>
                        <a:t>What to check</a:t>
                      </a:r>
                    </a:p>
                  </a:txBody>
                  <a:tcPr marT="54864" marB="54864" anchor="ctr">
                    <a:solidFill>
                      <a:srgbClr val="0078D4"/>
                    </a:solidFill>
                  </a:tcPr>
                </a:tc>
                <a:extLst>
                  <a:ext uri="{0D108BD9-81ED-4DB2-BD59-A6C34878D82A}">
                    <a16:rowId xmlns:a16="http://schemas.microsoft.com/office/drawing/2014/main" val="10000"/>
                  </a:ext>
                </a:extLst>
              </a:tr>
              <a:tr h="820000">
                <a:tc>
                  <a:txBody>
                    <a:bodyPr/>
                    <a:lstStyle/>
                    <a:p>
                      <a:pPr>
                        <a:defRPr sz="1400" b="1">
                          <a:solidFill>
                            <a:srgbClr val="000000"/>
                          </a:solidFill>
                        </a:defRPr>
                      </a:pPr>
                      <a:r>
                        <a:t>Primary agent answers a connected-agent request.</a:t>
                      </a:r>
                    </a:p>
                  </a:txBody>
                  <a:tcPr marT="54864" marB="54864" anchor="ctr">
                    <a:solidFill>
                      <a:srgbClr val="FFF8F3"/>
                    </a:solidFill>
                  </a:tcPr>
                </a:tc>
                <a:tc>
                  <a:txBody>
                    <a:bodyPr/>
                    <a:lstStyle/>
                    <a:p>
                      <a:pPr>
                        <a:defRPr sz="1400">
                          <a:solidFill>
                            <a:srgbClr val="000000"/>
                          </a:solidFill>
                        </a:defRPr>
                      </a:pPr>
                      <a:r>
                        <a:t>Clarify the connected agent's description. Review primary instructions for conflicting guidance.</a:t>
                      </a:r>
                    </a:p>
                  </a:txBody>
                  <a:tcPr marT="54864" marB="54864" anchor="ctr">
                    <a:solidFill>
                      <a:srgbClr val="FFFFFF"/>
                    </a:solidFill>
                  </a:tcPr>
                </a:tc>
                <a:extLst>
                  <a:ext uri="{0D108BD9-81ED-4DB2-BD59-A6C34878D82A}">
                    <a16:rowId xmlns:a16="http://schemas.microsoft.com/office/drawing/2014/main" val="10001"/>
                  </a:ext>
                </a:extLst>
              </a:tr>
              <a:tr h="820000">
                <a:tc>
                  <a:txBody>
                    <a:bodyPr/>
                    <a:lstStyle/>
                    <a:p>
                      <a:pPr>
                        <a:defRPr sz="1400" b="1">
                          <a:solidFill>
                            <a:srgbClr val="000000"/>
                          </a:solidFill>
                        </a:defRPr>
                      </a:pPr>
                      <a:r>
                        <a:t>Request goes to the wrong connected agent.</a:t>
                      </a:r>
                    </a:p>
                  </a:txBody>
                  <a:tcPr marT="54864" marB="54864" anchor="ctr">
                    <a:solidFill>
                      <a:srgbClr val="FFF8F3"/>
                    </a:solidFill>
                  </a:tcPr>
                </a:tc>
                <a:tc>
                  <a:txBody>
                    <a:bodyPr/>
                    <a:lstStyle/>
                    <a:p>
                      <a:pPr>
                        <a:defRPr sz="1400">
                          <a:solidFill>
                            <a:srgbClr val="000000"/>
                          </a:solidFill>
                        </a:defRPr>
                      </a:pPr>
                      <a:r>
                        <a:t>Look for overlap between descriptions, and make each name a distinct domain.</a:t>
                      </a:r>
                    </a:p>
                  </a:txBody>
                  <a:tcPr marT="54864" marB="54864" anchor="ctr">
                    <a:solidFill>
                      <a:srgbClr val="F7F6FA"/>
                    </a:solidFill>
                  </a:tcPr>
                </a:tc>
                <a:extLst>
                  <a:ext uri="{0D108BD9-81ED-4DB2-BD59-A6C34878D82A}">
                    <a16:rowId xmlns:a16="http://schemas.microsoft.com/office/drawing/2014/main" val="10002"/>
                  </a:ext>
                </a:extLst>
              </a:tr>
              <a:tr h="820000">
                <a:tc>
                  <a:txBody>
                    <a:bodyPr/>
                    <a:lstStyle/>
                    <a:p>
                      <a:pPr>
                        <a:defRPr sz="1400" b="1">
                          <a:solidFill>
                            <a:srgbClr val="000000"/>
                          </a:solidFill>
                        </a:defRPr>
                      </a:pPr>
                      <a:r>
                        <a:t>Primary-agent request is delegated.</a:t>
                      </a:r>
                    </a:p>
                  </a:txBody>
                  <a:tcPr marT="54864" marB="54864" anchor="ctr">
                    <a:solidFill>
                      <a:srgbClr val="FFF8F3"/>
                    </a:solidFill>
                  </a:tcPr>
                </a:tc>
                <a:tc>
                  <a:txBody>
                    <a:bodyPr/>
                    <a:lstStyle/>
                    <a:p>
                      <a:pPr>
                        <a:defRPr sz="1400">
                          <a:solidFill>
                            <a:srgbClr val="000000"/>
                          </a:solidFill>
                        </a:defRPr>
                      </a:pPr>
                      <a:r>
                        <a:t>Narrow the connected agent's description so it doesn't claim general requests.</a:t>
                      </a:r>
                    </a:p>
                  </a:txBody>
                  <a:tcPr marT="54864" marB="54864" anchor="ctr">
                    <a:solidFill>
                      <a:srgbClr val="FFFFFF"/>
                    </a:solidFill>
                  </a:tcPr>
                </a:tc>
                <a:extLst>
                  <a:ext uri="{0D108BD9-81ED-4DB2-BD59-A6C34878D82A}">
                    <a16:rowId xmlns:a16="http://schemas.microsoft.com/office/drawing/2014/main" val="10003"/>
                  </a:ext>
                </a:extLst>
              </a:tr>
              <a:tr h="820000">
                <a:tc>
                  <a:txBody>
                    <a:bodyPr/>
                    <a:lstStyle/>
                    <a:p>
                      <a:pPr>
                        <a:defRPr sz="1400" b="1">
                          <a:solidFill>
                            <a:srgbClr val="000000"/>
                          </a:solidFill>
                        </a:defRPr>
                      </a:pPr>
                      <a:r>
                        <a:t>You can't connect the agent you want.</a:t>
                      </a:r>
                    </a:p>
                  </a:txBody>
                  <a:tcPr marT="54864" marB="54864" anchor="ctr">
                    <a:solidFill>
                      <a:srgbClr val="FFF8F3"/>
                    </a:solidFill>
                  </a:tcPr>
                </a:tc>
                <a:tc>
                  <a:txBody>
                    <a:bodyPr/>
                    <a:lstStyle/>
                    <a:p>
                      <a:pPr>
                        <a:defRPr sz="1400">
                          <a:solidFill>
                            <a:srgbClr val="000000"/>
                          </a:solidFill>
                        </a:defRPr>
                      </a:pPr>
                      <a:r>
                        <a:rPr dirty="0"/>
                        <a:t>Confirm harness, environment, published status, Allow other agents to connect, and sharing.</a:t>
                      </a:r>
                    </a:p>
                  </a:txBody>
                  <a:tcPr marT="54864" marB="54864" anchor="ctr">
                    <a:solidFill>
                      <a:srgbClr val="F7F6FA"/>
                    </a:solidFill>
                  </a:tcPr>
                </a:tc>
                <a:extLst>
                  <a:ext uri="{0D108BD9-81ED-4DB2-BD59-A6C34878D82A}">
                    <a16:rowId xmlns:a16="http://schemas.microsoft.com/office/drawing/2014/main" val="10004"/>
                  </a:ext>
                </a:extLst>
              </a:tr>
            </a:tbl>
          </a:graphicData>
        </a:graphic>
      </p:graphicFrame>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668212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pPr>
            <a:r>
              <a:t>Discussion</a:t>
            </a:r>
          </a:p>
        </p:txBody>
      </p:sp>
      <p:sp>
        <p:nvSpPr>
          <p:cNvPr id="3" name="Text Placeholder 2"/>
          <p:cNvSpPr>
            <a:spLocks noGrp="1"/>
          </p:cNvSpPr>
          <p:nvPr>
            <p:ph type="body" sz="quarter" idx="12"/>
          </p:nvPr>
        </p:nvSpPr>
        <p:spPr>
          <a:xfrm>
            <a:off x="586804" y="4215829"/>
            <a:ext cx="11018520" cy="900000"/>
          </a:xfrm>
        </p:spPr>
        <p:txBody>
          <a:bodyPr wrap="square">
            <a:noAutofit/>
          </a:bodyPr>
          <a:lstStyle/>
          <a:p>
            <a:pPr>
              <a:defRPr sz="2000" b="0"/>
            </a:pPr>
            <a:r>
              <a:t>List three test messages for one connected agent: One clearly in its domain, one clearly outside it, and one near the boundary with another agent.</a:t>
            </a:r>
          </a:p>
        </p:txBody>
      </p:sp>
    </p:spTree>
    <p:extLst>
      <p:ext uri="{BB962C8B-B14F-4D97-AF65-F5344CB8AC3E}">
        <p14:creationId xmlns:p14="http://schemas.microsoft.com/office/powerpoint/2010/main" val="1149796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Unit 4: Call an agent from a workflow agent node</a:t>
            </a:r>
          </a:p>
        </p:txBody>
      </p:sp>
    </p:spTree>
    <p:extLst>
      <p:ext uri="{BB962C8B-B14F-4D97-AF65-F5344CB8AC3E}">
        <p14:creationId xmlns:p14="http://schemas.microsoft.com/office/powerpoint/2010/main" val="3335382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Choose the agent for the node</a:t>
            </a:r>
          </a:p>
        </p:txBody>
      </p:sp>
      <p:sp>
        <p:nvSpPr>
          <p:cNvPr id="4" name="Rounded Rectangle 3">
            <a:extLst>
              <a:ext uri="{C183D7F6-B498-43B3-948B-1728B52AA6E4}">
                <adec:decorative xmlns:adec="http://schemas.microsoft.com/office/drawing/2017/decorative" val="1"/>
              </a:ext>
            </a:extLst>
          </p:cNvPr>
          <p:cNvSpPr/>
          <p:nvPr/>
        </p:nvSpPr>
        <p:spPr>
          <a:xfrm>
            <a:off x="586804" y="1591640"/>
            <a:ext cx="5426964" cy="32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C183D7F6-B498-43B3-948B-1728B52AA6E4}">
                <adec:decorative xmlns:adec="http://schemas.microsoft.com/office/drawing/2017/decorative" val="1"/>
              </a:ext>
            </a:extLst>
          </p:cNvPr>
          <p:cNvSpPr/>
          <p:nvPr/>
        </p:nvSpPr>
        <p:spPr>
          <a:xfrm>
            <a:off x="586804" y="2323160"/>
            <a:ext cx="5426964"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9684" y="1871869"/>
            <a:ext cx="5094084" cy="353943"/>
          </a:xfrm>
          <a:prstGeom prst="rect">
            <a:avLst/>
          </a:prstGeom>
          <a:noFill/>
        </p:spPr>
        <p:txBody>
          <a:bodyPr wrap="square" anchor="ctr">
            <a:spAutoFit/>
          </a:bodyPr>
          <a:lstStyle/>
          <a:p>
            <a:pPr>
              <a:defRPr sz="1700" b="1">
                <a:solidFill>
                  <a:srgbClr val="000000"/>
                </a:solidFill>
              </a:defRPr>
            </a:pPr>
            <a:r>
              <a:rPr sz="1700"/>
              <a:t>An existing agent</a:t>
            </a:r>
          </a:p>
        </p:txBody>
      </p:sp>
      <p:sp>
        <p:nvSpPr>
          <p:cNvPr id="7" name="Rounded Rectangle 6"/>
          <p:cNvSpPr/>
          <p:nvPr/>
        </p:nvSpPr>
        <p:spPr>
          <a:xfrm>
            <a:off x="769684" y="2506040"/>
            <a:ext cx="2400000" cy="292608"/>
          </a:xfrm>
          <a:prstGeom prst="roundRect">
            <a:avLst>
              <a:gd name="adj" fmla="val 50000"/>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PUBLISHED AGENT</a:t>
            </a:r>
          </a:p>
        </p:txBody>
      </p:sp>
      <p:sp>
        <p:nvSpPr>
          <p:cNvPr id="8" name="TextBox 7"/>
          <p:cNvSpPr txBox="1"/>
          <p:nvPr/>
        </p:nvSpPr>
        <p:spPr>
          <a:xfrm>
            <a:off x="769684" y="2917520"/>
            <a:ext cx="5061204" cy="943848"/>
          </a:xfrm>
          <a:prstGeom prst="rect">
            <a:avLst/>
          </a:prstGeom>
          <a:noFill/>
        </p:spPr>
        <p:txBody>
          <a:bodyPr wrap="square">
            <a:spAutoFit/>
          </a:bodyPr>
          <a:lstStyle/>
          <a:p>
            <a:pPr>
              <a:spcAft>
                <a:spcPts val="1600"/>
              </a:spcAft>
              <a:defRPr sz="1400">
                <a:solidFill>
                  <a:srgbClr val="000000"/>
                </a:solidFill>
              </a:defRPr>
            </a:pPr>
            <a:r>
              <a:rPr sz="1400"/>
              <a:t>•  Runs with its configured instructions, tools, and knowledge</a:t>
            </a:r>
          </a:p>
          <a:p>
            <a:pPr>
              <a:spcAft>
                <a:spcPts val="1600"/>
              </a:spcAft>
              <a:defRPr sz="1400">
                <a:solidFill>
                  <a:srgbClr val="000000"/>
                </a:solidFill>
              </a:defRPr>
            </a:pPr>
            <a:r>
              <a:rPr sz="1400"/>
              <a:t>•  Fits an agent used beyond one workflow or owned by another team</a:t>
            </a:r>
          </a:p>
        </p:txBody>
      </p:sp>
      <p:sp>
        <p:nvSpPr>
          <p:cNvPr id="9" name="Rounded Rectangle 8">
            <a:extLst>
              <a:ext uri="{C183D7F6-B498-43B3-948B-1728B52AA6E4}">
                <adec:decorative xmlns:adec="http://schemas.microsoft.com/office/drawing/2017/decorative" val="1"/>
              </a:ext>
            </a:extLst>
          </p:cNvPr>
          <p:cNvSpPr/>
          <p:nvPr/>
        </p:nvSpPr>
        <p:spPr>
          <a:xfrm>
            <a:off x="6178360" y="1591640"/>
            <a:ext cx="5426964" cy="32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C183D7F6-B498-43B3-948B-1728B52AA6E4}">
                <adec:decorative xmlns:adec="http://schemas.microsoft.com/office/drawing/2017/decorative" val="1"/>
              </a:ext>
            </a:extLst>
          </p:cNvPr>
          <p:cNvSpPr/>
          <p:nvPr/>
        </p:nvSpPr>
        <p:spPr>
          <a:xfrm>
            <a:off x="6178360" y="2323160"/>
            <a:ext cx="5426964"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61240" y="1871869"/>
            <a:ext cx="5094084" cy="353943"/>
          </a:xfrm>
          <a:prstGeom prst="rect">
            <a:avLst/>
          </a:prstGeom>
          <a:noFill/>
        </p:spPr>
        <p:txBody>
          <a:bodyPr wrap="square" anchor="ctr">
            <a:spAutoFit/>
          </a:bodyPr>
          <a:lstStyle/>
          <a:p>
            <a:pPr>
              <a:defRPr sz="1700" b="1">
                <a:solidFill>
                  <a:srgbClr val="000000"/>
                </a:solidFill>
              </a:defRPr>
            </a:pPr>
            <a:r>
              <a:rPr sz="1700"/>
              <a:t>New agent for this workflow</a:t>
            </a:r>
          </a:p>
        </p:txBody>
      </p:sp>
      <p:sp>
        <p:nvSpPr>
          <p:cNvPr id="12" name="Rounded Rectangle 11"/>
          <p:cNvSpPr/>
          <p:nvPr/>
        </p:nvSpPr>
        <p:spPr>
          <a:xfrm>
            <a:off x="6361240" y="2506040"/>
            <a:ext cx="2400000" cy="292608"/>
          </a:xfrm>
          <a:prstGeom prst="roundRect">
            <a:avLst>
              <a:gd name="adj" fmla="val 50000"/>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91F2E"/>
                </a:solidFill>
              </a:defRPr>
            </a:pPr>
            <a:r>
              <a:rPr sz="1200">
                <a:solidFill>
                  <a:srgbClr val="091F2E"/>
                </a:solidFill>
              </a:rPr>
              <a:t>INLINE AGENT</a:t>
            </a:r>
          </a:p>
        </p:txBody>
      </p:sp>
      <p:sp>
        <p:nvSpPr>
          <p:cNvPr id="13" name="TextBox 12"/>
          <p:cNvSpPr txBox="1"/>
          <p:nvPr/>
        </p:nvSpPr>
        <p:spPr>
          <a:xfrm>
            <a:off x="6361240" y="2917520"/>
            <a:ext cx="5061204" cy="943848"/>
          </a:xfrm>
          <a:prstGeom prst="rect">
            <a:avLst/>
          </a:prstGeom>
          <a:noFill/>
        </p:spPr>
        <p:txBody>
          <a:bodyPr wrap="square">
            <a:spAutoFit/>
          </a:bodyPr>
          <a:lstStyle/>
          <a:p>
            <a:pPr>
              <a:spcAft>
                <a:spcPts val="1600"/>
              </a:spcAft>
              <a:defRPr sz="1400">
                <a:solidFill>
                  <a:srgbClr val="000000"/>
                </a:solidFill>
              </a:defRPr>
            </a:pPr>
            <a:r>
              <a:rPr sz="1400"/>
              <a:t>•  Configured in the node and scoped to this workflow</a:t>
            </a:r>
          </a:p>
          <a:p>
            <a:pPr>
              <a:spcAft>
                <a:spcPts val="1600"/>
              </a:spcAft>
              <a:defRPr sz="1400">
                <a:solidFill>
                  <a:srgbClr val="000000"/>
                </a:solidFill>
              </a:defRPr>
            </a:pPr>
            <a:r>
              <a:rPr sz="1400"/>
              <a:t>•  Fits a job specific to one automation; can't be reused elsewhere</a:t>
            </a:r>
          </a:p>
        </p:txBody>
      </p:sp>
      <p:sp>
        <p:nvSpPr>
          <p:cNvPr id="14" name="Rounded Rectangle 13">
            <a:extLst>
              <a:ext uri="{C183D7F6-B498-43B3-948B-1728B52AA6E4}">
                <adec:decorative xmlns:adec="http://schemas.microsoft.com/office/drawing/2017/decorative" val="1"/>
              </a:ext>
            </a:extLst>
          </p:cNvPr>
          <p:cNvSpPr/>
          <p:nvPr/>
        </p:nvSpPr>
        <p:spPr>
          <a:xfrm>
            <a:off x="586804" y="4931640"/>
            <a:ext cx="11018520" cy="731520"/>
          </a:xfrm>
          <a:prstGeom prst="roundRect">
            <a:avLst>
              <a:gd name="adj" fmla="val 12000"/>
            </a:avLst>
          </a:prstGeom>
          <a:solidFill>
            <a:srgbClr val="09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586804" y="4931640"/>
            <a:ext cx="109728" cy="731520"/>
          </a:xfrm>
          <a:prstGeom prst="roundRect">
            <a:avLst/>
          </a:prstGeom>
          <a:solidFill>
            <a:srgbClr val="49C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1124" y="5128123"/>
            <a:ext cx="10698520" cy="338554"/>
          </a:xfrm>
          <a:prstGeom prst="rect">
            <a:avLst/>
          </a:prstGeom>
          <a:noFill/>
        </p:spPr>
        <p:txBody>
          <a:bodyPr wrap="square" anchor="ctr">
            <a:spAutoFit/>
          </a:bodyPr>
          <a:lstStyle/>
          <a:p>
            <a:pPr>
              <a:defRPr sz="1600">
                <a:solidFill>
                  <a:srgbClr val="FFFFFF"/>
                </a:solidFill>
              </a:defRPr>
            </a:pPr>
            <a:r>
              <a:rPr sz="1600"/>
              <a:t>To call a GitHub Copilot harness agent from automation, add an agent node to a Copilot Studio workflow.</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4238638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5206217" y="0"/>
            <a:ext cx="6984197"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normAutofit fontScale="90000"/>
          </a:bodyPr>
          <a:lstStyle/>
          <a:p>
            <a:r>
              <a:t>Write the message for each run</a:t>
            </a:r>
          </a:p>
        </p:txBody>
      </p:sp>
      <p:sp>
        <p:nvSpPr>
          <p:cNvPr id="3" name="Text Placeholder 2"/>
          <p:cNvSpPr>
            <a:spLocks noGrp="1"/>
          </p:cNvSpPr>
          <p:nvPr>
            <p:ph type="body" sz="quarter" idx="15"/>
          </p:nvPr>
        </p:nvSpPr>
        <p:spPr>
          <a:xfrm>
            <a:off x="586804" y="1550000"/>
            <a:ext cx="4050000" cy="4200000"/>
          </a:xfrm>
        </p:spPr>
        <p:txBody>
          <a:bodyPr wrap="square">
            <a:noAutofit/>
          </a:bodyPr>
          <a:lstStyle/>
          <a:p>
            <a:pPr>
              <a:spcAft>
                <a:spcPts val="1900"/>
              </a:spcAft>
              <a:defRPr sz="1500"/>
            </a:pPr>
            <a:r>
              <a:t>The published agent keeps its instructions, tools, and knowledge. The Message field sets the task for this run.</a:t>
            </a:r>
          </a:p>
          <a:p>
            <a:pPr>
              <a:spcAft>
                <a:spcPts val="1900"/>
              </a:spcAft>
              <a:defRPr sz="1500"/>
            </a:pPr>
            <a:r>
              <a:t>State the task, insert dynamic content, and describe the response you want back.</a:t>
            </a:r>
          </a:p>
        </p:txBody>
      </p:sp>
      <p:sp>
        <p:nvSpPr>
          <p:cNvPr id="4" name="Text Placeholder 3"/>
          <p:cNvSpPr>
            <a:spLocks noGrp="1"/>
          </p:cNvSpPr>
          <p:nvPr>
            <p:ph type="body" sz="quarter" idx="11"/>
          </p:nvPr>
        </p:nvSpPr>
        <p:spPr>
          <a:xfrm>
            <a:off x="5800802" y="700000"/>
            <a:ext cx="5797628" cy="5400000"/>
          </a:xfrm>
        </p:spPr>
        <p:txBody>
          <a:bodyPr wrap="square" anchor="ctr">
            <a:noAutofit/>
          </a:bodyPr>
          <a:lstStyle/>
          <a:p>
            <a:pPr>
              <a:defRPr sz="1600">
                <a:solidFill>
                  <a:srgbClr val="FFFFFF"/>
                </a:solidFill>
                <a:latin typeface="Consolas"/>
              </a:defRPr>
            </a:pPr>
            <a:r>
              <a:t>Draft a benefits summary for a new</a:t>
            </a:r>
          </a:p>
          <a:p>
            <a:pPr>
              <a:defRPr sz="1600">
                <a:solidFill>
                  <a:srgbClr val="FFFFFF"/>
                </a:solidFill>
                <a:latin typeface="Consolas"/>
              </a:defRPr>
            </a:pPr>
            <a:r>
              <a:t>employee who starts on {Start date}</a:t>
            </a:r>
          </a:p>
          <a:p>
            <a:pPr>
              <a:defRPr sz="1600">
                <a:solidFill>
                  <a:srgbClr val="FFFFFF"/>
                </a:solidFill>
                <a:latin typeface="Consolas"/>
              </a:defRPr>
            </a:pPr>
            <a:r>
              <a:t>in the {Location} office.</a:t>
            </a:r>
          </a:p>
          <a:p>
            <a:pPr>
              <a:defRPr sz="1600">
                <a:solidFill>
                  <a:srgbClr val="FFFFFF"/>
                </a:solidFill>
                <a:latin typeface="Consolas"/>
              </a:defRPr>
            </a:pPr>
            <a:endParaRPr/>
          </a:p>
          <a:p>
            <a:pPr>
              <a:defRPr sz="1600">
                <a:solidFill>
                  <a:srgbClr val="FFFFFF"/>
                </a:solidFill>
                <a:latin typeface="Consolas"/>
              </a:defRPr>
            </a:pPr>
            <a:r>
              <a:t>List the benefit plans they can</a:t>
            </a:r>
          </a:p>
          <a:p>
            <a:pPr>
              <a:defRPr sz="1600">
                <a:solidFill>
                  <a:srgbClr val="FFFFFF"/>
                </a:solidFill>
                <a:latin typeface="Consolas"/>
              </a:defRPr>
            </a:pPr>
            <a:r>
              <a:t>enroll in and the enrollment deadline.</a:t>
            </a:r>
          </a:p>
        </p:txBody>
      </p:sp>
      <p:sp>
        <p:nvSpPr>
          <p:cNvPr id="6" name="TextBox 5">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2858638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Finish and test the agent node</a:t>
            </a:r>
          </a:p>
        </p:txBody>
      </p:sp>
      <p:sp>
        <p:nvSpPr>
          <p:cNvPr id="4" name="Rounded Rectangle 3">
            <a:extLst>
              <a:ext uri="{C183D7F6-B498-43B3-948B-1728B52AA6E4}">
                <adec:decorative xmlns:adec="http://schemas.microsoft.com/office/drawing/2017/decorative" val="1"/>
              </a:ext>
            </a:extLst>
          </p:cNvPr>
          <p:cNvSpPr/>
          <p:nvPr/>
        </p:nvSpPr>
        <p:spPr>
          <a:xfrm>
            <a:off x="586804" y="256582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86804" y="2565820"/>
            <a:ext cx="146304" cy="900000"/>
          </a:xfrm>
          <a:prstGeom prst="round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0852" y="2775820"/>
            <a:ext cx="480000" cy="480000"/>
          </a:xfrm>
          <a:prstGeom prst="rect">
            <a:avLst/>
          </a:prstGeom>
        </p:spPr>
      </p:pic>
      <p:sp>
        <p:nvSpPr>
          <p:cNvPr id="7" name="TextBox 6"/>
          <p:cNvSpPr txBox="1"/>
          <p:nvPr/>
        </p:nvSpPr>
        <p:spPr>
          <a:xfrm>
            <a:off x="1706804" y="2754210"/>
            <a:ext cx="3291840" cy="523220"/>
          </a:xfrm>
          <a:prstGeom prst="rect">
            <a:avLst/>
          </a:prstGeom>
          <a:noFill/>
        </p:spPr>
        <p:txBody>
          <a:bodyPr wrap="square" anchor="ctr">
            <a:spAutoFit/>
          </a:bodyPr>
          <a:lstStyle/>
          <a:p>
            <a:pPr>
              <a:defRPr sz="1400" b="1">
                <a:solidFill>
                  <a:srgbClr val="000000"/>
                </a:solidFill>
              </a:defRPr>
            </a:pPr>
            <a:r>
              <a:rPr sz="1400"/>
              <a:t>Request human assistance when unsure</a:t>
            </a:r>
          </a:p>
        </p:txBody>
      </p:sp>
      <p:sp>
        <p:nvSpPr>
          <p:cNvPr id="8" name="TextBox 7"/>
          <p:cNvSpPr txBox="1"/>
          <p:nvPr/>
        </p:nvSpPr>
        <p:spPr>
          <a:xfrm>
            <a:off x="5128644" y="2869626"/>
            <a:ext cx="6326680" cy="292388"/>
          </a:xfrm>
          <a:prstGeom prst="rect">
            <a:avLst/>
          </a:prstGeom>
          <a:noFill/>
        </p:spPr>
        <p:txBody>
          <a:bodyPr wrap="square" anchor="ctr">
            <a:spAutoFit/>
          </a:bodyPr>
          <a:lstStyle/>
          <a:p>
            <a:pPr>
              <a:defRPr sz="1300">
                <a:solidFill>
                  <a:srgbClr val="333333"/>
                </a:solidFill>
              </a:defRPr>
            </a:pPr>
            <a:r>
              <a:rPr sz="1300"/>
              <a:t>For high-stakes inline-agent decisions, email the connection owner and wait for input.</a:t>
            </a:r>
          </a:p>
        </p:txBody>
      </p:sp>
      <p:sp>
        <p:nvSpPr>
          <p:cNvPr id="9" name="Rounded Rectangle 8">
            <a:extLst>
              <a:ext uri="{C183D7F6-B498-43B3-948B-1728B52AA6E4}">
                <adec:decorative xmlns:adec="http://schemas.microsoft.com/office/drawing/2017/decorative" val="1"/>
              </a:ext>
            </a:extLst>
          </p:cNvPr>
          <p:cNvSpPr/>
          <p:nvPr/>
        </p:nvSpPr>
        <p:spPr>
          <a:xfrm>
            <a:off x="586804" y="354582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C183D7F6-B498-43B3-948B-1728B52AA6E4}">
                <adec:decorative xmlns:adec="http://schemas.microsoft.com/office/drawing/2017/decorative" val="1"/>
              </a:ext>
            </a:extLst>
          </p:cNvPr>
          <p:cNvSpPr/>
          <p:nvPr/>
        </p:nvSpPr>
        <p:spPr>
          <a:xfrm>
            <a:off x="586804" y="3545820"/>
            <a:ext cx="146304" cy="90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0852" y="3755820"/>
            <a:ext cx="480000" cy="480000"/>
          </a:xfrm>
          <a:prstGeom prst="rect">
            <a:avLst/>
          </a:prstGeom>
        </p:spPr>
      </p:pic>
      <p:sp>
        <p:nvSpPr>
          <p:cNvPr id="12" name="TextBox 11"/>
          <p:cNvSpPr txBox="1"/>
          <p:nvPr/>
        </p:nvSpPr>
        <p:spPr>
          <a:xfrm>
            <a:off x="1706804" y="3841932"/>
            <a:ext cx="3291840" cy="307777"/>
          </a:xfrm>
          <a:prstGeom prst="rect">
            <a:avLst/>
          </a:prstGeom>
          <a:noFill/>
        </p:spPr>
        <p:txBody>
          <a:bodyPr wrap="square" anchor="ctr">
            <a:spAutoFit/>
          </a:bodyPr>
          <a:lstStyle/>
          <a:p>
            <a:pPr>
              <a:defRPr sz="1400" b="1">
                <a:solidFill>
                  <a:srgbClr val="000000"/>
                </a:solidFill>
              </a:defRPr>
            </a:pPr>
            <a:r>
              <a:rPr sz="1400"/>
              <a:t>Use the agent response</a:t>
            </a:r>
          </a:p>
        </p:txBody>
      </p:sp>
      <p:sp>
        <p:nvSpPr>
          <p:cNvPr id="13" name="TextBox 12"/>
          <p:cNvSpPr txBox="1"/>
          <p:nvPr/>
        </p:nvSpPr>
        <p:spPr>
          <a:xfrm>
            <a:off x="5128644" y="3749600"/>
            <a:ext cx="6326680" cy="492443"/>
          </a:xfrm>
          <a:prstGeom prst="rect">
            <a:avLst/>
          </a:prstGeom>
          <a:noFill/>
        </p:spPr>
        <p:txBody>
          <a:bodyPr wrap="square" anchor="ctr">
            <a:spAutoFit/>
          </a:bodyPr>
          <a:lstStyle/>
          <a:p>
            <a:pPr>
              <a:defRPr sz="1300">
                <a:solidFill>
                  <a:srgbClr val="333333"/>
                </a:solidFill>
              </a:defRPr>
            </a:pPr>
            <a:r>
              <a:rPr sz="1300"/>
              <a:t>Pick the agent response from dynamic content in a later step, such as a welcome email.</a:t>
            </a:r>
          </a:p>
        </p:txBody>
      </p:sp>
      <p:sp>
        <p:nvSpPr>
          <p:cNvPr id="14" name="Rounded Rectangle 13">
            <a:extLst>
              <a:ext uri="{C183D7F6-B498-43B3-948B-1728B52AA6E4}">
                <adec:decorative xmlns:adec="http://schemas.microsoft.com/office/drawing/2017/decorative" val="1"/>
              </a:ext>
            </a:extLst>
          </p:cNvPr>
          <p:cNvSpPr/>
          <p:nvPr/>
        </p:nvSpPr>
        <p:spPr>
          <a:xfrm>
            <a:off x="586804" y="4525820"/>
            <a:ext cx="11018520" cy="9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C183D7F6-B498-43B3-948B-1728B52AA6E4}">
                <adec:decorative xmlns:adec="http://schemas.microsoft.com/office/drawing/2017/decorative" val="1"/>
              </a:ext>
            </a:extLst>
          </p:cNvPr>
          <p:cNvSpPr/>
          <p:nvPr/>
        </p:nvSpPr>
        <p:spPr>
          <a:xfrm>
            <a:off x="586804" y="4525820"/>
            <a:ext cx="146304" cy="900000"/>
          </a:xfrm>
          <a:prstGeom prst="round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70852" y="4735820"/>
            <a:ext cx="480000" cy="480000"/>
          </a:xfrm>
          <a:prstGeom prst="rect">
            <a:avLst/>
          </a:prstGeom>
        </p:spPr>
      </p:pic>
      <p:sp>
        <p:nvSpPr>
          <p:cNvPr id="17" name="TextBox 16"/>
          <p:cNvSpPr txBox="1"/>
          <p:nvPr/>
        </p:nvSpPr>
        <p:spPr>
          <a:xfrm>
            <a:off x="1706804" y="4821932"/>
            <a:ext cx="3291840" cy="307777"/>
          </a:xfrm>
          <a:prstGeom prst="rect">
            <a:avLst/>
          </a:prstGeom>
          <a:noFill/>
        </p:spPr>
        <p:txBody>
          <a:bodyPr wrap="square" anchor="ctr">
            <a:spAutoFit/>
          </a:bodyPr>
          <a:lstStyle/>
          <a:p>
            <a:pPr>
              <a:defRPr sz="1400" b="1">
                <a:solidFill>
                  <a:srgbClr val="000000"/>
                </a:solidFill>
              </a:defRPr>
            </a:pPr>
            <a:r>
              <a:rPr sz="1400"/>
              <a:t>Test the node</a:t>
            </a:r>
          </a:p>
        </p:txBody>
      </p:sp>
      <p:sp>
        <p:nvSpPr>
          <p:cNvPr id="18" name="TextBox 17"/>
          <p:cNvSpPr txBox="1"/>
          <p:nvPr/>
        </p:nvSpPr>
        <p:spPr>
          <a:xfrm>
            <a:off x="5128644" y="4829626"/>
            <a:ext cx="6326680" cy="292388"/>
          </a:xfrm>
          <a:prstGeom prst="rect">
            <a:avLst/>
          </a:prstGeom>
          <a:noFill/>
        </p:spPr>
        <p:txBody>
          <a:bodyPr wrap="square" anchor="ctr">
            <a:spAutoFit/>
          </a:bodyPr>
          <a:lstStyle/>
          <a:p>
            <a:pPr>
              <a:defRPr sz="1300">
                <a:solidFill>
                  <a:srgbClr val="333333"/>
                </a:solidFill>
              </a:defRPr>
            </a:pPr>
            <a:r>
              <a:rPr sz="1300"/>
              <a:t>Open the Test tab, enter inputs, and select Run test before publishing.</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244039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pPr>
            <a:r>
              <a:t>Discussion</a:t>
            </a:r>
          </a:p>
        </p:txBody>
      </p:sp>
      <p:sp>
        <p:nvSpPr>
          <p:cNvPr id="3" name="Text Placeholder 2"/>
          <p:cNvSpPr>
            <a:spLocks noGrp="1"/>
          </p:cNvSpPr>
          <p:nvPr>
            <p:ph type="body" sz="quarter" idx="12"/>
          </p:nvPr>
        </p:nvSpPr>
        <p:spPr>
          <a:xfrm>
            <a:off x="586804" y="4215829"/>
            <a:ext cx="11018520" cy="900000"/>
          </a:xfrm>
        </p:spPr>
        <p:txBody>
          <a:bodyPr wrap="square">
            <a:noAutofit/>
          </a:bodyPr>
          <a:lstStyle/>
          <a:p>
            <a:pPr>
              <a:defRPr sz="2000" b="0"/>
            </a:pPr>
            <a:r>
              <a:t>Pick a step in one of your automations that needs judgment. Would you call an existing published agent, or configure a new agent for the workflow so that it can request human assistance?</a:t>
            </a:r>
          </a:p>
        </p:txBody>
      </p:sp>
    </p:spTree>
    <p:extLst>
      <p:ext uri="{BB962C8B-B14F-4D97-AF65-F5344CB8AC3E}">
        <p14:creationId xmlns:p14="http://schemas.microsoft.com/office/powerpoint/2010/main" val="2527622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(1 of 3)</a:t>
            </a:r>
          </a:p>
        </p:txBody>
      </p:sp>
      <p:sp>
        <p:nvSpPr>
          <p:cNvPr id="4" name="Rounded Rectangle 3">
            <a:extLst>
              <a:ext uri="{C183D7F6-B498-43B3-948B-1728B52AA6E4}">
                <adec:decorative xmlns:adec="http://schemas.microsoft.com/office/drawing/2017/decorative" val="1"/>
              </a:ext>
            </a:extLst>
          </p:cNvPr>
          <p:cNvSpPr/>
          <p:nvPr/>
        </p:nvSpPr>
        <p:spPr>
          <a:xfrm>
            <a:off x="586804" y="1691640"/>
            <a:ext cx="11018520" cy="23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781640"/>
            <a:ext cx="10561320" cy="735000"/>
          </a:xfrm>
          <a:prstGeom prst="rect">
            <a:avLst/>
          </a:prstGeom>
          <a:noFill/>
        </p:spPr>
        <p:txBody>
          <a:bodyPr wrap="square">
            <a:noAutofit/>
          </a:bodyPr>
          <a:lstStyle/>
          <a:p>
            <a:r>
              <a:rPr sz="1400" b="1">
                <a:solidFill>
                  <a:srgbClr val="000000"/>
                </a:solidFill>
              </a:rPr>
              <a:t>1. A maker wants to connect an HR benefits agent to a front-door help agent. Both agents are powered by the GitHub Copilot harness, they're in the same environment, and the HR team has shared the benefits agent with the maker. Which step does the HR team still need to complete?</a:t>
            </a:r>
          </a:p>
        </p:txBody>
      </p:sp>
      <p:sp>
        <p:nvSpPr>
          <p:cNvPr id="6" name="TextBox 5"/>
          <p:cNvSpPr txBox="1"/>
          <p:nvPr/>
        </p:nvSpPr>
        <p:spPr>
          <a:xfrm>
            <a:off x="906804" y="2626640"/>
            <a:ext cx="10378520" cy="1265000"/>
          </a:xfrm>
          <a:prstGeom prst="rect">
            <a:avLst/>
          </a:prstGeom>
          <a:noFill/>
        </p:spPr>
        <p:txBody>
          <a:bodyPr wrap="square">
            <a:noAutofit/>
          </a:bodyPr>
          <a:lstStyle/>
          <a:p>
            <a:pPr>
              <a:spcAft>
                <a:spcPts val="900"/>
              </a:spcAft>
            </a:pPr>
            <a:r>
              <a:rPr sz="1400">
                <a:solidFill>
                  <a:srgbClr val="333333"/>
                </a:solidFill>
              </a:rPr>
              <a:t>☐  Add the front-door help agent as a connected agent inside the benefits agent</a:t>
            </a:r>
          </a:p>
          <a:p>
            <a:pPr>
              <a:spcAft>
                <a:spcPts val="900"/>
              </a:spcAft>
            </a:pPr>
            <a:r>
              <a:rPr sz="1400">
                <a:solidFill>
                  <a:srgbClr val="333333"/>
                </a:solidFill>
              </a:rPr>
              <a:t>☐  Turn on Allow other agents to connect in the benefits agent's settings, and then publish the agent</a:t>
            </a:r>
          </a:p>
          <a:p>
            <a:pPr>
              <a:spcAft>
                <a:spcPts val="900"/>
              </a:spcAft>
            </a:pPr>
            <a:r>
              <a:rPr sz="1400">
                <a:solidFill>
                  <a:srgbClr val="333333"/>
                </a:solidFill>
              </a:rPr>
              <a:t>☐  Move the benefits agent to a different environment from the help agent</a:t>
            </a:r>
          </a:p>
        </p:txBody>
      </p:sp>
      <p:sp>
        <p:nvSpPr>
          <p:cNvPr id="7" name="Rounded Rectangle 6">
            <a:extLst>
              <a:ext uri="{C183D7F6-B498-43B3-948B-1728B52AA6E4}">
                <adec:decorative xmlns:adec="http://schemas.microsoft.com/office/drawing/2017/decorative" val="1"/>
              </a:ext>
            </a:extLst>
          </p:cNvPr>
          <p:cNvSpPr/>
          <p:nvPr/>
        </p:nvSpPr>
        <p:spPr>
          <a:xfrm>
            <a:off x="586804" y="4051640"/>
            <a:ext cx="11018520" cy="23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5404" y="4141640"/>
            <a:ext cx="10561320" cy="735000"/>
          </a:xfrm>
          <a:prstGeom prst="rect">
            <a:avLst/>
          </a:prstGeom>
          <a:noFill/>
        </p:spPr>
        <p:txBody>
          <a:bodyPr wrap="square">
            <a:noAutofit/>
          </a:bodyPr>
          <a:lstStyle/>
          <a:p>
            <a:r>
              <a:rPr sz="1400" b="1">
                <a:solidFill>
                  <a:srgbClr val="000000"/>
                </a:solidFill>
              </a:rPr>
              <a:t>2. A help agent has two connected agents. The IT support agent's description is "Helps employees with their questions," and the HR benefits agent's description is "Answers employee questions." Benefits questions often reach the IT support agent. What should the maker change first?</a:t>
            </a:r>
          </a:p>
        </p:txBody>
      </p:sp>
      <p:sp>
        <p:nvSpPr>
          <p:cNvPr id="9" name="TextBox 8"/>
          <p:cNvSpPr txBox="1"/>
          <p:nvPr/>
        </p:nvSpPr>
        <p:spPr>
          <a:xfrm>
            <a:off x="906804" y="4986640"/>
            <a:ext cx="10378520" cy="1265000"/>
          </a:xfrm>
          <a:prstGeom prst="rect">
            <a:avLst/>
          </a:prstGeom>
          <a:noFill/>
        </p:spPr>
        <p:txBody>
          <a:bodyPr wrap="square">
            <a:noAutofit/>
          </a:bodyPr>
          <a:lstStyle/>
          <a:p>
            <a:pPr>
              <a:spcAft>
                <a:spcPts val="900"/>
              </a:spcAft>
            </a:pPr>
            <a:r>
              <a:rPr sz="1400">
                <a:solidFill>
                  <a:srgbClr val="333333"/>
                </a:solidFill>
              </a:rPr>
              <a:t>☐  Remove the HR benefits agent and add its knowledge to the help agent</a:t>
            </a:r>
          </a:p>
          <a:p>
            <a:pPr>
              <a:spcAft>
                <a:spcPts val="900"/>
              </a:spcAft>
            </a:pPr>
            <a:r>
              <a:rPr sz="1400">
                <a:solidFill>
                  <a:srgbClr val="333333"/>
                </a:solidFill>
              </a:rPr>
              <a:t>☐  Turn on Request human assistance when unsure for the IT support agent</a:t>
            </a:r>
          </a:p>
          <a:p>
            <a:pPr>
              <a:spcAft>
                <a:spcPts val="900"/>
              </a:spcAft>
            </a:pPr>
            <a:r>
              <a:rPr sz="1400">
                <a:solidFill>
                  <a:srgbClr val="333333"/>
                </a:solidFill>
              </a:rPr>
              <a:t>☐  Rewrite both descriptions so each names a specific, distinct domain and the requests it handles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6598603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(2 of 3)</a:t>
            </a:r>
          </a:p>
        </p:txBody>
      </p:sp>
      <p:sp>
        <p:nvSpPr>
          <p:cNvPr id="4" name="Rounded Rectangle 3">
            <a:extLst>
              <a:ext uri="{C183D7F6-B498-43B3-948B-1728B52AA6E4}">
                <adec:decorative xmlns:adec="http://schemas.microsoft.com/office/drawing/2017/decorative" val="1"/>
              </a:ext>
            </a:extLst>
          </p:cNvPr>
          <p:cNvSpPr/>
          <p:nvPr/>
        </p:nvSpPr>
        <p:spPr>
          <a:xfrm>
            <a:off x="586804" y="1691640"/>
            <a:ext cx="11018520" cy="23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781640"/>
            <a:ext cx="10561320" cy="735000"/>
          </a:xfrm>
          <a:prstGeom prst="rect">
            <a:avLst/>
          </a:prstGeom>
          <a:noFill/>
        </p:spPr>
        <p:txBody>
          <a:bodyPr wrap="square">
            <a:noAutofit/>
          </a:bodyPr>
          <a:lstStyle/>
          <a:p>
            <a:r>
              <a:rPr sz="1400" b="1">
                <a:solidFill>
                  <a:srgbClr val="000000"/>
                </a:solidFill>
              </a:rPr>
              <a:t>3. In Preview, a maker sends "When does benefits enrollment open?" and the help agent answers from its own knowledge instead of delegating to the HR benefits agent. The benefits agent's description is specific and doesn't overlap with other connected agents. What should the maker check next?</a:t>
            </a:r>
          </a:p>
        </p:txBody>
      </p:sp>
      <p:sp>
        <p:nvSpPr>
          <p:cNvPr id="6" name="TextBox 5"/>
          <p:cNvSpPr txBox="1"/>
          <p:nvPr/>
        </p:nvSpPr>
        <p:spPr>
          <a:xfrm>
            <a:off x="906804" y="2626640"/>
            <a:ext cx="10378520" cy="1265000"/>
          </a:xfrm>
          <a:prstGeom prst="rect">
            <a:avLst/>
          </a:prstGeom>
          <a:noFill/>
        </p:spPr>
        <p:txBody>
          <a:bodyPr wrap="square">
            <a:noAutofit/>
          </a:bodyPr>
          <a:lstStyle/>
          <a:p>
            <a:pPr>
              <a:spcAft>
                <a:spcPts val="900"/>
              </a:spcAft>
            </a:pPr>
            <a:r>
              <a:rPr sz="1400">
                <a:solidFill>
                  <a:srgbClr val="333333"/>
                </a:solidFill>
              </a:rPr>
              <a:t>☐  The help agent's instructions, for guidance that conflicts with the benefits agent's domain</a:t>
            </a:r>
          </a:p>
          <a:p>
            <a:pPr>
              <a:spcAft>
                <a:spcPts val="900"/>
              </a:spcAft>
            </a:pPr>
            <a:r>
              <a:rPr sz="1400">
                <a:solidFill>
                  <a:srgbClr val="333333"/>
                </a:solidFill>
              </a:rPr>
              <a:t>☐  Whether the benefits agent was deleted when it was last edited</a:t>
            </a:r>
          </a:p>
          <a:p>
            <a:pPr>
              <a:spcAft>
                <a:spcPts val="900"/>
              </a:spcAft>
            </a:pPr>
            <a:r>
              <a:rPr sz="1400">
                <a:solidFill>
                  <a:srgbClr val="333333"/>
                </a:solidFill>
              </a:rPr>
              <a:t>☐  Whether the benefits agent uses the Power Automate Copilot Studio connector</a:t>
            </a:r>
          </a:p>
        </p:txBody>
      </p:sp>
      <p:sp>
        <p:nvSpPr>
          <p:cNvPr id="7" name="Rounded Rectangle 6">
            <a:extLst>
              <a:ext uri="{C183D7F6-B498-43B3-948B-1728B52AA6E4}">
                <adec:decorative xmlns:adec="http://schemas.microsoft.com/office/drawing/2017/decorative" val="1"/>
              </a:ext>
            </a:extLst>
          </p:cNvPr>
          <p:cNvSpPr/>
          <p:nvPr/>
        </p:nvSpPr>
        <p:spPr>
          <a:xfrm>
            <a:off x="586804" y="4051640"/>
            <a:ext cx="11018520" cy="23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5404" y="4141640"/>
            <a:ext cx="10561320" cy="735000"/>
          </a:xfrm>
          <a:prstGeom prst="rect">
            <a:avLst/>
          </a:prstGeom>
          <a:noFill/>
        </p:spPr>
        <p:txBody>
          <a:bodyPr wrap="square">
            <a:noAutofit/>
          </a:bodyPr>
          <a:lstStyle/>
          <a:p>
            <a:r>
              <a:rPr sz="1400" b="1">
                <a:solidFill>
                  <a:srgbClr val="000000"/>
                </a:solidFill>
              </a:rPr>
              <a:t>4. An onboarding workflow runs when a new-hire record is created. One step needs a published HR benefits agent, powered by the GitHub Copilot harness and maintained by the HR team, to draft a benefits summary for the new employee. How should the maker call the agent?</a:t>
            </a:r>
          </a:p>
        </p:txBody>
      </p:sp>
      <p:sp>
        <p:nvSpPr>
          <p:cNvPr id="9" name="TextBox 8"/>
          <p:cNvSpPr txBox="1"/>
          <p:nvPr/>
        </p:nvSpPr>
        <p:spPr>
          <a:xfrm>
            <a:off x="906804" y="4986640"/>
            <a:ext cx="10378520" cy="1265000"/>
          </a:xfrm>
          <a:prstGeom prst="rect">
            <a:avLst/>
          </a:prstGeom>
          <a:noFill/>
        </p:spPr>
        <p:txBody>
          <a:bodyPr wrap="square">
            <a:noAutofit/>
          </a:bodyPr>
          <a:lstStyle/>
          <a:p>
            <a:pPr>
              <a:spcAft>
                <a:spcPts val="900"/>
              </a:spcAft>
            </a:pPr>
            <a:r>
              <a:rPr sz="1400">
                <a:solidFill>
                  <a:srgbClr val="333333"/>
                </a:solidFill>
              </a:rPr>
              <a:t>☐  Add a Power Automate cloud flow that uses the Copilot Studio connector to run the agent and wait for its response</a:t>
            </a:r>
          </a:p>
          <a:p>
            <a:pPr>
              <a:spcAft>
                <a:spcPts val="900"/>
              </a:spcAft>
            </a:pPr>
            <a:r>
              <a:rPr sz="1400">
                <a:solidFill>
                  <a:srgbClr val="333333"/>
                </a:solidFill>
              </a:rPr>
              <a:t>☐  Add an agent node, choose New agent for this workflow, and copy the benefits agent's instructions into it</a:t>
            </a:r>
          </a:p>
          <a:p>
            <a:pPr>
              <a:spcAft>
                <a:spcPts val="900"/>
              </a:spcAft>
            </a:pPr>
            <a:r>
              <a:rPr sz="1400">
                <a:solidFill>
                  <a:srgbClr val="333333"/>
                </a:solidFill>
              </a:rPr>
              <a:t>☐  Add an agent node, choose An existing agent, select the benefits agent, and write a Message that includes dynamic content from the trigger</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674594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Knowledge check (3 of 3)</a:t>
            </a:r>
          </a:p>
        </p:txBody>
      </p:sp>
      <p:sp>
        <p:nvSpPr>
          <p:cNvPr id="4" name="Rounded Rectangle 3">
            <a:extLst>
              <a:ext uri="{C183D7F6-B498-43B3-948B-1728B52AA6E4}">
                <adec:decorative xmlns:adec="http://schemas.microsoft.com/office/drawing/2017/decorative" val="1"/>
              </a:ext>
            </a:extLst>
          </p:cNvPr>
          <p:cNvSpPr/>
          <p:nvPr/>
        </p:nvSpPr>
        <p:spPr>
          <a:xfrm>
            <a:off x="586804" y="1800000"/>
            <a:ext cx="11018520" cy="310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5404" y="1890000"/>
            <a:ext cx="10561320" cy="735000"/>
          </a:xfrm>
          <a:prstGeom prst="rect">
            <a:avLst/>
          </a:prstGeom>
          <a:noFill/>
        </p:spPr>
        <p:txBody>
          <a:bodyPr wrap="square">
            <a:noAutofit/>
          </a:bodyPr>
          <a:lstStyle/>
          <a:p>
            <a:r>
              <a:rPr sz="1400" b="1">
                <a:solidFill>
                  <a:srgbClr val="000000"/>
                </a:solidFill>
              </a:rPr>
              <a:t>5. A workflow uses an agent node, configured as a new agent for this workflow, to decide whether to approve exceptions to an equipment policy. A wrong approval is costly, and some requests don't fit any policy rule. Which configuration fits this step?</a:t>
            </a:r>
          </a:p>
        </p:txBody>
      </p:sp>
      <p:sp>
        <p:nvSpPr>
          <p:cNvPr id="6" name="TextBox 5"/>
          <p:cNvSpPr txBox="1"/>
          <p:nvPr/>
        </p:nvSpPr>
        <p:spPr>
          <a:xfrm>
            <a:off x="906804" y="2735000"/>
            <a:ext cx="10378520" cy="2065000"/>
          </a:xfrm>
          <a:prstGeom prst="rect">
            <a:avLst/>
          </a:prstGeom>
          <a:noFill/>
        </p:spPr>
        <p:txBody>
          <a:bodyPr wrap="square">
            <a:noAutofit/>
          </a:bodyPr>
          <a:lstStyle/>
          <a:p>
            <a:pPr>
              <a:spcAft>
                <a:spcPts val="900"/>
              </a:spcAft>
            </a:pPr>
            <a:r>
              <a:rPr sz="1400">
                <a:solidFill>
                  <a:srgbClr val="333333"/>
                </a:solidFill>
              </a:rPr>
              <a:t>☐  Run the node once from the Test tab before publishing, and leave escalation off</a:t>
            </a:r>
          </a:p>
          <a:p>
            <a:pPr>
              <a:spcAft>
                <a:spcPts val="900"/>
              </a:spcAft>
            </a:pPr>
            <a:r>
              <a:rPr sz="1400">
                <a:solidFill>
                  <a:srgbClr val="333333"/>
                </a:solidFill>
              </a:rPr>
              <a:t>☐  Turn on Request human assistance when unsure for the agent node</a:t>
            </a:r>
          </a:p>
          <a:p>
            <a:pPr>
              <a:spcAft>
                <a:spcPts val="900"/>
              </a:spcAft>
            </a:pPr>
            <a:r>
              <a:rPr sz="1400">
                <a:solidFill>
                  <a:srgbClr val="333333"/>
                </a:solidFill>
              </a:rPr>
              <a:t>☐  Connect the agent to a help agent so that users can review its decisions in Preview</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63532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Module recap</a:t>
            </a:r>
          </a:p>
        </p:txBody>
      </p:sp>
      <p:sp>
        <p:nvSpPr>
          <p:cNvPr id="4" name="Rounded Rectangle 3">
            <a:extLst>
              <a:ext uri="{C183D7F6-B498-43B3-948B-1728B52AA6E4}">
                <adec:decorative xmlns:adec="http://schemas.microsoft.com/office/drawing/2017/decorative" val="1"/>
              </a:ext>
            </a:extLst>
          </p:cNvPr>
          <p:cNvSpPr/>
          <p:nvPr/>
        </p:nvSpPr>
        <p:spPr>
          <a:xfrm>
            <a:off x="586804" y="2340820"/>
            <a:ext cx="11018520" cy="76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descr="Item 1">
            <a:extLst>
              <a:ext uri="{C183D7F6-B498-43B3-948B-1728B52AA6E4}">
                <adec:decorative xmlns:adec="http://schemas.microsoft.com/office/drawing/2017/decorative" val="0"/>
              </a:ext>
            </a:extLst>
          </p:cNvPr>
          <p:cNvSpPr/>
          <p:nvPr/>
        </p:nvSpPr>
        <p:spPr>
          <a:xfrm>
            <a:off x="815403" y="2483076"/>
            <a:ext cx="475488" cy="475488"/>
          </a:xfrm>
          <a:prstGeom prst="ellipse">
            <a:avLst/>
          </a:prstGeom>
          <a:solidFill>
            <a:srgbClr val="C5B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1</a:t>
            </a:r>
          </a:p>
        </p:txBody>
      </p:sp>
      <p:sp>
        <p:nvSpPr>
          <p:cNvPr id="6" name="TextBox 5"/>
          <p:cNvSpPr txBox="1"/>
          <p:nvPr/>
        </p:nvSpPr>
        <p:spPr>
          <a:xfrm>
            <a:off x="1464629" y="2385821"/>
            <a:ext cx="1964833" cy="307777"/>
          </a:xfrm>
          <a:prstGeom prst="rect">
            <a:avLst/>
          </a:prstGeom>
          <a:noFill/>
        </p:spPr>
        <p:txBody>
          <a:bodyPr wrap="none">
            <a:spAutoFit/>
          </a:bodyPr>
          <a:lstStyle/>
          <a:p>
            <a:pPr>
              <a:defRPr sz="1400" b="1">
                <a:solidFill>
                  <a:srgbClr val="000000"/>
                </a:solidFill>
              </a:defRPr>
            </a:pPr>
            <a:r>
              <a:rPr sz="1400"/>
              <a:t>Prepare the specialist</a:t>
            </a:r>
          </a:p>
        </p:txBody>
      </p:sp>
      <p:sp>
        <p:nvSpPr>
          <p:cNvPr id="7" name="TextBox 6"/>
          <p:cNvSpPr txBox="1"/>
          <p:nvPr/>
        </p:nvSpPr>
        <p:spPr>
          <a:xfrm>
            <a:off x="1464628" y="2660141"/>
            <a:ext cx="9940696" cy="307777"/>
          </a:xfrm>
          <a:prstGeom prst="rect">
            <a:avLst/>
          </a:prstGeom>
          <a:noFill/>
        </p:spPr>
        <p:txBody>
          <a:bodyPr wrap="square">
            <a:spAutoFit/>
          </a:bodyPr>
          <a:lstStyle/>
          <a:p>
            <a:pPr>
              <a:defRPr sz="1400">
                <a:solidFill>
                  <a:srgbClr val="333333"/>
                </a:solidFill>
              </a:defRPr>
            </a:pPr>
            <a:r>
              <a:rPr sz="1400"/>
              <a:t>Confirm same harness and environment, allow connections, publish, and share.</a:t>
            </a:r>
          </a:p>
        </p:txBody>
      </p:sp>
      <p:sp>
        <p:nvSpPr>
          <p:cNvPr id="8" name="Rounded Rectangle 7">
            <a:extLst>
              <a:ext uri="{C183D7F6-B498-43B3-948B-1728B52AA6E4}">
                <adec:decorative xmlns:adec="http://schemas.microsoft.com/office/drawing/2017/decorative" val="1"/>
              </a:ext>
            </a:extLst>
          </p:cNvPr>
          <p:cNvSpPr/>
          <p:nvPr/>
        </p:nvSpPr>
        <p:spPr>
          <a:xfrm>
            <a:off x="586804" y="3190820"/>
            <a:ext cx="11018520" cy="76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descr="Item 2">
            <a:extLst>
              <a:ext uri="{C183D7F6-B498-43B3-948B-1728B52AA6E4}">
                <adec:decorative xmlns:adec="http://schemas.microsoft.com/office/drawing/2017/decorative" val="0"/>
              </a:ext>
            </a:extLst>
          </p:cNvPr>
          <p:cNvSpPr/>
          <p:nvPr/>
        </p:nvSpPr>
        <p:spPr>
          <a:xfrm>
            <a:off x="815403" y="3333076"/>
            <a:ext cx="475488" cy="475488"/>
          </a:xfrm>
          <a:prstGeom prst="ellipse">
            <a:avLst/>
          </a:prstGeom>
          <a:solidFill>
            <a:srgbClr val="BED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2</a:t>
            </a:r>
          </a:p>
        </p:txBody>
      </p:sp>
      <p:sp>
        <p:nvSpPr>
          <p:cNvPr id="10" name="TextBox 9"/>
          <p:cNvSpPr txBox="1"/>
          <p:nvPr/>
        </p:nvSpPr>
        <p:spPr>
          <a:xfrm>
            <a:off x="1464629" y="3235821"/>
            <a:ext cx="1604927" cy="307777"/>
          </a:xfrm>
          <a:prstGeom prst="rect">
            <a:avLst/>
          </a:prstGeom>
          <a:noFill/>
        </p:spPr>
        <p:txBody>
          <a:bodyPr wrap="none">
            <a:spAutoFit/>
          </a:bodyPr>
          <a:lstStyle/>
          <a:p>
            <a:pPr>
              <a:defRPr sz="1400" b="1">
                <a:solidFill>
                  <a:srgbClr val="000000"/>
                </a:solidFill>
              </a:defRPr>
            </a:pPr>
            <a:r>
              <a:rPr sz="1400"/>
              <a:t>Add and describe</a:t>
            </a:r>
          </a:p>
        </p:txBody>
      </p:sp>
      <p:sp>
        <p:nvSpPr>
          <p:cNvPr id="11" name="TextBox 10"/>
          <p:cNvSpPr txBox="1"/>
          <p:nvPr/>
        </p:nvSpPr>
        <p:spPr>
          <a:xfrm>
            <a:off x="1464628" y="3510141"/>
            <a:ext cx="9940696" cy="307777"/>
          </a:xfrm>
          <a:prstGeom prst="rect">
            <a:avLst/>
          </a:prstGeom>
          <a:noFill/>
        </p:spPr>
        <p:txBody>
          <a:bodyPr wrap="square">
            <a:spAutoFit/>
          </a:bodyPr>
          <a:lstStyle/>
          <a:p>
            <a:pPr>
              <a:defRPr sz="1400">
                <a:solidFill>
                  <a:srgbClr val="333333"/>
                </a:solidFill>
              </a:defRPr>
            </a:pPr>
            <a:r>
              <a:rPr sz="1400"/>
              <a:t>Connect the specialist from Build, then write a distinct routing description.</a:t>
            </a:r>
          </a:p>
        </p:txBody>
      </p:sp>
      <p:sp>
        <p:nvSpPr>
          <p:cNvPr id="12" name="Rounded Rectangle 11">
            <a:extLst>
              <a:ext uri="{C183D7F6-B498-43B3-948B-1728B52AA6E4}">
                <adec:decorative xmlns:adec="http://schemas.microsoft.com/office/drawing/2017/decorative" val="1"/>
              </a:ext>
            </a:extLst>
          </p:cNvPr>
          <p:cNvSpPr/>
          <p:nvPr/>
        </p:nvSpPr>
        <p:spPr>
          <a:xfrm>
            <a:off x="586804" y="4040820"/>
            <a:ext cx="11018520" cy="76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descr="Item 3">
            <a:extLst>
              <a:ext uri="{C183D7F6-B498-43B3-948B-1728B52AA6E4}">
                <adec:decorative xmlns:adec="http://schemas.microsoft.com/office/drawing/2017/decorative" val="0"/>
              </a:ext>
            </a:extLst>
          </p:cNvPr>
          <p:cNvSpPr/>
          <p:nvPr/>
        </p:nvSpPr>
        <p:spPr>
          <a:xfrm>
            <a:off x="815403" y="4183076"/>
            <a:ext cx="475488" cy="475488"/>
          </a:xfrm>
          <a:prstGeom prst="ellipse">
            <a:avLst/>
          </a:prstGeom>
          <a:solidFill>
            <a:srgbClr val="C0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3</a:t>
            </a:r>
          </a:p>
        </p:txBody>
      </p:sp>
      <p:sp>
        <p:nvSpPr>
          <p:cNvPr id="14" name="TextBox 13"/>
          <p:cNvSpPr txBox="1"/>
          <p:nvPr/>
        </p:nvSpPr>
        <p:spPr>
          <a:xfrm>
            <a:off x="1464628" y="4085821"/>
            <a:ext cx="1958998" cy="307777"/>
          </a:xfrm>
          <a:prstGeom prst="rect">
            <a:avLst/>
          </a:prstGeom>
          <a:noFill/>
        </p:spPr>
        <p:txBody>
          <a:bodyPr wrap="none">
            <a:spAutoFit/>
          </a:bodyPr>
          <a:lstStyle/>
          <a:p>
            <a:pPr>
              <a:defRPr sz="1400" b="1">
                <a:solidFill>
                  <a:srgbClr val="000000"/>
                </a:solidFill>
              </a:defRPr>
            </a:pPr>
            <a:r>
              <a:rPr sz="1400"/>
              <a:t>Test and troubleshoot</a:t>
            </a:r>
          </a:p>
        </p:txBody>
      </p:sp>
      <p:sp>
        <p:nvSpPr>
          <p:cNvPr id="15" name="TextBox 14"/>
          <p:cNvSpPr txBox="1"/>
          <p:nvPr/>
        </p:nvSpPr>
        <p:spPr>
          <a:xfrm>
            <a:off x="1464628" y="4360141"/>
            <a:ext cx="9940696" cy="307777"/>
          </a:xfrm>
          <a:prstGeom prst="rect">
            <a:avLst/>
          </a:prstGeom>
          <a:noFill/>
        </p:spPr>
        <p:txBody>
          <a:bodyPr wrap="square">
            <a:spAutoFit/>
          </a:bodyPr>
          <a:lstStyle/>
          <a:p>
            <a:pPr>
              <a:defRPr sz="1400">
                <a:solidFill>
                  <a:srgbClr val="333333"/>
                </a:solidFill>
              </a:defRPr>
            </a:pPr>
            <a:r>
              <a:rPr sz="1400"/>
              <a:t>Use Preview, activity trace, edits, and boundary messages to fix routing.</a:t>
            </a:r>
          </a:p>
        </p:txBody>
      </p:sp>
      <p:sp>
        <p:nvSpPr>
          <p:cNvPr id="16" name="Rounded Rectangle 15">
            <a:extLst>
              <a:ext uri="{C183D7F6-B498-43B3-948B-1728B52AA6E4}">
                <adec:decorative xmlns:adec="http://schemas.microsoft.com/office/drawing/2017/decorative" val="1"/>
              </a:ext>
            </a:extLst>
          </p:cNvPr>
          <p:cNvSpPr/>
          <p:nvPr/>
        </p:nvSpPr>
        <p:spPr>
          <a:xfrm>
            <a:off x="586804" y="4890820"/>
            <a:ext cx="11018520" cy="760000"/>
          </a:xfrm>
          <a:prstGeom prst="roundRect">
            <a:avLst>
              <a:gd name="adj" fmla="val 8000"/>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descr="Item 4">
            <a:extLst>
              <a:ext uri="{C183D7F6-B498-43B3-948B-1728B52AA6E4}">
                <adec:decorative xmlns:adec="http://schemas.microsoft.com/office/drawing/2017/decorative" val="0"/>
              </a:ext>
            </a:extLst>
          </p:cNvPr>
          <p:cNvSpPr/>
          <p:nvPr/>
        </p:nvSpPr>
        <p:spPr>
          <a:xfrm>
            <a:off x="815403" y="5033076"/>
            <a:ext cx="475488" cy="475488"/>
          </a:xfrm>
          <a:prstGeom prst="ellipse">
            <a:avLst/>
          </a:prstGeom>
          <a:solidFill>
            <a:srgbClr val="ECC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91F2E"/>
                </a:solidFill>
              </a:defRPr>
            </a:pPr>
            <a:r>
              <a:rPr sz="1600">
                <a:solidFill>
                  <a:srgbClr val="091F2E"/>
                </a:solidFill>
              </a:rPr>
              <a:t>4</a:t>
            </a:r>
          </a:p>
        </p:txBody>
      </p:sp>
      <p:sp>
        <p:nvSpPr>
          <p:cNvPr id="18" name="TextBox 17"/>
          <p:cNvSpPr txBox="1"/>
          <p:nvPr/>
        </p:nvSpPr>
        <p:spPr>
          <a:xfrm>
            <a:off x="1464628" y="4935821"/>
            <a:ext cx="1863972" cy="307777"/>
          </a:xfrm>
          <a:prstGeom prst="rect">
            <a:avLst/>
          </a:prstGeom>
          <a:noFill/>
        </p:spPr>
        <p:txBody>
          <a:bodyPr wrap="none">
            <a:spAutoFit/>
          </a:bodyPr>
          <a:lstStyle/>
          <a:p>
            <a:pPr>
              <a:defRPr sz="1400" b="1">
                <a:solidFill>
                  <a:srgbClr val="000000"/>
                </a:solidFill>
              </a:defRPr>
            </a:pPr>
            <a:r>
              <a:rPr sz="1400"/>
              <a:t>Call from a workflow</a:t>
            </a:r>
          </a:p>
        </p:txBody>
      </p:sp>
      <p:sp>
        <p:nvSpPr>
          <p:cNvPr id="19" name="TextBox 18"/>
          <p:cNvSpPr txBox="1"/>
          <p:nvPr/>
        </p:nvSpPr>
        <p:spPr>
          <a:xfrm>
            <a:off x="1464628" y="5210141"/>
            <a:ext cx="9940696" cy="307777"/>
          </a:xfrm>
          <a:prstGeom prst="rect">
            <a:avLst/>
          </a:prstGeom>
          <a:noFill/>
        </p:spPr>
        <p:txBody>
          <a:bodyPr wrap="square">
            <a:spAutoFit/>
          </a:bodyPr>
          <a:lstStyle/>
          <a:p>
            <a:pPr>
              <a:defRPr sz="1400">
                <a:solidFill>
                  <a:srgbClr val="333333"/>
                </a:solidFill>
              </a:defRPr>
            </a:pPr>
            <a:r>
              <a:rPr sz="1400"/>
              <a:t>Use an agent node with a complete Message and reuse the response in later steps.</a:t>
            </a:r>
          </a:p>
        </p:txBody>
      </p:sp>
      <p:sp>
        <p:nvSpPr>
          <p:cNvPr id="3" name="TextBox 2">
            <a:extLst>
              <a:ext uri="{C183D7F6-B498-43B3-948B-1728B52AA6E4}">
                <adec:decorative xmlns:adec="http://schemas.microsoft.com/office/drawing/2017/decorative" val="1"/>
              </a:ext>
            </a:extLst>
          </p:cNvPr>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3180704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Resources</a:t>
            </a:r>
          </a:p>
        </p:txBody>
      </p:sp>
      <p:sp>
        <p:nvSpPr>
          <p:cNvPr id="3" name="Text Placeholder 2"/>
          <p:cNvSpPr>
            <a:spLocks noGrp="1"/>
          </p:cNvSpPr>
          <p:nvPr>
            <p:ph type="body" sz="quarter" idx="15"/>
          </p:nvPr>
        </p:nvSpPr>
        <p:spPr/>
        <p:txBody>
          <a:bodyPr/>
          <a:lstStyle/>
          <a:p>
            <a:r>
              <a:t>Connected agents</a:t>
            </a:r>
          </a:p>
        </p:txBody>
      </p:sp>
      <p:sp>
        <p:nvSpPr>
          <p:cNvPr id="4" name="Text Placeholder 3"/>
          <p:cNvSpPr>
            <a:spLocks noGrp="1"/>
          </p:cNvSpPr>
          <p:nvPr>
            <p:ph type="body" sz="quarter" idx="19"/>
          </p:nvPr>
        </p:nvSpPr>
        <p:spPr>
          <a:xfrm>
            <a:off x="587824" y="2081710"/>
            <a:ext cx="8190890" cy="2030749"/>
          </a:xfrm>
        </p:spPr>
        <p:txBody>
          <a:bodyPr/>
          <a:lstStyle/>
          <a:p>
            <a:r>
              <a:rPr>
                <a:solidFill>
                  <a:srgbClr val="2A446F"/>
                </a:solidFill>
                <a:hlinkClick r:id="rId2">
                  <a:extLst>
                    <a:ext uri="{A12FA001-AC4F-418D-AE19-62706E023703}">
                      <ahyp:hlinkClr xmlns:ahyp="http://schemas.microsoft.com/office/drawing/2018/hyperlinkcolor" val="tx"/>
                    </a:ext>
                  </a:extLst>
                </a:hlinkClick>
              </a:rPr>
              <a:t>Connected agents overview</a:t>
            </a:r>
          </a:p>
          <a:p>
            <a:r>
              <a:rPr>
                <a:solidFill>
                  <a:srgbClr val="2A446F"/>
                </a:solidFill>
                <a:hlinkClick r:id="rId3">
                  <a:extLst>
                    <a:ext uri="{A12FA001-AC4F-418D-AE19-62706E023703}">
                      <ahyp:hlinkClr xmlns:ahyp="http://schemas.microsoft.com/office/drawing/2018/hyperlinkcolor" val="tx"/>
                    </a:ext>
                  </a:extLst>
                </a:hlinkClick>
              </a:rPr>
              <a:t>Add a connected agent to an agent</a:t>
            </a:r>
          </a:p>
          <a:p>
            <a:r>
              <a:rPr>
                <a:solidFill>
                  <a:srgbClr val="2A446F"/>
                </a:solidFill>
                <a:hlinkClick r:id="rId4">
                  <a:extLst>
                    <a:ext uri="{A12FA001-AC4F-418D-AE19-62706E023703}">
                      <ahyp:hlinkClr xmlns:ahyp="http://schemas.microsoft.com/office/drawing/2018/hyperlinkcolor" val="tx"/>
                    </a:ext>
                  </a:extLst>
                </a:hlinkClick>
              </a:rPr>
              <a:t>Manage connected agents in an agent</a:t>
            </a:r>
          </a:p>
          <a:p>
            <a:r>
              <a:rPr>
                <a:solidFill>
                  <a:srgbClr val="2A446F"/>
                </a:solidFill>
                <a:hlinkClick r:id="rId5">
                  <a:extLst>
                    <a:ext uri="{A12FA001-AC4F-418D-AE19-62706E023703}">
                      <ahyp:hlinkClr xmlns:ahyp="http://schemas.microsoft.com/office/drawing/2018/hyperlinkcolor" val="tx"/>
                    </a:ext>
                  </a:extLst>
                </a:hlinkClick>
              </a:rPr>
              <a:t>Publish an agent</a:t>
            </a:r>
          </a:p>
        </p:txBody>
      </p:sp>
      <p:sp>
        <p:nvSpPr>
          <p:cNvPr id="5" name="Text Placeholder 4"/>
          <p:cNvSpPr>
            <a:spLocks noGrp="1"/>
          </p:cNvSpPr>
          <p:nvPr>
            <p:ph type="body" sz="quarter" idx="20"/>
          </p:nvPr>
        </p:nvSpPr>
        <p:spPr>
          <a:xfrm>
            <a:off x="585690" y="1108425"/>
            <a:ext cx="8193024" cy="482633"/>
          </a:xfrm>
        </p:spPr>
        <p:txBody>
          <a:bodyPr/>
          <a:lstStyle/>
          <a:p>
            <a:r>
              <a:rPr dirty="0"/>
              <a:t>Share, test, and workflows</a:t>
            </a:r>
          </a:p>
        </p:txBody>
      </p:sp>
      <p:sp>
        <p:nvSpPr>
          <p:cNvPr id="6" name="Text Placeholder 5"/>
          <p:cNvSpPr>
            <a:spLocks noGrp="1"/>
          </p:cNvSpPr>
          <p:nvPr>
            <p:ph type="body" sz="quarter" idx="21"/>
          </p:nvPr>
        </p:nvSpPr>
        <p:spPr>
          <a:xfrm>
            <a:off x="587824" y="4077778"/>
            <a:ext cx="8190890" cy="1514710"/>
          </a:xfrm>
        </p:spPr>
        <p:txBody>
          <a:bodyPr/>
          <a:lstStyle/>
          <a:p>
            <a:r>
              <a:rPr>
                <a:solidFill>
                  <a:srgbClr val="2A446F"/>
                </a:solidFill>
                <a:hlinkClick r:id="rId6">
                  <a:extLst>
                    <a:ext uri="{A12FA001-AC4F-418D-AE19-62706E023703}">
                      <ahyp:hlinkClr xmlns:ahyp="http://schemas.microsoft.com/office/drawing/2018/hyperlinkcolor" val="tx"/>
                    </a:ext>
                  </a:extLst>
                </a:hlinkClick>
              </a:rPr>
              <a:t>Share agents with other users and makers</a:t>
            </a:r>
          </a:p>
          <a:p>
            <a:r>
              <a:rPr>
                <a:solidFill>
                  <a:srgbClr val="2A446F"/>
                </a:solidFill>
                <a:hlinkClick r:id="rId7">
                  <a:extLst>
                    <a:ext uri="{A12FA001-AC4F-418D-AE19-62706E023703}">
                      <ahyp:hlinkClr xmlns:ahyp="http://schemas.microsoft.com/office/drawing/2018/hyperlinkcolor" val="tx"/>
                    </a:ext>
                  </a:extLst>
                </a:hlinkClick>
              </a:rPr>
              <a:t>Use the activity trace to debug your agent</a:t>
            </a:r>
          </a:p>
          <a:p>
            <a:r>
              <a:rPr>
                <a:solidFill>
                  <a:srgbClr val="2A446F"/>
                </a:solidFill>
                <a:hlinkClick r:id="rId8">
                  <a:extLst>
                    <a:ext uri="{A12FA001-AC4F-418D-AE19-62706E023703}">
                      <ahyp:hlinkClr xmlns:ahyp="http://schemas.microsoft.com/office/drawing/2018/hyperlinkcolor" val="tx"/>
                    </a:ext>
                  </a:extLst>
                </a:hlinkClick>
              </a:rPr>
              <a:t>Add an agent node to a workflow</a:t>
            </a:r>
          </a:p>
        </p:txBody>
      </p:sp>
    </p:spTree>
    <p:extLst>
      <p:ext uri="{BB962C8B-B14F-4D97-AF65-F5344CB8AC3E}">
        <p14:creationId xmlns:p14="http://schemas.microsoft.com/office/powerpoint/2010/main" val="3934245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88835"/>
            <a:ext cx="8193024" cy="1111330"/>
          </a:xfrm>
        </p:spPr>
        <p:txBody>
          <a:bodyPr/>
          <a:lstStyle/>
          <a:p>
            <a:r>
              <a:t>Lab 4: Configure a multi-agent solution</a:t>
            </a:r>
          </a:p>
        </p:txBody>
      </p:sp>
    </p:spTree>
    <p:extLst>
      <p:ext uri="{BB962C8B-B14F-4D97-AF65-F5344CB8AC3E}">
        <p14:creationId xmlns:p14="http://schemas.microsoft.com/office/powerpoint/2010/main" val="1104993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000" b="1"/>
            </a:pPr>
            <a:r>
              <a:t>Lab 4 exercise overview</a:t>
            </a:r>
          </a:p>
        </p:txBody>
      </p:sp>
      <p:sp>
        <p:nvSpPr>
          <p:cNvPr id="3" name="Text Placeholder 2"/>
          <p:cNvSpPr>
            <a:spLocks noGrp="1"/>
          </p:cNvSpPr>
          <p:nvPr>
            <p:ph type="body" sz="quarter" idx="14"/>
          </p:nvPr>
        </p:nvSpPr>
        <p:spPr>
          <a:xfrm>
            <a:off x="586804" y="1130000"/>
            <a:ext cx="11018520" cy="420000"/>
          </a:xfrm>
        </p:spPr>
        <p:txBody>
          <a:bodyPr>
            <a:noAutofit/>
          </a:bodyPr>
          <a:lstStyle/>
          <a:p>
            <a:pPr>
              <a:defRPr sz="1500">
                <a:solidFill>
                  <a:srgbClr val="333333"/>
                </a:solidFill>
              </a:defRPr>
            </a:pPr>
            <a:r>
              <a:t>Add a Fulfillment specialist agent with its own tool and workflow, connect it to the orchestrator, and test the handoff.</a:t>
            </a:r>
          </a:p>
        </p:txBody>
      </p:sp>
      <p:sp>
        <p:nvSpPr>
          <p:cNvPr id="5" name="Rounded Rectangle 4"/>
          <p:cNvSpPr/>
          <p:nvPr/>
        </p:nvSpPr>
        <p:spPr>
          <a:xfrm>
            <a:off x="586804" y="1782960"/>
            <a:ext cx="3545896" cy="4485720"/>
          </a:xfrm>
          <a:prstGeom prst="roundRect">
            <a:avLst>
              <a:gd name="adj" fmla="val 205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86804" y="1782960"/>
            <a:ext cx="3545896" cy="502920"/>
          </a:xfrm>
          <a:prstGeom prst="roundRect">
            <a:avLst>
              <a:gd name="adj" fmla="val 18000"/>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86804" y="2148720"/>
            <a:ext cx="3545896" cy="137160"/>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6804" y="1828680"/>
            <a:ext cx="3225896" cy="457200"/>
          </a:xfrm>
          <a:prstGeom prst="rect">
            <a:avLst/>
          </a:prstGeom>
          <a:noFill/>
        </p:spPr>
        <p:txBody>
          <a:bodyPr wrap="square" anchor="ctr">
            <a:noAutofit/>
          </a:bodyPr>
          <a:lstStyle/>
          <a:p>
            <a:r>
              <a:rPr sz="1600" b="1">
                <a:solidFill>
                  <a:srgbClr val="FFFFFF"/>
                </a:solidFill>
              </a:rPr>
              <a:t>Exercise 4.1</a:t>
            </a:r>
          </a:p>
        </p:txBody>
      </p:sp>
      <p:sp>
        <p:nvSpPr>
          <p:cNvPr id="9" name="TextBox 8"/>
          <p:cNvSpPr txBox="1"/>
          <p:nvPr/>
        </p:nvSpPr>
        <p:spPr>
          <a:xfrm>
            <a:off x="746804" y="2395880"/>
            <a:ext cx="3225896" cy="725800"/>
          </a:xfrm>
          <a:prstGeom prst="rect">
            <a:avLst/>
          </a:prstGeom>
          <a:noFill/>
        </p:spPr>
        <p:txBody>
          <a:bodyPr wrap="square">
            <a:noAutofit/>
          </a:bodyPr>
          <a:lstStyle/>
          <a:p>
            <a:r>
              <a:rPr sz="1500" b="1">
                <a:solidFill>
                  <a:srgbClr val="000000"/>
                </a:solidFill>
              </a:rPr>
              <a:t>Create and configure a specialist agent</a:t>
            </a:r>
          </a:p>
        </p:txBody>
      </p:sp>
      <p:sp>
        <p:nvSpPr>
          <p:cNvPr id="10" name="TextBox 9"/>
          <p:cNvSpPr txBox="1"/>
          <p:nvPr/>
        </p:nvSpPr>
        <p:spPr>
          <a:xfrm>
            <a:off x="746804" y="3241680"/>
            <a:ext cx="3225896" cy="2907000"/>
          </a:xfrm>
          <a:prstGeom prst="rect">
            <a:avLst/>
          </a:prstGeom>
          <a:noFill/>
        </p:spPr>
        <p:txBody>
          <a:bodyPr wrap="square">
            <a:noAutofit/>
          </a:bodyPr>
          <a:lstStyle/>
          <a:p>
            <a:pPr>
              <a:spcAft>
                <a:spcPts val="600"/>
              </a:spcAft>
            </a:pPr>
            <a:r>
              <a:rPr sz="1400">
                <a:solidFill>
                  <a:srgbClr val="000000"/>
                </a:solidFill>
              </a:rPr>
              <a:t>1. Create the Fulfillment agent</a:t>
            </a:r>
          </a:p>
          <a:p>
            <a:pPr>
              <a:spcAft>
                <a:spcPts val="600"/>
              </a:spcAft>
            </a:pPr>
            <a:r>
              <a:rPr sz="1400">
                <a:solidFill>
                  <a:srgbClr val="000000"/>
                </a:solidFill>
              </a:rPr>
              <a:t>2. Write scoped instructions</a:t>
            </a:r>
          </a:p>
          <a:p>
            <a:pPr>
              <a:spcAft>
                <a:spcPts val="600"/>
              </a:spcAft>
            </a:pPr>
            <a:r>
              <a:rPr sz="1400">
                <a:solidFill>
                  <a:srgbClr val="000000"/>
                </a:solidFill>
              </a:rPr>
              <a:t>3. Attach the Products table as a tool</a:t>
            </a:r>
          </a:p>
        </p:txBody>
      </p:sp>
      <p:sp>
        <p:nvSpPr>
          <p:cNvPr id="11" name="Rounded Rectangle 10"/>
          <p:cNvSpPr/>
          <p:nvPr/>
        </p:nvSpPr>
        <p:spPr>
          <a:xfrm>
            <a:off x="4323116" y="1782960"/>
            <a:ext cx="3545896" cy="4485720"/>
          </a:xfrm>
          <a:prstGeom prst="roundRect">
            <a:avLst>
              <a:gd name="adj" fmla="val 205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23116" y="1782960"/>
            <a:ext cx="3545896" cy="502920"/>
          </a:xfrm>
          <a:prstGeom prst="roundRect">
            <a:avLst>
              <a:gd name="adj" fmla="val 18000"/>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23116" y="2148720"/>
            <a:ext cx="3545896" cy="137160"/>
          </a:xfrm>
          <a:prstGeom prst="rect">
            <a:avLst/>
          </a:prstGeom>
          <a:solidFill>
            <a:srgbClr val="389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3116" y="1828680"/>
            <a:ext cx="3225896" cy="457200"/>
          </a:xfrm>
          <a:prstGeom prst="rect">
            <a:avLst/>
          </a:prstGeom>
          <a:noFill/>
        </p:spPr>
        <p:txBody>
          <a:bodyPr wrap="square" anchor="ctr">
            <a:noAutofit/>
          </a:bodyPr>
          <a:lstStyle/>
          <a:p>
            <a:r>
              <a:rPr sz="1600" b="1">
                <a:solidFill>
                  <a:srgbClr val="FFFFFF"/>
                </a:solidFill>
              </a:rPr>
              <a:t>Exercise 4.2</a:t>
            </a:r>
          </a:p>
        </p:txBody>
      </p:sp>
      <p:sp>
        <p:nvSpPr>
          <p:cNvPr id="15" name="TextBox 14"/>
          <p:cNvSpPr txBox="1"/>
          <p:nvPr/>
        </p:nvSpPr>
        <p:spPr>
          <a:xfrm>
            <a:off x="4483116" y="2395880"/>
            <a:ext cx="3225896" cy="725800"/>
          </a:xfrm>
          <a:prstGeom prst="rect">
            <a:avLst/>
          </a:prstGeom>
          <a:noFill/>
        </p:spPr>
        <p:txBody>
          <a:bodyPr wrap="square">
            <a:noAutofit/>
          </a:bodyPr>
          <a:lstStyle/>
          <a:p>
            <a:r>
              <a:rPr sz="1500" b="1">
                <a:solidFill>
                  <a:srgbClr val="000000"/>
                </a:solidFill>
              </a:rPr>
              <a:t>Author a workflow and attach it to a specialist agent</a:t>
            </a:r>
          </a:p>
        </p:txBody>
      </p:sp>
      <p:sp>
        <p:nvSpPr>
          <p:cNvPr id="16" name="TextBox 15"/>
          <p:cNvSpPr txBox="1"/>
          <p:nvPr/>
        </p:nvSpPr>
        <p:spPr>
          <a:xfrm>
            <a:off x="4483116" y="3241680"/>
            <a:ext cx="3225896" cy="2907000"/>
          </a:xfrm>
          <a:prstGeom prst="rect">
            <a:avLst/>
          </a:prstGeom>
          <a:noFill/>
        </p:spPr>
        <p:txBody>
          <a:bodyPr wrap="square">
            <a:noAutofit/>
          </a:bodyPr>
          <a:lstStyle/>
          <a:p>
            <a:pPr>
              <a:spcAft>
                <a:spcPts val="600"/>
              </a:spcAft>
            </a:pPr>
            <a:r>
              <a:rPr sz="1400">
                <a:solidFill>
                  <a:srgbClr val="000000"/>
                </a:solidFill>
              </a:rPr>
              <a:t>1. Create the workflow</a:t>
            </a:r>
          </a:p>
          <a:p>
            <a:pPr>
              <a:spcAft>
                <a:spcPts val="600"/>
              </a:spcAft>
            </a:pPr>
            <a:r>
              <a:rPr sz="1400">
                <a:solidFill>
                  <a:srgbClr val="000000"/>
                </a:solidFill>
              </a:rPr>
              <a:t>2. Rename and describe the flow</a:t>
            </a:r>
          </a:p>
          <a:p>
            <a:pPr>
              <a:spcAft>
                <a:spcPts val="600"/>
              </a:spcAft>
            </a:pPr>
            <a:r>
              <a:rPr sz="1400">
                <a:solidFill>
                  <a:srgbClr val="000000"/>
                </a:solidFill>
              </a:rPr>
              <a:t>3. Define the trigger inputs</a:t>
            </a:r>
          </a:p>
          <a:p>
            <a:pPr>
              <a:spcAft>
                <a:spcPts val="600"/>
              </a:spcAft>
            </a:pPr>
            <a:r>
              <a:rPr sz="1400">
                <a:solidFill>
                  <a:srgbClr val="000000"/>
                </a:solidFill>
              </a:rPr>
              <a:t>4. Send the warehouse notification email</a:t>
            </a:r>
          </a:p>
          <a:p>
            <a:pPr>
              <a:spcAft>
                <a:spcPts val="600"/>
              </a:spcAft>
            </a:pPr>
            <a:r>
              <a:rPr sz="1400">
                <a:solidFill>
                  <a:srgbClr val="000000"/>
                </a:solidFill>
              </a:rPr>
              <a:t>5. Fill in the outputs to return to the agent</a:t>
            </a:r>
          </a:p>
          <a:p>
            <a:pPr>
              <a:spcAft>
                <a:spcPts val="600"/>
              </a:spcAft>
            </a:pPr>
            <a:r>
              <a:rPr sz="1400">
                <a:solidFill>
                  <a:srgbClr val="000000"/>
                </a:solidFill>
              </a:rPr>
              <a:t>6. Publish the flow</a:t>
            </a:r>
          </a:p>
          <a:p>
            <a:pPr>
              <a:spcAft>
                <a:spcPts val="600"/>
              </a:spcAft>
            </a:pPr>
            <a:r>
              <a:rPr sz="1400">
                <a:solidFill>
                  <a:srgbClr val="000000"/>
                </a:solidFill>
              </a:rPr>
              <a:t>7. Attach the workflow to the Fulfillment agent</a:t>
            </a:r>
          </a:p>
        </p:txBody>
      </p:sp>
      <p:sp>
        <p:nvSpPr>
          <p:cNvPr id="17" name="Rounded Rectangle 16"/>
          <p:cNvSpPr/>
          <p:nvPr/>
        </p:nvSpPr>
        <p:spPr>
          <a:xfrm>
            <a:off x="8059428" y="1782960"/>
            <a:ext cx="3545896" cy="4485720"/>
          </a:xfrm>
          <a:prstGeom prst="roundRect">
            <a:avLst>
              <a:gd name="adj" fmla="val 205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059428" y="1782960"/>
            <a:ext cx="3545896" cy="502920"/>
          </a:xfrm>
          <a:prstGeom prst="roundRect">
            <a:avLst>
              <a:gd name="adj" fmla="val 1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9428" y="2148720"/>
            <a:ext cx="3545896"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9428" y="1828680"/>
            <a:ext cx="3225896" cy="457200"/>
          </a:xfrm>
          <a:prstGeom prst="rect">
            <a:avLst/>
          </a:prstGeom>
          <a:noFill/>
        </p:spPr>
        <p:txBody>
          <a:bodyPr wrap="square" anchor="ctr">
            <a:noAutofit/>
          </a:bodyPr>
          <a:lstStyle/>
          <a:p>
            <a:r>
              <a:rPr sz="1600" b="1">
                <a:solidFill>
                  <a:srgbClr val="FFFFFF"/>
                </a:solidFill>
              </a:rPr>
              <a:t>Exercise 4.3</a:t>
            </a:r>
          </a:p>
        </p:txBody>
      </p:sp>
      <p:sp>
        <p:nvSpPr>
          <p:cNvPr id="21" name="TextBox 20"/>
          <p:cNvSpPr txBox="1"/>
          <p:nvPr/>
        </p:nvSpPr>
        <p:spPr>
          <a:xfrm>
            <a:off x="8219428" y="2395880"/>
            <a:ext cx="3225896" cy="725800"/>
          </a:xfrm>
          <a:prstGeom prst="rect">
            <a:avLst/>
          </a:prstGeom>
          <a:noFill/>
        </p:spPr>
        <p:txBody>
          <a:bodyPr wrap="square">
            <a:noAutofit/>
          </a:bodyPr>
          <a:lstStyle/>
          <a:p>
            <a:r>
              <a:rPr sz="1500" b="1">
                <a:solidFill>
                  <a:srgbClr val="000000"/>
                </a:solidFill>
              </a:rPr>
              <a:t>Connect a specialist agent to the orchestrator and test end-to-end</a:t>
            </a:r>
          </a:p>
        </p:txBody>
      </p:sp>
      <p:sp>
        <p:nvSpPr>
          <p:cNvPr id="22" name="TextBox 21"/>
          <p:cNvSpPr txBox="1"/>
          <p:nvPr/>
        </p:nvSpPr>
        <p:spPr>
          <a:xfrm>
            <a:off x="8219428" y="3241680"/>
            <a:ext cx="3225896" cy="2907000"/>
          </a:xfrm>
          <a:prstGeom prst="rect">
            <a:avLst/>
          </a:prstGeom>
          <a:noFill/>
        </p:spPr>
        <p:txBody>
          <a:bodyPr wrap="square">
            <a:noAutofit/>
          </a:bodyPr>
          <a:lstStyle/>
          <a:p>
            <a:pPr>
              <a:spcAft>
                <a:spcPts val="600"/>
              </a:spcAft>
            </a:pPr>
            <a:r>
              <a:rPr sz="1400">
                <a:solidFill>
                  <a:srgbClr val="000000"/>
                </a:solidFill>
              </a:rPr>
              <a:t>1. Register the Fulfillment agent as a connected agent</a:t>
            </a:r>
          </a:p>
          <a:p>
            <a:pPr>
              <a:spcAft>
                <a:spcPts val="600"/>
              </a:spcAft>
            </a:pPr>
            <a:r>
              <a:rPr sz="1400">
                <a:solidFill>
                  <a:srgbClr val="000000"/>
                </a:solidFill>
              </a:rPr>
              <a:t>2. Reinforce delegation in the orchestrator instructions</a:t>
            </a:r>
          </a:p>
          <a:p>
            <a:pPr>
              <a:spcAft>
                <a:spcPts val="600"/>
              </a:spcAft>
            </a:pPr>
            <a:r>
              <a:rPr sz="1400">
                <a:solidFill>
                  <a:srgbClr val="000000"/>
                </a:solidFill>
              </a:rPr>
              <a:t>3. Enrich the product-troubleshooting skill</a:t>
            </a:r>
          </a:p>
          <a:p>
            <a:pPr>
              <a:spcAft>
                <a:spcPts val="600"/>
              </a:spcAft>
            </a:pPr>
            <a:r>
              <a:rPr sz="1400">
                <a:solidFill>
                  <a:srgbClr val="000000"/>
                </a:solidFill>
              </a:rPr>
              <a:t>4. Test the end-to-end handoff in Preview</a:t>
            </a:r>
          </a:p>
        </p:txBody>
      </p:sp>
      <p:sp>
        <p:nvSpPr>
          <p:cNvPr id="4" name="TextBox 3"/>
          <p:cNvSpPr txBox="1"/>
          <p:nvPr/>
        </p:nvSpPr>
        <p:spPr>
          <a:xfrm>
            <a:off x="458789" y="6537960"/>
            <a:ext cx="2884123" cy="230832"/>
          </a:xfrm>
          <a:prstGeom prst="rect">
            <a:avLst/>
          </a:prstGeom>
          <a:noFill/>
        </p:spPr>
        <p:txBody>
          <a:bodyPr wrap="none">
            <a:spAutoFit/>
          </a:bodyPr>
          <a:lstStyle/>
          <a:p>
            <a:pPr>
              <a:defRPr sz="900">
                <a:solidFill>
                  <a:srgbClr val="707070"/>
                </a:solidFill>
              </a:defRPr>
            </a:pPr>
            <a:r>
              <a:rPr sz="900"/>
              <a:t>© Copyright Microsoft Corporation. All rights reserved.</a:t>
            </a:r>
          </a:p>
        </p:txBody>
      </p:sp>
    </p:spTree>
    <p:extLst>
      <p:ext uri="{BB962C8B-B14F-4D97-AF65-F5344CB8AC3E}">
        <p14:creationId xmlns:p14="http://schemas.microsoft.com/office/powerpoint/2010/main" val="11933705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5782</Words>
  <Application>Microsoft Office PowerPoint</Application>
  <PresentationFormat>Widescreen</PresentationFormat>
  <Paragraphs>475</Paragraphs>
  <Slides>50</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Aptos</vt:lpstr>
      <vt:lpstr>Aptos Display</vt:lpstr>
      <vt:lpstr>Arial</vt:lpstr>
      <vt:lpstr>Consolas</vt:lpstr>
      <vt:lpstr>Segoe Sans Display</vt:lpstr>
      <vt:lpstr>Segoe Sans Display Semibold</vt:lpstr>
      <vt:lpstr>Segoe UI</vt:lpstr>
      <vt:lpstr>Wingdings</vt:lpstr>
      <vt:lpstr>Office Theme</vt:lpstr>
      <vt:lpstr>Introduction to Agents</vt:lpstr>
      <vt:lpstr>Module: Design multi-agent solutions in Microsoft Copilot Studio</vt:lpstr>
      <vt:lpstr>Learning objectives</vt:lpstr>
      <vt:lpstr>Unit 1: Decide when to use multiple agents</vt:lpstr>
      <vt:lpstr>How a multi-agent architecture works</vt:lpstr>
      <vt:lpstr>Start with one agent</vt:lpstr>
      <vt:lpstr>Structural signals for separate agents</vt:lpstr>
      <vt:lpstr>Harness affects the keep-it-inside option</vt:lpstr>
      <vt:lpstr>Weigh the tradeoffs of adding agents</vt:lpstr>
      <vt:lpstr>Discussion</vt:lpstr>
      <vt:lpstr>Unit 2: Choose a coordination pattern</vt:lpstr>
      <vt:lpstr>Decide how much of the path is known</vt:lpstr>
      <vt:lpstr>Run agents in a defined workflow</vt:lpstr>
      <vt:lpstr>Compare coordination patterns</vt:lpstr>
      <vt:lpstr>Govern how agents work together</vt:lpstr>
      <vt:lpstr>Unit 3: Identify implementation options by harness</vt:lpstr>
      <vt:lpstr>Compare delegation options by harness</vt:lpstr>
      <vt:lpstr>Match a capability to an option</vt:lpstr>
      <vt:lpstr>Knowledge check (1 of 5)</vt:lpstr>
      <vt:lpstr>Knowledge check (2 of 5)</vt:lpstr>
      <vt:lpstr>Knowledge check (3 of 5)</vt:lpstr>
      <vt:lpstr>Knowledge check (4 of 5)</vt:lpstr>
      <vt:lpstr>Knowledge check (5 of 5)</vt:lpstr>
      <vt:lpstr>Module recap</vt:lpstr>
      <vt:lpstr>Resources</vt:lpstr>
      <vt:lpstr>Module: Build connected agent solutions in Microsoft Copilot Studio (GitHub Copilot)</vt:lpstr>
      <vt:lpstr>Learning objectives</vt:lpstr>
      <vt:lpstr>Unit 1: Prepare an agent for other agents to connect</vt:lpstr>
      <vt:lpstr>Connection requirements</vt:lpstr>
      <vt:lpstr>Unit 2: Add a connected agent with a routing description</vt:lpstr>
      <vt:lpstr>Add a connected agent</vt:lpstr>
      <vt:lpstr>How the primary agent routes each message</vt:lpstr>
      <vt:lpstr>Write distinct routing descriptions</vt:lpstr>
      <vt:lpstr>Discussion</vt:lpstr>
      <vt:lpstr>Unit 3: Test and troubleshoot delegation</vt:lpstr>
      <vt:lpstr>Test both sides of each connection in Preview</vt:lpstr>
      <vt:lpstr>Troubleshoot routing</vt:lpstr>
      <vt:lpstr>Discussion</vt:lpstr>
      <vt:lpstr>Unit 4: Call an agent from a workflow agent node</vt:lpstr>
      <vt:lpstr>Choose the agent for the node</vt:lpstr>
      <vt:lpstr>Write the message for each run</vt:lpstr>
      <vt:lpstr>Finish and test the agent node</vt:lpstr>
      <vt:lpstr>Discussion</vt:lpstr>
      <vt:lpstr>Knowledge check (1 of 3)</vt:lpstr>
      <vt:lpstr>Knowledge check (2 of 3)</vt:lpstr>
      <vt:lpstr>Knowledge check (3 of 3)</vt:lpstr>
      <vt:lpstr>Module recap</vt:lpstr>
      <vt:lpstr>Resources</vt:lpstr>
      <vt:lpstr>Lab 4: Configure a multi-agent solution</vt:lpstr>
      <vt:lpstr>Lab 4 exercise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Conniff</dc:creator>
  <cp:lastModifiedBy>Andrew Conniff</cp:lastModifiedBy>
  <cp:revision>1</cp:revision>
  <dcterms:created xsi:type="dcterms:W3CDTF">2026-10-23T19:14:20Z</dcterms:created>
  <dcterms:modified xsi:type="dcterms:W3CDTF">2026-10-23T19:18:04Z</dcterms:modified>
</cp:coreProperties>
</file>