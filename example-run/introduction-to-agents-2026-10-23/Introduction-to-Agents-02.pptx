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147479730" r:id="rId2"/>
    <p:sldId id="2147479766" r:id="rId3"/>
    <p:sldId id="1898" r:id="rId4"/>
    <p:sldId id="2147479769" r:id="rId5"/>
    <p:sldId id="2147479777" r:id="rId6"/>
    <p:sldId id="2147479913" r:id="rId7"/>
    <p:sldId id="2147479826" r:id="rId8"/>
    <p:sldId id="2147479893" r:id="rId9"/>
    <p:sldId id="2147479869" r:id="rId10"/>
    <p:sldId id="2147479892" r:id="rId11"/>
    <p:sldId id="2147479827" r:id="rId12"/>
    <p:sldId id="2147479828" r:id="rId13"/>
    <p:sldId id="2147479841" r:id="rId14"/>
    <p:sldId id="2147479873" r:id="rId15"/>
    <p:sldId id="2147479890" r:id="rId16"/>
    <p:sldId id="2147479784" r:id="rId17"/>
    <p:sldId id="2147479835" r:id="rId18"/>
    <p:sldId id="2147479836" r:id="rId19"/>
    <p:sldId id="257" r:id="rId20"/>
    <p:sldId id="2147479800" r:id="rId21"/>
    <p:sldId id="2147479853" r:id="rId22"/>
    <p:sldId id="2147479854" r:id="rId23"/>
    <p:sldId id="2147479803" r:id="rId24"/>
    <p:sldId id="2147479813" r:id="rId25"/>
    <p:sldId id="214747982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92E383-C3BC-4771-A802-A37FD2C4DD98}"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D614E-841A-4583-8959-9C127882367A}" type="slidenum">
              <a:rPr lang="en-US" smtClean="0"/>
              <a:t>‹#›</a:t>
            </a:fld>
            <a:endParaRPr lang="en-US"/>
          </a:p>
        </p:txBody>
      </p:sp>
    </p:spTree>
    <p:extLst>
      <p:ext uri="{BB962C8B-B14F-4D97-AF65-F5344CB8AC3E}">
        <p14:creationId xmlns:p14="http://schemas.microsoft.com/office/powerpoint/2010/main" val="3770984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MicrosoftLearning/MS-4019-Transform-your-everyday-business-processes-with-agents/blob/master/Instructions/Labs/M03-build-manage-no-code-agent-sharepoint/6-exercise-create-copilot-chat-agent.md"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github.com/MicrosoftLearning/MS-4019-Transform-your-everyday-business-processes-with-agents/blob/master/Instructions/Labs/M03-build-manage-no-code-agent-sharepoint/8-exercise-create-sharepoint-agent.md"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solidFill>
                <a:schemeClr val="tx1"/>
              </a:solidFill>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99377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27253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81E57-797B-7018-347C-A9AB4D582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7C9C7-7D11-4E2C-EEEC-94382B563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B76730-3329-945C-0750-F1334276DB5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C30B5C7-5EEB-5B4C-2EB1-FBC3CA990699}"/>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1CC703E6-BD28-9AB7-0525-84C56F5CEF18}"/>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5A648D2-0442-716E-646B-B5CB06D19CC7}"/>
              </a:ext>
            </a:extLst>
          </p:cNvPr>
          <p:cNvSpPr>
            <a:spLocks noGrp="1"/>
          </p:cNvSpPr>
          <p:nvPr>
            <p:ph type="dt" idx="12"/>
          </p:nvPr>
        </p:nvSpPr>
        <p:spPr/>
        <p:txBody>
          <a:bodyPr/>
          <a:lstStyle/>
          <a:p>
            <a:fld id="{9427A7F7-BB1E-479D-AFAA-B52F4D0C99F2}"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C2EEA3ED-60EF-FC2C-37DD-C6A22E4D54C2}"/>
              </a:ext>
            </a:extLst>
          </p:cNvPr>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496210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000" dirty="0">
                <a:solidFill>
                  <a:schemeClr val="tx1"/>
                </a:solidFill>
              </a:rPr>
              <a:t>Icon – only supported file type is a .PNG file. 1 MB file size limit</a:t>
            </a:r>
          </a:p>
          <a:p>
            <a:pPr>
              <a:lnSpc>
                <a:spcPct val="107000"/>
              </a:lnSpc>
              <a:spcAft>
                <a:spcPts val="800"/>
              </a:spcAft>
            </a:pPr>
            <a:endParaRPr lang="en-US" sz="1000" dirty="0">
              <a:solidFill>
                <a:schemeClr val="tx1"/>
              </a:solidFill>
            </a:endParaRPr>
          </a:p>
          <a:p>
            <a:pPr>
              <a:lnSpc>
                <a:spcPct val="107000"/>
              </a:lnSpc>
              <a:spcAft>
                <a:spcPts val="800"/>
              </a:spcAft>
            </a:pPr>
            <a:r>
              <a:rPr lang="en-US" sz="1000" dirty="0">
                <a:solidFill>
                  <a:schemeClr val="tx1"/>
                </a:solidFill>
              </a:rPr>
              <a:t>Description – make it as short, precise, and simple as possible. </a:t>
            </a:r>
            <a:r>
              <a:rPr lang="en-US" sz="2000" b="0" i="0" dirty="0">
                <a:solidFill>
                  <a:srgbClr val="202020"/>
                </a:solidFill>
                <a:effectLst/>
                <a:latin typeface="Times New Roman" panose="02020603050405020304" pitchFamily="18" charset="0"/>
              </a:rPr>
              <a:t>The system also displays it in the app file for use in the app catalog.</a:t>
            </a:r>
          </a:p>
          <a:p>
            <a:pPr>
              <a:lnSpc>
                <a:spcPct val="107000"/>
              </a:lnSpc>
              <a:spcAft>
                <a:spcPts val="800"/>
              </a:spcAft>
            </a:pPr>
            <a:endParaRPr lang="en-US" sz="2000" b="0" i="0" dirty="0">
              <a:solidFill>
                <a:srgbClr val="202020"/>
              </a:solidFill>
              <a:effectLst/>
              <a:latin typeface="Times New Roman" panose="02020603050405020304" pitchFamily="18" charset="0"/>
            </a:endParaRPr>
          </a:p>
          <a:p>
            <a:pPr>
              <a:lnSpc>
                <a:spcPct val="107000"/>
              </a:lnSpc>
              <a:spcAft>
                <a:spcPts val="800"/>
              </a:spcAft>
            </a:pPr>
            <a:r>
              <a:rPr lang="en-US" sz="2000" b="0" i="0" dirty="0">
                <a:solidFill>
                  <a:srgbClr val="202020"/>
                </a:solidFill>
                <a:effectLst/>
                <a:latin typeface="Times New Roman" panose="02020603050405020304" pitchFamily="18" charset="0"/>
              </a:rPr>
              <a:t>Instructions – If you use the Describe tab to have the system create the agent for you, the instructions are automatically generated for you.</a:t>
            </a:r>
          </a:p>
          <a:p>
            <a:pPr>
              <a:lnSpc>
                <a:spcPct val="107000"/>
              </a:lnSpc>
              <a:spcAft>
                <a:spcPts val="800"/>
              </a:spcAft>
            </a:pPr>
            <a:endParaRPr lang="en-US" sz="2000" b="0" i="0" dirty="0">
              <a:solidFill>
                <a:srgbClr val="202020"/>
              </a:solidFill>
              <a:effectLst/>
              <a:latin typeface="Times New Roman" panose="02020603050405020304" pitchFamily="18" charset="0"/>
            </a:endParaRPr>
          </a:p>
          <a:p>
            <a:pPr>
              <a:lnSpc>
                <a:spcPct val="107000"/>
              </a:lnSpc>
              <a:spcAft>
                <a:spcPts val="800"/>
              </a:spcAft>
            </a:pPr>
            <a:r>
              <a:rPr lang="en-US" sz="2000" b="0" i="0" dirty="0">
                <a:solidFill>
                  <a:srgbClr val="202020"/>
                </a:solidFill>
                <a:effectLst/>
                <a:latin typeface="Times New Roman" panose="02020603050405020304" pitchFamily="18" charset="0"/>
              </a:rPr>
              <a:t>Under Capabilities, these features are only available when creating an agent in Copilot Chat using the Copilot Studio Agent Builder tool. They aren’t available when creating a using the built-in Copilot agent tool in SharePoint:</a:t>
            </a:r>
          </a:p>
          <a:p>
            <a:pPr>
              <a:lnSpc>
                <a:spcPct val="107000"/>
              </a:lnSpc>
              <a:spcAft>
                <a:spcPts val="800"/>
              </a:spcAft>
            </a:pPr>
            <a:endParaRPr lang="en-US" sz="2000" b="0" i="0" dirty="0">
              <a:solidFill>
                <a:srgbClr val="202020"/>
              </a:solidFill>
              <a:effectLst/>
              <a:latin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US" sz="2000" b="0" i="0" dirty="0">
                <a:solidFill>
                  <a:srgbClr val="202020"/>
                </a:solidFill>
                <a:effectLst/>
                <a:latin typeface="Times New Roman" panose="02020603050405020304" pitchFamily="18" charset="0"/>
              </a:rPr>
              <a:t>The Code interpreter enables the agent to solve complex tasks using Python code. However,  you don't write the Python code that's used by the agent - that's the job of the Code interpreter. You enter a natural language prompt in the agent, and the Code interpreter interprets the meaning of your prompt and generates Python code behind the scenes to satisfy your request. Just as you don't need programming experience to create an agent, you also don't need programming skills to use the Code interpreter. </a:t>
            </a:r>
            <a:br>
              <a:rPr lang="en-US" sz="2000" b="0" i="0" dirty="0">
                <a:solidFill>
                  <a:srgbClr val="202020"/>
                </a:solidFill>
                <a:effectLst/>
                <a:latin typeface="Times New Roman" panose="02020603050405020304" pitchFamily="18" charset="0"/>
              </a:rPr>
            </a:br>
            <a:endParaRPr lang="en-US" sz="2000" b="0" i="0" dirty="0">
              <a:solidFill>
                <a:srgbClr val="202020"/>
              </a:solidFill>
              <a:effectLst/>
              <a:latin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US" sz="2000" b="0" i="0" dirty="0">
                <a:solidFill>
                  <a:srgbClr val="202020"/>
                </a:solidFill>
                <a:effectLst/>
                <a:latin typeface="Times New Roman" panose="02020603050405020304" pitchFamily="18" charset="0"/>
              </a:rPr>
              <a:t>The Image generator generates images based on user prompts. It uses the existing Designer functionality to create visually appealing and contextually relevant graphics. For instance, you can ask the agent to create an image of a serene beach at sunset with palm trees and gentle waves or design a flyer for a summer music festival. The image generator can produce multiple images for each prompt, and users can interact with these images by viewing them in full size, downloading, or modifying them with subsequent prompts.</a:t>
            </a:r>
            <a:endParaRPr lang="en-US" sz="1000" dirty="0">
              <a:solidFill>
                <a:schemeClr val="tx1"/>
              </a:solidFill>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71181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Aft>
                <a:spcPts val="525"/>
              </a:spcAft>
            </a:pPr>
            <a:r>
              <a:rPr lang="en-US" sz="4800" b="0" i="0" dirty="0">
                <a:solidFill>
                  <a:srgbClr val="202020"/>
                </a:solidFill>
                <a:effectLst/>
                <a:latin typeface="Times New Roman" panose="02020603050405020304" pitchFamily="18" charset="0"/>
              </a:rPr>
              <a:t>Tell the students to refer to the Learn unit, which includes a link that shows the regions and languages that support the Describe tab. Tell them the list is not included in this slide, since it’s very fluid. So check the link to get the latest list. </a:t>
            </a:r>
            <a:endParaRPr lang="en-US" sz="1000" dirty="0">
              <a:latin typeface="Segoe Light" panose="020B0302040504020203" pitchFamily="34" charset="0"/>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55472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43606-5D45-B4EE-54F3-0778E0D0E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5B6CD-AD76-A173-FF5E-3E1099681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8EB2E-2C34-EB0A-847F-79167FED3EDE}"/>
              </a:ext>
            </a:extLst>
          </p:cNvPr>
          <p:cNvSpPr>
            <a:spLocks noGrp="1"/>
          </p:cNvSpPr>
          <p:nvPr>
            <p:ph type="body" idx="1"/>
          </p:nvPr>
        </p:nvSpPr>
        <p:spPr/>
        <p:txBody>
          <a:bodyPr/>
          <a:lstStyle/>
          <a:p>
            <a:pPr algn="l" fontAlgn="base">
              <a:spcAft>
                <a:spcPts val="525"/>
              </a:spcAft>
            </a:pPr>
            <a:r>
              <a:rPr lang="en-US" sz="4800" b="0" i="0" dirty="0">
                <a:solidFill>
                  <a:srgbClr val="202020"/>
                </a:solidFill>
                <a:effectLst/>
                <a:latin typeface="Times New Roman" panose="02020603050405020304" pitchFamily="18" charset="0"/>
              </a:rPr>
              <a:t>Tell the students to refer to the Learn unit, which includes a link that shows the regions and languages that support the Describe tab. Tell them the list is not included in this slide, since it’s very fluid. So check the link to get the latest list. </a:t>
            </a:r>
            <a:endParaRPr lang="en-US" sz="1000" dirty="0">
              <a:latin typeface="Segoe Light" panose="020B0302040504020203" pitchFamily="34" charset="0"/>
            </a:endParaRPr>
          </a:p>
        </p:txBody>
      </p:sp>
      <p:sp>
        <p:nvSpPr>
          <p:cNvPr id="4" name="Header Placeholder 3">
            <a:extLst>
              <a:ext uri="{FF2B5EF4-FFF2-40B4-BE49-F238E27FC236}">
                <a16:creationId xmlns:a16="http://schemas.microsoft.com/office/drawing/2014/main" id="{043E9C8A-7B4A-7DB1-83B7-BBFCBA580F9D}"/>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3AA6A35-27E6-B0A5-ABD6-3BDB15E5841F}"/>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2D47B73-68C4-AD39-D79A-2925C5C0A942}"/>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BC6D419-6342-457F-9AB4-131C40DFFDD5}"/>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03664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05BE8-0D04-8832-AA08-1F8FC2607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9E0AD-A340-1E39-A0D8-F28CF6F68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D8FC9-A6EE-5995-CFC0-8B28124264A7}"/>
              </a:ext>
            </a:extLst>
          </p:cNvPr>
          <p:cNvSpPr>
            <a:spLocks noGrp="1"/>
          </p:cNvSpPr>
          <p:nvPr>
            <p:ph type="body" idx="1"/>
          </p:nvPr>
        </p:nvSpPr>
        <p:spPr/>
        <p:txBody>
          <a:bodyPr/>
          <a:lstStyle/>
          <a:p>
            <a:pPr algn="l" fontAlgn="base">
              <a:spcAft>
                <a:spcPts val="525"/>
              </a:spcAft>
            </a:pPr>
            <a:r>
              <a:rPr lang="en-US" sz="2000" b="0" i="0" dirty="0">
                <a:solidFill>
                  <a:srgbClr val="202020"/>
                </a:solidFill>
                <a:effectLst/>
                <a:latin typeface="Times New Roman" panose="02020603050405020304" pitchFamily="18" charset="0"/>
              </a:rPr>
              <a:t>Tell the students that this screen shot is the top half of the Configure tab. If you can, create an agent in Copilot Chat and walk them through the process showing the Copilot Studio screen. </a:t>
            </a:r>
          </a:p>
          <a:p>
            <a:pPr algn="l" fontAlgn="base">
              <a:spcAft>
                <a:spcPts val="525"/>
              </a:spcAft>
            </a:pPr>
            <a:endParaRPr lang="en-US" sz="2000" b="0" i="0" dirty="0">
              <a:solidFill>
                <a:srgbClr val="202020"/>
              </a:solidFill>
              <a:effectLst/>
              <a:latin typeface="Times New Roman" panose="02020603050405020304" pitchFamily="18" charset="0"/>
            </a:endParaRPr>
          </a:p>
          <a:p>
            <a:pPr algn="l" fontAlgn="base">
              <a:spcAft>
                <a:spcPts val="525"/>
              </a:spcAft>
            </a:pPr>
            <a:r>
              <a:rPr lang="en-US" sz="2000" b="0" i="0" dirty="0">
                <a:solidFill>
                  <a:srgbClr val="202020"/>
                </a:solidFill>
                <a:effectLst/>
                <a:latin typeface="Times New Roman" panose="02020603050405020304" pitchFamily="18" charset="0"/>
              </a:rPr>
              <a:t>Remind them that when you create an agent for Copilot Chat, it follows your existing Microsoft 365 permissions and keeps your data within your Microsoft 365 trust boundary. </a:t>
            </a:r>
            <a:endParaRPr lang="en-US" sz="1000" dirty="0">
              <a:latin typeface="Segoe Light" panose="020B0302040504020203" pitchFamily="34" charset="0"/>
            </a:endParaRPr>
          </a:p>
        </p:txBody>
      </p:sp>
      <p:sp>
        <p:nvSpPr>
          <p:cNvPr id="4" name="Header Placeholder 3">
            <a:extLst>
              <a:ext uri="{FF2B5EF4-FFF2-40B4-BE49-F238E27FC236}">
                <a16:creationId xmlns:a16="http://schemas.microsoft.com/office/drawing/2014/main" id="{4268CA66-DF5C-30E0-296B-7C814142678B}"/>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2C3262E-1878-5D81-639B-698AD696AA8F}"/>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9E5348A-9E7F-13D4-1039-2CF65F2421A1}"/>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2E4169B-1D64-3236-BFBD-17FA926EAF67}"/>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82409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50AF-AC8E-2156-50BF-23A1AC4F5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5618A-1AD4-B799-1311-4D7385AF2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6C9B0-5C87-AECF-EF95-AD5570A80C2C}"/>
              </a:ext>
            </a:extLst>
          </p:cNvPr>
          <p:cNvSpPr>
            <a:spLocks noGrp="1"/>
          </p:cNvSpPr>
          <p:nvPr>
            <p:ph type="body" idx="1"/>
          </p:nvPr>
        </p:nvSpPr>
        <p:spPr/>
        <p:txBody>
          <a:bodyPr/>
          <a:lstStyle/>
          <a:p>
            <a:r>
              <a:rPr lang="en-US" dirty="0">
                <a:hlinkClick r:id="rId3"/>
              </a:rPr>
              <a:t>MS-4019-Transform-your-everyday-business-processes-with-agents/Instructions/Labs/M03-build-manage-no-code-agent-sharepoint/6-exercise-create-copilot-chat-agent.md at master · </a:t>
            </a:r>
            <a:r>
              <a:rPr lang="en-US" dirty="0" err="1">
                <a:hlinkClick r:id="rId3"/>
              </a:rPr>
              <a:t>MicrosoftLearning</a:t>
            </a:r>
            <a:r>
              <a:rPr lang="en-US" dirty="0">
                <a:hlinkClick r:id="rId3"/>
              </a:rPr>
              <a:t>/MS-4019-Transform-your-everyday-business-processes-with-agents</a:t>
            </a:r>
            <a:endParaRPr lang="en-US" dirty="0"/>
          </a:p>
        </p:txBody>
      </p:sp>
      <p:sp>
        <p:nvSpPr>
          <p:cNvPr id="4" name="Header Placeholder 3">
            <a:extLst>
              <a:ext uri="{FF2B5EF4-FFF2-40B4-BE49-F238E27FC236}">
                <a16:creationId xmlns:a16="http://schemas.microsoft.com/office/drawing/2014/main" id="{07C48110-F73B-65C2-F9FA-6E334A1BFECD}"/>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47C9E2EF-E704-FD16-C7CD-F347D5DFCC6A}"/>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850F0C9-657F-BFE3-DFD6-AC2CF90609A3}"/>
              </a:ext>
            </a:extLst>
          </p:cNvPr>
          <p:cNvSpPr>
            <a:spLocks noGrp="1"/>
          </p:cNvSpPr>
          <p:nvPr>
            <p:ph type="dt" idx="12"/>
          </p:nvPr>
        </p:nvSpPr>
        <p:spPr/>
        <p:txBody>
          <a:bodyPr/>
          <a:lstStyle/>
          <a:p>
            <a:fld id="{9427A7F7-BB1E-479D-AFAA-B52F4D0C99F2}"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BC1DCCD4-B593-C0D8-8D7D-6657E6E8769A}"/>
              </a:ext>
            </a:extLst>
          </p:cNvPr>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97643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5A2AF-EA94-7123-2085-A440CB612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089F4-44EC-2F12-4AB4-D81AF8586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A3876F-8D1A-68C0-3351-AC7A97273542}"/>
              </a:ext>
            </a:extLst>
          </p:cNvPr>
          <p:cNvSpPr>
            <a:spLocks noGrp="1"/>
          </p:cNvSpPr>
          <p:nvPr>
            <p:ph type="body" idx="1"/>
          </p:nvPr>
        </p:nvSpPr>
        <p:spPr/>
        <p:txBody>
          <a:bodyPr/>
          <a:lstStyle/>
          <a:p>
            <a:pPr algn="l" fontAlgn="base">
              <a:spcAft>
                <a:spcPts val="525"/>
              </a:spcAft>
            </a:pPr>
            <a:r>
              <a:rPr lang="en-US" b="0" i="0" dirty="0">
                <a:solidFill>
                  <a:srgbClr val="202020"/>
                </a:solidFill>
                <a:effectLst/>
                <a:latin typeface="Times New Roman" panose="02020603050405020304" pitchFamily="18" charset="0"/>
              </a:rPr>
              <a:t>Review the differences between this Copilot agent tool in SharePoint and Copilot Studio that’s used to create agents in Copilot Chat.</a:t>
            </a:r>
          </a:p>
          <a:p>
            <a:pPr algn="l" fontAlgn="base">
              <a:spcAft>
                <a:spcPts val="525"/>
              </a:spcAft>
            </a:pPr>
            <a:endParaRPr lang="en-US" sz="1000" b="0" i="0" dirty="0">
              <a:solidFill>
                <a:srgbClr val="202020"/>
              </a:solidFill>
              <a:effectLst/>
              <a:latin typeface="Times New Roman" panose="02020603050405020304" pitchFamily="18" charset="0"/>
            </a:endParaRPr>
          </a:p>
          <a:p>
            <a:pPr algn="l" fontAlgn="base">
              <a:spcAft>
                <a:spcPts val="525"/>
              </a:spcAft>
            </a:pPr>
            <a:r>
              <a:rPr lang="en-US" sz="1000" b="0" i="0" dirty="0">
                <a:solidFill>
                  <a:srgbClr val="202020"/>
                </a:solidFill>
                <a:effectLst/>
                <a:latin typeface="Times New Roman" panose="02020603050405020304" pitchFamily="18" charset="0"/>
              </a:rPr>
              <a:t>One of the big differences that you want to call out is that when you enter instructions in the Copilot agent tool in SharePoint, it doesn’t carry on a conversation like the Agent Builder does. What you enter is it, so tell the class to make sure they spell out everything they need. Don’t expect the tool to suggest things like Agent Builder does. </a:t>
            </a:r>
            <a:endParaRPr lang="en-US" sz="1000" dirty="0">
              <a:latin typeface="Segoe Light" panose="020B0302040504020203" pitchFamily="34" charset="0"/>
            </a:endParaRPr>
          </a:p>
        </p:txBody>
      </p:sp>
      <p:sp>
        <p:nvSpPr>
          <p:cNvPr id="4" name="Header Placeholder 3">
            <a:extLst>
              <a:ext uri="{FF2B5EF4-FFF2-40B4-BE49-F238E27FC236}">
                <a16:creationId xmlns:a16="http://schemas.microsoft.com/office/drawing/2014/main" id="{CF288F26-6A67-D3FE-61A7-EF0A125F35AF}"/>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6B08F2A-F41D-D70A-21FA-59480844A2BA}"/>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F7BE894-3793-EFEC-3C05-CE289BC1950B}"/>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D810200-A6E5-209B-D9A0-56589BE19F8D}"/>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22662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MS-4019-Transform-your-everyday-business-processes-with-agents/Instructions/Labs/M03-build-manage-no-code-agent-sharepoint/8-exercise-create-sharepoint-agent.md at master · </a:t>
            </a:r>
            <a:r>
              <a:rPr lang="en-US" dirty="0" err="1">
                <a:hlinkClick r:id="rId3"/>
              </a:rPr>
              <a:t>MicrosoftLearning</a:t>
            </a:r>
            <a:r>
              <a:rPr lang="en-US">
                <a:hlinkClick r:id="rId3"/>
              </a:rPr>
              <a:t>/MS-4019-Transform-your-everyday-business-processes-with-agents</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10/23/2026 12:14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539654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85E2C-3762-F512-778C-4243C046E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2EF5B-1269-A1FA-32D4-236B77236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E777B-2737-4133-4095-AF447B6FB1A3}"/>
              </a:ext>
            </a:extLst>
          </p:cNvPr>
          <p:cNvSpPr>
            <a:spLocks noGrp="1"/>
          </p:cNvSpPr>
          <p:nvPr>
            <p:ph type="body" idx="1"/>
          </p:nvPr>
        </p:nvSpPr>
        <p:spPr/>
        <p:txBody>
          <a:bodyPr/>
          <a:lstStyle/>
          <a:p>
            <a:r>
              <a:rPr lang="en-US" dirty="0"/>
              <a:t>Spend 10-15 minutes discussing the video.</a:t>
            </a:r>
          </a:p>
        </p:txBody>
      </p:sp>
      <p:sp>
        <p:nvSpPr>
          <p:cNvPr id="4" name="Header Placeholder 3">
            <a:extLst>
              <a:ext uri="{FF2B5EF4-FFF2-40B4-BE49-F238E27FC236}">
                <a16:creationId xmlns:a16="http://schemas.microsoft.com/office/drawing/2014/main" id="{4D2BBAAA-3749-DEEA-9CB6-45682BA277AC}"/>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F877DA24-6FF0-5124-4C27-2FC06C583D16}"/>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8DF3B5C-8F8D-FEFB-A3BC-E587EBA80FF3}"/>
              </a:ext>
            </a:extLst>
          </p:cNvPr>
          <p:cNvSpPr>
            <a:spLocks noGrp="1"/>
          </p:cNvSpPr>
          <p:nvPr>
            <p:ph type="dt" idx="12"/>
          </p:nvPr>
        </p:nvSpPr>
        <p:spPr/>
        <p:txBody>
          <a:bodyPr/>
          <a:lstStyle/>
          <a:p>
            <a:fld id="{9427A7F7-BB1E-479D-AFAA-B52F4D0C99F2}"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7FCC6FC6-D5A2-1330-1026-BB0124829553}"/>
              </a:ext>
            </a:extLst>
          </p:cNvPr>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047254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666A-3A0C-C1A2-C4F0-56AF9A196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7B1AC-99AD-02A8-4B51-60C43A3A4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BBEBA-4762-CB14-D78F-A52B1528CC73}"/>
              </a:ext>
            </a:extLst>
          </p:cNvPr>
          <p:cNvSpPr>
            <a:spLocks noGrp="1"/>
          </p:cNvSpPr>
          <p:nvPr>
            <p:ph type="body" idx="1"/>
          </p:nvPr>
        </p:nvSpPr>
        <p:spPr/>
        <p:txBody>
          <a:bodyPr/>
          <a:lstStyle/>
          <a:p>
            <a:pPr>
              <a:lnSpc>
                <a:spcPct val="107000"/>
              </a:lnSpc>
              <a:spcAft>
                <a:spcPts val="800"/>
              </a:spcAft>
            </a:pPr>
            <a:r>
              <a:rPr lang="en-US" sz="2000" b="0" i="0" dirty="0">
                <a:solidFill>
                  <a:srgbClr val="202020"/>
                </a:solidFill>
                <a:effectLst/>
                <a:latin typeface="Times New Roman" panose="02020603050405020304" pitchFamily="18" charset="0"/>
              </a:rPr>
              <a:t>Once you select the </a:t>
            </a:r>
            <a:r>
              <a:rPr lang="en-US" sz="2000" b="1" i="0" dirty="0">
                <a:solidFill>
                  <a:srgbClr val="202020"/>
                </a:solidFill>
                <a:effectLst/>
                <a:latin typeface="Times New Roman" panose="02020603050405020304" pitchFamily="18" charset="0"/>
              </a:rPr>
              <a:t>Open agent</a:t>
            </a:r>
            <a:r>
              <a:rPr lang="en-US" sz="2000" b="0" i="0" dirty="0">
                <a:solidFill>
                  <a:srgbClr val="202020"/>
                </a:solidFill>
                <a:effectLst/>
                <a:latin typeface="Times New Roman" panose="02020603050405020304" pitchFamily="18" charset="0"/>
              </a:rPr>
              <a:t> option, you should test each of these areas of your agent.</a:t>
            </a:r>
          </a:p>
          <a:p>
            <a:pPr>
              <a:lnSpc>
                <a:spcPct val="107000"/>
              </a:lnSpc>
              <a:spcAft>
                <a:spcPts val="800"/>
              </a:spcAft>
            </a:pPr>
            <a:endParaRPr lang="en-US" sz="2000" b="0" i="0" dirty="0">
              <a:solidFill>
                <a:srgbClr val="202020"/>
              </a:solidFill>
              <a:effectLst/>
              <a:latin typeface="Times New Roman" panose="02020603050405020304" pitchFamily="18" charset="0"/>
            </a:endParaRPr>
          </a:p>
          <a:p>
            <a:pPr>
              <a:lnSpc>
                <a:spcPct val="107000"/>
              </a:lnSpc>
              <a:spcAft>
                <a:spcPts val="800"/>
              </a:spcAft>
            </a:pPr>
            <a:r>
              <a:rPr lang="en-US" sz="2000" b="0" i="0" dirty="0">
                <a:solidFill>
                  <a:srgbClr val="202020"/>
                </a:solidFill>
                <a:effectLst/>
                <a:latin typeface="Times New Roman" panose="02020603050405020304" pitchFamily="18" charset="0"/>
              </a:rPr>
              <a:t>Here’s some examples when testing Instructions:</a:t>
            </a:r>
          </a:p>
          <a:p>
            <a:pPr>
              <a:lnSpc>
                <a:spcPct val="107000"/>
              </a:lnSpc>
              <a:spcAft>
                <a:spcPts val="800"/>
              </a:spcAft>
            </a:pPr>
            <a:endParaRPr lang="en-US" sz="2000" b="0" i="0" dirty="0">
              <a:solidFill>
                <a:srgbClr val="202020"/>
              </a:solidFill>
              <a:effectLst/>
              <a:latin typeface="Times New Roman" panose="02020603050405020304" pitchFamily="18" charset="0"/>
            </a:endParaRP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Experiment with tones and styles</a:t>
            </a:r>
            <a:r>
              <a:rPr lang="en-US" b="0" i="0" dirty="0">
                <a:solidFill>
                  <a:srgbClr val="202020"/>
                </a:solidFill>
                <a:effectLst/>
                <a:latin typeface="Times New Roman" panose="02020603050405020304" pitchFamily="18" charset="0"/>
              </a:rPr>
              <a:t>. Modify the agent's instructions to experiment with different tones and styles. For example, you might instruct your agent to respond like a kind, patient teacher or in the style of a friendly customer service representative. You can also try giving it a professional, corporate voice, or a friendly, casual tone to see which resonates best with your audience.</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Clarity and accuracy</a:t>
            </a:r>
            <a:r>
              <a:rPr lang="en-US" b="0" i="0" dirty="0">
                <a:solidFill>
                  <a:srgbClr val="202020"/>
                </a:solidFill>
                <a:effectLst/>
                <a:latin typeface="Times New Roman" panose="02020603050405020304" pitchFamily="18" charset="0"/>
              </a:rPr>
              <a:t>. Ensure that the instructions provided to the agent are clear and accurate. Test the agent's responses to see if it follows the instructions correctly. For example, if the instruction is to provide step-by-step guidance, ask, "How do I create a new document library in SharePoint?" and verify that the response is detailed and accurate.</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Consistency</a:t>
            </a:r>
            <a:r>
              <a:rPr lang="en-US" b="0" i="0" dirty="0">
                <a:solidFill>
                  <a:srgbClr val="202020"/>
                </a:solidFill>
                <a:effectLst/>
                <a:latin typeface="Times New Roman" panose="02020603050405020304" pitchFamily="18" charset="0"/>
              </a:rPr>
              <a:t>. Test the agent's responses to ensure consistency in following the instructions. Ask similar questions in different ways to see if the agent provides consistent answers. For example, "How do I set permissions for a document library?" and "Can you tell me how to manage permissions for a library in SharePoint?"</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Test new instructions</a:t>
            </a:r>
            <a:r>
              <a:rPr lang="en-US" b="0" i="0" dirty="0">
                <a:solidFill>
                  <a:srgbClr val="202020"/>
                </a:solidFill>
                <a:effectLst/>
                <a:latin typeface="Times New Roman" panose="02020603050405020304" pitchFamily="18" charset="0"/>
              </a:rPr>
              <a:t>. Test the new instructions with another question to observe the changes in response. For instance, ask "Can you explain the steps to manage permissions in SharePoint?" and compare the differences in the agent's replies based on the tone you set.</a:t>
            </a:r>
          </a:p>
          <a:p>
            <a:pPr marL="742950" lvl="1" indent="-285750" algn="l" fontAlgn="base">
              <a:spcAft>
                <a:spcPts val="600"/>
              </a:spcAft>
              <a:buFont typeface="Arial" panose="020B0604020202020204" pitchFamily="34" charset="0"/>
              <a:buChar char="•"/>
            </a:pPr>
            <a:r>
              <a:rPr lang="en-US" b="0" i="0" dirty="0">
                <a:solidFill>
                  <a:srgbClr val="202020"/>
                </a:solidFill>
                <a:effectLst/>
                <a:latin typeface="Times New Roman" panose="02020603050405020304" pitchFamily="18" charset="0"/>
              </a:rPr>
              <a:t>Scenario 1. A user is having trouble uploading a document. Ask, "How do I upload a document to SharePoint?"</a:t>
            </a:r>
          </a:p>
          <a:p>
            <a:pPr marL="742950" lvl="1" indent="-285750" algn="l" fontAlgn="base">
              <a:spcAft>
                <a:spcPts val="600"/>
              </a:spcAft>
              <a:buFont typeface="Arial" panose="020B0604020202020204" pitchFamily="34" charset="0"/>
              <a:buChar char="•"/>
            </a:pPr>
            <a:r>
              <a:rPr lang="en-US" b="0" i="0" dirty="0">
                <a:solidFill>
                  <a:srgbClr val="202020"/>
                </a:solidFill>
                <a:effectLst/>
                <a:latin typeface="Times New Roman" panose="02020603050405020304" pitchFamily="18" charset="0"/>
              </a:rPr>
              <a:t>Scenario 2. A user needs to share a file with a colleague. Ask, "How can I share a file with a colleague in SharePoint?"</a:t>
            </a:r>
          </a:p>
          <a:p>
            <a:pPr marL="742950" lvl="1" indent="-285750" algn="l" fontAlgn="base">
              <a:spcAft>
                <a:spcPts val="600"/>
              </a:spcAft>
              <a:buFont typeface="Arial" panose="020B0604020202020204" pitchFamily="34" charset="0"/>
              <a:buChar char="•"/>
            </a:pPr>
            <a:r>
              <a:rPr lang="en-US" b="0" i="0" dirty="0">
                <a:solidFill>
                  <a:srgbClr val="202020"/>
                </a:solidFill>
                <a:effectLst/>
                <a:latin typeface="Times New Roman" panose="02020603050405020304" pitchFamily="18" charset="0"/>
              </a:rPr>
              <a:t>Scenario 3. A user wants to set up alerts for changes in a document library. Ask, "How do I set up alerts for changes in a SharePoint document library?"</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Adaptability</a:t>
            </a:r>
            <a:r>
              <a:rPr lang="en-US" b="0" i="0" dirty="0">
                <a:solidFill>
                  <a:srgbClr val="202020"/>
                </a:solidFill>
                <a:effectLst/>
                <a:latin typeface="Times New Roman" panose="02020603050405020304" pitchFamily="18" charset="0"/>
              </a:rPr>
              <a:t>. Modify the instructions and test how quickly and effectively the agent adapts to the changes. For instance, change the instructions to provide brief summaries instead of detailed steps and ask, "How do I create a new site in SharePoint?" to see if the response aligns with the new instruction.</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Edge cases</a:t>
            </a:r>
            <a:r>
              <a:rPr lang="en-US" b="0" i="0" dirty="0">
                <a:solidFill>
                  <a:srgbClr val="202020"/>
                </a:solidFill>
                <a:effectLst/>
                <a:latin typeface="Times New Roman" panose="02020603050405020304" pitchFamily="18" charset="0"/>
              </a:rPr>
              <a:t>. Test the agent's ability to handle edge cases or unusual instructions. Provide instructions that are less common or more complex and evaluate the responses. For example, instruct the agent to provide troubleshooting steps for a specific error message in SharePoint and ask, "What should I do if I see error code 0x80070005?"</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User feedback</a:t>
            </a:r>
            <a:r>
              <a:rPr lang="en-US" b="0" i="0" dirty="0">
                <a:solidFill>
                  <a:srgbClr val="202020"/>
                </a:solidFill>
                <a:effectLst/>
                <a:latin typeface="Times New Roman" panose="02020603050405020304" pitchFamily="18" charset="0"/>
              </a:rPr>
              <a:t>. Gather feedback from users on the clarity and helpfulness of the instructions. Ask users if the instructions provided by the agent are easy to understand and follow. Use this feedback to refine and improve the instructions.</a:t>
            </a:r>
          </a:p>
          <a:p>
            <a:pPr algn="l" fontAlgn="base">
              <a:spcAft>
                <a:spcPts val="600"/>
              </a:spcAft>
              <a:buFont typeface="Arial" panose="020B0604020202020204" pitchFamily="34" charset="0"/>
              <a:buChar char="•"/>
            </a:pPr>
            <a:endParaRPr lang="en-US" b="0" i="0" dirty="0">
              <a:solidFill>
                <a:srgbClr val="202020"/>
              </a:solidFill>
              <a:effectLst/>
              <a:latin typeface="Times New Roman" panose="02020603050405020304" pitchFamily="18" charset="0"/>
            </a:endParaRPr>
          </a:p>
          <a:p>
            <a:pPr algn="l" fontAlgn="base">
              <a:spcAft>
                <a:spcPts val="600"/>
              </a:spcAft>
              <a:buFont typeface="Arial" panose="020B0604020202020204" pitchFamily="34" charset="0"/>
              <a:buNone/>
            </a:pPr>
            <a:r>
              <a:rPr lang="en-US" b="0" i="0" dirty="0">
                <a:solidFill>
                  <a:srgbClr val="202020"/>
                </a:solidFill>
                <a:effectLst/>
                <a:latin typeface="Times New Roman" panose="02020603050405020304" pitchFamily="18" charset="0"/>
              </a:rPr>
              <a:t>Here’s some examples when testing knowledge sources:</a:t>
            </a:r>
          </a:p>
          <a:p>
            <a:pPr algn="l" fontAlgn="base">
              <a:spcAft>
                <a:spcPts val="600"/>
              </a:spcAft>
              <a:buFont typeface="Arial" panose="020B0604020202020204" pitchFamily="34" charset="0"/>
              <a:buNone/>
            </a:pPr>
            <a:endParaRPr lang="en-US" b="0" i="0" dirty="0">
              <a:solidFill>
                <a:srgbClr val="202020"/>
              </a:solidFill>
              <a:effectLst/>
              <a:latin typeface="Times New Roman" panose="02020603050405020304" pitchFamily="18" charset="0"/>
            </a:endParaRP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Verify knowledge base integration</a:t>
            </a:r>
            <a:r>
              <a:rPr lang="en-US" b="0" i="0" dirty="0">
                <a:solidFill>
                  <a:srgbClr val="202020"/>
                </a:solidFill>
                <a:effectLst/>
                <a:latin typeface="Times New Roman" panose="02020603050405020304" pitchFamily="18" charset="0"/>
              </a:rPr>
              <a:t>. Ensure that the agent is correctly integrated with the knowledge base. Ask questions that should be answered using the knowledge base to verify accuracy. For example, "What is the company policy on remote work?"</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Update and test</a:t>
            </a:r>
            <a:r>
              <a:rPr lang="en-US" b="0" i="0" dirty="0">
                <a:solidFill>
                  <a:srgbClr val="202020"/>
                </a:solidFill>
                <a:effectLst/>
                <a:latin typeface="Times New Roman" panose="02020603050405020304" pitchFamily="18" charset="0"/>
              </a:rPr>
              <a:t>. Regularly update the knowledge base with new information and test the agent's responses to ensure it reflects the latest updates. For instance, after adding a new policy, ask, "What is the new policy on vacation days?"</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Cross-reference testing</a:t>
            </a:r>
            <a:r>
              <a:rPr lang="en-US" b="0" i="0" dirty="0">
                <a:solidFill>
                  <a:srgbClr val="202020"/>
                </a:solidFill>
                <a:effectLst/>
                <a:latin typeface="Times New Roman" panose="02020603050405020304" pitchFamily="18" charset="0"/>
              </a:rPr>
              <a:t>. Test the agent's ability to cross-reference information from different sources. For example, "Can you explain the process for submitting an expense report and the related approval workflow?" When a SharePoint hub site is included as the source for the agent, it automatically includes its associated sites. Your agent uses information from both the hub site and its associated sites to respond. If a hub site is included as a knowledge source for your agent, verify the agent includes information from both the hub site and its associated sites.</a:t>
            </a:r>
          </a:p>
          <a:p>
            <a:pPr algn="l" fontAlgn="base">
              <a:spcAft>
                <a:spcPts val="600"/>
              </a:spcAft>
              <a:buFont typeface="Arial" panose="020B0604020202020204" pitchFamily="34" charset="0"/>
              <a:buNone/>
            </a:pPr>
            <a:endParaRPr lang="en-US" b="0" i="0" dirty="0">
              <a:solidFill>
                <a:srgbClr val="202020"/>
              </a:solidFill>
              <a:effectLst/>
              <a:latin typeface="Times New Roman" panose="02020603050405020304" pitchFamily="18" charset="0"/>
            </a:endParaRPr>
          </a:p>
          <a:p>
            <a:pPr marL="0" marR="0" lvl="0" indent="0" algn="l" defTabSz="914367" rtl="0" eaLnBrk="1" fontAlgn="auto" latinLnBrk="0" hangingPunct="1">
              <a:lnSpc>
                <a:spcPct val="107000"/>
              </a:lnSpc>
              <a:spcBef>
                <a:spcPts val="0"/>
              </a:spcBef>
              <a:spcAft>
                <a:spcPts val="800"/>
              </a:spcAft>
              <a:buClrTx/>
              <a:buSzTx/>
              <a:buFontTx/>
              <a:buNone/>
              <a:tabLst/>
              <a:defRPr/>
            </a:pPr>
            <a:r>
              <a:rPr lang="en-US" sz="1000" b="0" i="0" dirty="0">
                <a:solidFill>
                  <a:srgbClr val="202020"/>
                </a:solidFill>
                <a:effectLst/>
                <a:latin typeface="Times New Roman" panose="02020603050405020304" pitchFamily="18" charset="0"/>
              </a:rPr>
              <a:t>Here’s some examples when testing Capabilities – mention to the students that the Capabilities features are only available in agents created in the Agent Builder for Copilot Chat:</a:t>
            </a:r>
          </a:p>
          <a:p>
            <a:pPr marL="0" marR="0" lvl="0" indent="0" algn="l" defTabSz="914367" rtl="0" eaLnBrk="1" fontAlgn="auto" latinLnBrk="0" hangingPunct="1">
              <a:lnSpc>
                <a:spcPct val="107000"/>
              </a:lnSpc>
              <a:spcBef>
                <a:spcPts val="0"/>
              </a:spcBef>
              <a:spcAft>
                <a:spcPts val="800"/>
              </a:spcAft>
              <a:buClrTx/>
              <a:buSzTx/>
              <a:buFontTx/>
              <a:buNone/>
              <a:tabLst/>
              <a:defRPr/>
            </a:pPr>
            <a:endParaRPr lang="en-US" sz="1000" b="0" i="0" dirty="0">
              <a:solidFill>
                <a:srgbClr val="202020"/>
              </a:solidFill>
              <a:effectLst/>
              <a:latin typeface="Times New Roman" panose="02020603050405020304" pitchFamily="18" charset="0"/>
            </a:endParaRP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Code interpreter</a:t>
            </a:r>
            <a:r>
              <a:rPr lang="en-US" b="0" i="0" dirty="0">
                <a:solidFill>
                  <a:srgbClr val="202020"/>
                </a:solidFill>
                <a:effectLst/>
                <a:latin typeface="Times New Roman" panose="02020603050405020304" pitchFamily="18" charset="0"/>
              </a:rPr>
              <a:t>. Test the agent's ability to interpret natural language instructions and generate the appropriate behind-the-scenes code.</a:t>
            </a:r>
          </a:p>
          <a:p>
            <a:pPr marL="742950" lvl="1" indent="-285750"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Simple queries</a:t>
            </a:r>
            <a:r>
              <a:rPr lang="en-US" b="0" i="0" dirty="0">
                <a:solidFill>
                  <a:srgbClr val="202020"/>
                </a:solidFill>
                <a:effectLst/>
                <a:latin typeface="Times New Roman" panose="02020603050405020304" pitchFamily="18" charset="0"/>
              </a:rPr>
              <a:t>. Provide various natural language instructions and evaluate the results. For example, ask, "Can you generate a bar chart using this data set?" and provide a data set to see if the agent correctly interprets the request and generates the necessary Python code.</a:t>
            </a:r>
          </a:p>
          <a:p>
            <a:pPr marL="742950" lvl="1" indent="-285750"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Complex queries</a:t>
            </a:r>
            <a:r>
              <a:rPr lang="en-US" b="0" i="0" dirty="0">
                <a:solidFill>
                  <a:srgbClr val="202020"/>
                </a:solidFill>
                <a:effectLst/>
                <a:latin typeface="Times New Roman" panose="02020603050405020304" pitchFamily="18" charset="0"/>
              </a:rPr>
              <a:t>. Test the agent's capabilities with more complex natural language queries that require code interpretation. For example, ask, "Can you analyze this data set and provide a summary of the key findings?" and provide a data set to see if the agent can generate the appropriate code to perform the analysis.</a:t>
            </a:r>
          </a:p>
          <a:p>
            <a:pPr marL="742950" lvl="1" indent="-285750"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Edge cases</a:t>
            </a:r>
            <a:r>
              <a:rPr lang="en-US" b="0" i="0" dirty="0">
                <a:solidFill>
                  <a:srgbClr val="202020"/>
                </a:solidFill>
                <a:effectLst/>
                <a:latin typeface="Times New Roman" panose="02020603050405020304" pitchFamily="18" charset="0"/>
              </a:rPr>
              <a:t>. Test the agent's ability to handle edge cases or unusual natural language instructions. Provide instructions that are less common or more complex and evaluate the responses. For example, ask, "Can you create a scatter plot with a trend line using this data set?" and provide a data set to see if the agent can generate the necessary code.</a:t>
            </a:r>
          </a:p>
          <a:p>
            <a:pPr marL="742950" lvl="1" indent="-285750"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User feedback</a:t>
            </a:r>
            <a:r>
              <a:rPr lang="en-US" b="0" i="0" dirty="0">
                <a:solidFill>
                  <a:srgbClr val="202020"/>
                </a:solidFill>
                <a:effectLst/>
                <a:latin typeface="Times New Roman" panose="02020603050405020304" pitchFamily="18" charset="0"/>
              </a:rPr>
              <a:t>. Gather feedback from users on the clarity and effectiveness of the Code interpreter. Ask users if the results from the generated code reflect their natural language instruction. Use this feedback to refine and improve the Code interpreter's capabilities.</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Image generator</a:t>
            </a:r>
            <a:r>
              <a:rPr lang="en-US" b="0" i="0" dirty="0">
                <a:solidFill>
                  <a:srgbClr val="202020"/>
                </a:solidFill>
                <a:effectLst/>
                <a:latin typeface="Times New Roman" panose="02020603050405020304" pitchFamily="18" charset="0"/>
              </a:rPr>
              <a:t>. Test the agent's ability to generate images based on descriptions. Provide detailed prompts and evaluate the generated images. For example, "Generate an image of a sunset over a mountain range."</a:t>
            </a:r>
          </a:p>
          <a:p>
            <a:pPr algn="l" fontAlgn="base">
              <a:spcAft>
                <a:spcPts val="600"/>
              </a:spcAft>
              <a:buFont typeface="Arial" panose="020B0604020202020204" pitchFamily="34" charset="0"/>
              <a:buChar char="•"/>
            </a:pPr>
            <a:r>
              <a:rPr lang="en-US" b="1" i="0" dirty="0">
                <a:solidFill>
                  <a:srgbClr val="202020"/>
                </a:solidFill>
                <a:effectLst/>
                <a:latin typeface="Times New Roman" panose="02020603050405020304" pitchFamily="18" charset="0"/>
              </a:rPr>
              <a:t>Complex queries</a:t>
            </a:r>
            <a:r>
              <a:rPr lang="en-US" b="0" i="0" dirty="0">
                <a:solidFill>
                  <a:srgbClr val="202020"/>
                </a:solidFill>
                <a:effectLst/>
                <a:latin typeface="Times New Roman" panose="02020603050405020304" pitchFamily="18" charset="0"/>
              </a:rPr>
              <a:t>. Test the agent's capabilities with more complex queries that require both code interpretation and image generation. For example, "Generate a bar chart using this data set" followed by a data set.</a:t>
            </a:r>
          </a:p>
          <a:p>
            <a:pPr algn="l" fontAlgn="base">
              <a:spcAft>
                <a:spcPts val="600"/>
              </a:spcAft>
              <a:buFont typeface="Arial" panose="020B0604020202020204" pitchFamily="34" charset="0"/>
              <a:buChar char="•"/>
            </a:pPr>
            <a:endParaRPr lang="en-US" b="0" i="0" dirty="0">
              <a:solidFill>
                <a:srgbClr val="202020"/>
              </a:solidFill>
              <a:effectLst/>
              <a:latin typeface="Times New Roman" panose="02020603050405020304" pitchFamily="18" charset="0"/>
            </a:endParaRPr>
          </a:p>
          <a:p>
            <a:pPr algn="l" fontAlgn="base">
              <a:lnSpc>
                <a:spcPts val="2250"/>
              </a:lnSpc>
            </a:pPr>
            <a:r>
              <a:rPr lang="en-US" b="1" i="0" dirty="0">
                <a:solidFill>
                  <a:srgbClr val="204262"/>
                </a:solidFill>
                <a:effectLst/>
                <a:latin typeface="Times New Roman" panose="02020603050405020304" pitchFamily="18" charset="0"/>
              </a:rPr>
              <a:t>Edit your agent – these are excellent value-add statements that you should tell the class:</a:t>
            </a:r>
          </a:p>
          <a:p>
            <a:pPr algn="l" fontAlgn="base">
              <a:spcAft>
                <a:spcPts val="525"/>
              </a:spcAft>
            </a:pPr>
            <a:endParaRPr lang="en-US" b="0" i="0" dirty="0">
              <a:solidFill>
                <a:srgbClr val="202020"/>
              </a:solidFill>
              <a:effectLst/>
              <a:latin typeface="Times New Roman" panose="02020603050405020304" pitchFamily="18" charset="0"/>
            </a:endParaRPr>
          </a:p>
          <a:p>
            <a:pPr algn="l" fontAlgn="base">
              <a:spcAft>
                <a:spcPts val="525"/>
              </a:spcAft>
            </a:pPr>
            <a:r>
              <a:rPr lang="en-US" b="0" i="0" dirty="0">
                <a:solidFill>
                  <a:srgbClr val="202020"/>
                </a:solidFill>
                <a:effectLst/>
                <a:latin typeface="Times New Roman" panose="02020603050405020304" pitchFamily="18" charset="0"/>
              </a:rPr>
              <a:t>You can't edit a SharePoint site's ready-made-agent.</a:t>
            </a:r>
          </a:p>
          <a:p>
            <a:pPr algn="l" fontAlgn="base">
              <a:spcAft>
                <a:spcPts val="525"/>
              </a:spcAft>
            </a:pPr>
            <a:endParaRPr lang="en-US" b="0" i="0" dirty="0">
              <a:solidFill>
                <a:srgbClr val="202020"/>
              </a:solidFill>
              <a:effectLst/>
              <a:latin typeface="Times New Roman" panose="02020603050405020304" pitchFamily="18" charset="0"/>
            </a:endParaRPr>
          </a:p>
          <a:p>
            <a:pPr algn="l" fontAlgn="base">
              <a:spcAft>
                <a:spcPts val="525"/>
              </a:spcAft>
            </a:pPr>
            <a:r>
              <a:rPr lang="en-US" b="0" i="0" dirty="0">
                <a:solidFill>
                  <a:srgbClr val="202020"/>
                </a:solidFill>
                <a:effectLst/>
                <a:latin typeface="Times New Roman" panose="02020603050405020304" pitchFamily="18" charset="0"/>
              </a:rPr>
              <a:t>When you edit an agent in Copilot Chat, you use the same Copilot Studio agent builder form that was used to create the agent. If an agent is shared in Teams, then once you edit it in Copilot Studio, the original agent no longer functions in Teams. When you share an agent with others, make sure they have access to the agent's knowledge sources for optimal experience.</a:t>
            </a:r>
          </a:p>
          <a:p>
            <a:pPr algn="l" fontAlgn="base">
              <a:spcAft>
                <a:spcPts val="600"/>
              </a:spcAft>
              <a:buFont typeface="Arial" panose="020B0604020202020204" pitchFamily="34" charset="0"/>
              <a:buNone/>
            </a:pPr>
            <a:endParaRPr lang="en-US" b="0" i="0" dirty="0">
              <a:solidFill>
                <a:srgbClr val="202020"/>
              </a:solidFill>
              <a:effectLst/>
              <a:latin typeface="Times New Roman" panose="02020603050405020304" pitchFamily="18" charset="0"/>
            </a:endParaRPr>
          </a:p>
          <a:p>
            <a:pPr marL="0" marR="0" lvl="0" indent="0" algn="l" defTabSz="914367" rtl="0" eaLnBrk="1" fontAlgn="auto" latinLnBrk="0" hangingPunct="1">
              <a:lnSpc>
                <a:spcPct val="107000"/>
              </a:lnSpc>
              <a:spcBef>
                <a:spcPts val="0"/>
              </a:spcBef>
              <a:spcAft>
                <a:spcPts val="800"/>
              </a:spcAft>
              <a:buClrTx/>
              <a:buSzTx/>
              <a:buFontTx/>
              <a:buNone/>
              <a:tabLst/>
              <a:defRPr/>
            </a:pPr>
            <a:endParaRPr lang="en-US" sz="1000" b="0" i="0" dirty="0">
              <a:solidFill>
                <a:srgbClr val="202020"/>
              </a:solidFill>
              <a:effectLst/>
              <a:latin typeface="Times New Roman" panose="02020603050405020304" pitchFamily="18" charset="0"/>
            </a:endParaRPr>
          </a:p>
          <a:p>
            <a:pPr>
              <a:lnSpc>
                <a:spcPct val="107000"/>
              </a:lnSpc>
              <a:spcAft>
                <a:spcPts val="800"/>
              </a:spcAft>
            </a:pPr>
            <a:endParaRPr lang="en-US" sz="1000" dirty="0">
              <a:solidFill>
                <a:schemeClr val="tx1"/>
              </a:solidFill>
            </a:endParaRPr>
          </a:p>
        </p:txBody>
      </p:sp>
      <p:sp>
        <p:nvSpPr>
          <p:cNvPr id="4" name="Header Placeholder 3">
            <a:extLst>
              <a:ext uri="{FF2B5EF4-FFF2-40B4-BE49-F238E27FC236}">
                <a16:creationId xmlns:a16="http://schemas.microsoft.com/office/drawing/2014/main" id="{E968E966-F17D-313F-BF21-CA93673AB1C7}"/>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B6B92E1-EE36-A3A3-C588-DF1DC1A64210}"/>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E5657DC-626E-ACBC-F613-EE26B9813F38}"/>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6AD882A-4F0D-0B16-41A3-1C55FEA4C837}"/>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23018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Aft>
                <a:spcPts val="1000"/>
              </a:spcAft>
            </a:pPr>
            <a:r>
              <a:rPr lang="en-US" sz="900" dirty="0">
                <a:effectLst/>
                <a:latin typeface="Aptos" panose="020B0004020202020204" pitchFamily="34" charset="0"/>
                <a:ea typeface="Aptos" panose="020B0004020202020204" pitchFamily="34" charset="0"/>
                <a:cs typeface="Times New Roman" panose="02020603050405020304" pitchFamily="18" charset="0"/>
              </a:rPr>
              <a:t>In Copilot Chat, uninstalling an agent and deleting an agent are two different things. Uninstalling an agent removes it from the agent pane on your Copilot Chat page, but it doesn’t delete the agent. Uninstalling an agent in Copilot Chat can be beneficial for several reasons:</a:t>
            </a:r>
          </a:p>
          <a:p>
            <a:pPr marL="342900" marR="0" lvl="0" indent="-342900">
              <a:buFont typeface="Symbol" panose="05050102010706020507" pitchFamily="18" charset="2"/>
              <a:buChar char=""/>
            </a:pPr>
            <a:r>
              <a:rPr lang="en-US" sz="900" b="1" dirty="0">
                <a:effectLst/>
                <a:latin typeface="Aptos" panose="020B0004020202020204" pitchFamily="34" charset="0"/>
                <a:ea typeface="Aptos" panose="020B0004020202020204" pitchFamily="34" charset="0"/>
                <a:cs typeface="Times New Roman" panose="02020603050405020304" pitchFamily="18" charset="0"/>
              </a:rPr>
              <a:t>Temporary removal</a:t>
            </a:r>
            <a:r>
              <a:rPr lang="en-US" sz="900" dirty="0">
                <a:effectLst/>
                <a:latin typeface="Aptos" panose="020B0004020202020204" pitchFamily="34" charset="0"/>
                <a:ea typeface="Aptos" panose="020B0004020202020204" pitchFamily="34" charset="0"/>
                <a:cs typeface="Times New Roman" panose="02020603050405020304" pitchFamily="18" charset="0"/>
              </a:rPr>
              <a:t>. If you only need to remove the agent temporarily, uninstalling it allows you to do so without losing all the configurations and data associated with it. In this case, uninstalling can be useful if you plan to use the agent again in the future.</a:t>
            </a:r>
          </a:p>
          <a:p>
            <a:pPr marL="342900" marR="0" lvl="0" indent="-342900">
              <a:buFont typeface="Symbol" panose="05050102010706020507" pitchFamily="18" charset="2"/>
              <a:buChar char=""/>
            </a:pPr>
            <a:r>
              <a:rPr lang="en-US" sz="900" b="1" dirty="0">
                <a:effectLst/>
                <a:latin typeface="Aptos" panose="020B0004020202020204" pitchFamily="34" charset="0"/>
                <a:ea typeface="Aptos" panose="020B0004020202020204" pitchFamily="34" charset="0"/>
                <a:cs typeface="Times New Roman" panose="02020603050405020304" pitchFamily="18" charset="0"/>
              </a:rPr>
              <a:t>Testing and troubleshooting</a:t>
            </a:r>
            <a:r>
              <a:rPr lang="en-US" sz="900" dirty="0">
                <a:effectLst/>
                <a:latin typeface="Aptos" panose="020B0004020202020204" pitchFamily="34" charset="0"/>
                <a:ea typeface="Aptos" panose="020B0004020202020204" pitchFamily="34" charset="0"/>
                <a:cs typeface="Times New Roman" panose="02020603050405020304" pitchFamily="18" charset="0"/>
              </a:rPr>
              <a:t>. Uninstalling an agent can be part of a troubleshooting process. If you suspect that an agent is causing issues, you can uninstall it to see if that resolves the problem. If it does, you can then decide whether to delete the agent permanently or reinstall it after making necessary adjustments.</a:t>
            </a:r>
          </a:p>
          <a:p>
            <a:pPr marL="342900" marR="0" lvl="0" indent="-342900">
              <a:buFont typeface="Symbol" panose="05050102010706020507" pitchFamily="18" charset="2"/>
              <a:buChar char=""/>
            </a:pPr>
            <a:r>
              <a:rPr lang="en-US" sz="900" b="1" dirty="0">
                <a:effectLst/>
                <a:latin typeface="Aptos" panose="020B0004020202020204" pitchFamily="34" charset="0"/>
                <a:ea typeface="Aptos" panose="020B0004020202020204" pitchFamily="34" charset="0"/>
                <a:cs typeface="Times New Roman" panose="02020603050405020304" pitchFamily="18" charset="0"/>
              </a:rPr>
              <a:t>Resource management</a:t>
            </a:r>
            <a:r>
              <a:rPr lang="en-US" sz="900" dirty="0">
                <a:effectLst/>
                <a:latin typeface="Aptos" panose="020B0004020202020204" pitchFamily="34" charset="0"/>
                <a:ea typeface="Aptos" panose="020B0004020202020204" pitchFamily="34" charset="0"/>
                <a:cs typeface="Times New Roman" panose="02020603050405020304" pitchFamily="18" charset="0"/>
              </a:rPr>
              <a:t>. Sometimes, you might want to free up resources or declutter your Agent library without permanently losing the agent. Uninstalling achieves this by removing the agent from active use while keeping it available for future reinstallation.</a:t>
            </a:r>
          </a:p>
          <a:p>
            <a:pPr marL="342900" marR="0" lvl="0" indent="-342900">
              <a:buFont typeface="Symbol" panose="05050102010706020507" pitchFamily="18" charset="2"/>
              <a:buChar char=""/>
            </a:pPr>
            <a:r>
              <a:rPr lang="en-US" sz="900" b="1" dirty="0">
                <a:effectLst/>
                <a:latin typeface="Aptos" panose="020B0004020202020204" pitchFamily="34" charset="0"/>
                <a:ea typeface="Aptos" panose="020B0004020202020204" pitchFamily="34" charset="0"/>
                <a:cs typeface="Times New Roman" panose="02020603050405020304" pitchFamily="18" charset="0"/>
              </a:rPr>
              <a:t>Preserving customizations</a:t>
            </a:r>
            <a:r>
              <a:rPr lang="en-US" sz="900" dirty="0">
                <a:effectLst/>
                <a:latin typeface="Aptos" panose="020B0004020202020204" pitchFamily="34" charset="0"/>
                <a:ea typeface="Aptos" panose="020B0004020202020204" pitchFamily="34" charset="0"/>
                <a:cs typeface="Times New Roman" panose="02020603050405020304" pitchFamily="18" charset="0"/>
              </a:rPr>
              <a:t>. If you spent significant time customizing an agent, uninstalling it preserves these customizations. Deleting the agent would mean losing all the work put into configuring it, which could be a significant loss if you need the agent again later.</a:t>
            </a:r>
          </a:p>
          <a:p>
            <a:pPr marL="342900" marR="0" lvl="0" indent="-342900">
              <a:spcAft>
                <a:spcPts val="1000"/>
              </a:spcAft>
              <a:buFont typeface="Symbol" panose="05050102010706020507" pitchFamily="18" charset="2"/>
              <a:buChar char=""/>
            </a:pPr>
            <a:r>
              <a:rPr lang="en-US" sz="900" b="1" dirty="0">
                <a:effectLst/>
                <a:latin typeface="Aptos" panose="020B0004020202020204" pitchFamily="34" charset="0"/>
                <a:ea typeface="Aptos" panose="020B0004020202020204" pitchFamily="34" charset="0"/>
                <a:cs typeface="Times New Roman" panose="02020603050405020304" pitchFamily="18" charset="0"/>
              </a:rPr>
              <a:t>User access control</a:t>
            </a:r>
            <a:r>
              <a:rPr lang="en-US" sz="900" dirty="0">
                <a:effectLst/>
                <a:latin typeface="Aptos" panose="020B0004020202020204" pitchFamily="34" charset="0"/>
                <a:ea typeface="Aptos" panose="020B0004020202020204" pitchFamily="34" charset="0"/>
                <a:cs typeface="Times New Roman" panose="02020603050405020304" pitchFamily="18" charset="0"/>
              </a:rPr>
              <a:t>. In some cases, you might want to temporarily restrict access to an agent. Uninstalling it can help control who can use the agent without deleting it entirely.</a:t>
            </a:r>
          </a:p>
          <a:p>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effectLst/>
                <a:latin typeface="Aptos" panose="020B0004020202020204" pitchFamily="34" charset="0"/>
                <a:ea typeface="Aptos" panose="020B0004020202020204" pitchFamily="34" charset="0"/>
                <a:cs typeface="Times New Roman" panose="02020603050405020304" pitchFamily="18" charset="0"/>
              </a:rPr>
              <a:t>Uninstalling an agent provides flexibility and preserves the option to reuse the agent in the future without having to set the agent up again. In contrast, deleting an agent in Copilot Chat is a more permanent action that removes all configurations associated with the agent, such as instructions, starter prompts, interaction history, integration settings, and so on.</a:t>
            </a:r>
          </a:p>
          <a:p>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effectLst/>
                <a:latin typeface="Aptos" panose="020B0004020202020204" pitchFamily="34" charset="0"/>
                <a:ea typeface="Aptos" panose="020B0004020202020204" pitchFamily="34" charset="0"/>
                <a:cs typeface="Times New Roman" panose="02020603050405020304" pitchFamily="18" charset="0"/>
              </a:rPr>
              <a:t>In SharePoint, there’s no distinct uninstall process. Instead, SharePoint focuses on managing and deleting content directly within its interface. </a:t>
            </a:r>
          </a:p>
          <a:p>
            <a:endParaRPr lang="en-US" sz="900" dirty="0"/>
          </a:p>
          <a:p>
            <a:r>
              <a:rPr lang="en-US" sz="900" dirty="0"/>
              <a:t>You can also delete your agent’s chat history – you can delete the chat history for a specific conversation or all chat history. You can also delete your agent interaction history.</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717127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E2863-DF2E-A9EF-FDD3-1A97170DE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8E0C4-D7B6-47A9-1AC6-E1576757B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9BFDF-4A34-AE6F-36DB-29924FE01F4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3E1A0F1-B018-E69F-E237-F667A0E6C4F1}"/>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211BAD2-8400-A181-D191-2E8DB1F7230A}"/>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996B096-0024-94AF-EF8D-42DFD37B33C5}"/>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74D2C7E-7E64-2774-0483-97222B08B489}"/>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13358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37066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Orient learners: “Azure AI spans multiple workload families—today we’re zooming in on </a:t>
            </a:r>
            <a:r>
              <a:rPr lang="en-US" sz="882" b="0" i="1"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Quick contrast: classic ML (predictive, f(x)=y) vs. generative AI (language + reasoning + content generation).</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531621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Reinforce scope control: “If you came for vision/speech/translation, those exist—but today’s focus is on generative AI models and chat application development.”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Preview the shape of the day: platform basics → models → endpoints/SDKs → chat app development→ optimization → responsible AI.</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621195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868848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Define Foundry in one sentence: “Foundry gives you a project‑based workspace to build AI apps/agents with models, tools, and knowledge in one place.”</a:t>
            </a:r>
          </a:p>
          <a:p>
            <a:pPr fontAlgn="t"/>
            <a:r>
              <a:rPr lang="en-US" sz="882" b="0" i="0" kern="1200" dirty="0">
                <a:solidFill>
                  <a:schemeClr val="tx1"/>
                </a:solidFill>
                <a:effectLst/>
                <a:latin typeface="Segoe UI Light" pitchFamily="34" charset="0"/>
                <a:ea typeface="+mn-ea"/>
                <a:cs typeface="+mn-cs"/>
              </a:rPr>
              <a:t>Emphasize the mental model: </a:t>
            </a:r>
            <a:r>
              <a:rPr lang="en-US" sz="882" b="1" i="0" kern="1200" dirty="0">
                <a:solidFill>
                  <a:schemeClr val="tx1"/>
                </a:solidFill>
                <a:effectLst/>
                <a:latin typeface="Segoe UI Light" pitchFamily="34" charset="0"/>
                <a:ea typeface="+mn-ea"/>
                <a:cs typeface="+mn-cs"/>
              </a:rPr>
              <a:t>Resources</a:t>
            </a:r>
            <a:r>
              <a:rPr lang="en-US" sz="882" b="0" i="0" kern="1200" dirty="0">
                <a:solidFill>
                  <a:schemeClr val="tx1"/>
                </a:solidFill>
                <a:effectLst/>
                <a:latin typeface="Segoe UI Light" pitchFamily="34" charset="0"/>
                <a:ea typeface="+mn-ea"/>
                <a:cs typeface="+mn-cs"/>
              </a:rPr>
              <a:t> provide compute/storage/model delivery services.</a:t>
            </a:r>
          </a:p>
          <a:p>
            <a:pPr fontAlgn="t"/>
            <a:r>
              <a:rPr lang="en-US" sz="882" b="1" i="0" kern="1200" dirty="0">
                <a:solidFill>
                  <a:schemeClr val="tx1"/>
                </a:solidFill>
                <a:effectLst/>
                <a:latin typeface="Segoe UI Light" pitchFamily="34" charset="0"/>
                <a:ea typeface="+mn-ea"/>
                <a:cs typeface="+mn-cs"/>
              </a:rPr>
              <a:t>Projects</a:t>
            </a:r>
            <a:r>
              <a:rPr lang="en-US" sz="882" b="0" i="0" kern="1200" dirty="0">
                <a:solidFill>
                  <a:schemeClr val="tx1"/>
                </a:solidFill>
                <a:effectLst/>
                <a:latin typeface="Segoe UI Light" pitchFamily="34" charset="0"/>
                <a:ea typeface="+mn-ea"/>
                <a:cs typeface="+mn-cs"/>
              </a:rPr>
              <a:t> are isolated work environments for app &amp; agent development.</a:t>
            </a:r>
          </a:p>
          <a:p>
            <a:pPr fontAlgn="t"/>
            <a:r>
              <a:rPr lang="en-US" sz="882" b="0" i="0" kern="1200" dirty="0">
                <a:solidFill>
                  <a:schemeClr val="tx1"/>
                </a:solidFill>
                <a:effectLst/>
                <a:latin typeface="Segoe UI Light" pitchFamily="34" charset="0"/>
                <a:ea typeface="+mn-ea"/>
                <a:cs typeface="+mn-cs"/>
              </a:rPr>
              <a:t>Inside projects: </a:t>
            </a:r>
            <a:r>
              <a:rPr lang="en-US" sz="882" b="1" i="0" kern="1200" dirty="0">
                <a:solidFill>
                  <a:schemeClr val="tx1"/>
                </a:solidFill>
                <a:effectLst/>
                <a:latin typeface="Segoe UI Light" pitchFamily="34" charset="0"/>
                <a:ea typeface="+mn-ea"/>
                <a:cs typeface="+mn-cs"/>
              </a:rPr>
              <a:t>Models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Agents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Tools</a:t>
            </a:r>
            <a:r>
              <a:rPr lang="en-US" sz="882" b="0" i="0" kern="1200" dirty="0">
                <a:solidFill>
                  <a:schemeClr val="tx1"/>
                </a:solidFill>
                <a:effectLst/>
                <a:latin typeface="Segoe UI Light" pitchFamily="34" charset="0"/>
                <a:ea typeface="+mn-ea"/>
                <a:cs typeface="+mn-cs"/>
              </a:rPr>
              <a:t>, </a:t>
            </a:r>
            <a:r>
              <a:rPr lang="en-US" sz="882" b="1" i="0" kern="1200" dirty="0">
                <a:solidFill>
                  <a:schemeClr val="tx1"/>
                </a:solidFill>
                <a:effectLst/>
                <a:latin typeface="Segoe UI Light" pitchFamily="34" charset="0"/>
                <a:ea typeface="+mn-ea"/>
                <a:cs typeface="+mn-cs"/>
              </a:rPr>
              <a:t>Knowledge</a:t>
            </a:r>
            <a:r>
              <a:rPr lang="en-US" sz="882" b="0" i="0" kern="1200" dirty="0">
                <a:solidFill>
                  <a:schemeClr val="tx1"/>
                </a:solidFill>
                <a:effectLst/>
                <a:latin typeface="Segoe UI Light" pitchFamily="34" charset="0"/>
                <a:ea typeface="+mn-ea"/>
                <a:cs typeface="+mn-cs"/>
              </a:rPr>
              <a:t>.</a:t>
            </a:r>
          </a:p>
          <a:p>
            <a:pPr fontAlgn="t"/>
            <a:r>
              <a:rPr lang="en-US" sz="882" b="0" i="0" kern="1200" dirty="0">
                <a:solidFill>
                  <a:schemeClr val="tx1"/>
                </a:solidFill>
                <a:effectLst/>
                <a:latin typeface="Segoe UI Light" pitchFamily="34" charset="0"/>
                <a:ea typeface="+mn-ea"/>
                <a:cs typeface="+mn-cs"/>
              </a:rPr>
              <a:t>Practical framing: “When learners feel lost, bring them back to this picture—most tasks map to one of these four.”</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49331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“Foundry Tools” as “pre-built capabilities your agent/app can call rather than reinvent.”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Tie to developer value: “You compose solutions by combining an LLM with tool calls for language, speech, translation, document extraction, multimodal analysis.”</a:t>
            </a:r>
          </a:p>
          <a:p>
            <a:r>
              <a:rPr lang="en-US" dirty="0"/>
              <a:t>Point out that “Foundry Tools: were formerly known as “Azure AI Services”; and as “Cognitive Services” prior to that.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10/23/2026 12:14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4219139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Set up the dev workflow: VS Code + AI Toolkit extension + SDKs + source control + GitHub Copilot (optional).</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Clarify the SDK stack: Foundry SDK and OpenAI SDK appear together because Foundry can expose OpenAI‑compatible interfaces (important later when choosing endpoints).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Teaching tip: ask learners “Where do you prefer to develop—portal playground first or code-first?” then show both are supported.</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10/23/2026 12:14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4229821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Keep it practical: “These aren’t poster words—each principle maps to design choices: data, prompts, guardrails, UX, and operations.”</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Prime them for later: “We’ll come back to guardrails and harm mitigation after we’ve built something.”</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64765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NOTE: If students are relatively familiar, skip this lab and just demo a bit of the portal to save time. They’ll use it plenty in future labs</a:t>
            </a:r>
          </a:p>
          <a:p>
            <a:endParaRPr lang="en-US" dirty="0"/>
          </a:p>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12:14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49545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25</a:t>
            </a:fld>
            <a:endParaRPr lang="en-US" dirty="0"/>
          </a:p>
        </p:txBody>
      </p:sp>
    </p:spTree>
    <p:extLst>
      <p:ext uri="{BB962C8B-B14F-4D97-AF65-F5344CB8AC3E}">
        <p14:creationId xmlns:p14="http://schemas.microsoft.com/office/powerpoint/2010/main" val="196229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22EC5-218E-F4FA-88B0-37EE37A1B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E92566-EEED-3719-1DCD-95D75B850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FBDD91-0E16-3B6B-81F1-3A4E98C5710B}"/>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A9E25EE7-943D-3783-7E51-59AB8C90C6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F37F46-5047-34CC-E336-4276A5A5D79E}"/>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3583582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5FC2-4499-E83D-58E3-91A2778CB5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7CABB6-7E4A-CE21-8619-D466391FBD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E466B-6472-00A7-26A4-DA4A13CA5523}"/>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589647BB-152E-CD5B-DE7F-D4608926D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EDE64-1DBA-9437-84E7-B58C32082037}"/>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1796908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4513-E27D-DB61-0C61-5DB6AAF42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026983-719C-F6E1-DBD2-37BB98C209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8DCC99-2EE7-DE6A-E0B8-51FE75D39C98}"/>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84F7E8F6-0297-084F-6530-1A3AF36955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E701B-EB57-8621-56B7-34A329A4C956}"/>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3909450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AC049-AC18-908A-140E-D7CAE7C57A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0509B7-B1B3-FC16-7D73-983F5B83B7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18AFAA-1A21-269F-964D-10809CAD99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974CA0-B747-7650-180B-8D18A8BECC8D}"/>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6" name="Footer Placeholder 5">
            <a:extLst>
              <a:ext uri="{FF2B5EF4-FFF2-40B4-BE49-F238E27FC236}">
                <a16:creationId xmlns:a16="http://schemas.microsoft.com/office/drawing/2014/main" id="{04BEF2FB-463A-0B08-EA38-209E43D0C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E11625-09B6-3B80-BF4D-73387EFC875E}"/>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111400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C93B9-417E-B05E-B417-86F3633710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55379A-A0DC-35A7-B947-421F71B87F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24CFC2-8B2D-D2F9-583E-B64F09960A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BD88B9-F07A-F0E1-287B-7924DF3C72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16739E-CC40-A237-CF4D-BDF6849D0F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E96206-FECE-A9B6-D8BB-259C560A7032}"/>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8" name="Footer Placeholder 7">
            <a:extLst>
              <a:ext uri="{FF2B5EF4-FFF2-40B4-BE49-F238E27FC236}">
                <a16:creationId xmlns:a16="http://schemas.microsoft.com/office/drawing/2014/main" id="{FB0CAC98-8C24-F944-D123-2CB79FE924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84393A-D83B-0539-4265-2AD03ABA78EA}"/>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3986962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FC84-FD58-DC62-930B-579F7BB74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333024-47A8-BF92-A723-80D0B60B45A2}"/>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4" name="Footer Placeholder 3">
            <a:extLst>
              <a:ext uri="{FF2B5EF4-FFF2-40B4-BE49-F238E27FC236}">
                <a16:creationId xmlns:a16="http://schemas.microsoft.com/office/drawing/2014/main" id="{FC61A21F-44A5-5D12-87CB-832A4B3F42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C11870-B9E7-66DE-BE1C-9814D6D689AD}"/>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3494918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4DE4D1-DF87-5993-98C6-0234E3AAB9E5}"/>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3" name="Footer Placeholder 2">
            <a:extLst>
              <a:ext uri="{FF2B5EF4-FFF2-40B4-BE49-F238E27FC236}">
                <a16:creationId xmlns:a16="http://schemas.microsoft.com/office/drawing/2014/main" id="{1732AD22-13E5-DE7B-486F-F2A5E49C38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4C49EF-E92E-D569-EF4D-F9DFDCDCEA8E}"/>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1214939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8473-229F-1142-91B3-704A9678E0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B8456-68AF-2D56-953F-44A9CCC021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0CEF3D-5CEE-29B2-E4BE-FA51209A3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217E61-C11C-6683-2595-6C098D93EA58}"/>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6" name="Footer Placeholder 5">
            <a:extLst>
              <a:ext uri="{FF2B5EF4-FFF2-40B4-BE49-F238E27FC236}">
                <a16:creationId xmlns:a16="http://schemas.microsoft.com/office/drawing/2014/main" id="{639EBB16-05E9-4F0D-6523-0A1C8D026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12F02-EA68-2D05-73B8-D548543E702D}"/>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2774227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87D84-29F6-9B74-32C9-126885544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6B39CF-5571-7CF7-01A7-2D32382B876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F7ECFB-7617-9838-CB12-D08D4CFC6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CD838-7995-4BDA-5B47-812EBB0D52A0}"/>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6" name="Footer Placeholder 5">
            <a:extLst>
              <a:ext uri="{FF2B5EF4-FFF2-40B4-BE49-F238E27FC236}">
                <a16:creationId xmlns:a16="http://schemas.microsoft.com/office/drawing/2014/main" id="{5540A62D-222F-FCD2-3372-F1C285F77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2716A-C4E2-617F-DD40-559F61B4C184}"/>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823118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77D3-D270-EEBD-C4E6-5A4A33EAAC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C045C6-D941-2E30-E54A-2EB7A018E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FE3DCC-58D0-14FF-19BD-70AA6B2F1063}"/>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874A0C9D-4813-8E1D-19A0-3632DF635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31748-50A1-7F41-549C-069D397177D7}"/>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3223739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8EDCBE-DE3B-15CD-BC05-E9BDEB0214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002357-3520-4008-018E-96837C55E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84680-76B3-8092-7C13-544F32D79B36}"/>
              </a:ext>
            </a:extLst>
          </p:cNvPr>
          <p:cNvSpPr>
            <a:spLocks noGrp="1"/>
          </p:cNvSpPr>
          <p:nvPr>
            <p:ph type="dt" sz="half" idx="10"/>
          </p:nvPr>
        </p:nvSpPr>
        <p:spPr/>
        <p:txBody>
          <a:body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2195AC6A-6C2A-0C0E-499B-6FAF8274E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BFDB1E-7DEC-A91D-DFD5-42FC608A6922}"/>
              </a:ext>
            </a:extLst>
          </p:cNvPr>
          <p:cNvSpPr>
            <a:spLocks noGrp="1"/>
          </p:cNvSpPr>
          <p:nvPr>
            <p:ph type="sldNum" sz="quarter" idx="12"/>
          </p:nvPr>
        </p:nvSpPr>
        <p:spPr/>
        <p:txBody>
          <a:bodyPr/>
          <a:lstStyle/>
          <a:p>
            <a:fld id="{78F04DF0-7961-4C4B-B1A7-D79E681970E7}" type="slidenum">
              <a:rPr lang="en-US" smtClean="0"/>
              <a:t>‹#›</a:t>
            </a:fld>
            <a:endParaRPr lang="en-US"/>
          </a:p>
        </p:txBody>
      </p:sp>
    </p:spTree>
    <p:extLst>
      <p:ext uri="{BB962C8B-B14F-4D97-AF65-F5344CB8AC3E}">
        <p14:creationId xmlns:p14="http://schemas.microsoft.com/office/powerpoint/2010/main" val="1068065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112472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34378188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97074413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26711317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9176026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26294973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1728989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79118608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94506651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226729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7434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345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A886D0-B114-C2F1-4468-05409C5C9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4E6B74-122B-CE4D-0D39-20CF7AD05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B7CB6-14C1-FE6E-20C6-F2D44A03C3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0F4986-A9B3-486D-A2AA-8CE981E95DE5}" type="datetimeFigureOut">
              <a:rPr lang="en-US" smtClean="0"/>
              <a:t>10/23/2026</a:t>
            </a:fld>
            <a:endParaRPr lang="en-US"/>
          </a:p>
        </p:txBody>
      </p:sp>
      <p:sp>
        <p:nvSpPr>
          <p:cNvPr id="5" name="Footer Placeholder 4">
            <a:extLst>
              <a:ext uri="{FF2B5EF4-FFF2-40B4-BE49-F238E27FC236}">
                <a16:creationId xmlns:a16="http://schemas.microsoft.com/office/drawing/2014/main" id="{DB00167B-A977-F459-2F4D-2B6F6E6A0C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2C1A9E-237E-9842-F7FA-057A48F40B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F04DF0-7961-4C4B-B1A7-D79E681970E7}" type="slidenum">
              <a:rPr lang="en-US" smtClean="0"/>
              <a:t>‹#›</a:t>
            </a:fld>
            <a:endParaRPr lang="en-US"/>
          </a:p>
        </p:txBody>
      </p:sp>
    </p:spTree>
    <p:extLst>
      <p:ext uri="{BB962C8B-B14F-4D97-AF65-F5344CB8AC3E}">
        <p14:creationId xmlns:p14="http://schemas.microsoft.com/office/powerpoint/2010/main" val="2830995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17.xml"/><Relationship Id="rId1" Type="http://schemas.openxmlformats.org/officeDocument/2006/relationships/video" Target="https://www.youtube.com/embed/Ca7JYC9MQIU?feature=oembed"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hyperlink" Target="https://blog.ucem.ac.uk/onlineeducation/posts/tag/moodle-quiz"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21.svg"/><Relationship Id="rId11" Type="http://schemas.openxmlformats.org/officeDocument/2006/relationships/image" Target="NULL"/><Relationship Id="rId5" Type="http://schemas.openxmlformats.org/officeDocument/2006/relationships/image" Target="../media/image20.sv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svg"/></Relationships>
</file>

<file path=ppt/slides/_rels/slide1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23.svg"/><Relationship Id="rId11" Type="http://schemas.openxmlformats.org/officeDocument/2006/relationships/image" Target="../media/image26.svg"/><Relationship Id="rId5" Type="http://schemas.openxmlformats.org/officeDocument/2006/relationships/image" Target="../media/image22.svg"/><Relationship Id="rId10" Type="http://schemas.openxmlformats.org/officeDocument/2006/relationships/image" Target="../media/image18.svg"/><Relationship Id="rId4" Type="http://schemas.openxmlformats.org/officeDocument/2006/relationships/image" Target="../media/image21.svg"/><Relationship Id="rId9" Type="http://schemas.openxmlformats.org/officeDocument/2006/relationships/image" Target="NUL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18" Type="http://schemas.openxmlformats.org/officeDocument/2006/relationships/image" Target="../media/image42.svg"/><Relationship Id="rId3" Type="http://schemas.openxmlformats.org/officeDocument/2006/relationships/image" Target="../media/image27.png"/><Relationship Id="rId7" Type="http://schemas.openxmlformats.org/officeDocument/2006/relationships/image" Target="../media/image31.svg"/><Relationship Id="rId12" Type="http://schemas.openxmlformats.org/officeDocument/2006/relationships/image" Target="../media/image36.svg"/><Relationship Id="rId17" Type="http://schemas.openxmlformats.org/officeDocument/2006/relationships/image" Target="../media/image41.svg"/><Relationship Id="rId2" Type="http://schemas.openxmlformats.org/officeDocument/2006/relationships/notesSlide" Target="../notesSlides/notesSlide19.xml"/><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1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png"/><Relationship Id="rId15" Type="http://schemas.openxmlformats.org/officeDocument/2006/relationships/image" Target="../media/image39.svg"/><Relationship Id="rId10" Type="http://schemas.openxmlformats.org/officeDocument/2006/relationships/image" Target="../media/image34.png"/><Relationship Id="rId19" Type="http://schemas.openxmlformats.org/officeDocument/2006/relationships/image" Target="../media/image43.sv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38.sv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sv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notesSlide" Target="../notesSlides/notesSlide22.xml"/><Relationship Id="rId1" Type="http://schemas.openxmlformats.org/officeDocument/2006/relationships/slideLayout" Target="../slideLayouts/slideLayout17.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24.xml.rels><?xml version="1.0" encoding="UTF-8" standalone="yes"?>
<Relationships xmlns="http://schemas.openxmlformats.org/package/2006/relationships"><Relationship Id="rId3" Type="http://schemas.openxmlformats.org/officeDocument/2006/relationships/hyperlink" Target="https://go.microsoft.com/fwlink/?linkid=2353647" TargetMode="External"/><Relationship Id="rId2" Type="http://schemas.openxmlformats.org/officeDocument/2006/relationships/notesSlide" Target="../notesSlides/notesSlide23.xml"/><Relationship Id="rId1" Type="http://schemas.openxmlformats.org/officeDocument/2006/relationships/slideLayout" Target="../slideLayouts/slideLayout22.xml"/><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2" y="4102517"/>
            <a:ext cx="5686955" cy="557589"/>
          </a:xfrm>
        </p:spPr>
        <p:txBody>
          <a:bodyPr/>
          <a:lstStyle/>
          <a:p>
            <a:r>
              <a:rPr lang="en-US"/>
              <a:t>Introduction to Agents</a:t>
            </a:r>
            <a:endParaRPr lang="en-US" dirty="0"/>
          </a:p>
        </p:txBody>
      </p:sp>
      <p:sp>
        <p:nvSpPr>
          <p:cNvPr id="26" name="Footer Placeholder 25">
            <a:extLst>
              <a:ext uri="{FF2B5EF4-FFF2-40B4-BE49-F238E27FC236}">
                <a16:creationId xmlns:a16="http://schemas.microsoft.com/office/drawing/2014/main" id="{8963EE6A-7DC5-CE7E-2AD5-B8FC6E39564F}"/>
              </a:ext>
            </a:extLst>
          </p:cNvPr>
          <p:cNvSpPr>
            <a:spLocks noGrp="1"/>
          </p:cNvSpPr>
          <p:nvPr>
            <p:ph type="ftr" sz="quarter" idx="3"/>
          </p:nvPr>
        </p:nvSpPr>
        <p:spPr>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p:txBody>
          <a:bodyPr/>
          <a:lstStyle/>
          <a:p>
            <a:r>
              <a:rPr lang="en-US" dirty="0"/>
              <a:t>February 26, 2024</a:t>
            </a:r>
          </a:p>
        </p:txBody>
      </p:sp>
    </p:spTree>
    <p:extLst>
      <p:ext uri="{BB962C8B-B14F-4D97-AF65-F5344CB8AC3E}">
        <p14:creationId xmlns:p14="http://schemas.microsoft.com/office/powerpoint/2010/main" val="19554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2" y="2769057"/>
            <a:ext cx="5927142" cy="1231106"/>
          </a:xfrm>
        </p:spPr>
        <p:txBody>
          <a:bodyPr/>
          <a:lstStyle/>
          <a:p>
            <a:r>
              <a:rPr lang="en-US" altLang="zh-CN" dirty="0"/>
              <a:t>Module 3: Build and manage an agent</a:t>
            </a:r>
            <a:endParaRPr lang="en-US" dirty="0"/>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a:solidFill>
                  <a:srgbClr val="000000"/>
                </a:solidFill>
              </a:rPr>
              <a:t>© Copyright Microsoft Corporation. All rights reserved.</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8357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7DAB4-09EA-BF66-1269-3CA35EA4F34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443A1A9C-C2D5-C8E3-1F2C-1E68CB4169A1}"/>
              </a:ext>
            </a:extLst>
          </p:cNvPr>
          <p:cNvSpPr>
            <a:spLocks noGrp="1"/>
          </p:cNvSpPr>
          <p:nvPr>
            <p:ph type="title"/>
          </p:nvPr>
        </p:nvSpPr>
        <p:spPr>
          <a:xfrm>
            <a:off x="588262" y="44624"/>
            <a:ext cx="11011600" cy="492443"/>
          </a:xfrm>
        </p:spPr>
        <p:txBody>
          <a:bodyPr/>
          <a:lstStyle/>
          <a:p>
            <a:r>
              <a:rPr lang="en-US" dirty="0"/>
              <a:t>I</a:t>
            </a:r>
            <a:r>
              <a:rPr lang="bs-Latn-BA" dirty="0"/>
              <a:t>ntroduction</a:t>
            </a:r>
            <a:endParaRPr lang="en-US" dirty="0"/>
          </a:p>
        </p:txBody>
      </p:sp>
      <p:sp>
        <p:nvSpPr>
          <p:cNvPr id="4" name="TextBox 3">
            <a:extLst>
              <a:ext uri="{FF2B5EF4-FFF2-40B4-BE49-F238E27FC236}">
                <a16:creationId xmlns:a16="http://schemas.microsoft.com/office/drawing/2014/main" id="{42CEDF97-E8D6-8B79-A0B8-1E9396BCB5D7}"/>
              </a:ext>
            </a:extLst>
          </p:cNvPr>
          <p:cNvSpPr txBox="1"/>
          <p:nvPr/>
        </p:nvSpPr>
        <p:spPr>
          <a:xfrm>
            <a:off x="541606" y="577138"/>
            <a:ext cx="10766473" cy="276999"/>
          </a:xfrm>
          <a:prstGeom prst="rect">
            <a:avLst/>
          </a:prstGeom>
          <a:noFill/>
        </p:spPr>
        <p:txBody>
          <a:bodyPr wrap="square" lIns="0" tIns="0" rIns="0" bIns="0" rtlCol="0">
            <a:spAutoFit/>
          </a:bodyPr>
          <a:lstStyle/>
          <a:p>
            <a:pPr algn="l"/>
            <a:r>
              <a:rPr lang="en-US" sz="1800" b="0" i="0" dirty="0">
                <a:solidFill>
                  <a:srgbClr val="202020"/>
                </a:solidFill>
                <a:effectLst/>
                <a:latin typeface="+mj-lt"/>
              </a:rPr>
              <a:t>This module guides you through the steps required to build, test, and manage agents </a:t>
            </a:r>
            <a:endParaRPr lang="en-US" sz="1800" dirty="0">
              <a:latin typeface="+mj-lt"/>
            </a:endParaRPr>
          </a:p>
        </p:txBody>
      </p:sp>
      <p:sp>
        <p:nvSpPr>
          <p:cNvPr id="15" name="Oval 14">
            <a:extLst>
              <a:ext uri="{FF2B5EF4-FFF2-40B4-BE49-F238E27FC236}">
                <a16:creationId xmlns:a16="http://schemas.microsoft.com/office/drawing/2014/main" id="{F37E649B-631B-456A-3E4C-597C6DB2B52B}"/>
              </a:ext>
            </a:extLst>
          </p:cNvPr>
          <p:cNvSpPr>
            <a:spLocks/>
          </p:cNvSpPr>
          <p:nvPr/>
        </p:nvSpPr>
        <p:spPr bwMode="auto">
          <a:xfrm>
            <a:off x="588261" y="980728"/>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1</a:t>
            </a:r>
          </a:p>
        </p:txBody>
      </p:sp>
      <p:sp>
        <p:nvSpPr>
          <p:cNvPr id="6" name="TextBox 5">
            <a:extLst>
              <a:ext uri="{FF2B5EF4-FFF2-40B4-BE49-F238E27FC236}">
                <a16:creationId xmlns:a16="http://schemas.microsoft.com/office/drawing/2014/main" id="{5C7561DA-ED55-FDEC-C8B3-B274729F00CB}"/>
              </a:ext>
            </a:extLst>
          </p:cNvPr>
          <p:cNvSpPr txBox="1">
            <a:spLocks/>
          </p:cNvSpPr>
          <p:nvPr/>
        </p:nvSpPr>
        <p:spPr>
          <a:xfrm>
            <a:off x="1236662" y="1124744"/>
            <a:ext cx="9313583" cy="276999"/>
          </a:xfrm>
          <a:prstGeom prst="rect">
            <a:avLst/>
          </a:prstGeom>
          <a:noFill/>
        </p:spPr>
        <p:txBody>
          <a:bodyPr wrap="square" lIns="0" tIns="0" rIns="0" bIns="0" rtlCol="0" anchor="ctr">
            <a:spAutoFit/>
          </a:bodyPr>
          <a:lstStyle>
            <a:defPPr>
              <a:defRPr lang="en-US"/>
            </a:defPPr>
            <a:lvl1pPr>
              <a:defRPr sz="2000"/>
            </a:lvl1pPr>
          </a:lstStyle>
          <a:p>
            <a:r>
              <a:rPr lang="en-US" sz="1800" dirty="0"/>
              <a:t>Examine the tools used to create agents</a:t>
            </a:r>
          </a:p>
        </p:txBody>
      </p:sp>
      <p:sp>
        <p:nvSpPr>
          <p:cNvPr id="18" name="Oval 17">
            <a:extLst>
              <a:ext uri="{FF2B5EF4-FFF2-40B4-BE49-F238E27FC236}">
                <a16:creationId xmlns:a16="http://schemas.microsoft.com/office/drawing/2014/main" id="{23B09AA0-D9CC-56A7-B7C6-C808BA8B3EDF}"/>
              </a:ext>
            </a:extLst>
          </p:cNvPr>
          <p:cNvSpPr>
            <a:spLocks/>
          </p:cNvSpPr>
          <p:nvPr/>
        </p:nvSpPr>
        <p:spPr bwMode="auto">
          <a:xfrm>
            <a:off x="588261" y="1556792"/>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2</a:t>
            </a:r>
          </a:p>
        </p:txBody>
      </p:sp>
      <p:sp>
        <p:nvSpPr>
          <p:cNvPr id="28" name="TextBox 27">
            <a:extLst>
              <a:ext uri="{FF2B5EF4-FFF2-40B4-BE49-F238E27FC236}">
                <a16:creationId xmlns:a16="http://schemas.microsoft.com/office/drawing/2014/main" id="{9F34D722-9640-08EB-F6A9-15C605AAF059}"/>
              </a:ext>
            </a:extLst>
          </p:cNvPr>
          <p:cNvSpPr txBox="1">
            <a:spLocks/>
          </p:cNvSpPr>
          <p:nvPr/>
        </p:nvSpPr>
        <p:spPr>
          <a:xfrm>
            <a:off x="1224759" y="1628800"/>
            <a:ext cx="9730579" cy="276999"/>
          </a:xfrm>
          <a:prstGeom prst="rect">
            <a:avLst/>
          </a:prstGeom>
          <a:noFill/>
        </p:spPr>
        <p:txBody>
          <a:bodyPr wrap="square" lIns="0" tIns="0" rIns="0" bIns="0" rtlCol="0" anchor="ctr">
            <a:spAutoFit/>
          </a:bodyPr>
          <a:lstStyle>
            <a:defPPr>
              <a:defRPr lang="en-US"/>
            </a:defPPr>
            <a:lvl1pPr>
              <a:defRPr sz="2000"/>
            </a:lvl1pPr>
          </a:lstStyle>
          <a:p>
            <a:r>
              <a:rPr lang="en-US" sz="1800" dirty="0"/>
              <a:t>Explore the components of an agent</a:t>
            </a:r>
          </a:p>
        </p:txBody>
      </p:sp>
      <p:sp>
        <p:nvSpPr>
          <p:cNvPr id="20" name="Oval 19">
            <a:extLst>
              <a:ext uri="{FF2B5EF4-FFF2-40B4-BE49-F238E27FC236}">
                <a16:creationId xmlns:a16="http://schemas.microsoft.com/office/drawing/2014/main" id="{CB1BB28E-C96C-59C7-E766-059F4F953C6F}"/>
              </a:ext>
            </a:extLst>
          </p:cNvPr>
          <p:cNvSpPr>
            <a:spLocks/>
          </p:cNvSpPr>
          <p:nvPr/>
        </p:nvSpPr>
        <p:spPr bwMode="auto">
          <a:xfrm>
            <a:off x="588261" y="2132856"/>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3</a:t>
            </a:r>
          </a:p>
        </p:txBody>
      </p:sp>
      <p:sp>
        <p:nvSpPr>
          <p:cNvPr id="29" name="TextBox 28">
            <a:extLst>
              <a:ext uri="{FF2B5EF4-FFF2-40B4-BE49-F238E27FC236}">
                <a16:creationId xmlns:a16="http://schemas.microsoft.com/office/drawing/2014/main" id="{60C330EE-0A44-0729-386C-B5592E51F8BB}"/>
              </a:ext>
            </a:extLst>
          </p:cNvPr>
          <p:cNvSpPr txBox="1">
            <a:spLocks/>
          </p:cNvSpPr>
          <p:nvPr/>
        </p:nvSpPr>
        <p:spPr>
          <a:xfrm>
            <a:off x="1224759" y="2204864"/>
            <a:ext cx="9730579" cy="276999"/>
          </a:xfrm>
          <a:prstGeom prst="rect">
            <a:avLst/>
          </a:prstGeom>
          <a:noFill/>
        </p:spPr>
        <p:txBody>
          <a:bodyPr wrap="square" lIns="0" tIns="0" rIns="0" bIns="0" rtlCol="0" anchor="ctr">
            <a:spAutoFit/>
          </a:bodyPr>
          <a:lstStyle>
            <a:defPPr>
              <a:defRPr lang="en-US"/>
            </a:defPPr>
            <a:lvl1pPr>
              <a:defRPr sz="2000"/>
            </a:lvl1pPr>
          </a:lstStyle>
          <a:p>
            <a:r>
              <a:rPr lang="en-US" sz="1800" dirty="0"/>
              <a:t>Create an agent in Copilot Chat - Part 1</a:t>
            </a:r>
          </a:p>
        </p:txBody>
      </p:sp>
      <p:sp>
        <p:nvSpPr>
          <p:cNvPr id="22" name="Oval 21">
            <a:extLst>
              <a:ext uri="{FF2B5EF4-FFF2-40B4-BE49-F238E27FC236}">
                <a16:creationId xmlns:a16="http://schemas.microsoft.com/office/drawing/2014/main" id="{0F9F2A5A-984B-A9BD-4A1D-D0B1A207CA61}"/>
              </a:ext>
            </a:extLst>
          </p:cNvPr>
          <p:cNvSpPr>
            <a:spLocks/>
          </p:cNvSpPr>
          <p:nvPr/>
        </p:nvSpPr>
        <p:spPr bwMode="auto">
          <a:xfrm>
            <a:off x="588261" y="2708920"/>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4</a:t>
            </a:r>
          </a:p>
        </p:txBody>
      </p:sp>
      <p:sp>
        <p:nvSpPr>
          <p:cNvPr id="30" name="TextBox 29">
            <a:extLst>
              <a:ext uri="{FF2B5EF4-FFF2-40B4-BE49-F238E27FC236}">
                <a16:creationId xmlns:a16="http://schemas.microsoft.com/office/drawing/2014/main" id="{264DD6C2-7B6B-3DDA-01AC-E1AF4A1C4F42}"/>
              </a:ext>
            </a:extLst>
          </p:cNvPr>
          <p:cNvSpPr txBox="1">
            <a:spLocks/>
          </p:cNvSpPr>
          <p:nvPr/>
        </p:nvSpPr>
        <p:spPr>
          <a:xfrm>
            <a:off x="1224759" y="2791961"/>
            <a:ext cx="9730579" cy="276999"/>
          </a:xfrm>
          <a:prstGeom prst="rect">
            <a:avLst/>
          </a:prstGeom>
          <a:noFill/>
        </p:spPr>
        <p:txBody>
          <a:bodyPr wrap="square" lIns="0" tIns="0" rIns="0" bIns="0" rtlCol="0" anchor="ctr">
            <a:spAutoFit/>
          </a:bodyPr>
          <a:lstStyle>
            <a:defPPr>
              <a:defRPr lang="en-US"/>
            </a:defPPr>
            <a:lvl1pPr>
              <a:defRPr sz="2000"/>
            </a:lvl1pPr>
          </a:lstStyle>
          <a:p>
            <a:r>
              <a:rPr lang="en-US" sz="1800" dirty="0"/>
              <a:t>Create an agent in Copilot Chat - Part 2</a:t>
            </a:r>
          </a:p>
        </p:txBody>
      </p:sp>
      <p:sp>
        <p:nvSpPr>
          <p:cNvPr id="3" name="Oval 2">
            <a:extLst>
              <a:ext uri="{FF2B5EF4-FFF2-40B4-BE49-F238E27FC236}">
                <a16:creationId xmlns:a16="http://schemas.microsoft.com/office/drawing/2014/main" id="{6C7F8100-C948-4FD0-81CA-7E4B3C8E4D1F}"/>
              </a:ext>
            </a:extLst>
          </p:cNvPr>
          <p:cNvSpPr>
            <a:spLocks/>
          </p:cNvSpPr>
          <p:nvPr/>
        </p:nvSpPr>
        <p:spPr bwMode="auto">
          <a:xfrm>
            <a:off x="588261" y="3326791"/>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5</a:t>
            </a:r>
          </a:p>
        </p:txBody>
      </p:sp>
      <p:sp>
        <p:nvSpPr>
          <p:cNvPr id="8" name="TextBox 7">
            <a:extLst>
              <a:ext uri="{FF2B5EF4-FFF2-40B4-BE49-F238E27FC236}">
                <a16:creationId xmlns:a16="http://schemas.microsoft.com/office/drawing/2014/main" id="{1D999B45-3490-31EE-3147-49035D3192EC}"/>
              </a:ext>
            </a:extLst>
          </p:cNvPr>
          <p:cNvSpPr txBox="1">
            <a:spLocks/>
          </p:cNvSpPr>
          <p:nvPr/>
        </p:nvSpPr>
        <p:spPr>
          <a:xfrm>
            <a:off x="1224759" y="3399560"/>
            <a:ext cx="9705276" cy="276999"/>
          </a:xfrm>
          <a:prstGeom prst="rect">
            <a:avLst/>
          </a:prstGeom>
          <a:noFill/>
        </p:spPr>
        <p:txBody>
          <a:bodyPr wrap="square" lIns="0" tIns="0" rIns="0" bIns="0" rtlCol="0" anchor="ctr">
            <a:spAutoFit/>
          </a:bodyPr>
          <a:lstStyle>
            <a:defPPr>
              <a:defRPr lang="en-US"/>
            </a:defPPr>
            <a:lvl1pPr>
              <a:defRPr sz="2000"/>
            </a:lvl1pPr>
          </a:lstStyle>
          <a:p>
            <a:r>
              <a:rPr lang="en-US" sz="1800" dirty="0"/>
              <a:t>Exercise - Create a Microsoft 365 Copilot Chat agent</a:t>
            </a:r>
          </a:p>
        </p:txBody>
      </p:sp>
      <p:sp>
        <p:nvSpPr>
          <p:cNvPr id="24" name="Oval 23">
            <a:extLst>
              <a:ext uri="{FF2B5EF4-FFF2-40B4-BE49-F238E27FC236}">
                <a16:creationId xmlns:a16="http://schemas.microsoft.com/office/drawing/2014/main" id="{6AF05BBB-1DFE-5A6B-1542-157A5AE02586}"/>
              </a:ext>
            </a:extLst>
          </p:cNvPr>
          <p:cNvSpPr>
            <a:spLocks/>
          </p:cNvSpPr>
          <p:nvPr/>
        </p:nvSpPr>
        <p:spPr bwMode="auto">
          <a:xfrm>
            <a:off x="588261" y="3880363"/>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6</a:t>
            </a:r>
          </a:p>
        </p:txBody>
      </p:sp>
      <p:sp>
        <p:nvSpPr>
          <p:cNvPr id="31" name="TextBox 30">
            <a:extLst>
              <a:ext uri="{FF2B5EF4-FFF2-40B4-BE49-F238E27FC236}">
                <a16:creationId xmlns:a16="http://schemas.microsoft.com/office/drawing/2014/main" id="{3EFF50DE-F4E2-A88F-C277-2196543A2F7E}"/>
              </a:ext>
            </a:extLst>
          </p:cNvPr>
          <p:cNvSpPr txBox="1">
            <a:spLocks/>
          </p:cNvSpPr>
          <p:nvPr/>
        </p:nvSpPr>
        <p:spPr>
          <a:xfrm>
            <a:off x="1224759" y="3952889"/>
            <a:ext cx="9730579" cy="276999"/>
          </a:xfrm>
          <a:prstGeom prst="rect">
            <a:avLst/>
          </a:prstGeom>
          <a:noFill/>
        </p:spPr>
        <p:txBody>
          <a:bodyPr wrap="square" lIns="0" tIns="0" rIns="0" bIns="0" rtlCol="0" anchor="ctr">
            <a:spAutoFit/>
          </a:bodyPr>
          <a:lstStyle>
            <a:defPPr>
              <a:defRPr lang="en-US"/>
            </a:defPPr>
            <a:lvl1pPr>
              <a:defRPr sz="2000"/>
            </a:lvl1pPr>
          </a:lstStyle>
          <a:p>
            <a:r>
              <a:rPr lang="en-US" sz="1800" dirty="0"/>
              <a:t>Create an agent in SharePoint</a:t>
            </a:r>
          </a:p>
        </p:txBody>
      </p:sp>
      <p:sp>
        <p:nvSpPr>
          <p:cNvPr id="26" name="Oval 25">
            <a:extLst>
              <a:ext uri="{FF2B5EF4-FFF2-40B4-BE49-F238E27FC236}">
                <a16:creationId xmlns:a16="http://schemas.microsoft.com/office/drawing/2014/main" id="{B681D5A7-20F3-5A56-D39B-E8B72BDBFD43}"/>
              </a:ext>
            </a:extLst>
          </p:cNvPr>
          <p:cNvSpPr>
            <a:spLocks/>
          </p:cNvSpPr>
          <p:nvPr/>
        </p:nvSpPr>
        <p:spPr bwMode="auto">
          <a:xfrm>
            <a:off x="588261" y="4437112"/>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7</a:t>
            </a:r>
          </a:p>
        </p:txBody>
      </p:sp>
      <p:sp>
        <p:nvSpPr>
          <p:cNvPr id="32" name="TextBox 31">
            <a:extLst>
              <a:ext uri="{FF2B5EF4-FFF2-40B4-BE49-F238E27FC236}">
                <a16:creationId xmlns:a16="http://schemas.microsoft.com/office/drawing/2014/main" id="{E8486418-4ABA-6EA3-0632-3B31B80FDE38}"/>
              </a:ext>
            </a:extLst>
          </p:cNvPr>
          <p:cNvSpPr txBox="1">
            <a:spLocks/>
          </p:cNvSpPr>
          <p:nvPr/>
        </p:nvSpPr>
        <p:spPr>
          <a:xfrm>
            <a:off x="1224759" y="4520153"/>
            <a:ext cx="9730579" cy="276999"/>
          </a:xfrm>
          <a:prstGeom prst="rect">
            <a:avLst/>
          </a:prstGeom>
          <a:noFill/>
        </p:spPr>
        <p:txBody>
          <a:bodyPr wrap="square" lIns="0" tIns="0" rIns="0" bIns="0" rtlCol="0" anchor="ctr">
            <a:spAutoFit/>
          </a:bodyPr>
          <a:lstStyle>
            <a:defPPr>
              <a:defRPr lang="en-US"/>
            </a:defPPr>
            <a:lvl1pPr>
              <a:defRPr sz="2000"/>
            </a:lvl1pPr>
          </a:lstStyle>
          <a:p>
            <a:r>
              <a:rPr lang="en-US" sz="1800" dirty="0"/>
              <a:t>Exercise - Create a SharePoint agent</a:t>
            </a:r>
          </a:p>
        </p:txBody>
      </p:sp>
      <p:sp>
        <p:nvSpPr>
          <p:cNvPr id="5" name="Oval 4">
            <a:extLst>
              <a:ext uri="{FF2B5EF4-FFF2-40B4-BE49-F238E27FC236}">
                <a16:creationId xmlns:a16="http://schemas.microsoft.com/office/drawing/2014/main" id="{E44E6E91-70F2-5C3B-D826-C8C01CA9B440}"/>
              </a:ext>
            </a:extLst>
          </p:cNvPr>
          <p:cNvSpPr>
            <a:spLocks/>
          </p:cNvSpPr>
          <p:nvPr/>
        </p:nvSpPr>
        <p:spPr bwMode="auto">
          <a:xfrm>
            <a:off x="551384" y="5013176"/>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8</a:t>
            </a:r>
          </a:p>
        </p:txBody>
      </p:sp>
      <p:sp>
        <p:nvSpPr>
          <p:cNvPr id="2" name="TextBox 1">
            <a:extLst>
              <a:ext uri="{FF2B5EF4-FFF2-40B4-BE49-F238E27FC236}">
                <a16:creationId xmlns:a16="http://schemas.microsoft.com/office/drawing/2014/main" id="{5E6F5C7F-78C7-AF86-C019-BAFEB9CD87FA}"/>
              </a:ext>
            </a:extLst>
          </p:cNvPr>
          <p:cNvSpPr txBox="1">
            <a:spLocks/>
          </p:cNvSpPr>
          <p:nvPr/>
        </p:nvSpPr>
        <p:spPr>
          <a:xfrm>
            <a:off x="1224759" y="5096217"/>
            <a:ext cx="9767785" cy="276999"/>
          </a:xfrm>
          <a:prstGeom prst="rect">
            <a:avLst/>
          </a:prstGeom>
          <a:noFill/>
        </p:spPr>
        <p:txBody>
          <a:bodyPr wrap="square" lIns="0" tIns="0" rIns="0" bIns="0" rtlCol="0" anchor="ctr">
            <a:spAutoFit/>
          </a:bodyPr>
          <a:lstStyle>
            <a:defPPr>
              <a:defRPr lang="en-US"/>
            </a:defPPr>
            <a:lvl1pPr>
              <a:defRPr sz="2000"/>
            </a:lvl1pPr>
          </a:lstStyle>
          <a:p>
            <a:r>
              <a:rPr lang="en-US" sz="1800" dirty="0"/>
              <a:t>Test and edit your agents </a:t>
            </a:r>
          </a:p>
        </p:txBody>
      </p:sp>
      <p:sp>
        <p:nvSpPr>
          <p:cNvPr id="7" name="Oval 6">
            <a:extLst>
              <a:ext uri="{FF2B5EF4-FFF2-40B4-BE49-F238E27FC236}">
                <a16:creationId xmlns:a16="http://schemas.microsoft.com/office/drawing/2014/main" id="{716899A8-7ABA-7E7F-1DA3-632E2C5A555B}"/>
              </a:ext>
            </a:extLst>
          </p:cNvPr>
          <p:cNvSpPr>
            <a:spLocks/>
          </p:cNvSpPr>
          <p:nvPr/>
        </p:nvSpPr>
        <p:spPr bwMode="auto">
          <a:xfrm>
            <a:off x="553274" y="5591130"/>
            <a:ext cx="430158" cy="430158"/>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r>
              <a:rPr lang="en-US" sz="2000" b="1" dirty="0"/>
              <a:t>9</a:t>
            </a:r>
          </a:p>
        </p:txBody>
      </p:sp>
      <p:sp>
        <p:nvSpPr>
          <p:cNvPr id="33" name="TextBox 32">
            <a:extLst>
              <a:ext uri="{FF2B5EF4-FFF2-40B4-BE49-F238E27FC236}">
                <a16:creationId xmlns:a16="http://schemas.microsoft.com/office/drawing/2014/main" id="{B00AA2A3-46B0-9B40-D14E-C341B0395BF9}"/>
              </a:ext>
            </a:extLst>
          </p:cNvPr>
          <p:cNvSpPr txBox="1">
            <a:spLocks/>
          </p:cNvSpPr>
          <p:nvPr/>
        </p:nvSpPr>
        <p:spPr>
          <a:xfrm>
            <a:off x="1228009" y="5672281"/>
            <a:ext cx="9727329" cy="276999"/>
          </a:xfrm>
          <a:prstGeom prst="rect">
            <a:avLst/>
          </a:prstGeom>
          <a:noFill/>
        </p:spPr>
        <p:txBody>
          <a:bodyPr wrap="square" lIns="0" tIns="0" rIns="0" bIns="0" rtlCol="0" anchor="ctr">
            <a:spAutoFit/>
          </a:bodyPr>
          <a:lstStyle>
            <a:defPPr>
              <a:defRPr lang="en-US"/>
            </a:defPPr>
            <a:lvl1pPr>
              <a:defRPr sz="2000"/>
            </a:lvl1pPr>
          </a:lstStyle>
          <a:p>
            <a:r>
              <a:rPr lang="en-US" sz="1800" dirty="0"/>
              <a:t>Manage your agents</a:t>
            </a:r>
          </a:p>
        </p:txBody>
      </p:sp>
    </p:spTree>
    <p:extLst>
      <p:ext uri="{BB962C8B-B14F-4D97-AF65-F5344CB8AC3E}">
        <p14:creationId xmlns:p14="http://schemas.microsoft.com/office/powerpoint/2010/main" val="406123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9724D7DA-4D4D-2031-06E9-A676B17C8EEF}"/>
              </a:ext>
            </a:extLst>
          </p:cNvPr>
          <p:cNvSpPr txBox="1">
            <a:spLocks noGrp="1"/>
          </p:cNvSpPr>
          <p:nvPr>
            <p:ph type="title" idx="4294967295"/>
          </p:nvPr>
        </p:nvSpPr>
        <p:spPr>
          <a:xfrm>
            <a:off x="541607" y="166177"/>
            <a:ext cx="11044938"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Explore the components of an agent</a:t>
            </a:r>
          </a:p>
        </p:txBody>
      </p:sp>
      <p:graphicFrame>
        <p:nvGraphicFramePr>
          <p:cNvPr id="7" name="Table 6">
            <a:extLst>
              <a:ext uri="{FF2B5EF4-FFF2-40B4-BE49-F238E27FC236}">
                <a16:creationId xmlns:a16="http://schemas.microsoft.com/office/drawing/2014/main" id="{5CB7CF7D-7A37-9561-8CC4-6B33B2148FB8}"/>
              </a:ext>
            </a:extLst>
          </p:cNvPr>
          <p:cNvGraphicFramePr>
            <a:graphicFrameLocks noGrp="1"/>
          </p:cNvGraphicFramePr>
          <p:nvPr>
            <p:extLst>
              <p:ext uri="{D42A27DB-BD31-4B8C-83A1-F6EECF244321}">
                <p14:modId xmlns:p14="http://schemas.microsoft.com/office/powerpoint/2010/main" val="2337201768"/>
              </p:ext>
            </p:extLst>
          </p:nvPr>
        </p:nvGraphicFramePr>
        <p:xfrm>
          <a:off x="193040" y="1487150"/>
          <a:ext cx="11785600" cy="4751092"/>
        </p:xfrm>
        <a:graphic>
          <a:graphicData uri="http://schemas.openxmlformats.org/drawingml/2006/table">
            <a:tbl>
              <a:tblPr firstRow="1" bandRow="1">
                <a:tableStyleId>{5C22544A-7EE6-4342-B048-85BDC9FD1C3A}</a:tableStyleId>
              </a:tblPr>
              <a:tblGrid>
                <a:gridCol w="1988174">
                  <a:extLst>
                    <a:ext uri="{9D8B030D-6E8A-4147-A177-3AD203B41FA5}">
                      <a16:colId xmlns:a16="http://schemas.microsoft.com/office/drawing/2014/main" val="1540365001"/>
                    </a:ext>
                  </a:extLst>
                </a:gridCol>
                <a:gridCol w="9797426">
                  <a:extLst>
                    <a:ext uri="{9D8B030D-6E8A-4147-A177-3AD203B41FA5}">
                      <a16:colId xmlns:a16="http://schemas.microsoft.com/office/drawing/2014/main" val="3906661992"/>
                    </a:ext>
                  </a:extLst>
                </a:gridCol>
              </a:tblGrid>
              <a:tr h="557834">
                <a:tc>
                  <a:txBody>
                    <a:bodyPr/>
                    <a:lstStyle/>
                    <a:p>
                      <a:pPr algn="l"/>
                      <a:r>
                        <a:rPr lang="en-US" b="0" dirty="0">
                          <a:latin typeface="+mj-lt"/>
                        </a:rPr>
                        <a:t>Field</a:t>
                      </a:r>
                    </a:p>
                  </a:txBody>
                  <a:tcPr/>
                </a:tc>
                <a:tc>
                  <a:txBody>
                    <a:bodyPr/>
                    <a:lstStyle/>
                    <a:p>
                      <a:pPr algn="l"/>
                      <a:r>
                        <a:rPr lang="en-US" b="0" dirty="0">
                          <a:latin typeface="+mj-lt"/>
                        </a:rPr>
                        <a:t>Description</a:t>
                      </a:r>
                    </a:p>
                  </a:txBody>
                  <a:tcPr/>
                </a:tc>
                <a:extLst>
                  <a:ext uri="{0D108BD9-81ED-4DB2-BD59-A6C34878D82A}">
                    <a16:rowId xmlns:a16="http://schemas.microsoft.com/office/drawing/2014/main" val="131346461"/>
                  </a:ext>
                </a:extLst>
              </a:tr>
              <a:tr h="557834">
                <a:tc>
                  <a:txBody>
                    <a:bodyPr/>
                    <a:lstStyle/>
                    <a:p>
                      <a:r>
                        <a:rPr lang="en-US" sz="1500" dirty="0">
                          <a:latin typeface="+mj-lt"/>
                        </a:rPr>
                        <a:t>Name</a:t>
                      </a:r>
                    </a:p>
                  </a:txBody>
                  <a:tcPr/>
                </a:tc>
                <a:tc>
                  <a:txBody>
                    <a:bodyPr/>
                    <a:lstStyle/>
                    <a:p>
                      <a:pPr algn="l"/>
                      <a:r>
                        <a:rPr lang="en-US" sz="1500" b="0" i="0" kern="1200" dirty="0">
                          <a:solidFill>
                            <a:schemeClr val="dk1"/>
                          </a:solidFill>
                          <a:effectLst/>
                          <a:latin typeface="+mn-lt"/>
                          <a:ea typeface="+mn-ea"/>
                          <a:cs typeface="+mn-cs"/>
                        </a:rPr>
                        <a:t>The name of your agent (30 characters max)</a:t>
                      </a:r>
                      <a:endParaRPr lang="en-US" sz="1500" dirty="0"/>
                    </a:p>
                  </a:txBody>
                  <a:tcPr/>
                </a:tc>
                <a:extLst>
                  <a:ext uri="{0D108BD9-81ED-4DB2-BD59-A6C34878D82A}">
                    <a16:rowId xmlns:a16="http://schemas.microsoft.com/office/drawing/2014/main" val="3786633289"/>
                  </a:ext>
                </a:extLst>
              </a:tr>
              <a:tr h="615518">
                <a:tc>
                  <a:txBody>
                    <a:bodyPr/>
                    <a:lstStyle/>
                    <a:p>
                      <a:r>
                        <a:rPr lang="en-US" sz="1500" dirty="0">
                          <a:latin typeface="+mj-lt"/>
                        </a:rPr>
                        <a:t>Icon</a:t>
                      </a:r>
                    </a:p>
                  </a:txBody>
                  <a:tcPr/>
                </a:tc>
                <a:tc>
                  <a:txBody>
                    <a:bodyPr/>
                    <a:lstStyle/>
                    <a:p>
                      <a:r>
                        <a:rPr lang="en-US" sz="1500" b="0" i="0" kern="1200" dirty="0">
                          <a:solidFill>
                            <a:schemeClr val="dk1"/>
                          </a:solidFill>
                          <a:effectLst/>
                          <a:latin typeface="+mn-lt"/>
                          <a:ea typeface="+mn-ea"/>
                          <a:cs typeface="+mn-cs"/>
                        </a:rPr>
                        <a:t>You can manually upload an image to represent your agent and give it a unique personality. The image must be a .</a:t>
                      </a:r>
                      <a:r>
                        <a:rPr lang="en-US" sz="1500" b="0" i="0" kern="1200" dirty="0" err="1">
                          <a:solidFill>
                            <a:schemeClr val="dk1"/>
                          </a:solidFill>
                          <a:effectLst/>
                          <a:latin typeface="+mn-lt"/>
                          <a:ea typeface="+mn-ea"/>
                          <a:cs typeface="+mn-cs"/>
                        </a:rPr>
                        <a:t>png</a:t>
                      </a:r>
                      <a:r>
                        <a:rPr lang="en-US" sz="1500" b="0" i="0" kern="1200" dirty="0">
                          <a:solidFill>
                            <a:schemeClr val="dk1"/>
                          </a:solidFill>
                          <a:effectLst/>
                          <a:latin typeface="+mn-lt"/>
                          <a:ea typeface="+mn-ea"/>
                          <a:cs typeface="+mn-cs"/>
                        </a:rPr>
                        <a:t> file and it can’t exceed 1MB in size</a:t>
                      </a:r>
                      <a:endParaRPr lang="en-US" sz="1500" dirty="0"/>
                    </a:p>
                  </a:txBody>
                  <a:tcPr/>
                </a:tc>
                <a:extLst>
                  <a:ext uri="{0D108BD9-81ED-4DB2-BD59-A6C34878D82A}">
                    <a16:rowId xmlns:a16="http://schemas.microsoft.com/office/drawing/2014/main" val="2838832460"/>
                  </a:ext>
                </a:extLst>
              </a:tr>
              <a:tr h="615518">
                <a:tc>
                  <a:txBody>
                    <a:bodyPr/>
                    <a:lstStyle/>
                    <a:p>
                      <a:r>
                        <a:rPr lang="en-US" sz="1500" dirty="0">
                          <a:latin typeface="+mj-lt"/>
                        </a:rPr>
                        <a:t>Description</a:t>
                      </a:r>
                    </a:p>
                  </a:txBody>
                  <a:tcPr/>
                </a:tc>
                <a:tc>
                  <a:txBody>
                    <a:bodyPr/>
                    <a:lstStyle/>
                    <a:p>
                      <a:r>
                        <a:rPr lang="en-US" sz="1500" b="0" i="0" kern="1200" dirty="0">
                          <a:solidFill>
                            <a:schemeClr val="dk1"/>
                          </a:solidFill>
                          <a:effectLst/>
                          <a:latin typeface="+mn-lt"/>
                          <a:ea typeface="+mn-ea"/>
                          <a:cs typeface="+mn-cs"/>
                        </a:rPr>
                        <a:t>The description helps the Large Language Model (LLM) identify and use your agent for a specific task or situation (1,000 characters max)</a:t>
                      </a:r>
                      <a:endParaRPr lang="en-US" sz="1500" dirty="0"/>
                    </a:p>
                  </a:txBody>
                  <a:tcPr/>
                </a:tc>
                <a:extLst>
                  <a:ext uri="{0D108BD9-81ED-4DB2-BD59-A6C34878D82A}">
                    <a16:rowId xmlns:a16="http://schemas.microsoft.com/office/drawing/2014/main" val="1080059669"/>
                  </a:ext>
                </a:extLst>
              </a:tr>
              <a:tr h="615518">
                <a:tc>
                  <a:txBody>
                    <a:bodyPr/>
                    <a:lstStyle/>
                    <a:p>
                      <a:r>
                        <a:rPr lang="en-US" sz="1500" dirty="0">
                          <a:latin typeface="+mj-lt"/>
                        </a:rPr>
                        <a:t>Instructions</a:t>
                      </a:r>
                    </a:p>
                  </a:txBody>
                  <a:tcPr/>
                </a:tc>
                <a:tc>
                  <a:txBody>
                    <a:bodyPr/>
                    <a:lstStyle/>
                    <a:p>
                      <a:r>
                        <a:rPr lang="en-US" sz="1500" b="0" i="0" kern="1200" dirty="0">
                          <a:solidFill>
                            <a:schemeClr val="dk1"/>
                          </a:solidFill>
                          <a:effectLst/>
                          <a:latin typeface="+mn-lt"/>
                          <a:ea typeface="+mn-ea"/>
                          <a:cs typeface="+mn-cs"/>
                        </a:rPr>
                        <a:t>Specific instructions for the LLM to direct the behavior of the agent, including its tasks and how it completes them (8,000 characters max). Copilot generates detailed instructions for your agent based on the description you enter</a:t>
                      </a:r>
                      <a:endParaRPr lang="en-US" sz="1500" b="0" dirty="0">
                        <a:latin typeface="+mn-lt"/>
                      </a:endParaRPr>
                    </a:p>
                  </a:txBody>
                  <a:tcPr/>
                </a:tc>
                <a:extLst>
                  <a:ext uri="{0D108BD9-81ED-4DB2-BD59-A6C34878D82A}">
                    <a16:rowId xmlns:a16="http://schemas.microsoft.com/office/drawing/2014/main" val="154539882"/>
                  </a:ext>
                </a:extLst>
              </a:tr>
              <a:tr h="615518">
                <a:tc>
                  <a:txBody>
                    <a:bodyPr/>
                    <a:lstStyle/>
                    <a:p>
                      <a:r>
                        <a:rPr lang="en-US" sz="1500" dirty="0">
                          <a:latin typeface="+mj-lt"/>
                        </a:rPr>
                        <a:t>Knowledge</a:t>
                      </a:r>
                    </a:p>
                  </a:txBody>
                  <a:tcPr/>
                </a:tc>
                <a:tc>
                  <a:txBody>
                    <a:bodyPr/>
                    <a:lstStyle/>
                    <a:p>
                      <a:r>
                        <a:rPr lang="en-US" sz="1500" dirty="0"/>
                        <a:t>Knowledge sources define the information an agent can access—such as SharePoint sites, files, and Microsoft Graph connectors—to provide relevant, grounded responses</a:t>
                      </a:r>
                    </a:p>
                  </a:txBody>
                  <a:tcPr/>
                </a:tc>
                <a:extLst>
                  <a:ext uri="{0D108BD9-81ED-4DB2-BD59-A6C34878D82A}">
                    <a16:rowId xmlns:a16="http://schemas.microsoft.com/office/drawing/2014/main" val="3506652431"/>
                  </a:ext>
                </a:extLst>
              </a:tr>
              <a:tr h="557834">
                <a:tc>
                  <a:txBody>
                    <a:bodyPr/>
                    <a:lstStyle/>
                    <a:p>
                      <a:r>
                        <a:rPr lang="en-US" sz="1500" dirty="0">
                          <a:latin typeface="+mj-lt"/>
                        </a:rPr>
                        <a:t>Capabilities</a:t>
                      </a:r>
                    </a:p>
                  </a:txBody>
                  <a:tcPr/>
                </a:tc>
                <a:tc>
                  <a:txBody>
                    <a:bodyPr/>
                    <a:lstStyle/>
                    <a:p>
                      <a:r>
                        <a:rPr lang="en-US" sz="1500" dirty="0"/>
                        <a:t>You can enhance a Copilot Chat agent by enabling two advanced features: Code Interpreter and Image Generator. These features are not available in SharePoint agents</a:t>
                      </a:r>
                    </a:p>
                  </a:txBody>
                  <a:tcPr/>
                </a:tc>
                <a:extLst>
                  <a:ext uri="{0D108BD9-81ED-4DB2-BD59-A6C34878D82A}">
                    <a16:rowId xmlns:a16="http://schemas.microsoft.com/office/drawing/2014/main" val="708351797"/>
                  </a:ext>
                </a:extLst>
              </a:tr>
              <a:tr h="615518">
                <a:tc>
                  <a:txBody>
                    <a:bodyPr/>
                    <a:lstStyle/>
                    <a:p>
                      <a:r>
                        <a:rPr lang="en-US" sz="1500" dirty="0">
                          <a:latin typeface="+mj-lt"/>
                        </a:rPr>
                        <a:t>Suggested Prompts</a:t>
                      </a:r>
                    </a:p>
                  </a:txBody>
                  <a:tcPr/>
                </a:tc>
                <a:tc>
                  <a:txBody>
                    <a:bodyPr/>
                    <a:lstStyle/>
                    <a:p>
                      <a:r>
                        <a:rPr lang="en-US" sz="1500" b="0" i="0" kern="1200" dirty="0">
                          <a:solidFill>
                            <a:schemeClr val="dk1"/>
                          </a:solidFill>
                          <a:effectLst/>
                          <a:latin typeface="+mn-lt"/>
                          <a:ea typeface="+mn-ea"/>
                          <a:cs typeface="+mn-cs"/>
                        </a:rPr>
                        <a:t>You can optionally add predefined suggestions or questions designed to help users initiate a task or conversation</a:t>
                      </a:r>
                      <a:endParaRPr lang="en-US" sz="1500" dirty="0"/>
                    </a:p>
                  </a:txBody>
                  <a:tcPr/>
                </a:tc>
                <a:extLst>
                  <a:ext uri="{0D108BD9-81ED-4DB2-BD59-A6C34878D82A}">
                    <a16:rowId xmlns:a16="http://schemas.microsoft.com/office/drawing/2014/main" val="3395516442"/>
                  </a:ext>
                </a:extLst>
              </a:tr>
            </a:tbl>
          </a:graphicData>
        </a:graphic>
      </p:graphicFrame>
      <p:sp>
        <p:nvSpPr>
          <p:cNvPr id="8" name="TextBox 7">
            <a:extLst>
              <a:ext uri="{FF2B5EF4-FFF2-40B4-BE49-F238E27FC236}">
                <a16:creationId xmlns:a16="http://schemas.microsoft.com/office/drawing/2014/main" id="{FA32D292-7E2F-0A1E-5B04-1FF6687984BF}"/>
              </a:ext>
            </a:extLst>
          </p:cNvPr>
          <p:cNvSpPr txBox="1"/>
          <p:nvPr/>
        </p:nvSpPr>
        <p:spPr>
          <a:xfrm>
            <a:off x="193040" y="1006377"/>
            <a:ext cx="11785600" cy="276999"/>
          </a:xfrm>
          <a:prstGeom prst="rect">
            <a:avLst/>
          </a:prstGeom>
          <a:noFill/>
        </p:spPr>
        <p:txBody>
          <a:bodyPr wrap="square" lIns="0" tIns="0" rIns="0" bIns="0" rtlCol="0">
            <a:spAutoFit/>
          </a:bodyPr>
          <a:lstStyle/>
          <a:p>
            <a:pPr algn="ctr"/>
            <a:r>
              <a:rPr lang="en-US" sz="1800" dirty="0">
                <a:latin typeface="+mj-lt"/>
              </a:rPr>
              <a:t>A Copilot Chat agent created by everyday business users includes the following fields:   </a:t>
            </a:r>
          </a:p>
        </p:txBody>
      </p:sp>
    </p:spTree>
    <p:extLst>
      <p:ext uri="{BB962C8B-B14F-4D97-AF65-F5344CB8AC3E}">
        <p14:creationId xmlns:p14="http://schemas.microsoft.com/office/powerpoint/2010/main" val="391549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screenshot of the agent form that appears when a user selects New agent in the Microsoft 365 navigation pane">
            <a:extLst>
              <a:ext uri="{FF2B5EF4-FFF2-40B4-BE49-F238E27FC236}">
                <a16:creationId xmlns:a16="http://schemas.microsoft.com/office/drawing/2014/main" id="{D84B3401-94CF-952B-D009-181DF8C31AA5}"/>
              </a:ext>
            </a:extLst>
          </p:cNvPr>
          <p:cNvPicPr>
            <a:picLocks noChangeAspect="1"/>
          </p:cNvPicPr>
          <p:nvPr/>
        </p:nvPicPr>
        <p:blipFill>
          <a:blip r:embed="rId3"/>
          <a:stretch>
            <a:fillRect/>
          </a:stretch>
        </p:blipFill>
        <p:spPr>
          <a:xfrm>
            <a:off x="6400800" y="1565052"/>
            <a:ext cx="5558118" cy="3673359"/>
          </a:xfrm>
          <a:prstGeom prst="rect">
            <a:avLst/>
          </a:prstGeom>
        </p:spPr>
      </p:pic>
      <p:sp>
        <p:nvSpPr>
          <p:cNvPr id="3" name="Title 16">
            <a:extLst>
              <a:ext uri="{FF2B5EF4-FFF2-40B4-BE49-F238E27FC236}">
                <a16:creationId xmlns:a16="http://schemas.microsoft.com/office/drawing/2014/main" id="{22ABFC4A-18D4-9C97-69FA-7EE1DE12AA0B}"/>
              </a:ext>
            </a:extLst>
          </p:cNvPr>
          <p:cNvSpPr txBox="1">
            <a:spLocks noGrp="1"/>
          </p:cNvSpPr>
          <p:nvPr>
            <p:ph type="title" idx="4294967295"/>
          </p:nvPr>
        </p:nvSpPr>
        <p:spPr>
          <a:xfrm>
            <a:off x="375351" y="313069"/>
            <a:ext cx="10113355"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Create an agent in Copilot Chat – Part 1</a:t>
            </a:r>
          </a:p>
        </p:txBody>
      </p:sp>
      <p:sp>
        <p:nvSpPr>
          <p:cNvPr id="10" name="Rectangle 9">
            <a:extLst>
              <a:ext uri="{FF2B5EF4-FFF2-40B4-BE49-F238E27FC236}">
                <a16:creationId xmlns:a16="http://schemas.microsoft.com/office/drawing/2014/main" id="{C071E5BB-1189-2FCC-70BB-865381CC1825}"/>
              </a:ext>
            </a:extLst>
          </p:cNvPr>
          <p:cNvSpPr/>
          <p:nvPr/>
        </p:nvSpPr>
        <p:spPr bwMode="auto">
          <a:xfrm>
            <a:off x="169719" y="1174377"/>
            <a:ext cx="6078681" cy="5082987"/>
          </a:xfrm>
          <a:prstGeom prst="rect">
            <a:avLst/>
          </a:prstGeom>
          <a:solidFill>
            <a:schemeClr val="accent5">
              <a:lumMod val="60000"/>
              <a:lumOff val="40000"/>
            </a:schemeClr>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ts val="300"/>
              </a:spcBef>
              <a:spcAft>
                <a:spcPts val="600"/>
              </a:spcAft>
            </a:pPr>
            <a:r>
              <a:rPr lang="en-US" sz="1600" dirty="0">
                <a:solidFill>
                  <a:schemeClr val="tx1"/>
                </a:solidFill>
                <a:latin typeface="+mj-lt"/>
              </a:rPr>
              <a:t>Business users with no programming or technical background can create their own Copilot Chat agents using Agent Builder</a:t>
            </a:r>
          </a:p>
          <a:p>
            <a:pPr marL="169863" indent="-169863" fontAlgn="base">
              <a:spcBef>
                <a:spcPts val="300"/>
              </a:spcBef>
              <a:spcAft>
                <a:spcPts val="600"/>
              </a:spcAft>
              <a:buFont typeface="Arial" panose="020B0604020202020204" pitchFamily="34" charset="0"/>
              <a:buChar char="•"/>
            </a:pPr>
            <a:r>
              <a:rPr lang="en-US" sz="1400" dirty="0">
                <a:solidFill>
                  <a:schemeClr val="tx1"/>
                </a:solidFill>
              </a:rPr>
              <a:t>Agent Builder is the lightweight, built‑in authoring experience inside Microsoft 365 Copilot Chat</a:t>
            </a:r>
          </a:p>
          <a:p>
            <a:pPr fontAlgn="base">
              <a:spcBef>
                <a:spcPts val="300"/>
              </a:spcBef>
              <a:spcAft>
                <a:spcPts val="600"/>
              </a:spcAft>
            </a:pPr>
            <a:r>
              <a:rPr lang="en-US" sz="1600" b="0" i="0" dirty="0">
                <a:solidFill>
                  <a:srgbClr val="202020"/>
                </a:solidFill>
                <a:effectLst/>
                <a:latin typeface="+mj-lt"/>
              </a:rPr>
              <a:t>When you select the ”</a:t>
            </a:r>
            <a:r>
              <a:rPr lang="en-US" sz="1600" b="1" dirty="0">
                <a:solidFill>
                  <a:srgbClr val="202020"/>
                </a:solidFill>
                <a:latin typeface="+mj-lt"/>
              </a:rPr>
              <a:t>New </a:t>
            </a:r>
            <a:r>
              <a:rPr lang="en-US" sz="1600" b="1" i="0" dirty="0">
                <a:solidFill>
                  <a:srgbClr val="202020"/>
                </a:solidFill>
                <a:effectLst/>
                <a:latin typeface="+mj-lt"/>
              </a:rPr>
              <a:t>agent”</a:t>
            </a:r>
            <a:r>
              <a:rPr lang="en-US" sz="1600" b="0" i="0" dirty="0">
                <a:solidFill>
                  <a:srgbClr val="202020"/>
                </a:solidFill>
                <a:effectLst/>
                <a:latin typeface="+mj-lt"/>
              </a:rPr>
              <a:t> option in Copilot Chat, you can initiate the agent building process in one of three ways:</a:t>
            </a:r>
          </a:p>
          <a:p>
            <a:pPr marL="169863" indent="-169863">
              <a:spcBef>
                <a:spcPts val="300"/>
              </a:spcBef>
              <a:spcAft>
                <a:spcPts val="600"/>
              </a:spcAft>
              <a:buFont typeface="Arial" panose="020B0604020202020204" pitchFamily="34" charset="0"/>
              <a:buChar char="•"/>
            </a:pPr>
            <a:r>
              <a:rPr lang="en-US" sz="1400" dirty="0">
                <a:solidFill>
                  <a:schemeClr val="tx1"/>
                </a:solidFill>
              </a:rPr>
              <a:t>Provide an initial description of the agent that you want Agent Builder to automatically configure for you</a:t>
            </a:r>
          </a:p>
          <a:p>
            <a:pPr marL="169863" indent="-169863">
              <a:spcBef>
                <a:spcPts val="300"/>
              </a:spcBef>
              <a:spcAft>
                <a:spcPts val="600"/>
              </a:spcAft>
              <a:buFont typeface="Arial" panose="020B0604020202020204" pitchFamily="34" charset="0"/>
              <a:buChar char="•"/>
            </a:pPr>
            <a:r>
              <a:rPr lang="en-US" sz="1400" dirty="0">
                <a:solidFill>
                  <a:schemeClr val="tx1"/>
                </a:solidFill>
              </a:rPr>
              <a:t>Select the </a:t>
            </a:r>
            <a:r>
              <a:rPr lang="en-US" sz="1400" dirty="0">
                <a:solidFill>
                  <a:schemeClr val="tx1"/>
                </a:solidFill>
                <a:latin typeface="+mj-lt"/>
              </a:rPr>
              <a:t>Skip to configure </a:t>
            </a:r>
            <a:r>
              <a:rPr lang="en-US" sz="1400" dirty="0">
                <a:solidFill>
                  <a:schemeClr val="tx1"/>
                </a:solidFill>
              </a:rPr>
              <a:t>option to manually configure the agent yourself</a:t>
            </a:r>
          </a:p>
          <a:p>
            <a:pPr marL="169863" indent="-169863">
              <a:spcBef>
                <a:spcPts val="300"/>
              </a:spcBef>
              <a:spcAft>
                <a:spcPts val="600"/>
              </a:spcAft>
              <a:buFont typeface="Arial" panose="020B0604020202020204" pitchFamily="34" charset="0"/>
              <a:buChar char="•"/>
            </a:pPr>
            <a:r>
              <a:rPr lang="en-US" sz="1400" dirty="0">
                <a:solidFill>
                  <a:schemeClr val="tx1"/>
                </a:solidFill>
              </a:rPr>
              <a:t>Select a template from a list of predefined agent templates</a:t>
            </a:r>
            <a:endParaRPr lang="en-US" sz="800" dirty="0">
              <a:solidFill>
                <a:schemeClr val="tx1"/>
              </a:solidFill>
            </a:endParaRPr>
          </a:p>
          <a:p>
            <a:pPr fontAlgn="base">
              <a:spcBef>
                <a:spcPts val="300"/>
              </a:spcBef>
              <a:spcAft>
                <a:spcPts val="600"/>
              </a:spcAft>
            </a:pPr>
            <a:r>
              <a:rPr lang="en-US" sz="1600" dirty="0">
                <a:solidFill>
                  <a:schemeClr val="tx1"/>
                </a:solidFill>
                <a:latin typeface="+mj-lt"/>
              </a:rPr>
              <a:t>If you select a template, Agent Builder configures your new agent based on the selected template </a:t>
            </a:r>
            <a:endParaRPr lang="en-US" sz="1400" dirty="0">
              <a:solidFill>
                <a:schemeClr val="tx1"/>
              </a:solidFill>
            </a:endParaRPr>
          </a:p>
          <a:p>
            <a:pPr marL="169863" indent="-169863">
              <a:spcBef>
                <a:spcPts val="300"/>
              </a:spcBef>
              <a:spcAft>
                <a:spcPts val="600"/>
              </a:spcAft>
              <a:buFont typeface="Arial" panose="020B0604020202020204" pitchFamily="34" charset="0"/>
              <a:buChar char="•"/>
            </a:pPr>
            <a:r>
              <a:rPr lang="en-US" sz="1400" dirty="0">
                <a:solidFill>
                  <a:schemeClr val="tx1"/>
                </a:solidFill>
              </a:rPr>
              <a:t>Agent Builder prepopulates the fields in your agent with values from the template, such as icon, name, description, instructions, and suggested prompts</a:t>
            </a:r>
          </a:p>
          <a:p>
            <a:pPr marL="169863" indent="-169863">
              <a:spcBef>
                <a:spcPts val="300"/>
              </a:spcBef>
              <a:spcAft>
                <a:spcPts val="600"/>
              </a:spcAft>
              <a:buFont typeface="Arial" panose="020B0604020202020204" pitchFamily="34" charset="0"/>
              <a:buChar char="•"/>
            </a:pPr>
            <a:r>
              <a:rPr lang="en-US" sz="1400" dirty="0">
                <a:solidFill>
                  <a:schemeClr val="tx1"/>
                </a:solidFill>
              </a:rPr>
              <a:t>You can edit these values to fit the requirements of your agent</a:t>
            </a:r>
          </a:p>
        </p:txBody>
      </p:sp>
      <p:sp>
        <p:nvSpPr>
          <p:cNvPr id="8" name="Rectangle 7">
            <a:extLst>
              <a:ext uri="{FF2B5EF4-FFF2-40B4-BE49-F238E27FC236}">
                <a16:creationId xmlns:a16="http://schemas.microsoft.com/office/drawing/2014/main" id="{0A8E9F84-A066-D52A-352D-4956323CD5C8}"/>
              </a:ext>
              <a:ext uri="{C183D7F6-B498-43B3-948B-1728B52AA6E4}">
                <adec:decorative xmlns:adec="http://schemas.microsoft.com/office/drawing/2017/decorative" val="1"/>
              </a:ext>
            </a:extLst>
          </p:cNvPr>
          <p:cNvSpPr/>
          <p:nvPr/>
        </p:nvSpPr>
        <p:spPr bwMode="auto">
          <a:xfrm>
            <a:off x="6400800" y="1619589"/>
            <a:ext cx="5621481" cy="3714411"/>
          </a:xfrm>
          <a:prstGeom prst="rect">
            <a:avLst/>
          </a:prstGeom>
          <a:noFill/>
          <a:ln w="31750">
            <a:solidFill>
              <a:srgbClr val="C03B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TextBox 11">
            <a:extLst>
              <a:ext uri="{FF2B5EF4-FFF2-40B4-BE49-F238E27FC236}">
                <a16:creationId xmlns:a16="http://schemas.microsoft.com/office/drawing/2014/main" id="{C7601BE6-ABA5-E38A-C2FD-17EE6029DA2B}"/>
              </a:ext>
            </a:extLst>
          </p:cNvPr>
          <p:cNvSpPr txBox="1"/>
          <p:nvPr/>
        </p:nvSpPr>
        <p:spPr>
          <a:xfrm>
            <a:off x="8946573" y="6514749"/>
            <a:ext cx="2820563" cy="246221"/>
          </a:xfrm>
          <a:prstGeom prst="rect">
            <a:avLst/>
          </a:prstGeom>
          <a:noFill/>
        </p:spPr>
        <p:txBody>
          <a:bodyPr wrap="square" lIns="0" tIns="0" rIns="0" bIns="0" rtlCol="0">
            <a:spAutoFit/>
          </a:bodyPr>
          <a:lstStyle/>
          <a:p>
            <a:pPr algn="l"/>
            <a:r>
              <a:rPr lang="en-US" sz="1600" dirty="0"/>
              <a:t>Continued on next slide</a:t>
            </a:r>
          </a:p>
        </p:txBody>
      </p:sp>
    </p:spTree>
    <p:extLst>
      <p:ext uri="{BB962C8B-B14F-4D97-AF65-F5344CB8AC3E}">
        <p14:creationId xmlns:p14="http://schemas.microsoft.com/office/powerpoint/2010/main" val="917470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FAD05-1C25-DE13-FCB7-01AFEE08C392}"/>
            </a:ext>
          </a:extLst>
        </p:cNvPr>
        <p:cNvGrpSpPr/>
        <p:nvPr/>
      </p:nvGrpSpPr>
      <p:grpSpPr>
        <a:xfrm>
          <a:off x="0" y="0"/>
          <a:ext cx="0" cy="0"/>
          <a:chOff x="0" y="0"/>
          <a:chExt cx="0" cy="0"/>
        </a:xfrm>
      </p:grpSpPr>
      <p:sp>
        <p:nvSpPr>
          <p:cNvPr id="3" name="Title 16">
            <a:extLst>
              <a:ext uri="{FF2B5EF4-FFF2-40B4-BE49-F238E27FC236}">
                <a16:creationId xmlns:a16="http://schemas.microsoft.com/office/drawing/2014/main" id="{CC4A5258-65C2-9144-AEDB-984AAA7B3ED4}"/>
              </a:ext>
            </a:extLst>
          </p:cNvPr>
          <p:cNvSpPr txBox="1">
            <a:spLocks noGrp="1"/>
          </p:cNvSpPr>
          <p:nvPr>
            <p:ph type="title" idx="4294967295"/>
          </p:nvPr>
        </p:nvSpPr>
        <p:spPr>
          <a:xfrm>
            <a:off x="375351" y="304105"/>
            <a:ext cx="10113355"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Create an agent in Copilot Chat – Part 1 (continued)</a:t>
            </a:r>
          </a:p>
        </p:txBody>
      </p:sp>
      <p:sp>
        <p:nvSpPr>
          <p:cNvPr id="10" name="Rectangle 9">
            <a:extLst>
              <a:ext uri="{FF2B5EF4-FFF2-40B4-BE49-F238E27FC236}">
                <a16:creationId xmlns:a16="http://schemas.microsoft.com/office/drawing/2014/main" id="{A8AA2BBA-6CEA-F59C-4500-AA70751D5C4F}"/>
              </a:ext>
            </a:extLst>
          </p:cNvPr>
          <p:cNvSpPr/>
          <p:nvPr/>
        </p:nvSpPr>
        <p:spPr bwMode="auto">
          <a:xfrm>
            <a:off x="375351" y="977153"/>
            <a:ext cx="6559705" cy="5319733"/>
          </a:xfrm>
          <a:prstGeom prst="rect">
            <a:avLst/>
          </a:prstGeom>
          <a:solidFill>
            <a:srgbClr val="CCECFF"/>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ts val="300"/>
              </a:spcBef>
              <a:spcAft>
                <a:spcPts val="600"/>
              </a:spcAft>
            </a:pPr>
            <a:r>
              <a:rPr lang="en-US" sz="1600" dirty="0">
                <a:solidFill>
                  <a:srgbClr val="202020"/>
                </a:solidFill>
                <a:latin typeface="+mj-lt"/>
              </a:rPr>
              <a:t>Agent Builder enables y</a:t>
            </a:r>
            <a:r>
              <a:rPr lang="en-US" sz="1600" b="0" i="0" dirty="0">
                <a:solidFill>
                  <a:srgbClr val="202020"/>
                </a:solidFill>
                <a:effectLst/>
                <a:latin typeface="+mj-lt"/>
              </a:rPr>
              <a:t>ou to create agents in either of two ways: through the Describe tab or the Configure tab</a:t>
            </a:r>
            <a:endParaRPr lang="en-US" sz="1400" b="0" i="0" dirty="0">
              <a:solidFill>
                <a:srgbClr val="202020"/>
              </a:solidFill>
              <a:effectLst/>
              <a:latin typeface="+mj-lt"/>
            </a:endParaRPr>
          </a:p>
          <a:p>
            <a:pPr fontAlgn="base">
              <a:spcBef>
                <a:spcPts val="300"/>
              </a:spcBef>
              <a:spcAft>
                <a:spcPts val="600"/>
              </a:spcAft>
            </a:pPr>
            <a:r>
              <a:rPr lang="en-US" sz="1600" b="0" i="0" dirty="0">
                <a:solidFill>
                  <a:srgbClr val="202020"/>
                </a:solidFill>
                <a:effectLst/>
                <a:latin typeface="+mj-lt"/>
              </a:rPr>
              <a:t>If you entered a description on the New </a:t>
            </a:r>
            <a:r>
              <a:rPr lang="en-US" sz="1600" dirty="0">
                <a:solidFill>
                  <a:srgbClr val="202020"/>
                </a:solidFill>
                <a:latin typeface="+mj-lt"/>
              </a:rPr>
              <a:t>agent form, </a:t>
            </a:r>
            <a:r>
              <a:rPr lang="en-US" sz="1600" b="0" i="0" dirty="0">
                <a:solidFill>
                  <a:srgbClr val="202020"/>
                </a:solidFill>
                <a:effectLst/>
                <a:latin typeface="+mj-lt"/>
              </a:rPr>
              <a:t>Agent Builder creates a draft agent based on your description and displays the Describe tab in response (the chat portion of the tab is displayed in this screenshot)</a:t>
            </a:r>
          </a:p>
          <a:p>
            <a:pPr marL="176213" indent="-176213" fontAlgn="base">
              <a:spcBef>
                <a:spcPts val="300"/>
              </a:spcBef>
              <a:spcAft>
                <a:spcPts val="600"/>
              </a:spcAft>
              <a:buFont typeface="Arial" panose="020B0604020202020204" pitchFamily="34" charset="0"/>
              <a:buChar char="•"/>
            </a:pPr>
            <a:r>
              <a:rPr lang="en-US" sz="1400" dirty="0">
                <a:solidFill>
                  <a:srgbClr val="202020"/>
                </a:solidFill>
              </a:rPr>
              <a:t>Agent Builder converts your natural language description into detailed, programmatic instructions that guide the agent’s actions</a:t>
            </a:r>
            <a:endParaRPr lang="en-US" sz="1400" b="0" i="0" dirty="0">
              <a:solidFill>
                <a:srgbClr val="202020"/>
              </a:solidFill>
              <a:effectLst/>
            </a:endParaRPr>
          </a:p>
          <a:p>
            <a:pPr marL="403225" indent="-176213" fontAlgn="base">
              <a:spcBef>
                <a:spcPts val="300"/>
              </a:spcBef>
              <a:spcAft>
                <a:spcPts val="600"/>
              </a:spcAft>
              <a:buFont typeface="Arial" panose="020B0604020202020204" pitchFamily="34" charset="0"/>
              <a:buChar char="•"/>
            </a:pPr>
            <a:r>
              <a:rPr lang="en-US" sz="1300" b="0" i="0" dirty="0">
                <a:solidFill>
                  <a:srgbClr val="202020"/>
                </a:solidFill>
                <a:effectLst/>
              </a:rPr>
              <a:t>As you converse with Agent Builder about how the agent should act, what its knowledge sources should be, and so on, it continuously refines the agent’s instructions based on your requests</a:t>
            </a:r>
          </a:p>
          <a:p>
            <a:pPr marL="176213" indent="-176213" fontAlgn="base">
              <a:spcBef>
                <a:spcPts val="300"/>
              </a:spcBef>
              <a:spcAft>
                <a:spcPts val="600"/>
              </a:spcAft>
              <a:buFont typeface="Arial" panose="020B0604020202020204" pitchFamily="34" charset="0"/>
              <a:buChar char="•"/>
            </a:pPr>
            <a:r>
              <a:rPr lang="en-US" sz="1400" dirty="0">
                <a:solidFill>
                  <a:srgbClr val="202020"/>
                </a:solidFill>
              </a:rPr>
              <a:t>The </a:t>
            </a:r>
            <a:r>
              <a:rPr lang="en-US" sz="1400" dirty="0">
                <a:solidFill>
                  <a:srgbClr val="202020"/>
                </a:solidFill>
                <a:latin typeface="+mj-lt"/>
              </a:rPr>
              <a:t>Describe</a:t>
            </a:r>
            <a:r>
              <a:rPr lang="en-US" sz="1400" dirty="0">
                <a:solidFill>
                  <a:srgbClr val="202020"/>
                </a:solidFill>
              </a:rPr>
              <a:t> </a:t>
            </a:r>
            <a:r>
              <a:rPr lang="en-US" sz="1400" dirty="0">
                <a:solidFill>
                  <a:schemeClr val="tx1"/>
                </a:solidFill>
              </a:rPr>
              <a:t>tab might not be available in all regions or languages, depending on feature availability and rollout status</a:t>
            </a:r>
            <a:endParaRPr lang="en-US" sz="1400" dirty="0">
              <a:solidFill>
                <a:srgbClr val="202020"/>
              </a:solidFill>
            </a:endParaRPr>
          </a:p>
          <a:p>
            <a:pPr marL="403225" lvl="1" indent="-176213" fontAlgn="base">
              <a:spcBef>
                <a:spcPts val="300"/>
              </a:spcBef>
              <a:spcAft>
                <a:spcPts val="600"/>
              </a:spcAft>
              <a:buFont typeface="Arial" panose="020B0604020202020204" pitchFamily="34" charset="0"/>
              <a:buChar char="•"/>
            </a:pPr>
            <a:r>
              <a:rPr lang="en-US" sz="1300" b="0" i="0" dirty="0">
                <a:solidFill>
                  <a:srgbClr val="202020"/>
                </a:solidFill>
                <a:effectLst/>
              </a:rPr>
              <a:t>You can build your agent solely through the </a:t>
            </a:r>
            <a:r>
              <a:rPr lang="en-US" sz="1300" i="0" dirty="0">
                <a:solidFill>
                  <a:srgbClr val="202020"/>
                </a:solidFill>
                <a:effectLst/>
                <a:latin typeface="+mj-lt"/>
              </a:rPr>
              <a:t>Configure</a:t>
            </a:r>
            <a:r>
              <a:rPr lang="en-US" sz="1300" b="0" i="0" dirty="0">
                <a:solidFill>
                  <a:srgbClr val="202020"/>
                </a:solidFill>
                <a:effectLst/>
              </a:rPr>
              <a:t> tab if the </a:t>
            </a:r>
            <a:r>
              <a:rPr lang="en-US" sz="1300" i="0" dirty="0">
                <a:solidFill>
                  <a:srgbClr val="202020"/>
                </a:solidFill>
                <a:effectLst/>
                <a:latin typeface="+mj-lt"/>
              </a:rPr>
              <a:t>Describe</a:t>
            </a:r>
            <a:r>
              <a:rPr lang="en-US" sz="1300" b="0" i="0" dirty="0">
                <a:solidFill>
                  <a:srgbClr val="202020"/>
                </a:solidFill>
                <a:effectLst/>
              </a:rPr>
              <a:t> tab isn't supported in your region or preferred language</a:t>
            </a:r>
          </a:p>
          <a:p>
            <a:pPr marL="176213" indent="-176213" fontAlgn="base">
              <a:spcBef>
                <a:spcPts val="300"/>
              </a:spcBef>
              <a:spcAft>
                <a:spcPts val="600"/>
              </a:spcAft>
              <a:buFont typeface="Arial" panose="020B0604020202020204" pitchFamily="34" charset="0"/>
              <a:buChar char="•"/>
            </a:pPr>
            <a:r>
              <a:rPr lang="en-US" sz="1400" dirty="0">
                <a:solidFill>
                  <a:srgbClr val="202020"/>
                </a:solidFill>
              </a:rPr>
              <a:t>Agent Builder creates suggested prompts for your draft agent</a:t>
            </a:r>
          </a:p>
          <a:p>
            <a:pPr marL="403225" lvl="1" indent="-176213" fontAlgn="base">
              <a:spcBef>
                <a:spcPts val="300"/>
              </a:spcBef>
              <a:spcAft>
                <a:spcPts val="600"/>
              </a:spcAft>
              <a:buFont typeface="Arial" panose="020B0604020202020204" pitchFamily="34" charset="0"/>
              <a:buChar char="•"/>
            </a:pPr>
            <a:r>
              <a:rPr lang="en-US" sz="1300" dirty="0">
                <a:solidFill>
                  <a:srgbClr val="202020"/>
                </a:solidFill>
              </a:rPr>
              <a:t>These conversation starters, which appear in the </a:t>
            </a:r>
            <a:r>
              <a:rPr lang="en-US" sz="1300" dirty="0">
                <a:solidFill>
                  <a:srgbClr val="202020"/>
                </a:solidFill>
                <a:latin typeface="+mj-lt"/>
              </a:rPr>
              <a:t>Describe </a:t>
            </a:r>
            <a:r>
              <a:rPr lang="en-US" sz="1300" dirty="0">
                <a:solidFill>
                  <a:srgbClr val="202020"/>
                </a:solidFill>
              </a:rPr>
              <a:t>tab’s Preview pane (not shown here), enable you to test the agent</a:t>
            </a:r>
          </a:p>
          <a:p>
            <a:pPr marL="403225" lvl="1" indent="-176213" fontAlgn="base">
              <a:spcBef>
                <a:spcPts val="300"/>
              </a:spcBef>
              <a:spcAft>
                <a:spcPts val="600"/>
              </a:spcAft>
              <a:buFont typeface="Arial" panose="020B0604020202020204" pitchFamily="34" charset="0"/>
              <a:buChar char="•"/>
            </a:pPr>
            <a:r>
              <a:rPr lang="en-US" sz="1300" dirty="0">
                <a:solidFill>
                  <a:srgbClr val="202020"/>
                </a:solidFill>
              </a:rPr>
              <a:t>You can then request changes based on the agent’s responses</a:t>
            </a:r>
            <a:endParaRPr lang="en-US" sz="1300" b="0" i="0" dirty="0">
              <a:solidFill>
                <a:srgbClr val="202020"/>
              </a:solidFill>
              <a:effectLst/>
            </a:endParaRPr>
          </a:p>
        </p:txBody>
      </p:sp>
      <p:pic>
        <p:nvPicPr>
          <p:cNvPr id="11" name="Picture 10" descr="Screenshot of the Agent Builder form showing the Describe tab">
            <a:extLst>
              <a:ext uri="{FF2B5EF4-FFF2-40B4-BE49-F238E27FC236}">
                <a16:creationId xmlns:a16="http://schemas.microsoft.com/office/drawing/2014/main" id="{40D3A07C-9B31-F40D-32DF-80A9247AEA3E}"/>
              </a:ext>
            </a:extLst>
          </p:cNvPr>
          <p:cNvPicPr>
            <a:picLocks noChangeAspect="1"/>
          </p:cNvPicPr>
          <p:nvPr/>
        </p:nvPicPr>
        <p:blipFill>
          <a:blip r:embed="rId3"/>
          <a:stretch>
            <a:fillRect/>
          </a:stretch>
        </p:blipFill>
        <p:spPr>
          <a:xfrm>
            <a:off x="7184223" y="1057836"/>
            <a:ext cx="4786600" cy="5160158"/>
          </a:xfrm>
          <a:prstGeom prst="rect">
            <a:avLst/>
          </a:prstGeom>
        </p:spPr>
      </p:pic>
      <p:sp>
        <p:nvSpPr>
          <p:cNvPr id="8" name="Rectangle 7">
            <a:extLst>
              <a:ext uri="{FF2B5EF4-FFF2-40B4-BE49-F238E27FC236}">
                <a16:creationId xmlns:a16="http://schemas.microsoft.com/office/drawing/2014/main" id="{EC2703DC-5DAF-EEAE-CEC7-526B810C3600}"/>
              </a:ext>
              <a:ext uri="{C183D7F6-B498-43B3-948B-1728B52AA6E4}">
                <adec:decorative xmlns:adec="http://schemas.microsoft.com/office/drawing/2017/decorative" val="1"/>
              </a:ext>
            </a:extLst>
          </p:cNvPr>
          <p:cNvSpPr/>
          <p:nvPr/>
        </p:nvSpPr>
        <p:spPr bwMode="auto">
          <a:xfrm>
            <a:off x="7100048" y="977153"/>
            <a:ext cx="4922234" cy="5319734"/>
          </a:xfrm>
          <a:prstGeom prst="rect">
            <a:avLst/>
          </a:prstGeom>
          <a:noFill/>
          <a:ln w="31750">
            <a:solidFill>
              <a:srgbClr val="C03B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7196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819F1-56D2-8669-3A83-DBDF7192E949}"/>
            </a:ext>
          </a:extLst>
        </p:cNvPr>
        <p:cNvGrpSpPr/>
        <p:nvPr/>
      </p:nvGrpSpPr>
      <p:grpSpPr>
        <a:xfrm>
          <a:off x="0" y="0"/>
          <a:ext cx="0" cy="0"/>
          <a:chOff x="0" y="0"/>
          <a:chExt cx="0" cy="0"/>
        </a:xfrm>
      </p:grpSpPr>
      <p:pic>
        <p:nvPicPr>
          <p:cNvPr id="5" name="Picture 4" descr="Screenshot of the Agent Builder form showing the Configure tab">
            <a:extLst>
              <a:ext uri="{FF2B5EF4-FFF2-40B4-BE49-F238E27FC236}">
                <a16:creationId xmlns:a16="http://schemas.microsoft.com/office/drawing/2014/main" id="{5587BD95-10F4-5299-3FD9-B226C77E081C}"/>
              </a:ext>
            </a:extLst>
          </p:cNvPr>
          <p:cNvPicPr>
            <a:picLocks noChangeAspect="1"/>
          </p:cNvPicPr>
          <p:nvPr/>
        </p:nvPicPr>
        <p:blipFill>
          <a:blip r:embed="rId3"/>
          <a:stretch>
            <a:fillRect/>
          </a:stretch>
        </p:blipFill>
        <p:spPr>
          <a:xfrm>
            <a:off x="6624918" y="376774"/>
            <a:ext cx="5346360" cy="5852281"/>
          </a:xfrm>
          <a:prstGeom prst="rect">
            <a:avLst/>
          </a:prstGeom>
        </p:spPr>
      </p:pic>
      <p:sp>
        <p:nvSpPr>
          <p:cNvPr id="3" name="Title 16">
            <a:extLst>
              <a:ext uri="{FF2B5EF4-FFF2-40B4-BE49-F238E27FC236}">
                <a16:creationId xmlns:a16="http://schemas.microsoft.com/office/drawing/2014/main" id="{2073EB2E-8708-DE04-F207-024B6813DF4D}"/>
              </a:ext>
            </a:extLst>
          </p:cNvPr>
          <p:cNvSpPr txBox="1">
            <a:spLocks noGrp="1"/>
          </p:cNvSpPr>
          <p:nvPr>
            <p:ph type="title" idx="4294967295"/>
          </p:nvPr>
        </p:nvSpPr>
        <p:spPr>
          <a:xfrm>
            <a:off x="375351" y="311276"/>
            <a:ext cx="5768042" cy="98488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Create an agent in Copilot Chat – Part 2</a:t>
            </a:r>
          </a:p>
        </p:txBody>
      </p:sp>
      <p:sp>
        <p:nvSpPr>
          <p:cNvPr id="10" name="Rectangle 9">
            <a:extLst>
              <a:ext uri="{FF2B5EF4-FFF2-40B4-BE49-F238E27FC236}">
                <a16:creationId xmlns:a16="http://schemas.microsoft.com/office/drawing/2014/main" id="{5DA9882B-8201-FA6C-6585-BE5D14105FB5}"/>
              </a:ext>
            </a:extLst>
          </p:cNvPr>
          <p:cNvSpPr/>
          <p:nvPr/>
        </p:nvSpPr>
        <p:spPr bwMode="auto">
          <a:xfrm>
            <a:off x="375351" y="1500027"/>
            <a:ext cx="5971661" cy="4796860"/>
          </a:xfrm>
          <a:prstGeom prst="rect">
            <a:avLst/>
          </a:prstGeom>
          <a:solidFill>
            <a:schemeClr val="accent3">
              <a:lumMod val="20000"/>
              <a:lumOff val="80000"/>
            </a:schemeClr>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ts val="300"/>
              </a:spcBef>
              <a:spcAft>
                <a:spcPts val="600"/>
              </a:spcAft>
            </a:pPr>
            <a:r>
              <a:rPr lang="en-US" sz="1600" dirty="0">
                <a:solidFill>
                  <a:srgbClr val="202020"/>
                </a:solidFill>
                <a:latin typeface="+mj-lt"/>
              </a:rPr>
              <a:t>This screenshot shows the top portion of the Configure tab in Agent Builder:</a:t>
            </a:r>
          </a:p>
          <a:p>
            <a:pPr marL="176213" indent="-176213" fontAlgn="base">
              <a:spcBef>
                <a:spcPts val="300"/>
              </a:spcBef>
              <a:spcAft>
                <a:spcPts val="600"/>
              </a:spcAft>
              <a:buFont typeface="Arial" panose="020B0604020202020204" pitchFamily="34" charset="0"/>
              <a:buChar char="•"/>
            </a:pPr>
            <a:r>
              <a:rPr lang="en-US" sz="1400" b="0" i="0" dirty="0">
                <a:solidFill>
                  <a:srgbClr val="202020"/>
                </a:solidFill>
                <a:effectLst/>
              </a:rPr>
              <a:t>It allows you to create an agent manually by entering the values for each field in the agent</a:t>
            </a:r>
          </a:p>
          <a:p>
            <a:pPr marL="176213" indent="-176213" fontAlgn="base">
              <a:spcBef>
                <a:spcPts val="300"/>
              </a:spcBef>
              <a:spcAft>
                <a:spcPts val="600"/>
              </a:spcAft>
              <a:buFont typeface="Arial" panose="020B0604020202020204" pitchFamily="34" charset="0"/>
              <a:buChar char="•"/>
            </a:pPr>
            <a:r>
              <a:rPr lang="en-US" sz="1400" b="0" i="0" dirty="0">
                <a:solidFill>
                  <a:srgbClr val="202020"/>
                </a:solidFill>
                <a:effectLst/>
              </a:rPr>
              <a:t>This tab enables you to view and edit information about the agent</a:t>
            </a:r>
          </a:p>
          <a:p>
            <a:pPr marL="176213" indent="-176213" fontAlgn="base">
              <a:spcBef>
                <a:spcPts val="300"/>
              </a:spcBef>
              <a:spcAft>
                <a:spcPts val="600"/>
              </a:spcAft>
              <a:buFont typeface="Arial" panose="020B0604020202020204" pitchFamily="34" charset="0"/>
              <a:buChar char="•"/>
            </a:pPr>
            <a:r>
              <a:rPr lang="en-US" sz="1400" dirty="0">
                <a:solidFill>
                  <a:srgbClr val="202020"/>
                </a:solidFill>
              </a:rPr>
              <a:t>This gives</a:t>
            </a:r>
            <a:r>
              <a:rPr lang="en-US" sz="1400" b="0" i="0" dirty="0">
                <a:solidFill>
                  <a:srgbClr val="202020"/>
                </a:solidFill>
                <a:effectLst/>
              </a:rPr>
              <a:t> you more control and more precision than when you create an agent using the </a:t>
            </a:r>
            <a:r>
              <a:rPr lang="en-US" sz="1400" b="0" i="0" dirty="0">
                <a:solidFill>
                  <a:srgbClr val="202020"/>
                </a:solidFill>
                <a:effectLst/>
                <a:latin typeface="+mj-lt"/>
              </a:rPr>
              <a:t>Describe</a:t>
            </a:r>
            <a:r>
              <a:rPr lang="en-US" sz="1400" b="0" i="0" dirty="0">
                <a:solidFill>
                  <a:srgbClr val="202020"/>
                </a:solidFill>
                <a:effectLst/>
              </a:rPr>
              <a:t> tab</a:t>
            </a:r>
          </a:p>
          <a:p>
            <a:pPr marL="176213" indent="-176213" fontAlgn="base">
              <a:spcBef>
                <a:spcPts val="300"/>
              </a:spcBef>
              <a:spcAft>
                <a:spcPts val="600"/>
              </a:spcAft>
              <a:buFont typeface="Arial" panose="020B0604020202020204" pitchFamily="34" charset="0"/>
              <a:buChar char="•"/>
            </a:pPr>
            <a:r>
              <a:rPr lang="en-US" sz="1400" dirty="0">
                <a:solidFill>
                  <a:srgbClr val="202020"/>
                </a:solidFill>
              </a:rPr>
              <a:t>If you entered a description on the </a:t>
            </a:r>
            <a:r>
              <a:rPr lang="en-US" sz="1400" dirty="0">
                <a:solidFill>
                  <a:srgbClr val="202020"/>
                </a:solidFill>
                <a:latin typeface="+mj-lt"/>
              </a:rPr>
              <a:t>Describe</a:t>
            </a:r>
            <a:r>
              <a:rPr lang="en-US" sz="1400" dirty="0">
                <a:solidFill>
                  <a:srgbClr val="202020"/>
                </a:solidFill>
              </a:rPr>
              <a:t> tab, Agent Builder converts them to a more detailed format that you can review and edit if needed in the </a:t>
            </a:r>
            <a:r>
              <a:rPr lang="en-US" sz="1400" dirty="0">
                <a:solidFill>
                  <a:srgbClr val="202020"/>
                </a:solidFill>
                <a:latin typeface="+mj-lt"/>
              </a:rPr>
              <a:t>Instructions</a:t>
            </a:r>
            <a:r>
              <a:rPr lang="en-US" sz="1400" dirty="0">
                <a:solidFill>
                  <a:srgbClr val="202020"/>
                </a:solidFill>
              </a:rPr>
              <a:t> field</a:t>
            </a:r>
            <a:br>
              <a:rPr lang="en-US" sz="1400" b="0" i="0" dirty="0">
                <a:solidFill>
                  <a:srgbClr val="202020"/>
                </a:solidFill>
                <a:effectLst/>
              </a:rPr>
            </a:br>
            <a:endParaRPr lang="en-US" sz="1400" b="0" i="0" dirty="0">
              <a:solidFill>
                <a:srgbClr val="202020"/>
              </a:solidFill>
              <a:effectLst/>
            </a:endParaRPr>
          </a:p>
          <a:p>
            <a:pPr fontAlgn="base">
              <a:spcBef>
                <a:spcPts val="300"/>
              </a:spcBef>
              <a:spcAft>
                <a:spcPts val="600"/>
              </a:spcAft>
            </a:pPr>
            <a:r>
              <a:rPr lang="en-US" sz="1600" b="0" i="0" dirty="0">
                <a:solidFill>
                  <a:srgbClr val="202020"/>
                </a:solidFill>
                <a:effectLst/>
                <a:latin typeface="+mj-lt"/>
              </a:rPr>
              <a:t>The </a:t>
            </a:r>
            <a:r>
              <a:rPr lang="en-US" sz="1600" i="0" dirty="0">
                <a:solidFill>
                  <a:srgbClr val="202020"/>
                </a:solidFill>
                <a:effectLst/>
                <a:latin typeface="+mj-lt"/>
              </a:rPr>
              <a:t>Describe</a:t>
            </a:r>
            <a:r>
              <a:rPr lang="en-US" sz="1600" b="0" i="0" dirty="0">
                <a:solidFill>
                  <a:srgbClr val="202020"/>
                </a:solidFill>
                <a:effectLst/>
                <a:latin typeface="+mj-lt"/>
              </a:rPr>
              <a:t> and </a:t>
            </a:r>
            <a:r>
              <a:rPr lang="en-US" sz="1600" i="0" dirty="0">
                <a:solidFill>
                  <a:srgbClr val="202020"/>
                </a:solidFill>
                <a:effectLst/>
                <a:latin typeface="+mj-lt"/>
              </a:rPr>
              <a:t>Configure</a:t>
            </a:r>
            <a:r>
              <a:rPr lang="en-US" sz="1600" b="0" i="0" dirty="0">
                <a:solidFill>
                  <a:srgbClr val="202020"/>
                </a:solidFill>
                <a:effectLst/>
                <a:latin typeface="+mj-lt"/>
              </a:rPr>
              <a:t> tabs are in sync:</a:t>
            </a:r>
          </a:p>
          <a:p>
            <a:pPr marL="176213" indent="-176213" fontAlgn="base">
              <a:spcBef>
                <a:spcPts val="300"/>
              </a:spcBef>
              <a:spcAft>
                <a:spcPts val="600"/>
              </a:spcAft>
              <a:buFont typeface="Arial" panose="020B0604020202020204" pitchFamily="34" charset="0"/>
              <a:buChar char="•"/>
            </a:pPr>
            <a:r>
              <a:rPr lang="en-US" sz="1400" b="0" i="0" dirty="0">
                <a:solidFill>
                  <a:srgbClr val="202020"/>
                </a:solidFill>
                <a:effectLst/>
              </a:rPr>
              <a:t>The fields in the </a:t>
            </a:r>
            <a:r>
              <a:rPr lang="en-US" sz="1400" i="0" dirty="0">
                <a:solidFill>
                  <a:srgbClr val="202020"/>
                </a:solidFill>
                <a:effectLst/>
                <a:latin typeface="+mj-lt"/>
              </a:rPr>
              <a:t>Configure</a:t>
            </a:r>
            <a:r>
              <a:rPr lang="en-US" sz="1400" b="0" i="0" dirty="0">
                <a:solidFill>
                  <a:srgbClr val="202020"/>
                </a:solidFill>
                <a:effectLst/>
              </a:rPr>
              <a:t> tab update to reflect the latest changes from the </a:t>
            </a:r>
            <a:r>
              <a:rPr lang="en-US" sz="1400" i="0" dirty="0">
                <a:solidFill>
                  <a:srgbClr val="202020"/>
                </a:solidFill>
                <a:effectLst/>
                <a:latin typeface="+mj-lt"/>
              </a:rPr>
              <a:t>Describe</a:t>
            </a:r>
            <a:r>
              <a:rPr lang="en-US" sz="1400" b="0" i="0" dirty="0">
                <a:solidFill>
                  <a:srgbClr val="202020"/>
                </a:solidFill>
                <a:effectLst/>
              </a:rPr>
              <a:t> tab</a:t>
            </a:r>
          </a:p>
          <a:p>
            <a:pPr marL="176213" indent="-176213" fontAlgn="base">
              <a:spcBef>
                <a:spcPts val="300"/>
              </a:spcBef>
              <a:spcAft>
                <a:spcPts val="600"/>
              </a:spcAft>
              <a:buFont typeface="Arial" panose="020B0604020202020204" pitchFamily="34" charset="0"/>
              <a:buChar char="•"/>
            </a:pPr>
            <a:r>
              <a:rPr lang="en-US" sz="1400" b="0" i="0" dirty="0">
                <a:solidFill>
                  <a:srgbClr val="202020"/>
                </a:solidFill>
                <a:effectLst/>
              </a:rPr>
              <a:t>You can switch between the tabs to use the experience that’s most comfortable for you to </a:t>
            </a:r>
            <a:r>
              <a:rPr lang="en-US" sz="1400" dirty="0">
                <a:solidFill>
                  <a:srgbClr val="202020"/>
                </a:solidFill>
              </a:rPr>
              <a:t>create</a:t>
            </a:r>
            <a:r>
              <a:rPr lang="en-US" sz="1400" b="0" i="0" dirty="0">
                <a:solidFill>
                  <a:srgbClr val="202020"/>
                </a:solidFill>
                <a:effectLst/>
              </a:rPr>
              <a:t> the agent</a:t>
            </a:r>
          </a:p>
        </p:txBody>
      </p:sp>
      <p:sp>
        <p:nvSpPr>
          <p:cNvPr id="8" name="Rectangle 7">
            <a:extLst>
              <a:ext uri="{FF2B5EF4-FFF2-40B4-BE49-F238E27FC236}">
                <a16:creationId xmlns:a16="http://schemas.microsoft.com/office/drawing/2014/main" id="{586344A1-EB13-A0EE-9CAC-DEA3BB44501E}"/>
              </a:ext>
              <a:ext uri="{C183D7F6-B498-43B3-948B-1728B52AA6E4}">
                <adec:decorative xmlns:adec="http://schemas.microsoft.com/office/drawing/2017/decorative" val="1"/>
              </a:ext>
            </a:extLst>
          </p:cNvPr>
          <p:cNvSpPr/>
          <p:nvPr/>
        </p:nvSpPr>
        <p:spPr bwMode="auto">
          <a:xfrm>
            <a:off x="6624918" y="305353"/>
            <a:ext cx="5397364" cy="5991534"/>
          </a:xfrm>
          <a:prstGeom prst="rect">
            <a:avLst/>
          </a:prstGeom>
          <a:noFill/>
          <a:ln w="31750">
            <a:solidFill>
              <a:srgbClr val="C03B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7723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91A7-121B-F169-8DDD-0FD1B5A8CD48}"/>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65D0303D-7BD4-F497-BCA1-B5D45A4A3172}"/>
              </a:ext>
            </a:extLst>
          </p:cNvPr>
          <p:cNvSpPr>
            <a:spLocks noGrp="1"/>
          </p:cNvSpPr>
          <p:nvPr>
            <p:ph type="title"/>
          </p:nvPr>
        </p:nvSpPr>
        <p:spPr/>
        <p:txBody>
          <a:bodyPr>
            <a:normAutofit fontScale="90000"/>
          </a:bodyPr>
          <a:lstStyle/>
          <a:p>
            <a:r>
              <a:rPr lang="en-US" dirty="0"/>
              <a:t>Lab exercise</a:t>
            </a:r>
          </a:p>
        </p:txBody>
      </p:sp>
      <p:sp>
        <p:nvSpPr>
          <p:cNvPr id="2" name="Text Placeholder 1">
            <a:extLst>
              <a:ext uri="{FF2B5EF4-FFF2-40B4-BE49-F238E27FC236}">
                <a16:creationId xmlns:a16="http://schemas.microsoft.com/office/drawing/2014/main" id="{191C916C-9572-AD81-A75F-14555F73C446}"/>
              </a:ext>
            </a:extLst>
          </p:cNvPr>
          <p:cNvSpPr>
            <a:spLocks noGrp="1"/>
          </p:cNvSpPr>
          <p:nvPr>
            <p:ph type="body" sz="quarter" idx="17"/>
          </p:nvPr>
        </p:nvSpPr>
        <p:spPr>
          <a:xfrm>
            <a:off x="4356040" y="1926687"/>
            <a:ext cx="7243823" cy="307777"/>
          </a:xfrm>
        </p:spPr>
        <p:txBody>
          <a:bodyPr>
            <a:normAutofit fontScale="85000" lnSpcReduction="10000"/>
          </a:bodyPr>
          <a:lstStyle/>
          <a:p>
            <a:r>
              <a:rPr lang="en-US" sz="2000" dirty="0"/>
              <a:t>Exercise 1: Create a Microsoft 365 Copilot Chat agent</a:t>
            </a:r>
          </a:p>
        </p:txBody>
      </p:sp>
      <p:sp>
        <p:nvSpPr>
          <p:cNvPr id="3" name="TextBox 2">
            <a:extLst>
              <a:ext uri="{FF2B5EF4-FFF2-40B4-BE49-F238E27FC236}">
                <a16:creationId xmlns:a16="http://schemas.microsoft.com/office/drawing/2014/main" id="{2370BA5F-0D7E-F632-9242-5C34169B5C7A}"/>
              </a:ext>
            </a:extLst>
          </p:cNvPr>
          <p:cNvSpPr txBox="1"/>
          <p:nvPr/>
        </p:nvSpPr>
        <p:spPr>
          <a:xfrm>
            <a:off x="4356040" y="2586965"/>
            <a:ext cx="6770872" cy="1384995"/>
          </a:xfrm>
          <a:prstGeom prst="rect">
            <a:avLst/>
          </a:prstGeom>
          <a:noFill/>
        </p:spPr>
        <p:txBody>
          <a:bodyPr wrap="square" lIns="0" tIns="0" rIns="0" bIns="0" rtlCol="0">
            <a:spAutoFit/>
          </a:bodyPr>
          <a:lstStyle/>
          <a:p>
            <a:r>
              <a:rPr lang="en-US" sz="1800" dirty="0"/>
              <a:t>Be creative and design an agent that’s of significant interest to you.</a:t>
            </a:r>
          </a:p>
          <a:p>
            <a:endParaRPr lang="en-US" sz="1800" dirty="0"/>
          </a:p>
          <a:p>
            <a:r>
              <a:rPr lang="en-US" sz="1800" dirty="0"/>
              <a:t>For example, you might want to solve a real-world business problem, improve productivity in a specific area at your company, or address a personal topic that interests you.</a:t>
            </a:r>
          </a:p>
        </p:txBody>
      </p:sp>
    </p:spTree>
    <p:extLst>
      <p:ext uri="{BB962C8B-B14F-4D97-AF65-F5344CB8AC3E}">
        <p14:creationId xmlns:p14="http://schemas.microsoft.com/office/powerpoint/2010/main" val="220716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D15BB-F3AE-7C5C-8C54-C6AA50EDA929}"/>
            </a:ext>
          </a:extLst>
        </p:cNvPr>
        <p:cNvGrpSpPr/>
        <p:nvPr/>
      </p:nvGrpSpPr>
      <p:grpSpPr>
        <a:xfrm>
          <a:off x="0" y="0"/>
          <a:ext cx="0" cy="0"/>
          <a:chOff x="0" y="0"/>
          <a:chExt cx="0" cy="0"/>
        </a:xfrm>
      </p:grpSpPr>
      <p:sp>
        <p:nvSpPr>
          <p:cNvPr id="3" name="Title 16">
            <a:extLst>
              <a:ext uri="{FF2B5EF4-FFF2-40B4-BE49-F238E27FC236}">
                <a16:creationId xmlns:a16="http://schemas.microsoft.com/office/drawing/2014/main" id="{AFB33024-BADB-1B44-937E-03C0F977AF26}"/>
              </a:ext>
            </a:extLst>
          </p:cNvPr>
          <p:cNvSpPr txBox="1">
            <a:spLocks noGrp="1"/>
          </p:cNvSpPr>
          <p:nvPr>
            <p:ph type="title" idx="4294967295"/>
          </p:nvPr>
        </p:nvSpPr>
        <p:spPr>
          <a:xfrm>
            <a:off x="375351" y="85855"/>
            <a:ext cx="8610994"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Create an agent in SharePoint</a:t>
            </a:r>
          </a:p>
        </p:txBody>
      </p:sp>
      <p:sp>
        <p:nvSpPr>
          <p:cNvPr id="10" name="Rectangle 9">
            <a:extLst>
              <a:ext uri="{FF2B5EF4-FFF2-40B4-BE49-F238E27FC236}">
                <a16:creationId xmlns:a16="http://schemas.microsoft.com/office/drawing/2014/main" id="{3BFC5D40-EA43-43D7-BCA5-5C17B2734018}"/>
              </a:ext>
            </a:extLst>
          </p:cNvPr>
          <p:cNvSpPr/>
          <p:nvPr/>
        </p:nvSpPr>
        <p:spPr bwMode="auto">
          <a:xfrm>
            <a:off x="92466" y="712570"/>
            <a:ext cx="4736388" cy="5606034"/>
          </a:xfrm>
          <a:prstGeom prst="rect">
            <a:avLst/>
          </a:prstGeom>
          <a:solidFill>
            <a:srgbClr val="CCCCFF"/>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ts val="300"/>
              </a:spcBef>
              <a:spcAft>
                <a:spcPts val="600"/>
              </a:spcAft>
            </a:pPr>
            <a:r>
              <a:rPr lang="en-US" sz="1500" b="0" i="0" dirty="0">
                <a:solidFill>
                  <a:srgbClr val="202020"/>
                </a:solidFill>
                <a:effectLst/>
                <a:latin typeface="+mj-lt"/>
              </a:rPr>
              <a:t>Rather than using Agent Builder to build a SharePoint agent, you use a Copilot agent tool that’s designed specifically for SharePoint</a:t>
            </a:r>
          </a:p>
          <a:p>
            <a:pPr fontAlgn="base">
              <a:spcBef>
                <a:spcPts val="300"/>
              </a:spcBef>
              <a:spcAft>
                <a:spcPts val="600"/>
              </a:spcAft>
            </a:pPr>
            <a:r>
              <a:rPr lang="en-US" sz="1400" dirty="0">
                <a:solidFill>
                  <a:srgbClr val="202020"/>
                </a:solidFill>
                <a:latin typeface="+mj-lt"/>
              </a:rPr>
              <a:t>While this SharePoint tool creates an agent just like Agent Builder, it looks a little different (see the screenshot), and there are some differences in how it operates:</a:t>
            </a:r>
          </a:p>
          <a:p>
            <a:pPr marL="179388" indent="-179388" fontAlgn="base">
              <a:spcBef>
                <a:spcPts val="300"/>
              </a:spcBef>
              <a:spcAft>
                <a:spcPts val="600"/>
              </a:spcAft>
              <a:buFont typeface="Arial" panose="020B0604020202020204" pitchFamily="34" charset="0"/>
              <a:buChar char="•"/>
            </a:pPr>
            <a:r>
              <a:rPr lang="en-US" sz="1300" dirty="0">
                <a:solidFill>
                  <a:srgbClr val="202020"/>
                </a:solidFill>
              </a:rPr>
              <a:t>The tool has 3 tabs:</a:t>
            </a:r>
          </a:p>
          <a:p>
            <a:pPr marL="509588" indent="-179388" fontAlgn="base">
              <a:spcBef>
                <a:spcPts val="300"/>
              </a:spcBef>
              <a:spcAft>
                <a:spcPts val="600"/>
              </a:spcAft>
              <a:buFont typeface="Arial" panose="020B0604020202020204" pitchFamily="34" charset="0"/>
              <a:buChar char="•"/>
            </a:pPr>
            <a:r>
              <a:rPr lang="en-US" sz="1300" b="1" dirty="0">
                <a:solidFill>
                  <a:srgbClr val="202020"/>
                </a:solidFill>
              </a:rPr>
              <a:t>Overview</a:t>
            </a:r>
            <a:r>
              <a:rPr lang="en-US" sz="1300" dirty="0">
                <a:solidFill>
                  <a:srgbClr val="202020"/>
                </a:solidFill>
              </a:rPr>
              <a:t>. Enter the agent’s name and description</a:t>
            </a:r>
          </a:p>
          <a:p>
            <a:pPr marL="509588" indent="-179388" fontAlgn="base">
              <a:spcBef>
                <a:spcPts val="300"/>
              </a:spcBef>
              <a:spcAft>
                <a:spcPts val="600"/>
              </a:spcAft>
              <a:buFont typeface="Arial" panose="020B0604020202020204" pitchFamily="34" charset="0"/>
              <a:buChar char="•"/>
            </a:pPr>
            <a:r>
              <a:rPr lang="en-US" sz="1300" b="1" dirty="0">
                <a:solidFill>
                  <a:srgbClr val="202020"/>
                </a:solidFill>
              </a:rPr>
              <a:t>Sources</a:t>
            </a:r>
            <a:r>
              <a:rPr lang="en-US" sz="1300" dirty="0">
                <a:solidFill>
                  <a:srgbClr val="202020"/>
                </a:solidFill>
              </a:rPr>
              <a:t>. Define the agent’s knowledge sources</a:t>
            </a:r>
          </a:p>
          <a:p>
            <a:pPr marL="509588" indent="-179388" fontAlgn="base">
              <a:spcBef>
                <a:spcPts val="300"/>
              </a:spcBef>
              <a:spcAft>
                <a:spcPts val="600"/>
              </a:spcAft>
              <a:buFont typeface="Arial" panose="020B0604020202020204" pitchFamily="34" charset="0"/>
              <a:buChar char="•"/>
            </a:pPr>
            <a:r>
              <a:rPr lang="en-US" sz="1300" b="1" dirty="0">
                <a:solidFill>
                  <a:srgbClr val="202020"/>
                </a:solidFill>
              </a:rPr>
              <a:t>Behavior</a:t>
            </a:r>
            <a:r>
              <a:rPr lang="en-US" sz="1300" dirty="0">
                <a:solidFill>
                  <a:srgbClr val="202020"/>
                </a:solidFill>
              </a:rPr>
              <a:t>. Define a Welcome message, starter prompts, and instructions</a:t>
            </a:r>
          </a:p>
          <a:p>
            <a:pPr marL="179388" lvl="1" indent="-179388" fontAlgn="base">
              <a:spcBef>
                <a:spcPts val="300"/>
              </a:spcBef>
              <a:spcAft>
                <a:spcPts val="600"/>
              </a:spcAft>
              <a:buFont typeface="Arial" panose="020B0604020202020204" pitchFamily="34" charset="0"/>
              <a:buChar char="•"/>
            </a:pPr>
            <a:r>
              <a:rPr lang="en-US" sz="1300" b="0" i="0" dirty="0">
                <a:solidFill>
                  <a:srgbClr val="202020"/>
                </a:solidFill>
                <a:effectLst/>
              </a:rPr>
              <a:t>The Capabilities section isn’t available</a:t>
            </a:r>
          </a:p>
          <a:p>
            <a:pPr marL="179388" lvl="1" indent="-179388" fontAlgn="base">
              <a:spcBef>
                <a:spcPts val="300"/>
              </a:spcBef>
              <a:spcAft>
                <a:spcPts val="600"/>
              </a:spcAft>
              <a:buFont typeface="Arial" panose="020B0604020202020204" pitchFamily="34" charset="0"/>
              <a:buChar char="•"/>
            </a:pPr>
            <a:r>
              <a:rPr lang="en-US" sz="1300" dirty="0">
                <a:solidFill>
                  <a:srgbClr val="202020"/>
                </a:solidFill>
              </a:rPr>
              <a:t>You can’t configure the agent based on a template</a:t>
            </a:r>
          </a:p>
          <a:p>
            <a:pPr marL="179388" lvl="1" indent="-179388" fontAlgn="base">
              <a:spcBef>
                <a:spcPts val="300"/>
              </a:spcBef>
              <a:spcAft>
                <a:spcPts val="600"/>
              </a:spcAft>
              <a:buFont typeface="Arial" panose="020B0604020202020204" pitchFamily="34" charset="0"/>
              <a:buChar char="•"/>
            </a:pPr>
            <a:r>
              <a:rPr lang="en-US" sz="1300" dirty="0">
                <a:solidFill>
                  <a:srgbClr val="202020"/>
                </a:solidFill>
              </a:rPr>
              <a:t>You enter your instructions using natural language, just like in Agent Builder, but the tool doesn’t carry on a conversation to fine tune the instructions</a:t>
            </a:r>
          </a:p>
          <a:p>
            <a:pPr marL="179388" lvl="1" indent="-179388" fontAlgn="base">
              <a:spcBef>
                <a:spcPts val="300"/>
              </a:spcBef>
              <a:spcAft>
                <a:spcPts val="600"/>
              </a:spcAft>
              <a:buFont typeface="Arial" panose="020B0604020202020204" pitchFamily="34" charset="0"/>
              <a:buChar char="•"/>
            </a:pPr>
            <a:r>
              <a:rPr lang="en-US" sz="1300" dirty="0">
                <a:solidFill>
                  <a:srgbClr val="202020"/>
                </a:solidFill>
              </a:rPr>
              <a:t>You’re limited to 3 suggested prompts</a:t>
            </a:r>
          </a:p>
          <a:p>
            <a:pPr marL="179388" lvl="1" indent="-179388" fontAlgn="base">
              <a:spcBef>
                <a:spcPts val="300"/>
              </a:spcBef>
              <a:spcAft>
                <a:spcPts val="600"/>
              </a:spcAft>
              <a:buFont typeface="Arial" panose="020B0604020202020204" pitchFamily="34" charset="0"/>
              <a:buChar char="•"/>
            </a:pPr>
            <a:r>
              <a:rPr lang="en-US" sz="1300" dirty="0">
                <a:solidFill>
                  <a:srgbClr val="202020"/>
                </a:solidFill>
              </a:rPr>
              <a:t>You can enter a Welcome message</a:t>
            </a:r>
          </a:p>
          <a:p>
            <a:pPr marL="688958" lvl="1" indent="-231775" fontAlgn="base">
              <a:spcBef>
                <a:spcPts val="300"/>
              </a:spcBef>
              <a:spcAft>
                <a:spcPts val="600"/>
              </a:spcAft>
              <a:buFont typeface="Arial" panose="020B0604020202020204" pitchFamily="34" charset="0"/>
              <a:buChar char="•"/>
            </a:pPr>
            <a:endParaRPr lang="en-US" sz="1400" b="0" i="0" dirty="0">
              <a:solidFill>
                <a:srgbClr val="202020"/>
              </a:solidFill>
              <a:effectLst/>
            </a:endParaRPr>
          </a:p>
        </p:txBody>
      </p:sp>
      <p:sp>
        <p:nvSpPr>
          <p:cNvPr id="8" name="Rectangle 7">
            <a:extLst>
              <a:ext uri="{FF2B5EF4-FFF2-40B4-BE49-F238E27FC236}">
                <a16:creationId xmlns:a16="http://schemas.microsoft.com/office/drawing/2014/main" id="{9DA18F3E-4B6D-6F9F-480B-D74ADF33C859}"/>
              </a:ext>
              <a:ext uri="{C183D7F6-B498-43B3-948B-1728B52AA6E4}">
                <adec:decorative xmlns:adec="http://schemas.microsoft.com/office/drawing/2017/decorative" val="1"/>
              </a:ext>
            </a:extLst>
          </p:cNvPr>
          <p:cNvSpPr/>
          <p:nvPr/>
        </p:nvSpPr>
        <p:spPr bwMode="auto">
          <a:xfrm>
            <a:off x="4961426" y="1166653"/>
            <a:ext cx="7143730" cy="4642988"/>
          </a:xfrm>
          <a:prstGeom prst="rect">
            <a:avLst/>
          </a:prstGeom>
          <a:noFill/>
          <a:ln w="31750">
            <a:solidFill>
              <a:srgbClr val="C03B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Screenshot that displays the form used to create a SharePoint agent.">
            <a:extLst>
              <a:ext uri="{FF2B5EF4-FFF2-40B4-BE49-F238E27FC236}">
                <a16:creationId xmlns:a16="http://schemas.microsoft.com/office/drawing/2014/main" id="{86DE25F1-A542-7468-6C85-B2BCE375569C}"/>
              </a:ext>
            </a:extLst>
          </p:cNvPr>
          <p:cNvPicPr>
            <a:picLocks noChangeAspect="1"/>
          </p:cNvPicPr>
          <p:nvPr/>
        </p:nvPicPr>
        <p:blipFill>
          <a:blip r:embed="rId3"/>
          <a:stretch>
            <a:fillRect/>
          </a:stretch>
        </p:blipFill>
        <p:spPr>
          <a:xfrm>
            <a:off x="5054886" y="1304633"/>
            <a:ext cx="6973708" cy="4282312"/>
          </a:xfrm>
          <a:prstGeom prst="rect">
            <a:avLst/>
          </a:prstGeom>
        </p:spPr>
      </p:pic>
    </p:spTree>
    <p:extLst>
      <p:ext uri="{BB962C8B-B14F-4D97-AF65-F5344CB8AC3E}">
        <p14:creationId xmlns:p14="http://schemas.microsoft.com/office/powerpoint/2010/main" val="3497900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fontScale="90000"/>
          </a:bodyPr>
          <a:lstStyle/>
          <a:p>
            <a:r>
              <a:rPr lang="en-US" dirty="0"/>
              <a:t>Lab exercise</a:t>
            </a:r>
          </a:p>
        </p:txBody>
      </p:sp>
      <p:sp>
        <p:nvSpPr>
          <p:cNvPr id="2" name="Text Placeholder 1">
            <a:extLst>
              <a:ext uri="{FF2B5EF4-FFF2-40B4-BE49-F238E27FC236}">
                <a16:creationId xmlns:a16="http://schemas.microsoft.com/office/drawing/2014/main" id="{8E243A53-4CB6-6924-C099-9E263E28C04E}"/>
              </a:ext>
            </a:extLst>
          </p:cNvPr>
          <p:cNvSpPr>
            <a:spLocks noGrp="1"/>
          </p:cNvSpPr>
          <p:nvPr>
            <p:ph type="body" sz="quarter" idx="17"/>
          </p:nvPr>
        </p:nvSpPr>
        <p:spPr>
          <a:xfrm>
            <a:off x="4356040" y="949227"/>
            <a:ext cx="7243823" cy="307777"/>
          </a:xfrm>
        </p:spPr>
        <p:txBody>
          <a:bodyPr>
            <a:normAutofit fontScale="85000" lnSpcReduction="10000"/>
          </a:bodyPr>
          <a:lstStyle/>
          <a:p>
            <a:r>
              <a:rPr lang="en-US" sz="2000" dirty="0"/>
              <a:t>Exercise 2: Create a SharePoint agent</a:t>
            </a:r>
          </a:p>
        </p:txBody>
      </p:sp>
      <p:sp>
        <p:nvSpPr>
          <p:cNvPr id="6" name="TextBox 5">
            <a:extLst>
              <a:ext uri="{FF2B5EF4-FFF2-40B4-BE49-F238E27FC236}">
                <a16:creationId xmlns:a16="http://schemas.microsoft.com/office/drawing/2014/main" id="{2783C357-0E7B-222B-B4FE-BAF12E9AF9CE}"/>
              </a:ext>
            </a:extLst>
          </p:cNvPr>
          <p:cNvSpPr txBox="1"/>
          <p:nvPr/>
        </p:nvSpPr>
        <p:spPr>
          <a:xfrm>
            <a:off x="4356040" y="1577975"/>
            <a:ext cx="6770872" cy="3600986"/>
          </a:xfrm>
          <a:prstGeom prst="rect">
            <a:avLst/>
          </a:prstGeom>
          <a:noFill/>
        </p:spPr>
        <p:txBody>
          <a:bodyPr wrap="square" lIns="0" tIns="0" rIns="0" bIns="0" rtlCol="0">
            <a:spAutoFit/>
          </a:bodyPr>
          <a:lstStyle/>
          <a:p>
            <a:r>
              <a:rPr lang="en-US" sz="1800" dirty="0"/>
              <a:t>In this exercise, you’ll create a SharePoint agent to help you get quick answers or perform useful actions that are related to a SharePoint site.</a:t>
            </a:r>
          </a:p>
          <a:p>
            <a:endParaRPr lang="en-US" sz="1800" dirty="0"/>
          </a:p>
          <a:p>
            <a:pPr marL="285750" indent="-285750">
              <a:buFont typeface="Arial" panose="020B0604020202020204" pitchFamily="34" charset="0"/>
              <a:buChar char="•"/>
            </a:pPr>
            <a:r>
              <a:rPr lang="en-US" sz="1800" dirty="0"/>
              <a:t>If you have access to a SharePoint site, such as a team site, project site, or resource hub, then you can use the site in this exercise.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If you don’t have access to a SharePoint site, then you can perform this exercise within a simulated lab environment that’s provided. The </a:t>
            </a:r>
            <a:r>
              <a:rPr lang="en-US" sz="1800"/>
              <a:t>simulation uses </a:t>
            </a:r>
            <a:r>
              <a:rPr lang="en-US" sz="1800" dirty="0"/>
              <a:t>a fictitious Fabrikam team site. </a:t>
            </a:r>
          </a:p>
          <a:p>
            <a:endParaRPr lang="en-US" sz="1800" dirty="0"/>
          </a:p>
          <a:p>
            <a:endParaRPr lang="en-US" sz="1800" dirty="0"/>
          </a:p>
        </p:txBody>
      </p:sp>
    </p:spTree>
    <p:extLst>
      <p:ext uri="{BB962C8B-B14F-4D97-AF65-F5344CB8AC3E}">
        <p14:creationId xmlns:p14="http://schemas.microsoft.com/office/powerpoint/2010/main" val="282935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E248F-1E2E-8D41-0892-518893783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7CC56-6843-C0EE-2FAF-3F13945135FF}"/>
              </a:ext>
            </a:extLst>
          </p:cNvPr>
          <p:cNvSpPr>
            <a:spLocks noGrp="1"/>
          </p:cNvSpPr>
          <p:nvPr>
            <p:ph type="title"/>
          </p:nvPr>
        </p:nvSpPr>
        <p:spPr>
          <a:xfrm>
            <a:off x="983431" y="44626"/>
            <a:ext cx="10554447" cy="492443"/>
          </a:xfrm>
        </p:spPr>
        <p:txBody>
          <a:bodyPr/>
          <a:lstStyle/>
          <a:p>
            <a:r>
              <a:rPr lang="en-US" dirty="0"/>
              <a:t>Video – One-click AI Agents</a:t>
            </a:r>
          </a:p>
        </p:txBody>
      </p:sp>
      <p:pic>
        <p:nvPicPr>
          <p:cNvPr id="3" name="Online Media 2" title="One-click AI agents in SharePoint and Teams - focused on files you select (Microsoft 365 Copilot)">
            <a:hlinkClick r:id="" action="ppaction://media"/>
            <a:extLst>
              <a:ext uri="{FF2B5EF4-FFF2-40B4-BE49-F238E27FC236}">
                <a16:creationId xmlns:a16="http://schemas.microsoft.com/office/drawing/2014/main" id="{B5461D15-B3D9-96AA-5CE6-B3698A692FD7}"/>
              </a:ext>
            </a:extLst>
          </p:cNvPr>
          <p:cNvPicPr>
            <a:picLocks noRot="1" noChangeAspect="1"/>
          </p:cNvPicPr>
          <p:nvPr>
            <a:videoFile r:link="rId1"/>
          </p:nvPr>
        </p:nvPicPr>
        <p:blipFill>
          <a:blip r:embed="rId3"/>
          <a:stretch>
            <a:fillRect/>
          </a:stretch>
        </p:blipFill>
        <p:spPr>
          <a:xfrm>
            <a:off x="1020223" y="698964"/>
            <a:ext cx="10045046" cy="5671014"/>
          </a:xfrm>
          <a:prstGeom prst="rect">
            <a:avLst/>
          </a:prstGeom>
        </p:spPr>
      </p:pic>
    </p:spTree>
    <p:extLst>
      <p:ext uri="{BB962C8B-B14F-4D97-AF65-F5344CB8AC3E}">
        <p14:creationId xmlns:p14="http://schemas.microsoft.com/office/powerpoint/2010/main" val="3293881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C3A7-1B94-8C02-730F-263E783F5AA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E936D9E3-F18C-3E48-4D42-C83BFFCC7E40}"/>
              </a:ext>
            </a:extLst>
          </p:cNvPr>
          <p:cNvSpPr>
            <a:spLocks noGrp="1"/>
          </p:cNvSpPr>
          <p:nvPr>
            <p:ph type="title"/>
          </p:nvPr>
        </p:nvSpPr>
        <p:spPr>
          <a:xfrm>
            <a:off x="588262" y="585216"/>
            <a:ext cx="11011600" cy="492443"/>
          </a:xfrm>
        </p:spPr>
        <p:txBody>
          <a:bodyPr/>
          <a:lstStyle/>
          <a:p>
            <a:r>
              <a:rPr lang="en-US" dirty="0"/>
              <a:t>Discussion – Video review</a:t>
            </a:r>
          </a:p>
        </p:txBody>
      </p:sp>
      <p:sp>
        <p:nvSpPr>
          <p:cNvPr id="6" name="Rectangle 5">
            <a:extLst>
              <a:ext uri="{FF2B5EF4-FFF2-40B4-BE49-F238E27FC236}">
                <a16:creationId xmlns:a16="http://schemas.microsoft.com/office/drawing/2014/main" id="{F3A4858A-98AB-77D7-FC5A-557800D40575}"/>
              </a:ext>
            </a:extLst>
          </p:cNvPr>
          <p:cNvSpPr>
            <a:spLocks/>
          </p:cNvSpPr>
          <p:nvPr/>
        </p:nvSpPr>
        <p:spPr>
          <a:xfrm>
            <a:off x="825501" y="2111812"/>
            <a:ext cx="10129838" cy="1508105"/>
          </a:xfrm>
          <a:prstGeom prst="rect">
            <a:avLst/>
          </a:prstGeom>
        </p:spPr>
        <p:txBody>
          <a:bodyPr wrap="square" lIns="0" tIns="0" rIns="0" bIns="0">
            <a:spAutoFit/>
          </a:bodyPr>
          <a:lstStyle/>
          <a:p>
            <a:pPr marL="342900" indent="-342900">
              <a:spcAft>
                <a:spcPts val="1200"/>
              </a:spcAft>
              <a:buSzPct val="90000"/>
              <a:buFont typeface="Arial" panose="020B0604020202020204" pitchFamily="34" charset="0"/>
              <a:buChar char="•"/>
            </a:pPr>
            <a:r>
              <a:rPr lang="en-US" sz="2200" dirty="0"/>
              <a:t>What are your key takeaways from this video, and why?</a:t>
            </a:r>
            <a:br>
              <a:rPr lang="en-US" sz="2200" dirty="0"/>
            </a:br>
            <a:endParaRPr lang="en-US" sz="2200" dirty="0"/>
          </a:p>
          <a:p>
            <a:pPr marL="342900" indent="-342900">
              <a:spcAft>
                <a:spcPts val="1200"/>
              </a:spcAft>
              <a:buSzPct val="90000"/>
              <a:buFont typeface="Arial" panose="020B0604020202020204" pitchFamily="34" charset="0"/>
              <a:buChar char="•"/>
            </a:pPr>
            <a:r>
              <a:rPr lang="en-US" sz="2200" dirty="0"/>
              <a:t>What features related to creating agents in SharePoint did you find interesting?</a:t>
            </a:r>
            <a:br>
              <a:rPr lang="en-US" sz="2200" dirty="0"/>
            </a:br>
            <a:endParaRPr lang="en-US" sz="2200" dirty="0"/>
          </a:p>
        </p:txBody>
      </p:sp>
    </p:spTree>
    <p:extLst>
      <p:ext uri="{BB962C8B-B14F-4D97-AF65-F5344CB8AC3E}">
        <p14:creationId xmlns:p14="http://schemas.microsoft.com/office/powerpoint/2010/main" val="362975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D7E0B-7570-7908-5AD1-A44A5F655069}"/>
            </a:ext>
          </a:extLst>
        </p:cNvPr>
        <p:cNvGrpSpPr/>
        <p:nvPr/>
      </p:nvGrpSpPr>
      <p:grpSpPr>
        <a:xfrm>
          <a:off x="0" y="0"/>
          <a:ext cx="0" cy="0"/>
          <a:chOff x="0" y="0"/>
          <a:chExt cx="0" cy="0"/>
        </a:xfrm>
      </p:grpSpPr>
      <p:sp>
        <p:nvSpPr>
          <p:cNvPr id="2" name="Title 16">
            <a:extLst>
              <a:ext uri="{FF2B5EF4-FFF2-40B4-BE49-F238E27FC236}">
                <a16:creationId xmlns:a16="http://schemas.microsoft.com/office/drawing/2014/main" id="{7A57684B-6636-28FF-4BF4-2C3E15252ECA}"/>
              </a:ext>
            </a:extLst>
          </p:cNvPr>
          <p:cNvSpPr txBox="1">
            <a:spLocks noGrp="1"/>
          </p:cNvSpPr>
          <p:nvPr>
            <p:ph type="title" idx="4294967295"/>
          </p:nvPr>
        </p:nvSpPr>
        <p:spPr>
          <a:xfrm>
            <a:off x="541607" y="145629"/>
            <a:ext cx="11044938"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Test and edit your agents</a:t>
            </a:r>
          </a:p>
        </p:txBody>
      </p:sp>
      <p:sp>
        <p:nvSpPr>
          <p:cNvPr id="21" name="Rounded Rectangle 3_1">
            <a:extLst>
              <a:ext uri="{FF2B5EF4-FFF2-40B4-BE49-F238E27FC236}">
                <a16:creationId xmlns:a16="http://schemas.microsoft.com/office/drawing/2014/main" id="{A26234DF-8013-A1B3-4DE0-57327C749DE4}"/>
              </a:ext>
            </a:extLst>
          </p:cNvPr>
          <p:cNvSpPr/>
          <p:nvPr/>
        </p:nvSpPr>
        <p:spPr>
          <a:xfrm>
            <a:off x="605455" y="797448"/>
            <a:ext cx="3458484" cy="5546307"/>
          </a:xfrm>
          <a:prstGeom prst="roundRect">
            <a:avLst>
              <a:gd name="adj" fmla="val 0"/>
            </a:avLst>
          </a:prstGeom>
          <a:solidFill>
            <a:srgbClr val="FFE399"/>
          </a:solidFill>
          <a:ln w="38100">
            <a:noFill/>
          </a:ln>
          <a:effectLst>
            <a:outerShdw blurRad="127000" dist="38100" dir="2700000" algn="tr" rotWithShape="0">
              <a:srgbClr val="CAC5B8">
                <a:alpha val="60000"/>
              </a:srgbClr>
            </a:outerShdw>
          </a:effectLst>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lIns="144000" tIns="182880" rIns="144000" bIns="182880" rtlCol="0" anchor="t"/>
          <a:lstStyle/>
          <a:p>
            <a:pPr algn="ctr" defTabSz="932563">
              <a:spcBef>
                <a:spcPts val="300"/>
              </a:spcBef>
              <a:spcAft>
                <a:spcPts val="600"/>
              </a:spcAft>
              <a:buSzPct val="90000"/>
            </a:pPr>
            <a:r>
              <a:rPr lang="en-US" sz="1600" dirty="0">
                <a:solidFill>
                  <a:srgbClr val="000000"/>
                </a:solidFill>
                <a:latin typeface="Segoe UI Semibold"/>
              </a:rPr>
              <a:t>Test the Instructions</a:t>
            </a: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Experiment with tones and styles</a:t>
            </a:r>
          </a:p>
          <a:p>
            <a:pPr marL="400050" lvl="1" indent="-174625">
              <a:spcBef>
                <a:spcPts val="300"/>
              </a:spcBef>
              <a:spcAft>
                <a:spcPts val="600"/>
              </a:spcAft>
              <a:buSzPct val="90000"/>
              <a:buFont typeface="Arial" panose="020B0604020202020204" pitchFamily="34" charset="0"/>
              <a:buChar char="•"/>
              <a:defRPr/>
            </a:pPr>
            <a:r>
              <a:rPr lang="en-US" sz="1300" dirty="0">
                <a:solidFill>
                  <a:srgbClr val="202020"/>
                </a:solidFill>
              </a:rPr>
              <a:t>Such as professional tone vs. casual tone; see which resonates best</a:t>
            </a: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Clarity and accuracy</a:t>
            </a:r>
          </a:p>
          <a:p>
            <a:pPr marL="400050" lvl="1" indent="-174625">
              <a:spcBef>
                <a:spcPts val="300"/>
              </a:spcBef>
              <a:spcAft>
                <a:spcPts val="600"/>
              </a:spcAft>
              <a:buSzPct val="90000"/>
              <a:buFont typeface="Arial" panose="020B0604020202020204" pitchFamily="34" charset="0"/>
              <a:buChar char="•"/>
              <a:defRPr/>
            </a:pPr>
            <a:r>
              <a:rPr lang="en-US" sz="1300" dirty="0">
                <a:solidFill>
                  <a:srgbClr val="202020"/>
                </a:solidFill>
              </a:rPr>
              <a:t>Verify you can follow the instructions and the response is accurate</a:t>
            </a: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Consistency</a:t>
            </a:r>
          </a:p>
          <a:p>
            <a:pPr marL="400050" lvl="1" indent="-174625">
              <a:spcBef>
                <a:spcPts val="300"/>
              </a:spcBef>
              <a:spcAft>
                <a:spcPts val="600"/>
              </a:spcAft>
              <a:buSzPct val="90000"/>
              <a:buFont typeface="Arial" panose="020B0604020202020204" pitchFamily="34" charset="0"/>
              <a:buChar char="•"/>
              <a:defRPr/>
            </a:pPr>
            <a:r>
              <a:rPr lang="en-US" sz="1300" b="0" i="0" dirty="0">
                <a:solidFill>
                  <a:srgbClr val="202020"/>
                </a:solidFill>
                <a:effectLst/>
                <a:latin typeface="Segoe UI" panose="020B0502040204020203" pitchFamily="34" charset="0"/>
                <a:cs typeface="Segoe UI" panose="020B0502040204020203" pitchFamily="34" charset="0"/>
              </a:rPr>
              <a:t>Ask similar questions in different ways to ensure consistent answers</a:t>
            </a:r>
          </a:p>
          <a:p>
            <a:pPr indent="-231758">
              <a:spcBef>
                <a:spcPts val="300"/>
              </a:spcBef>
              <a:spcAft>
                <a:spcPts val="600"/>
              </a:spcAft>
              <a:buSzPct val="90000"/>
              <a:buFont typeface="Arial" panose="020B0604020202020204" pitchFamily="34" charset="0"/>
              <a:buChar char="•"/>
              <a:defRPr/>
            </a:pPr>
            <a:r>
              <a:rPr lang="en-US" sz="1400" dirty="0">
                <a:solidFill>
                  <a:srgbClr val="202020"/>
                </a:solidFill>
                <a:latin typeface="+mj-lt"/>
              </a:rPr>
              <a:t>Adaptability</a:t>
            </a:r>
          </a:p>
          <a:p>
            <a:pPr marL="400050" lvl="1" indent="-174625">
              <a:spcBef>
                <a:spcPts val="300"/>
              </a:spcBef>
              <a:spcAft>
                <a:spcPts val="600"/>
              </a:spcAft>
              <a:buSzPct val="90000"/>
              <a:buFont typeface="Arial" panose="020B0604020202020204" pitchFamily="34" charset="0"/>
              <a:buChar char="•"/>
              <a:defRPr/>
            </a:pPr>
            <a:r>
              <a:rPr lang="en-US" sz="1300" dirty="0">
                <a:solidFill>
                  <a:srgbClr val="202020"/>
                </a:solidFill>
              </a:rPr>
              <a:t>Modify the instructions to see how well the agent adapts to changes</a:t>
            </a: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Edge cases</a:t>
            </a:r>
          </a:p>
          <a:p>
            <a:pPr marL="400050" indent="-174625">
              <a:spcBef>
                <a:spcPts val="300"/>
              </a:spcBef>
              <a:spcAft>
                <a:spcPts val="600"/>
              </a:spcAft>
              <a:buSzPct val="90000"/>
              <a:buFont typeface="Arial" panose="020B0604020202020204" pitchFamily="34" charset="0"/>
              <a:buChar char="•"/>
              <a:defRPr/>
            </a:pPr>
            <a:r>
              <a:rPr lang="en-US" sz="1300" b="0" i="0" dirty="0">
                <a:solidFill>
                  <a:srgbClr val="202020"/>
                </a:solidFill>
                <a:effectLst/>
              </a:rPr>
              <a:t>Evaluate responses to instructions that are less common or more complex</a:t>
            </a:r>
            <a:endParaRPr lang="en-US" sz="1300" dirty="0">
              <a:solidFill>
                <a:srgbClr val="202020"/>
              </a:solidFill>
            </a:endParaRP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User Feedback</a:t>
            </a:r>
          </a:p>
          <a:p>
            <a:pPr marL="400050" lvl="1" indent="-174625">
              <a:spcBef>
                <a:spcPts val="300"/>
              </a:spcBef>
              <a:spcAft>
                <a:spcPts val="600"/>
              </a:spcAft>
              <a:buSzPct val="90000"/>
              <a:buFont typeface="Arial" panose="020B0604020202020204" pitchFamily="34" charset="0"/>
              <a:buChar char="•"/>
              <a:defRPr/>
            </a:pPr>
            <a:r>
              <a:rPr lang="en-US" sz="1300" dirty="0">
                <a:solidFill>
                  <a:srgbClr val="202020"/>
                </a:solidFill>
              </a:rPr>
              <a:t>Use feedback to refine instructions</a:t>
            </a:r>
            <a:endParaRPr lang="en-US" sz="1300" dirty="0">
              <a:solidFill>
                <a:srgbClr val="000000"/>
              </a:solidFill>
            </a:endParaRPr>
          </a:p>
        </p:txBody>
      </p:sp>
      <p:sp>
        <p:nvSpPr>
          <p:cNvPr id="20" name="Rounded Rectangle 3_1">
            <a:extLst>
              <a:ext uri="{FF2B5EF4-FFF2-40B4-BE49-F238E27FC236}">
                <a16:creationId xmlns:a16="http://schemas.microsoft.com/office/drawing/2014/main" id="{5F3F94C4-F4DC-19EB-1558-1FDDAB3DC73E}"/>
              </a:ext>
            </a:extLst>
          </p:cNvPr>
          <p:cNvSpPr/>
          <p:nvPr/>
        </p:nvSpPr>
        <p:spPr>
          <a:xfrm>
            <a:off x="4367279" y="797448"/>
            <a:ext cx="3458484" cy="5546308"/>
          </a:xfrm>
          <a:prstGeom prst="roundRect">
            <a:avLst>
              <a:gd name="adj" fmla="val 0"/>
            </a:avLst>
          </a:prstGeom>
          <a:solidFill>
            <a:schemeClr val="accent4">
              <a:lumMod val="40000"/>
              <a:lumOff val="60000"/>
            </a:schemeClr>
          </a:solidFill>
          <a:ln w="38100">
            <a:noFill/>
          </a:ln>
          <a:effectLst>
            <a:outerShdw blurRad="127000" dist="38100" dir="2700000" algn="tr" rotWithShape="0">
              <a:srgbClr val="CAC5B8">
                <a:alpha val="60000"/>
              </a:srgbClr>
            </a:outerShdw>
          </a:effectLst>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lIns="144000" tIns="182880" rIns="144000" bIns="182880" rtlCol="0" anchor="t"/>
          <a:lstStyle/>
          <a:p>
            <a:pPr algn="ctr" defTabSz="932563">
              <a:spcBef>
                <a:spcPts val="300"/>
              </a:spcBef>
              <a:spcAft>
                <a:spcPts val="600"/>
              </a:spcAft>
              <a:buSzPct val="90000"/>
            </a:pPr>
            <a:r>
              <a:rPr lang="en-US" sz="1600" dirty="0">
                <a:solidFill>
                  <a:srgbClr val="000000"/>
                </a:solidFill>
                <a:latin typeface="Segoe UI Semibold"/>
              </a:rPr>
              <a:t>Test the Knowledge Sources</a:t>
            </a:r>
          </a:p>
          <a:p>
            <a:pPr marL="174625" indent="-174625">
              <a:spcBef>
                <a:spcPts val="300"/>
              </a:spcBef>
              <a:spcAft>
                <a:spcPts val="600"/>
              </a:spcAft>
              <a:buSzPct val="90000"/>
              <a:buFont typeface="Arial" panose="020B0604020202020204" pitchFamily="34" charset="0"/>
              <a:buChar char="•"/>
              <a:defRPr/>
            </a:pPr>
            <a:r>
              <a:rPr lang="en-US" sz="1400" i="0" dirty="0">
                <a:solidFill>
                  <a:srgbClr val="202020"/>
                </a:solidFill>
                <a:effectLst/>
                <a:latin typeface="+mj-lt"/>
              </a:rPr>
              <a:t>Verify knowledge base integration</a:t>
            </a:r>
          </a:p>
          <a:p>
            <a:pPr marL="400050" indent="-171450">
              <a:spcBef>
                <a:spcPts val="300"/>
              </a:spcBef>
              <a:spcAft>
                <a:spcPts val="600"/>
              </a:spcAft>
              <a:buSzPct val="90000"/>
              <a:buFont typeface="Arial" panose="020B0604020202020204" pitchFamily="34" charset="0"/>
              <a:buChar char="•"/>
              <a:defRPr/>
            </a:pPr>
            <a:r>
              <a:rPr lang="en-US" sz="1300" b="0" i="0" dirty="0">
                <a:solidFill>
                  <a:srgbClr val="202020"/>
                </a:solidFill>
                <a:effectLst/>
              </a:rPr>
              <a:t>Ensure the agent is correctly integrated with the knowledge base</a:t>
            </a:r>
          </a:p>
          <a:p>
            <a:pPr marL="400050" indent="-171450">
              <a:spcBef>
                <a:spcPts val="300"/>
              </a:spcBef>
              <a:spcAft>
                <a:spcPts val="600"/>
              </a:spcAft>
              <a:buSzPct val="90000"/>
              <a:buFont typeface="Arial" panose="020B0604020202020204" pitchFamily="34" charset="0"/>
              <a:buChar char="•"/>
              <a:defRPr/>
            </a:pPr>
            <a:r>
              <a:rPr lang="en-US" sz="1300" b="0" i="0" dirty="0">
                <a:solidFill>
                  <a:srgbClr val="202020"/>
                </a:solidFill>
                <a:effectLst/>
              </a:rPr>
              <a:t> Ask questions that should be answered using the knowledge base to verify accuracy</a:t>
            </a:r>
            <a:endParaRPr lang="en-US" sz="1300" i="0" dirty="0">
              <a:solidFill>
                <a:srgbClr val="202020"/>
              </a:solidFill>
              <a:effectLst/>
            </a:endParaRPr>
          </a:p>
          <a:p>
            <a:pPr marL="174625" indent="-174625">
              <a:spcBef>
                <a:spcPts val="300"/>
              </a:spcBef>
              <a:spcAft>
                <a:spcPts val="600"/>
              </a:spcAft>
              <a:buSzPct val="90000"/>
              <a:buFont typeface="Arial" panose="020B0604020202020204" pitchFamily="34" charset="0"/>
              <a:buChar char="•"/>
              <a:defRPr/>
            </a:pPr>
            <a:r>
              <a:rPr lang="en-US" sz="1400" dirty="0">
                <a:solidFill>
                  <a:srgbClr val="202020"/>
                </a:solidFill>
                <a:latin typeface="+mj-lt"/>
              </a:rPr>
              <a:t>Update and test</a:t>
            </a:r>
          </a:p>
          <a:p>
            <a:pPr marL="400050" indent="-174625">
              <a:spcBef>
                <a:spcPts val="300"/>
              </a:spcBef>
              <a:spcAft>
                <a:spcPts val="600"/>
              </a:spcAft>
              <a:buSzPct val="90000"/>
              <a:buFont typeface="Arial" panose="020B0604020202020204" pitchFamily="34" charset="0"/>
              <a:buChar char="•"/>
              <a:defRPr/>
            </a:pPr>
            <a:r>
              <a:rPr lang="en-US" sz="1300" b="0" i="0" dirty="0">
                <a:solidFill>
                  <a:srgbClr val="202020"/>
                </a:solidFill>
                <a:effectLst/>
                <a:latin typeface="Segoe UI" panose="020B0502040204020203" pitchFamily="34" charset="0"/>
                <a:cs typeface="Segoe UI" panose="020B0502040204020203" pitchFamily="34" charset="0"/>
              </a:rPr>
              <a:t>Regularly update the knowledge base with new information </a:t>
            </a:r>
          </a:p>
          <a:p>
            <a:pPr marL="400050" indent="-174625">
              <a:spcBef>
                <a:spcPts val="300"/>
              </a:spcBef>
              <a:spcAft>
                <a:spcPts val="600"/>
              </a:spcAft>
              <a:buSzPct val="90000"/>
              <a:buFont typeface="Arial" panose="020B0604020202020204" pitchFamily="34" charset="0"/>
              <a:buChar char="•"/>
              <a:defRPr/>
            </a:pPr>
            <a:r>
              <a:rPr lang="en-US" sz="1300" dirty="0">
                <a:solidFill>
                  <a:srgbClr val="202020"/>
                </a:solidFill>
                <a:latin typeface="Segoe UI" panose="020B0502040204020203" pitchFamily="34" charset="0"/>
                <a:cs typeface="Segoe UI" panose="020B0502040204020203" pitchFamily="34" charset="0"/>
              </a:rPr>
              <a:t>T</a:t>
            </a:r>
            <a:r>
              <a:rPr lang="en-US" sz="1300" b="0" i="0" dirty="0">
                <a:solidFill>
                  <a:srgbClr val="202020"/>
                </a:solidFill>
                <a:effectLst/>
                <a:latin typeface="Segoe UI" panose="020B0502040204020203" pitchFamily="34" charset="0"/>
                <a:cs typeface="Segoe UI" panose="020B0502040204020203" pitchFamily="34" charset="0"/>
              </a:rPr>
              <a:t>est the agent's responses to ensure it reflects the latest updates</a:t>
            </a:r>
            <a:endParaRPr lang="en-US" sz="1300" dirty="0">
              <a:solidFill>
                <a:srgbClr val="202020"/>
              </a:solidFill>
              <a:latin typeface="Segoe UI" panose="020B0502040204020203" pitchFamily="34" charset="0"/>
              <a:cs typeface="Segoe UI" panose="020B0502040204020203" pitchFamily="34" charset="0"/>
            </a:endParaRPr>
          </a:p>
          <a:p>
            <a:pPr marL="174625" indent="-174625">
              <a:spcBef>
                <a:spcPts val="300"/>
              </a:spcBef>
              <a:spcAft>
                <a:spcPts val="600"/>
              </a:spcAft>
              <a:buSzPct val="90000"/>
              <a:buFont typeface="Arial" panose="020B0604020202020204" pitchFamily="34" charset="0"/>
              <a:buChar char="•"/>
              <a:defRPr/>
            </a:pPr>
            <a:r>
              <a:rPr lang="en-US" sz="1400" i="0" dirty="0">
                <a:solidFill>
                  <a:srgbClr val="202020"/>
                </a:solidFill>
                <a:effectLst/>
                <a:latin typeface="+mj-lt"/>
              </a:rPr>
              <a:t>Cross-reference testing</a:t>
            </a:r>
          </a:p>
          <a:p>
            <a:pPr marL="400050" lvl="1" indent="-174625">
              <a:spcBef>
                <a:spcPts val="300"/>
              </a:spcBef>
              <a:spcAft>
                <a:spcPts val="600"/>
              </a:spcAft>
              <a:buSzPct val="90000"/>
              <a:buFont typeface="Arial" panose="020B0604020202020204" pitchFamily="34" charset="0"/>
              <a:buChar char="•"/>
              <a:defRPr/>
            </a:pPr>
            <a:r>
              <a:rPr lang="en-US" sz="1300" b="0" i="0" dirty="0">
                <a:solidFill>
                  <a:srgbClr val="202020"/>
                </a:solidFill>
                <a:effectLst/>
                <a:latin typeface="Segoe UI" panose="020B0502040204020203" pitchFamily="34" charset="0"/>
                <a:cs typeface="Segoe UI" panose="020B0502040204020203" pitchFamily="34" charset="0"/>
              </a:rPr>
              <a:t>Test the agent's ability to cross-reference information from different sources</a:t>
            </a:r>
          </a:p>
          <a:p>
            <a:pPr marL="400050" lvl="1" indent="-174625">
              <a:spcBef>
                <a:spcPts val="300"/>
              </a:spcBef>
              <a:spcAft>
                <a:spcPts val="600"/>
              </a:spcAft>
              <a:buSzPct val="90000"/>
              <a:buFont typeface="Arial" panose="020B0604020202020204" pitchFamily="34" charset="0"/>
              <a:buChar char="•"/>
              <a:defRPr/>
            </a:pPr>
            <a:r>
              <a:rPr lang="en-US" sz="1300" b="0" i="0" dirty="0">
                <a:solidFill>
                  <a:srgbClr val="202020"/>
                </a:solidFill>
                <a:effectLst/>
                <a:latin typeface="Segoe UI" panose="020B0502040204020203" pitchFamily="34" charset="0"/>
                <a:cs typeface="Segoe UI" panose="020B0502040204020203" pitchFamily="34" charset="0"/>
              </a:rPr>
              <a:t>If a SharePoint hub site is included as the source for the agent, verify that it uses information from both the hub site and its associated sites </a:t>
            </a:r>
            <a:r>
              <a:rPr lang="en-US" sz="1300" dirty="0">
                <a:solidFill>
                  <a:srgbClr val="202020"/>
                </a:solidFill>
                <a:latin typeface="Segoe UI" panose="020B0502040204020203" pitchFamily="34" charset="0"/>
                <a:cs typeface="Segoe UI" panose="020B0502040204020203" pitchFamily="34" charset="0"/>
              </a:rPr>
              <a:t>when</a:t>
            </a:r>
            <a:r>
              <a:rPr lang="en-US" sz="1300" b="0" i="0" dirty="0">
                <a:solidFill>
                  <a:srgbClr val="202020"/>
                </a:solidFill>
                <a:effectLst/>
                <a:latin typeface="Segoe UI" panose="020B0502040204020203" pitchFamily="34" charset="0"/>
                <a:cs typeface="Segoe UI" panose="020B0502040204020203" pitchFamily="34" charset="0"/>
              </a:rPr>
              <a:t> responding to user requests</a:t>
            </a:r>
            <a:endParaRPr lang="en-US" sz="1300" i="0" dirty="0">
              <a:solidFill>
                <a:srgbClr val="202020"/>
              </a:solidFill>
              <a:effectLst/>
              <a:latin typeface="Segoe UI" panose="020B0502040204020203" pitchFamily="34" charset="0"/>
              <a:cs typeface="Segoe UI" panose="020B0502040204020203" pitchFamily="34" charset="0"/>
            </a:endParaRPr>
          </a:p>
        </p:txBody>
      </p:sp>
      <p:sp>
        <p:nvSpPr>
          <p:cNvPr id="23" name="Rounded Rectangle 3_1">
            <a:extLst>
              <a:ext uri="{FF2B5EF4-FFF2-40B4-BE49-F238E27FC236}">
                <a16:creationId xmlns:a16="http://schemas.microsoft.com/office/drawing/2014/main" id="{304EB1CE-1BC8-897B-BFC6-02E819030572}"/>
              </a:ext>
            </a:extLst>
          </p:cNvPr>
          <p:cNvSpPr/>
          <p:nvPr/>
        </p:nvSpPr>
        <p:spPr>
          <a:xfrm>
            <a:off x="8128061" y="797448"/>
            <a:ext cx="3458484" cy="5546307"/>
          </a:xfrm>
          <a:prstGeom prst="roundRect">
            <a:avLst>
              <a:gd name="adj" fmla="val 0"/>
            </a:avLst>
          </a:prstGeom>
          <a:solidFill>
            <a:schemeClr val="bg2">
              <a:lumMod val="90000"/>
            </a:schemeClr>
          </a:solidFill>
          <a:ln w="38100">
            <a:noFill/>
          </a:ln>
          <a:effectLst>
            <a:outerShdw blurRad="127000" dist="38100" dir="2700000" algn="tr" rotWithShape="0">
              <a:srgbClr val="CAC5B8">
                <a:alpha val="60000"/>
              </a:srgbClr>
            </a:outerShdw>
          </a:effectLst>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lIns="144000" tIns="182880" rIns="144000" bIns="182880" rtlCol="0" anchor="t"/>
          <a:lstStyle/>
          <a:p>
            <a:pPr algn="ctr" defTabSz="932563">
              <a:spcBef>
                <a:spcPts val="300"/>
              </a:spcBef>
              <a:spcAft>
                <a:spcPts val="600"/>
              </a:spcAft>
              <a:buSzPct val="90000"/>
            </a:pPr>
            <a:r>
              <a:rPr lang="en-US" sz="1600" dirty="0">
                <a:solidFill>
                  <a:srgbClr val="000000"/>
                </a:solidFill>
                <a:latin typeface="Segoe UI Semibold"/>
              </a:rPr>
              <a:t>Edit agents</a:t>
            </a:r>
          </a:p>
          <a:p>
            <a:pPr marL="176213" indent="-176213" defTabSz="932563">
              <a:spcBef>
                <a:spcPts val="300"/>
              </a:spcBef>
              <a:spcAft>
                <a:spcPts val="600"/>
              </a:spcAft>
              <a:buSzPct val="90000"/>
              <a:buFont typeface="Arial" panose="020B0604020202020204" pitchFamily="34" charset="0"/>
              <a:buChar char="•"/>
            </a:pPr>
            <a:r>
              <a:rPr lang="en-US" sz="1400" dirty="0">
                <a:solidFill>
                  <a:schemeClr val="tx1"/>
                </a:solidFill>
                <a:latin typeface="+mj-lt"/>
                <a:ea typeface="Aptos" panose="020B0004020202020204" pitchFamily="34" charset="0"/>
                <a:cs typeface="Times New Roman" panose="02020603050405020304" pitchFamily="18" charset="0"/>
              </a:rPr>
              <a:t>How do you edit an agent?</a:t>
            </a:r>
          </a:p>
          <a:p>
            <a:pPr marL="404813" lvl="1" indent="-176213" defTabSz="932563">
              <a:spcBef>
                <a:spcPts val="300"/>
              </a:spcBef>
              <a:spcAft>
                <a:spcPts val="600"/>
              </a:spcAft>
              <a:buSzPct val="90000"/>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When you edit an agent in SharePoint or Copilot Chat, you use the same tool to edit the agent as you did to create it</a:t>
            </a:r>
          </a:p>
          <a:p>
            <a:pPr marL="176213" indent="-176213" defTabSz="932563">
              <a:spcBef>
                <a:spcPts val="300"/>
              </a:spcBef>
              <a:spcAft>
                <a:spcPts val="600"/>
              </a:spcAft>
              <a:buSzPct val="90000"/>
              <a:buFont typeface="Arial" panose="020B0604020202020204" pitchFamily="34" charset="0"/>
              <a:buChar char="•"/>
            </a:pPr>
            <a:r>
              <a:rPr lang="en-US" sz="1400" dirty="0">
                <a:solidFill>
                  <a:schemeClr val="tx1"/>
                </a:solidFill>
                <a:effectLst/>
                <a:latin typeface="+mj-lt"/>
                <a:ea typeface="Aptos" panose="020B0004020202020204" pitchFamily="34" charset="0"/>
                <a:cs typeface="Times New Roman" panose="02020603050405020304" pitchFamily="18" charset="0"/>
              </a:rPr>
              <a:t>How are shared agents affected when they’re later edited?</a:t>
            </a:r>
          </a:p>
          <a:p>
            <a:pPr marL="404813" lvl="1" indent="-176213" defTabSz="932563">
              <a:spcBef>
                <a:spcPts val="300"/>
              </a:spcBef>
              <a:spcAft>
                <a:spcPts val="600"/>
              </a:spcAft>
              <a:buSzPct val="90000"/>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When you edit an agent, shared users of that agent can't see the latest changes until the agent is reshared with them</a:t>
            </a:r>
          </a:p>
          <a:p>
            <a:pPr marL="404813" lvl="1" indent="-176213" defTabSz="932563">
              <a:spcBef>
                <a:spcPts val="300"/>
              </a:spcBef>
              <a:spcAft>
                <a:spcPts val="600"/>
              </a:spcAft>
              <a:buSzPct val="90000"/>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When an agent has SharePoint files and/or folders as knowledge sources and the agent is shared with specific users, Microsoft recommends that you reshare the agent with the same group of users</a:t>
            </a:r>
          </a:p>
          <a:p>
            <a:pPr marL="404813" lvl="1" indent="-176213" defTabSz="932563">
              <a:spcBef>
                <a:spcPts val="300"/>
              </a:spcBef>
              <a:spcAft>
                <a:spcPts val="600"/>
              </a:spcAft>
              <a:buSzPct val="90000"/>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Doing so automatically shares the files and folders again with the users to ensure consistent agent experience</a:t>
            </a:r>
            <a:r>
              <a:rPr lang="en-US" sz="1300" b="0" i="0" dirty="0">
                <a:solidFill>
                  <a:schemeClr val="tx1"/>
                </a:solidFill>
                <a:effectLst/>
                <a:cs typeface="Segoe UI" panose="020B0502040204020203" pitchFamily="34" charset="0"/>
              </a:rPr>
              <a:t> </a:t>
            </a:r>
            <a:endParaRPr lang="en-US" sz="1300" b="0" i="0" dirty="0">
              <a:solidFill>
                <a:schemeClr val="tx1"/>
              </a:solidFill>
              <a:effectLst/>
            </a:endParaRPr>
          </a:p>
        </p:txBody>
      </p:sp>
    </p:spTree>
    <p:extLst>
      <p:ext uri="{BB962C8B-B14F-4D97-AF65-F5344CB8AC3E}">
        <p14:creationId xmlns:p14="http://schemas.microsoft.com/office/powerpoint/2010/main" val="3170875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BE8C-9A1B-F787-AB0E-CC402AC24088}"/>
              </a:ext>
            </a:extLst>
          </p:cNvPr>
          <p:cNvSpPr>
            <a:spLocks noGrp="1"/>
          </p:cNvSpPr>
          <p:nvPr>
            <p:ph type="title"/>
          </p:nvPr>
        </p:nvSpPr>
        <p:spPr>
          <a:xfrm>
            <a:off x="588262" y="168965"/>
            <a:ext cx="11011600" cy="494421"/>
          </a:xfrm>
        </p:spPr>
        <p:txBody>
          <a:bodyPr/>
          <a:lstStyle/>
          <a:p>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Manage your agents</a:t>
            </a:r>
            <a:endParaRPr lang="en-US" dirty="0"/>
          </a:p>
        </p:txBody>
      </p:sp>
      <p:sp>
        <p:nvSpPr>
          <p:cNvPr id="3" name="Rectangle 2">
            <a:extLst>
              <a:ext uri="{FF2B5EF4-FFF2-40B4-BE49-F238E27FC236}">
                <a16:creationId xmlns:a16="http://schemas.microsoft.com/office/drawing/2014/main" id="{2FDD2965-B30E-4F11-5783-12926EE65AC6}"/>
              </a:ext>
            </a:extLst>
          </p:cNvPr>
          <p:cNvSpPr/>
          <p:nvPr/>
        </p:nvSpPr>
        <p:spPr bwMode="auto">
          <a:xfrm>
            <a:off x="394854" y="744072"/>
            <a:ext cx="3106882" cy="5566292"/>
          </a:xfrm>
          <a:prstGeom prst="rect">
            <a:avLst/>
          </a:prstGeom>
          <a:solidFill>
            <a:schemeClr val="tx2">
              <a:lumMod val="10000"/>
              <a:lumOff val="90000"/>
            </a:schemeClr>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spcBef>
                <a:spcPts val="300"/>
              </a:spcBef>
              <a:spcAft>
                <a:spcPts val="600"/>
              </a:spcAft>
            </a:pPr>
            <a:r>
              <a:rPr lang="en-US" sz="1600" dirty="0">
                <a:solidFill>
                  <a:sysClr val="windowText" lastClr="000000"/>
                </a:solidFill>
                <a:latin typeface="+mj-lt"/>
              </a:rPr>
              <a:t>Set an agent as a SharePoint site’s default agent</a:t>
            </a:r>
          </a:p>
          <a:p>
            <a:pPr marL="176213" lvl="0" indent="-176213">
              <a:spcBef>
                <a:spcPts val="300"/>
              </a:spcBef>
              <a:spcAft>
                <a:spcPts val="600"/>
              </a:spcAft>
              <a:buFont typeface="Arial" panose="020B0604020202020204" pitchFamily="34" charset="0"/>
              <a:buChar char="•"/>
            </a:pPr>
            <a:r>
              <a:rPr lang="en-US" sz="1400" b="0" i="0" dirty="0">
                <a:solidFill>
                  <a:schemeClr val="tx1"/>
                </a:solidFill>
              </a:rPr>
              <a:t>By default, every site's ready-made agent is automatically set as the site's default agent at the time the site is created</a:t>
            </a:r>
          </a:p>
          <a:p>
            <a:pPr marL="512763" lvl="0" indent="-176213">
              <a:spcBef>
                <a:spcPts val="300"/>
              </a:spcBef>
              <a:spcAft>
                <a:spcPts val="600"/>
              </a:spcAft>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The default agent is the first agent that loads up for site members and visitors when they launch the site's chat pane</a:t>
            </a:r>
            <a:endParaRPr lang="en-US" sz="1300" dirty="0">
              <a:solidFill>
                <a:schemeClr val="tx1"/>
              </a:solidFill>
            </a:endParaRPr>
          </a:p>
          <a:p>
            <a:pPr marL="176213" lvl="0" indent="-176213">
              <a:spcBef>
                <a:spcPts val="300"/>
              </a:spcBef>
              <a:spcAft>
                <a:spcPts val="600"/>
              </a:spcAft>
              <a:buFont typeface="Arial" panose="020B0604020202020204" pitchFamily="34" charset="0"/>
              <a:buChar char="•"/>
            </a:pPr>
            <a:r>
              <a:rPr lang="en-US" sz="1400" b="0" i="0" dirty="0">
                <a:solidFill>
                  <a:schemeClr val="tx1"/>
                </a:solidFill>
              </a:rPr>
              <a:t>A site owner or admin can change the default agent for a site by setting an approved agent as the site's default agent</a:t>
            </a:r>
          </a:p>
          <a:p>
            <a:pPr marL="176213" lvl="0" indent="-176213">
              <a:spcBef>
                <a:spcPts val="300"/>
              </a:spcBef>
              <a:spcAft>
                <a:spcPts val="600"/>
              </a:spcAft>
              <a:buFont typeface="Arial" panose="020B0604020202020204" pitchFamily="34" charset="0"/>
              <a:buChar char="•"/>
            </a:pPr>
            <a:r>
              <a:rPr lang="en-US" sz="1400" dirty="0">
                <a:solidFill>
                  <a:schemeClr val="tx1"/>
                </a:solidFill>
                <a:effectLst/>
                <a:ea typeface="Aptos" panose="020B0004020202020204" pitchFamily="34" charset="0"/>
                <a:cs typeface="Times New Roman" panose="02020603050405020304" pitchFamily="18" charset="0"/>
              </a:rPr>
              <a:t>A site’s original ready-made-agent can always be reset as the default agent for the site</a:t>
            </a:r>
            <a:endParaRPr lang="en-US" sz="1400" dirty="0">
              <a:solidFill>
                <a:schemeClr val="tx1"/>
              </a:solidFill>
            </a:endParaRPr>
          </a:p>
          <a:p>
            <a:pPr lvl="0"/>
            <a:endParaRPr lang="en-US" sz="1600" dirty="0">
              <a:solidFill>
                <a:sysClr val="windowText" lastClr="000000"/>
              </a:solidFill>
              <a:latin typeface="+mj-lt"/>
            </a:endParaRPr>
          </a:p>
        </p:txBody>
      </p:sp>
      <p:sp>
        <p:nvSpPr>
          <p:cNvPr id="4" name="Rectangle 3">
            <a:extLst>
              <a:ext uri="{FF2B5EF4-FFF2-40B4-BE49-F238E27FC236}">
                <a16:creationId xmlns:a16="http://schemas.microsoft.com/office/drawing/2014/main" id="{4492DEBF-027B-D004-A232-927D3A39CAB3}"/>
              </a:ext>
              <a:ext uri="{C183D7F6-B498-43B3-948B-1728B52AA6E4}">
                <adec:decorative xmlns:adec="http://schemas.microsoft.com/office/drawing/2017/decorative" val="1"/>
              </a:ext>
            </a:extLst>
          </p:cNvPr>
          <p:cNvSpPr/>
          <p:nvPr/>
        </p:nvSpPr>
        <p:spPr bwMode="auto">
          <a:xfrm>
            <a:off x="3660466" y="1613416"/>
            <a:ext cx="5113664" cy="3975725"/>
          </a:xfrm>
          <a:prstGeom prst="rect">
            <a:avLst/>
          </a:prstGeom>
          <a:noFill/>
          <a:ln w="31750">
            <a:solidFill>
              <a:srgbClr val="C03B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screenshot of a the drop-down menuf for an agent shoing the Set as site default option highlighted.">
            <a:extLst>
              <a:ext uri="{FF2B5EF4-FFF2-40B4-BE49-F238E27FC236}">
                <a16:creationId xmlns:a16="http://schemas.microsoft.com/office/drawing/2014/main" id="{82830FBE-7428-55BF-2792-9E5590FA805B}"/>
              </a:ext>
            </a:extLst>
          </p:cNvPr>
          <p:cNvPicPr>
            <a:picLocks noChangeAspect="1"/>
          </p:cNvPicPr>
          <p:nvPr/>
        </p:nvPicPr>
        <p:blipFill>
          <a:blip r:embed="rId3"/>
          <a:stretch>
            <a:fillRect/>
          </a:stretch>
        </p:blipFill>
        <p:spPr>
          <a:xfrm>
            <a:off x="3800059" y="1767521"/>
            <a:ext cx="4822909" cy="3677782"/>
          </a:xfrm>
          <a:prstGeom prst="rect">
            <a:avLst/>
          </a:prstGeom>
        </p:spPr>
      </p:pic>
      <p:sp>
        <p:nvSpPr>
          <p:cNvPr id="6" name="Rectangle 5">
            <a:extLst>
              <a:ext uri="{FF2B5EF4-FFF2-40B4-BE49-F238E27FC236}">
                <a16:creationId xmlns:a16="http://schemas.microsoft.com/office/drawing/2014/main" id="{8507FA69-D5C0-AEF4-92F5-16B80AD38DC6}"/>
              </a:ext>
            </a:extLst>
          </p:cNvPr>
          <p:cNvSpPr/>
          <p:nvPr/>
        </p:nvSpPr>
        <p:spPr bwMode="auto">
          <a:xfrm>
            <a:off x="8922328" y="744073"/>
            <a:ext cx="3106882" cy="5566292"/>
          </a:xfrm>
          <a:prstGeom prst="rect">
            <a:avLst/>
          </a:prstGeom>
          <a:solidFill>
            <a:schemeClr val="accent3">
              <a:lumMod val="20000"/>
              <a:lumOff val="80000"/>
            </a:schemeClr>
          </a:solidFill>
          <a:ln>
            <a:no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spcBef>
                <a:spcPts val="300"/>
              </a:spcBef>
              <a:spcAft>
                <a:spcPts val="600"/>
              </a:spcAft>
            </a:pPr>
            <a:r>
              <a:rPr lang="en-US" sz="1600" dirty="0">
                <a:solidFill>
                  <a:sysClr val="windowText" lastClr="000000"/>
                </a:solidFill>
                <a:latin typeface="+mj-lt"/>
              </a:rPr>
              <a:t>Uninstall and delete agents</a:t>
            </a:r>
          </a:p>
          <a:p>
            <a:pPr marL="174625" lvl="0" indent="-174625">
              <a:spcBef>
                <a:spcPts val="300"/>
              </a:spcBef>
              <a:spcAft>
                <a:spcPts val="600"/>
              </a:spcAft>
              <a:buFont typeface="Arial" panose="020B0604020202020204" pitchFamily="34" charset="0"/>
              <a:buChar char="•"/>
            </a:pPr>
            <a:r>
              <a:rPr lang="en-US" sz="1400" b="0" i="0" dirty="0">
                <a:solidFill>
                  <a:schemeClr val="tx1"/>
                </a:solidFill>
              </a:rPr>
              <a:t>Uninstalling a Copilot Chat agent removes it from the user’s My Agent gallery</a:t>
            </a:r>
          </a:p>
          <a:p>
            <a:pPr marL="519113" lvl="0" indent="-176213">
              <a:spcBef>
                <a:spcPts val="300"/>
              </a:spcBef>
              <a:spcAft>
                <a:spcPts val="600"/>
              </a:spcAft>
              <a:buFont typeface="Arial" panose="020B0604020202020204" pitchFamily="34" charset="0"/>
              <a:buChar char="•"/>
            </a:pPr>
            <a:r>
              <a:rPr lang="en-US" sz="1300" dirty="0">
                <a:solidFill>
                  <a:schemeClr val="tx1"/>
                </a:solidFill>
                <a:effectLst/>
                <a:ea typeface="Aptos" panose="020B0004020202020204" pitchFamily="34" charset="0"/>
                <a:cs typeface="Times New Roman" panose="02020603050405020304" pitchFamily="18" charset="0"/>
              </a:rPr>
              <a:t>Uninstalling an agent preserves the option to reuse the agent in the future without having to reconfigure it again</a:t>
            </a:r>
            <a:endParaRPr lang="en-US" sz="1300" b="0" i="0" dirty="0">
              <a:solidFill>
                <a:schemeClr val="tx1"/>
              </a:solidFill>
            </a:endParaRPr>
          </a:p>
          <a:p>
            <a:pPr marL="174625" indent="-174625">
              <a:spcBef>
                <a:spcPts val="300"/>
              </a:spcBef>
              <a:spcAft>
                <a:spcPts val="600"/>
              </a:spcAft>
              <a:buFont typeface="Arial" panose="020B0604020202020204" pitchFamily="34" charset="0"/>
              <a:buChar char="•"/>
            </a:pPr>
            <a:r>
              <a:rPr lang="en-US" sz="1400" dirty="0">
                <a:solidFill>
                  <a:schemeClr val="tx1"/>
                </a:solidFill>
              </a:rPr>
              <a:t>Deleting a Copilot Chat agent is an admin task in Copilot Studio and not covered in this training</a:t>
            </a:r>
          </a:p>
          <a:p>
            <a:pPr marL="174625" indent="-174625">
              <a:spcBef>
                <a:spcPts val="300"/>
              </a:spcBef>
              <a:spcAft>
                <a:spcPts val="600"/>
              </a:spcAft>
              <a:buFont typeface="Arial" panose="020B0604020202020204" pitchFamily="34" charset="0"/>
              <a:buChar char="•"/>
            </a:pPr>
            <a:r>
              <a:rPr lang="en-US" sz="1400" dirty="0">
                <a:solidFill>
                  <a:schemeClr val="tx1"/>
                </a:solidFill>
              </a:rPr>
              <a:t>You can delete a SharePoint agent, but there’s no uninstall option</a:t>
            </a:r>
          </a:p>
          <a:p>
            <a:pPr marL="174625" lvl="0" indent="-174625">
              <a:spcBef>
                <a:spcPts val="300"/>
              </a:spcBef>
              <a:spcAft>
                <a:spcPts val="600"/>
              </a:spcAft>
              <a:buFont typeface="Arial" panose="020B0604020202020204" pitchFamily="34" charset="0"/>
              <a:buChar char="•"/>
            </a:pPr>
            <a:r>
              <a:rPr lang="en-US" sz="1400" b="0" i="0" dirty="0">
                <a:solidFill>
                  <a:schemeClr val="tx1"/>
                </a:solidFill>
              </a:rPr>
              <a:t>You can't delete the ready-made agent that comes with the SharePoint site</a:t>
            </a:r>
          </a:p>
          <a:p>
            <a:pPr marL="174625" lvl="0" indent="-174625">
              <a:spcBef>
                <a:spcPts val="300"/>
              </a:spcBef>
              <a:spcAft>
                <a:spcPts val="600"/>
              </a:spcAft>
              <a:buFont typeface="Arial" panose="020B0604020202020204" pitchFamily="34" charset="0"/>
              <a:buChar char="•"/>
            </a:pPr>
            <a:r>
              <a:rPr lang="en-US" sz="1400" dirty="0">
                <a:solidFill>
                  <a:schemeClr val="tx1"/>
                </a:solidFill>
              </a:rPr>
              <a:t>You can delete all the chat history for an agent, or just the chat history for a specific conversation</a:t>
            </a:r>
            <a:endParaRPr lang="en-US" sz="1400" b="0" i="0" dirty="0">
              <a:solidFill>
                <a:schemeClr val="tx1"/>
              </a:solidFill>
            </a:endParaRPr>
          </a:p>
          <a:p>
            <a:pPr marL="285750" lvl="0" indent="-285750">
              <a:spcBef>
                <a:spcPts val="300"/>
              </a:spcBef>
              <a:spcAft>
                <a:spcPts val="600"/>
              </a:spcAft>
              <a:buFont typeface="Arial" panose="020B0604020202020204" pitchFamily="34" charset="0"/>
              <a:buChar char="•"/>
            </a:pPr>
            <a:endParaRPr lang="en-US" sz="1400" dirty="0">
              <a:solidFill>
                <a:schemeClr val="tx1"/>
              </a:solidFill>
            </a:endParaRPr>
          </a:p>
        </p:txBody>
      </p:sp>
    </p:spTree>
    <p:extLst>
      <p:ext uri="{BB962C8B-B14F-4D97-AF65-F5344CB8AC3E}">
        <p14:creationId xmlns:p14="http://schemas.microsoft.com/office/powerpoint/2010/main" val="25335374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B606-E4E2-B4AB-EEDE-9366F9FD3AC5}"/>
            </a:ext>
          </a:extLst>
        </p:cNvPr>
        <p:cNvGrpSpPr/>
        <p:nvPr/>
      </p:nvGrpSpPr>
      <p:grpSpPr>
        <a:xfrm>
          <a:off x="0" y="0"/>
          <a:ext cx="0" cy="0"/>
          <a:chOff x="0" y="0"/>
          <a:chExt cx="0" cy="0"/>
        </a:xfrm>
      </p:grpSpPr>
      <p:sp>
        <p:nvSpPr>
          <p:cNvPr id="2" name="Title 16">
            <a:extLst>
              <a:ext uri="{FF2B5EF4-FFF2-40B4-BE49-F238E27FC236}">
                <a16:creationId xmlns:a16="http://schemas.microsoft.com/office/drawing/2014/main" id="{45605FCF-7D60-AD64-B642-ABC419EA38C2}"/>
              </a:ext>
            </a:extLst>
          </p:cNvPr>
          <p:cNvSpPr txBox="1">
            <a:spLocks noGrp="1"/>
          </p:cNvSpPr>
          <p:nvPr>
            <p:ph type="title" idx="4294967295"/>
          </p:nvPr>
        </p:nvSpPr>
        <p:spPr>
          <a:xfrm>
            <a:off x="541607" y="585216"/>
            <a:ext cx="11044938"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Module Assessment</a:t>
            </a:r>
          </a:p>
        </p:txBody>
      </p:sp>
      <p:sp>
        <p:nvSpPr>
          <p:cNvPr id="6" name="Text Placeholder 1">
            <a:extLst>
              <a:ext uri="{FF2B5EF4-FFF2-40B4-BE49-F238E27FC236}">
                <a16:creationId xmlns:a16="http://schemas.microsoft.com/office/drawing/2014/main" id="{A3A9AAF3-74FE-8FC7-D3C2-3D84A4F77A9E}"/>
              </a:ext>
            </a:extLst>
          </p:cNvPr>
          <p:cNvSpPr>
            <a:spLocks noGrp="1"/>
          </p:cNvSpPr>
          <p:nvPr>
            <p:ph type="body" sz="quarter" idx="17"/>
          </p:nvPr>
        </p:nvSpPr>
        <p:spPr>
          <a:xfrm>
            <a:off x="4356101" y="1927225"/>
            <a:ext cx="6924476" cy="677108"/>
          </a:xfrm>
        </p:spPr>
        <p:txBody>
          <a:bodyPr wrap="square">
            <a:spAutoFit/>
          </a:bodyPr>
          <a:lstStyle/>
          <a:p>
            <a:r>
              <a:rPr lang="en-US" sz="2200" dirty="0"/>
              <a:t>Test your knowledge by answering the module assessment questions at the end of this Learn module.</a:t>
            </a:r>
          </a:p>
        </p:txBody>
      </p:sp>
      <p:pic>
        <p:nvPicPr>
          <p:cNvPr id="8" name="Picture 7">
            <a:extLst>
              <a:ext uri="{FF2B5EF4-FFF2-40B4-BE49-F238E27FC236}">
                <a16:creationId xmlns:a16="http://schemas.microsoft.com/office/drawing/2014/main" id="{E29F4525-D2AB-C0F1-E3B9-44F79C3F1E1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356100" y="2877893"/>
            <a:ext cx="3726421" cy="3257795"/>
          </a:xfrm>
          <a:prstGeom prst="rect">
            <a:avLst/>
          </a:prstGeom>
          <a:ln w="38100">
            <a:solidFill>
              <a:srgbClr val="C73ECC"/>
            </a:solidFill>
          </a:ln>
        </p:spPr>
      </p:pic>
    </p:spTree>
    <p:extLst>
      <p:ext uri="{BB962C8B-B14F-4D97-AF65-F5344CB8AC3E}">
        <p14:creationId xmlns:p14="http://schemas.microsoft.com/office/powerpoint/2010/main" val="124279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7F08FD26-46DD-EC6A-5815-7986D0E32C20}"/>
              </a:ext>
            </a:extLst>
          </p:cNvPr>
          <p:cNvSpPr txBox="1">
            <a:spLocks noGrp="1"/>
          </p:cNvSpPr>
          <p:nvPr>
            <p:ph type="title" idx="4294967295"/>
          </p:nvPr>
        </p:nvSpPr>
        <p:spPr>
          <a:xfrm>
            <a:off x="541607" y="585216"/>
            <a:ext cx="11044938"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w="3175">
                  <a:noFill/>
                </a:ln>
                <a:solidFill>
                  <a:schemeClr val="tx1"/>
                </a:solidFill>
                <a:effectLst/>
                <a:uLnTx/>
                <a:uFillTx/>
                <a:latin typeface="+mj-lt"/>
                <a:ea typeface="+mn-ea"/>
                <a:cs typeface="Segoe UI Semibold" panose="020B0502040204020203" pitchFamily="34" charset="0"/>
              </a:rPr>
              <a:t>Summary </a:t>
            </a:r>
          </a:p>
        </p:txBody>
      </p:sp>
      <p:sp>
        <p:nvSpPr>
          <p:cNvPr id="26" name="Text Placeholder 13">
            <a:extLst>
              <a:ext uri="{FF2B5EF4-FFF2-40B4-BE49-F238E27FC236}">
                <a16:creationId xmlns:a16="http://schemas.microsoft.com/office/drawing/2014/main" id="{7472D537-B618-E6A2-F7FF-40105C5B97ED}"/>
              </a:ext>
            </a:extLst>
          </p:cNvPr>
          <p:cNvSpPr>
            <a:spLocks noGrp="1"/>
          </p:cNvSpPr>
          <p:nvPr>
            <p:ph type="body" sz="quarter" idx="17"/>
          </p:nvPr>
        </p:nvSpPr>
        <p:spPr>
          <a:xfrm>
            <a:off x="4356100" y="1484463"/>
            <a:ext cx="7406922" cy="923330"/>
          </a:xfrm>
        </p:spPr>
        <p:txBody>
          <a:bodyPr wrap="square">
            <a:spAutoFit/>
          </a:bodyPr>
          <a:lstStyle/>
          <a:p>
            <a:pPr algn="l"/>
            <a:r>
              <a:rPr lang="en-US" sz="2000" dirty="0">
                <a:latin typeface="+mj-lt"/>
              </a:rPr>
              <a:t>This module </a:t>
            </a:r>
            <a:r>
              <a:rPr lang="en-US" sz="2000" b="0" i="0" dirty="0">
                <a:solidFill>
                  <a:srgbClr val="202020"/>
                </a:solidFill>
                <a:effectLst/>
                <a:latin typeface="+mj-lt"/>
              </a:rPr>
              <a:t>guided you through the following foundational concepts and practical steps required to build and manage agents in Microsoft 365 Copilot and SharePoint:</a:t>
            </a:r>
            <a:endParaRPr lang="en-US" sz="2000" dirty="0">
              <a:latin typeface="+mj-lt"/>
            </a:endParaRPr>
          </a:p>
        </p:txBody>
      </p:sp>
      <p:sp>
        <p:nvSpPr>
          <p:cNvPr id="27" name="Text Placeholder 15">
            <a:extLst>
              <a:ext uri="{FF2B5EF4-FFF2-40B4-BE49-F238E27FC236}">
                <a16:creationId xmlns:a16="http://schemas.microsoft.com/office/drawing/2014/main" id="{CBF8B45F-D24C-4C68-46DC-5BDC09B74276}"/>
              </a:ext>
            </a:extLst>
          </p:cNvPr>
          <p:cNvSpPr>
            <a:spLocks noGrp="1"/>
          </p:cNvSpPr>
          <p:nvPr>
            <p:ph type="body" sz="quarter" idx="35"/>
          </p:nvPr>
        </p:nvSpPr>
        <p:spPr>
          <a:xfrm>
            <a:off x="4388184" y="2550084"/>
            <a:ext cx="7242175" cy="1846659"/>
          </a:xfrm>
        </p:spPr>
        <p:txBody>
          <a:bodyPr/>
          <a:lstStyle/>
          <a:p>
            <a:pPr marL="342900" indent="-228600" defTabSz="914367">
              <a:spcBef>
                <a:spcPts val="300"/>
              </a:spcBef>
              <a:spcAft>
                <a:spcPts val="600"/>
              </a:spcAft>
              <a:buSzTx/>
              <a:defRPr/>
            </a:pPr>
            <a:r>
              <a:rPr lang="en-US" sz="1800" dirty="0">
                <a:solidFill>
                  <a:srgbClr val="000000"/>
                </a:solidFill>
                <a:latin typeface="Segoe UI"/>
              </a:rPr>
              <a:t>The tools used to create agents in Copilot Chat and SharePoint</a:t>
            </a:r>
          </a:p>
          <a:p>
            <a:pPr marL="342900" indent="-228600" defTabSz="914367">
              <a:spcBef>
                <a:spcPts val="300"/>
              </a:spcBef>
              <a:spcAft>
                <a:spcPts val="600"/>
              </a:spcAft>
              <a:buSzTx/>
              <a:defRPr/>
            </a:pPr>
            <a:r>
              <a:rPr lang="en-US" sz="1800" dirty="0">
                <a:solidFill>
                  <a:srgbClr val="000000"/>
                </a:solidFill>
                <a:latin typeface="Segoe UI"/>
              </a:rPr>
              <a:t>The components of an agent</a:t>
            </a:r>
          </a:p>
          <a:p>
            <a:pPr marL="342900" indent="-228600" defTabSz="914367">
              <a:spcBef>
                <a:spcPts val="300"/>
              </a:spcBef>
              <a:spcAft>
                <a:spcPts val="600"/>
              </a:spcAft>
              <a:buSzTx/>
              <a:defRPr/>
            </a:pPr>
            <a:r>
              <a:rPr lang="en-US" sz="1800" dirty="0">
                <a:solidFill>
                  <a:srgbClr val="000000"/>
                </a:solidFill>
                <a:latin typeface="Segoe UI"/>
              </a:rPr>
              <a:t>Creating an agent in Copilot Chat and SharePoint</a:t>
            </a:r>
          </a:p>
          <a:p>
            <a:pPr marL="342900" indent="-228600" defTabSz="914367">
              <a:spcBef>
                <a:spcPts val="300"/>
              </a:spcBef>
              <a:spcAft>
                <a:spcPts val="600"/>
              </a:spcAft>
              <a:buSzTx/>
              <a:defRPr/>
            </a:pPr>
            <a:r>
              <a:rPr lang="en-US" sz="1800" dirty="0">
                <a:solidFill>
                  <a:srgbClr val="000000"/>
                </a:solidFill>
                <a:latin typeface="Segoe UI"/>
              </a:rPr>
              <a:t>Testing and editing your agents</a:t>
            </a:r>
          </a:p>
          <a:p>
            <a:pPr marL="342900" indent="-228600" defTabSz="914367">
              <a:spcBef>
                <a:spcPts val="300"/>
              </a:spcBef>
              <a:spcAft>
                <a:spcPts val="600"/>
              </a:spcAft>
              <a:buSzTx/>
              <a:defRPr/>
            </a:pPr>
            <a:r>
              <a:rPr lang="en-US" sz="1800" dirty="0">
                <a:solidFill>
                  <a:srgbClr val="000000"/>
                </a:solidFill>
                <a:latin typeface="Segoe UI"/>
              </a:rPr>
              <a:t>Managing your agents</a:t>
            </a:r>
          </a:p>
        </p:txBody>
      </p:sp>
    </p:spTree>
    <p:extLst>
      <p:ext uri="{BB962C8B-B14F-4D97-AF65-F5344CB8AC3E}">
        <p14:creationId xmlns:p14="http://schemas.microsoft.com/office/powerpoint/2010/main" val="39002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1"/>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214198952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grpSp>
        <p:nvGrpSpPr>
          <p:cNvPr id="2" name="Group 1">
            <a:extLst>
              <a:ext uri="{FF2B5EF4-FFF2-40B4-BE49-F238E27FC236}">
                <a16:creationId xmlns:a16="http://schemas.microsoft.com/office/drawing/2014/main" id="{504EB00B-F7EA-F0F8-612D-4D74FCA81CCE}"/>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4" name="Group 3" descr="Generative AI.">
              <a:extLst>
                <a:ext uri="{FF2B5EF4-FFF2-40B4-BE49-F238E27FC236}">
                  <a16:creationId xmlns:a16="http://schemas.microsoft.com/office/drawing/2014/main" id="{1A586F1A-782C-0FDE-47CE-78790E1D35C3}"/>
                </a:ext>
              </a:extLst>
            </p:cNvPr>
            <p:cNvGrpSpPr/>
            <p:nvPr/>
          </p:nvGrpSpPr>
          <p:grpSpPr>
            <a:xfrm>
              <a:off x="636270" y="1878796"/>
              <a:ext cx="2103120" cy="2293814"/>
              <a:chOff x="636270" y="2540945"/>
              <a:chExt cx="2103120" cy="2293814"/>
            </a:xfrm>
          </p:grpSpPr>
          <p:sp>
            <p:nvSpPr>
              <p:cNvPr id="7" name="Rectangle 6" descr="Generative AI">
                <a:extLst>
                  <a:ext uri="{FF2B5EF4-FFF2-40B4-BE49-F238E27FC236}">
                    <a16:creationId xmlns:a16="http://schemas.microsoft.com/office/drawing/2014/main" id="{DD30944E-DBF6-4FFA-6EF8-B824138F6F79}"/>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8" name="Graphic 7" descr="Chat with solid fill">
                <a:extLst>
                  <a:ext uri="{FF2B5EF4-FFF2-40B4-BE49-F238E27FC236}">
                    <a16:creationId xmlns:a16="http://schemas.microsoft.com/office/drawing/2014/main" id="{06EF438B-2B7B-79EA-3019-6091645647B9}"/>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115305" y="2540945"/>
                <a:ext cx="1143231" cy="1143231"/>
              </a:xfrm>
              <a:prstGeom prst="rect">
                <a:avLst/>
              </a:prstGeom>
            </p:spPr>
          </p:pic>
        </p:grpSp>
        <p:pic>
          <p:nvPicPr>
            <p:cNvPr id="6" name="Graphic 5" descr="Robot with solid fill">
              <a:extLst>
                <a:ext uri="{FF2B5EF4-FFF2-40B4-BE49-F238E27FC236}">
                  <a16:creationId xmlns:a16="http://schemas.microsoft.com/office/drawing/2014/main" id="{128D853D-5ECA-C54A-93EB-A69143F73C18}"/>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267584" y="2813173"/>
              <a:ext cx="913022" cy="913022"/>
            </a:xfrm>
            <a:prstGeom prst="rect">
              <a:avLst/>
            </a:prstGeom>
          </p:spPr>
        </p:pic>
      </p:grpSp>
      <p:sp>
        <p:nvSpPr>
          <p:cNvPr id="9" name="TextBox 8">
            <a:extLst>
              <a:ext uri="{FF2B5EF4-FFF2-40B4-BE49-F238E27FC236}">
                <a16:creationId xmlns:a16="http://schemas.microsoft.com/office/drawing/2014/main" id="{0C5C4FF6-66C5-8D0B-2D0A-5360C0746E1F}"/>
              </a:ext>
            </a:extLst>
          </p:cNvPr>
          <p:cNvSpPr txBox="1"/>
          <p:nvPr/>
        </p:nvSpPr>
        <p:spPr>
          <a:xfrm>
            <a:off x="636270" y="3805836"/>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t>
            </a:r>
            <a:r>
              <a:rPr kumimoji="0" lang="en-US" sz="1400" b="0" i="0" u="none" strike="noStrike" kern="0" cap="none" spc="0" normalizeH="0" baseline="0" noProof="0" dirty="0">
                <a:ln>
                  <a:noFill/>
                </a:ln>
                <a:solidFill>
                  <a:schemeClr val="tx2">
                    <a:lumMod val="25000"/>
                    <a:lumOff val="75000"/>
                  </a:schemeClr>
                </a:solidFill>
                <a:effectLst/>
                <a:uLnTx/>
                <a:uFillTx/>
                <a:latin typeface="Aptos" panose="02110004020202020204"/>
              </a:rPr>
              <a:t>and Agents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83338196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769057"/>
            <a:ext cx="6345239" cy="1231106"/>
          </a:xfrm>
        </p:spPr>
        <p:txBody>
          <a:bodyPr/>
          <a:lstStyle/>
          <a:p>
            <a:r>
              <a:rPr lang="en-US" noProof="0" dirty="0"/>
              <a:t>Plan and prepare to develop AI solutions on Azure</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https://aka.ms/mslearn-prepare-ai-dev</a:t>
            </a:r>
          </a:p>
        </p:txBody>
      </p:sp>
    </p:spTree>
    <p:extLst>
      <p:ext uri="{BB962C8B-B14F-4D97-AF65-F5344CB8AC3E}">
        <p14:creationId xmlns:p14="http://schemas.microsoft.com/office/powerpoint/2010/main" val="1166837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11139140" cy="492443"/>
          </a:xfrm>
        </p:spPr>
        <p:txBody>
          <a:bodyPr vert="horz" wrap="square" lIns="0" tIns="0" rIns="0" bIns="0" rtlCol="0" anchor="t">
            <a:spAutoFit/>
          </a:bodyPr>
          <a:lstStyle/>
          <a:p>
            <a:r>
              <a:rPr lang="en-US" sz="3200" dirty="0"/>
              <a:t>Microsoft Foundry</a:t>
            </a:r>
          </a:p>
        </p:txBody>
      </p:sp>
      <p:sp>
        <p:nvSpPr>
          <p:cNvPr id="131" name="Text Placeholder 45">
            <a:extLst>
              <a:ext uri="{FF2B5EF4-FFF2-40B4-BE49-F238E27FC236}">
                <a16:creationId xmlns:a16="http://schemas.microsoft.com/office/drawing/2014/main" id="{F75C1DD5-92B2-B2BE-09F2-A2A6EE7D9324}"/>
              </a:ext>
            </a:extLst>
          </p:cNvPr>
          <p:cNvSpPr txBox="1">
            <a:spLocks/>
          </p:cNvSpPr>
          <p:nvPr/>
        </p:nvSpPr>
        <p:spPr>
          <a:xfrm>
            <a:off x="584200" y="1594155"/>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A unified platform for AI apps and agents</a:t>
            </a:r>
          </a:p>
        </p:txBody>
      </p:sp>
      <p:sp>
        <p:nvSpPr>
          <p:cNvPr id="130" name="Text Placeholder 44">
            <a:extLst>
              <a:ext uri="{FF2B5EF4-FFF2-40B4-BE49-F238E27FC236}">
                <a16:creationId xmlns:a16="http://schemas.microsoft.com/office/drawing/2014/main" id="{AC8F1B70-FA10-D1AB-8E01-252886330E9C}"/>
              </a:ext>
            </a:extLst>
          </p:cNvPr>
          <p:cNvSpPr txBox="1">
            <a:spLocks/>
          </p:cNvSpPr>
          <p:nvPr/>
        </p:nvSpPr>
        <p:spPr>
          <a:xfrm>
            <a:off x="586391" y="2085764"/>
            <a:ext cx="4972366" cy="366254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Foundry </a:t>
            </a: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resources</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in Azure provide compute, storage, model delivery, and other services</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Foundry </a:t>
            </a:r>
            <a:r>
              <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projects</a:t>
            </a: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are isolated work environments for app and agent development</a:t>
            </a:r>
            <a:endParaRPr kumimoji="0" lang="en-US" sz="1800" b="0" i="1"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In a project, you work with:</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Models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choose and deploy models from an extensive model catalog</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Agents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create and manage agents that use models for language and reasoning</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Tools</a:t>
            </a:r>
            <a:r>
              <a:rPr kumimoji="0" lang="en-US" sz="1600" b="0" i="0" u="none" strike="noStrike" kern="1200" cap="none" spc="0" normalizeH="0" baseline="0" noProof="0" dirty="0">
                <a:ln>
                  <a:noFill/>
                </a:ln>
                <a:solidFill>
                  <a:srgbClr val="000000"/>
                </a:solidFill>
                <a:effectLst/>
                <a:uLnTx/>
                <a:uFillTx/>
                <a:latin typeface="Segoe UI"/>
                <a:ea typeface="+mn-ea"/>
                <a:cs typeface="+mn-cs"/>
              </a:rPr>
              <a:t> – connect agents to tools so they can perform actions and access information</a:t>
            </a:r>
          </a:p>
          <a:p>
            <a:pPr marL="265176" marR="0" lvl="1"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Knowledge</a:t>
            </a:r>
            <a:r>
              <a:rPr kumimoji="0" lang="en-US" sz="1600" b="0" i="0" u="none" strike="noStrike" kern="1200" cap="none" spc="0" normalizeH="0" baseline="0" noProof="0" dirty="0">
                <a:ln>
                  <a:noFill/>
                </a:ln>
                <a:solidFill>
                  <a:srgbClr val="000000"/>
                </a:solidFill>
                <a:effectLst/>
                <a:uLnTx/>
                <a:uFillTx/>
                <a:latin typeface="Segoe UI"/>
                <a:ea typeface="+mn-ea"/>
                <a:cs typeface="+mn-cs"/>
              </a:rPr>
              <a:t> – manage data source access for agents so they have the information they need to act </a:t>
            </a:r>
          </a:p>
        </p:txBody>
      </p:sp>
      <p:grpSp>
        <p:nvGrpSpPr>
          <p:cNvPr id="133" name="Group 132">
            <a:extLst>
              <a:ext uri="{FF2B5EF4-FFF2-40B4-BE49-F238E27FC236}">
                <a16:creationId xmlns:a16="http://schemas.microsoft.com/office/drawing/2014/main" id="{38374383-4CA6-4810-B0E4-72A9CE191C0B}"/>
              </a:ext>
              <a:ext uri="{C183D7F6-B498-43B3-948B-1728B52AA6E4}">
                <adec:decorative xmlns:adec="http://schemas.microsoft.com/office/drawing/2017/decorative" val="1"/>
              </a:ext>
            </a:extLst>
          </p:cNvPr>
          <p:cNvGrpSpPr/>
          <p:nvPr/>
        </p:nvGrpSpPr>
        <p:grpSpPr>
          <a:xfrm>
            <a:off x="6113016" y="816325"/>
            <a:ext cx="5509716" cy="5537749"/>
            <a:chOff x="6113016" y="816325"/>
            <a:chExt cx="5509716" cy="5537749"/>
          </a:xfrm>
        </p:grpSpPr>
        <p:grpSp>
          <p:nvGrpSpPr>
            <p:cNvPr id="129" name="Group 128">
              <a:extLst>
                <a:ext uri="{FF2B5EF4-FFF2-40B4-BE49-F238E27FC236}">
                  <a16:creationId xmlns:a16="http://schemas.microsoft.com/office/drawing/2014/main" id="{D8513E60-D28C-C2E7-D99E-C4EFC86426C3}"/>
                </a:ext>
              </a:extLst>
            </p:cNvPr>
            <p:cNvGrpSpPr/>
            <p:nvPr/>
          </p:nvGrpSpPr>
          <p:grpSpPr>
            <a:xfrm>
              <a:off x="6113016" y="1493571"/>
              <a:ext cx="5509716" cy="4860503"/>
              <a:chOff x="6670800" y="1084589"/>
              <a:chExt cx="5509716" cy="4860503"/>
            </a:xfrm>
          </p:grpSpPr>
          <p:sp>
            <p:nvSpPr>
              <p:cNvPr id="79" name="Foundry Resource">
                <a:extLst>
                  <a:ext uri="{FF2B5EF4-FFF2-40B4-BE49-F238E27FC236}">
                    <a16:creationId xmlns:a16="http://schemas.microsoft.com/office/drawing/2014/main" id="{A0875FAA-3AE6-E6F8-C705-BC1B6564A9E3}"/>
                  </a:ext>
                </a:extLst>
              </p:cNvPr>
              <p:cNvSpPr/>
              <p:nvPr/>
            </p:nvSpPr>
            <p:spPr>
              <a:xfrm>
                <a:off x="6670800" y="1084589"/>
                <a:ext cx="5509716" cy="4860503"/>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1" name="Project">
                <a:extLst>
                  <a:ext uri="{FF2B5EF4-FFF2-40B4-BE49-F238E27FC236}">
                    <a16:creationId xmlns:a16="http://schemas.microsoft.com/office/drawing/2014/main" id="{CEAD83DE-D73C-79C6-356F-CE3A9AE6644E}"/>
                  </a:ext>
                </a:extLst>
              </p:cNvPr>
              <p:cNvSpPr/>
              <p:nvPr/>
            </p:nvSpPr>
            <p:spPr>
              <a:xfrm>
                <a:off x="7169604" y="1656453"/>
                <a:ext cx="4601716" cy="3976240"/>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82" name="Models icon">
                <a:extLst>
                  <a:ext uri="{FF2B5EF4-FFF2-40B4-BE49-F238E27FC236}">
                    <a16:creationId xmlns:a16="http://schemas.microsoft.com/office/drawing/2014/main" id="{A6C8CDA2-158F-F15A-A025-D6C992E4143D}"/>
                  </a:ext>
                </a:extLst>
              </p:cNvPr>
              <p:cNvGrpSpPr/>
              <p:nvPr/>
            </p:nvGrpSpPr>
            <p:grpSpPr>
              <a:xfrm>
                <a:off x="7868115" y="2794476"/>
                <a:ext cx="952806" cy="893796"/>
                <a:chOff x="431252" y="1489271"/>
                <a:chExt cx="1175452" cy="1102653"/>
              </a:xfrm>
            </p:grpSpPr>
            <p:sp>
              <p:nvSpPr>
                <p:cNvPr id="83" name="Cube 82">
                  <a:extLst>
                    <a:ext uri="{FF2B5EF4-FFF2-40B4-BE49-F238E27FC236}">
                      <a16:creationId xmlns:a16="http://schemas.microsoft.com/office/drawing/2014/main" id="{11D969DC-009A-9F2B-B766-F6364D9E17A1}"/>
                    </a:ext>
                  </a:extLst>
                </p:cNvPr>
                <p:cNvSpPr/>
                <p:nvPr/>
              </p:nvSpPr>
              <p:spPr>
                <a:xfrm>
                  <a:off x="1034049" y="199331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w="22225">
                        <a:solidFill>
                          <a:srgbClr val="E97132"/>
                        </a:solidFill>
                        <a:prstDash val="solid"/>
                      </a:ln>
                      <a:solidFill>
                        <a:prstClr val="black"/>
                      </a:solidFill>
                      <a:effectLst/>
                      <a:uLnTx/>
                      <a:uFillTx/>
                      <a:latin typeface="Aptos" panose="02110004020202020204"/>
                      <a:ea typeface="+mn-ea"/>
                      <a:cs typeface="+mn-cs"/>
                      <a:sym typeface="Wingdings" panose="05000000000000000000" pitchFamily="2" charset="2"/>
                    </a:rPr>
                    <a:t></a:t>
                  </a:r>
                  <a:endParaRPr kumimoji="0" lang="en-US" sz="2400" b="1" i="0" u="none" strike="noStrike" kern="0" cap="none" spc="0" normalizeH="0" baseline="0" noProof="0" dirty="0">
                    <a:ln w="22225">
                      <a:solidFill>
                        <a:srgbClr val="E97132"/>
                      </a:solidFill>
                      <a:prstDash val="solid"/>
                    </a:ln>
                    <a:solidFill>
                      <a:prstClr val="black"/>
                    </a:solidFill>
                    <a:effectLst/>
                    <a:uLnTx/>
                    <a:uFillTx/>
                    <a:latin typeface="Aptos" panose="02110004020202020204"/>
                    <a:ea typeface="+mn-ea"/>
                    <a:cs typeface="+mn-cs"/>
                  </a:endParaRPr>
                </a:p>
              </p:txBody>
            </p:sp>
            <p:grpSp>
              <p:nvGrpSpPr>
                <p:cNvPr id="84" name="Group 83">
                  <a:extLst>
                    <a:ext uri="{FF2B5EF4-FFF2-40B4-BE49-F238E27FC236}">
                      <a16:creationId xmlns:a16="http://schemas.microsoft.com/office/drawing/2014/main" id="{F5FB0115-61C8-0FBA-F340-EC0BA3792F30}"/>
                    </a:ext>
                  </a:extLst>
                </p:cNvPr>
                <p:cNvGrpSpPr/>
                <p:nvPr/>
              </p:nvGrpSpPr>
              <p:grpSpPr>
                <a:xfrm>
                  <a:off x="431252" y="2000797"/>
                  <a:ext cx="602797" cy="591127"/>
                  <a:chOff x="316221" y="2634613"/>
                  <a:chExt cx="602797" cy="591127"/>
                </a:xfrm>
              </p:grpSpPr>
              <p:sp>
                <p:nvSpPr>
                  <p:cNvPr id="88" name="Cube 87">
                    <a:extLst>
                      <a:ext uri="{FF2B5EF4-FFF2-40B4-BE49-F238E27FC236}">
                        <a16:creationId xmlns:a16="http://schemas.microsoft.com/office/drawing/2014/main" id="{454FC78C-A7FF-4668-4E4B-1D96D7D3F2E8}"/>
                      </a:ext>
                    </a:extLst>
                  </p:cNvPr>
                  <p:cNvSpPr/>
                  <p:nvPr/>
                </p:nvSpPr>
                <p:spPr>
                  <a:xfrm>
                    <a:off x="346363" y="2634613"/>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9" name="Picture 88">
                    <a:extLst>
                      <a:ext uri="{FF2B5EF4-FFF2-40B4-BE49-F238E27FC236}">
                        <a16:creationId xmlns:a16="http://schemas.microsoft.com/office/drawing/2014/main" id="{544F78E4-FB8F-0D9B-31D2-D1C51D18D1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6221" y="2756871"/>
                    <a:ext cx="468869" cy="468869"/>
                  </a:xfrm>
                  <a:prstGeom prst="rect">
                    <a:avLst/>
                  </a:prstGeom>
                </p:spPr>
              </p:pic>
            </p:grpSp>
            <p:grpSp>
              <p:nvGrpSpPr>
                <p:cNvPr id="85" name="Group 84">
                  <a:extLst>
                    <a:ext uri="{FF2B5EF4-FFF2-40B4-BE49-F238E27FC236}">
                      <a16:creationId xmlns:a16="http://schemas.microsoft.com/office/drawing/2014/main" id="{FCC3C4FE-6504-B86A-5ABA-B7C5BD025914}"/>
                    </a:ext>
                  </a:extLst>
                </p:cNvPr>
                <p:cNvGrpSpPr/>
                <p:nvPr/>
              </p:nvGrpSpPr>
              <p:grpSpPr>
                <a:xfrm>
                  <a:off x="747721" y="1489271"/>
                  <a:ext cx="572655" cy="572655"/>
                  <a:chOff x="775854" y="1431636"/>
                  <a:chExt cx="572655" cy="572655"/>
                </a:xfrm>
              </p:grpSpPr>
              <p:sp>
                <p:nvSpPr>
                  <p:cNvPr id="86" name="Cube 85">
                    <a:extLst>
                      <a:ext uri="{FF2B5EF4-FFF2-40B4-BE49-F238E27FC236}">
                        <a16:creationId xmlns:a16="http://schemas.microsoft.com/office/drawing/2014/main" id="{2061DF79-6707-6CDF-4EE9-0F364F01B16C}"/>
                      </a:ext>
                    </a:extLst>
                  </p:cNvPr>
                  <p:cNvSpPr/>
                  <p:nvPr/>
                </p:nvSpPr>
                <p:spPr>
                  <a:xfrm>
                    <a:off x="775854" y="143163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7" name="Picture 86">
                    <a:extLst>
                      <a:ext uri="{FF2B5EF4-FFF2-40B4-BE49-F238E27FC236}">
                        <a16:creationId xmlns:a16="http://schemas.microsoft.com/office/drawing/2014/main" id="{A76D2A30-8A55-6D94-193C-642690548CF6}"/>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840086" y="1636592"/>
                    <a:ext cx="300607" cy="293808"/>
                  </a:xfrm>
                  <a:prstGeom prst="rect">
                    <a:avLst/>
                  </a:prstGeom>
                </p:spPr>
              </p:pic>
            </p:grpSp>
          </p:grpSp>
          <p:grpSp>
            <p:nvGrpSpPr>
              <p:cNvPr id="90" name="Models title">
                <a:extLst>
                  <a:ext uri="{FF2B5EF4-FFF2-40B4-BE49-F238E27FC236}">
                    <a16:creationId xmlns:a16="http://schemas.microsoft.com/office/drawing/2014/main" id="{D5E4E72C-BAAA-765B-63B5-61D5B97B73DF}"/>
                  </a:ext>
                </a:extLst>
              </p:cNvPr>
              <p:cNvGrpSpPr/>
              <p:nvPr/>
            </p:nvGrpSpPr>
            <p:grpSpPr>
              <a:xfrm>
                <a:off x="7503435" y="2209280"/>
                <a:ext cx="1715100" cy="676504"/>
                <a:chOff x="4424882" y="2060587"/>
                <a:chExt cx="1715100" cy="676504"/>
              </a:xfrm>
            </p:grpSpPr>
            <p:pic>
              <p:nvPicPr>
                <p:cNvPr id="91" name="Picture 90">
                  <a:extLst>
                    <a:ext uri="{FF2B5EF4-FFF2-40B4-BE49-F238E27FC236}">
                      <a16:creationId xmlns:a16="http://schemas.microsoft.com/office/drawing/2014/main" id="{C5154E71-CF63-71A1-5348-D12025FCCD1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24882" y="2060587"/>
                  <a:ext cx="676504" cy="676504"/>
                </a:xfrm>
                <a:prstGeom prst="rect">
                  <a:avLst/>
                </a:prstGeom>
              </p:spPr>
            </p:pic>
            <p:sp>
              <p:nvSpPr>
                <p:cNvPr id="92" name="TextBox 91">
                  <a:extLst>
                    <a:ext uri="{FF2B5EF4-FFF2-40B4-BE49-F238E27FC236}">
                      <a16:creationId xmlns:a16="http://schemas.microsoft.com/office/drawing/2014/main" id="{CDE17F4E-2D22-077D-8A5B-35D30D51BF73}"/>
                    </a:ext>
                  </a:extLst>
                </p:cNvPr>
                <p:cNvSpPr txBox="1"/>
                <p:nvPr/>
              </p:nvSpPr>
              <p:spPr>
                <a:xfrm>
                  <a:off x="4967427" y="2168006"/>
                  <a:ext cx="1172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Models</a:t>
                  </a:r>
                </a:p>
              </p:txBody>
            </p:sp>
          </p:grpSp>
          <p:grpSp>
            <p:nvGrpSpPr>
              <p:cNvPr id="93" name="Agents title">
                <a:extLst>
                  <a:ext uri="{FF2B5EF4-FFF2-40B4-BE49-F238E27FC236}">
                    <a16:creationId xmlns:a16="http://schemas.microsoft.com/office/drawing/2014/main" id="{21557605-E991-63BA-7CC4-95FD85DCA356}"/>
                  </a:ext>
                </a:extLst>
              </p:cNvPr>
              <p:cNvGrpSpPr/>
              <p:nvPr/>
            </p:nvGrpSpPr>
            <p:grpSpPr>
              <a:xfrm>
                <a:off x="9522052" y="2229489"/>
                <a:ext cx="1696203" cy="590514"/>
                <a:chOff x="6887055" y="2055269"/>
                <a:chExt cx="1696203" cy="590514"/>
              </a:xfrm>
            </p:grpSpPr>
            <p:pic>
              <p:nvPicPr>
                <p:cNvPr id="94" name="Picture 93">
                  <a:extLst>
                    <a:ext uri="{FF2B5EF4-FFF2-40B4-BE49-F238E27FC236}">
                      <a16:creationId xmlns:a16="http://schemas.microsoft.com/office/drawing/2014/main" id="{51D3C072-0D06-F03F-BC47-6EB243A24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87055" y="2055269"/>
                  <a:ext cx="590514" cy="590514"/>
                </a:xfrm>
                <a:prstGeom prst="rect">
                  <a:avLst/>
                </a:prstGeom>
              </p:spPr>
            </p:pic>
            <p:sp>
              <p:nvSpPr>
                <p:cNvPr id="95" name="TextBox 94">
                  <a:extLst>
                    <a:ext uri="{FF2B5EF4-FFF2-40B4-BE49-F238E27FC236}">
                      <a16:creationId xmlns:a16="http://schemas.microsoft.com/office/drawing/2014/main" id="{66ED8CAC-7B6F-EF10-AD5B-F72B40A8F310}"/>
                    </a:ext>
                  </a:extLst>
                </p:cNvPr>
                <p:cNvSpPr txBox="1"/>
                <p:nvPr/>
              </p:nvSpPr>
              <p:spPr>
                <a:xfrm>
                  <a:off x="7410703" y="2119693"/>
                  <a:ext cx="1172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Agents</a:t>
                  </a:r>
                </a:p>
              </p:txBody>
            </p:sp>
          </p:grpSp>
          <p:grpSp>
            <p:nvGrpSpPr>
              <p:cNvPr id="96" name="Agents icon">
                <a:extLst>
                  <a:ext uri="{FF2B5EF4-FFF2-40B4-BE49-F238E27FC236}">
                    <a16:creationId xmlns:a16="http://schemas.microsoft.com/office/drawing/2014/main" id="{0655C212-E4D7-DB32-84C6-62E88BE96D26}"/>
                  </a:ext>
                </a:extLst>
              </p:cNvPr>
              <p:cNvGrpSpPr/>
              <p:nvPr/>
            </p:nvGrpSpPr>
            <p:grpSpPr>
              <a:xfrm>
                <a:off x="9626030" y="2653497"/>
                <a:ext cx="1427817" cy="1073760"/>
                <a:chOff x="6991033" y="2479277"/>
                <a:chExt cx="1588699" cy="1194748"/>
              </a:xfrm>
            </p:grpSpPr>
            <p:pic>
              <p:nvPicPr>
                <p:cNvPr id="97" name="Graphic 96" descr="Robot with solid fill">
                  <a:extLst>
                    <a:ext uri="{FF2B5EF4-FFF2-40B4-BE49-F238E27FC236}">
                      <a16:creationId xmlns:a16="http://schemas.microsoft.com/office/drawing/2014/main" id="{C30BDAA0-90FC-971C-5D5C-E87A2F73A6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3914" y="2479277"/>
                  <a:ext cx="796499" cy="796499"/>
                </a:xfrm>
                <a:prstGeom prst="rect">
                  <a:avLst/>
                </a:prstGeom>
              </p:spPr>
            </p:pic>
            <p:pic>
              <p:nvPicPr>
                <p:cNvPr id="98" name="Graphic 97" descr="Robot with solid fill">
                  <a:extLst>
                    <a:ext uri="{FF2B5EF4-FFF2-40B4-BE49-F238E27FC236}">
                      <a16:creationId xmlns:a16="http://schemas.microsoft.com/office/drawing/2014/main" id="{5C961F2B-59B0-DF1B-F95D-F04AC22D62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3233" y="2785726"/>
                  <a:ext cx="796499" cy="796499"/>
                </a:xfrm>
                <a:prstGeom prst="rect">
                  <a:avLst/>
                </a:prstGeom>
              </p:spPr>
            </p:pic>
            <p:pic>
              <p:nvPicPr>
                <p:cNvPr id="99" name="Graphic 98" descr="Robot with solid fill">
                  <a:extLst>
                    <a:ext uri="{FF2B5EF4-FFF2-40B4-BE49-F238E27FC236}">
                      <a16:creationId xmlns:a16="http://schemas.microsoft.com/office/drawing/2014/main" id="{23E86436-AFFC-E121-4A22-7212BA5921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91033" y="2877526"/>
                  <a:ext cx="796499" cy="796499"/>
                </a:xfrm>
                <a:prstGeom prst="rect">
                  <a:avLst/>
                </a:prstGeom>
              </p:spPr>
            </p:pic>
          </p:grpSp>
          <p:grpSp>
            <p:nvGrpSpPr>
              <p:cNvPr id="100" name="Tools title">
                <a:extLst>
                  <a:ext uri="{FF2B5EF4-FFF2-40B4-BE49-F238E27FC236}">
                    <a16:creationId xmlns:a16="http://schemas.microsoft.com/office/drawing/2014/main" id="{7DEA8DF9-ABFA-6277-A8EF-A8AAFACE023C}"/>
                  </a:ext>
                </a:extLst>
              </p:cNvPr>
              <p:cNvGrpSpPr/>
              <p:nvPr/>
            </p:nvGrpSpPr>
            <p:grpSpPr>
              <a:xfrm>
                <a:off x="7564279" y="3994345"/>
                <a:ext cx="1776290" cy="581908"/>
                <a:chOff x="5536247" y="3949784"/>
                <a:chExt cx="1776290" cy="581908"/>
              </a:xfrm>
            </p:grpSpPr>
            <p:pic>
              <p:nvPicPr>
                <p:cNvPr id="101" name="Picture 100">
                  <a:extLst>
                    <a:ext uri="{FF2B5EF4-FFF2-40B4-BE49-F238E27FC236}">
                      <a16:creationId xmlns:a16="http://schemas.microsoft.com/office/drawing/2014/main" id="{04A31A57-CF45-C19B-0CD5-957DCDDED70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536247" y="3949784"/>
                  <a:ext cx="603735" cy="581908"/>
                </a:xfrm>
                <a:prstGeom prst="rect">
                  <a:avLst/>
                </a:prstGeom>
              </p:spPr>
            </p:pic>
            <p:sp>
              <p:nvSpPr>
                <p:cNvPr id="102" name="TextBox 101">
                  <a:extLst>
                    <a:ext uri="{FF2B5EF4-FFF2-40B4-BE49-F238E27FC236}">
                      <a16:creationId xmlns:a16="http://schemas.microsoft.com/office/drawing/2014/main" id="{EAB5212B-3E55-E25C-D484-A5A3A050695E}"/>
                    </a:ext>
                  </a:extLst>
                </p:cNvPr>
                <p:cNvSpPr txBox="1"/>
                <p:nvPr/>
              </p:nvSpPr>
              <p:spPr>
                <a:xfrm>
                  <a:off x="6096000" y="4040605"/>
                  <a:ext cx="12165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Tools</a:t>
                  </a:r>
                </a:p>
              </p:txBody>
            </p:sp>
          </p:grpSp>
          <p:grpSp>
            <p:nvGrpSpPr>
              <p:cNvPr id="103" name="Tools icon">
                <a:extLst>
                  <a:ext uri="{FF2B5EF4-FFF2-40B4-BE49-F238E27FC236}">
                    <a16:creationId xmlns:a16="http://schemas.microsoft.com/office/drawing/2014/main" id="{52E92FD7-2225-EF37-5DD0-889BB08BB840}"/>
                  </a:ext>
                </a:extLst>
              </p:cNvPr>
              <p:cNvGrpSpPr/>
              <p:nvPr/>
            </p:nvGrpSpPr>
            <p:grpSpPr>
              <a:xfrm>
                <a:off x="7640613" y="4530380"/>
                <a:ext cx="1297199" cy="818268"/>
                <a:chOff x="832445" y="2239258"/>
                <a:chExt cx="1559412" cy="983671"/>
              </a:xfrm>
            </p:grpSpPr>
            <p:pic>
              <p:nvPicPr>
                <p:cNvPr id="104" name="Graphic 103" descr="Wrench with solid fill">
                  <a:extLst>
                    <a:ext uri="{FF2B5EF4-FFF2-40B4-BE49-F238E27FC236}">
                      <a16:creationId xmlns:a16="http://schemas.microsoft.com/office/drawing/2014/main" id="{91E521E8-0F18-D553-5702-168C2BB527A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V="1">
                  <a:off x="1708581" y="2379073"/>
                  <a:ext cx="683276" cy="683276"/>
                </a:xfrm>
                <a:prstGeom prst="rect">
                  <a:avLst/>
                </a:prstGeom>
              </p:spPr>
            </p:pic>
            <p:grpSp>
              <p:nvGrpSpPr>
                <p:cNvPr id="105" name="Group 104">
                  <a:extLst>
                    <a:ext uri="{FF2B5EF4-FFF2-40B4-BE49-F238E27FC236}">
                      <a16:creationId xmlns:a16="http://schemas.microsoft.com/office/drawing/2014/main" id="{9013AB86-15B4-24A5-7DAB-31027BF485FD}"/>
                    </a:ext>
                  </a:extLst>
                </p:cNvPr>
                <p:cNvGrpSpPr/>
                <p:nvPr/>
              </p:nvGrpSpPr>
              <p:grpSpPr>
                <a:xfrm>
                  <a:off x="1387284" y="2419049"/>
                  <a:ext cx="795565" cy="803880"/>
                  <a:chOff x="1571037" y="2991060"/>
                  <a:chExt cx="921619" cy="931253"/>
                </a:xfrm>
              </p:grpSpPr>
              <p:pic>
                <p:nvPicPr>
                  <p:cNvPr id="109" name="Graphic 108" descr="Screwdriver with solid fill">
                    <a:extLst>
                      <a:ext uri="{FF2B5EF4-FFF2-40B4-BE49-F238E27FC236}">
                        <a16:creationId xmlns:a16="http://schemas.microsoft.com/office/drawing/2014/main" id="{80A21FB2-61FF-11DB-A517-7A358EF3CE8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8256" y="2991060"/>
                    <a:ext cx="914400" cy="914400"/>
                  </a:xfrm>
                  <a:prstGeom prst="rect">
                    <a:avLst/>
                  </a:prstGeom>
                </p:spPr>
              </p:pic>
              <p:pic>
                <p:nvPicPr>
                  <p:cNvPr id="110" name="Graphic 109" descr="Screwdriver with solid fill">
                    <a:extLst>
                      <a:ext uri="{FF2B5EF4-FFF2-40B4-BE49-F238E27FC236}">
                        <a16:creationId xmlns:a16="http://schemas.microsoft.com/office/drawing/2014/main" id="{F5BFF747-D2C6-5737-D646-B8E641EAC328}"/>
                      </a:ext>
                    </a:extLst>
                  </p:cNvPr>
                  <p:cNvPicPr>
                    <a:picLocks noChangeAspect="1"/>
                  </p:cNvPicPr>
                  <p:nvPr/>
                </p:nvPicPr>
                <p:blipFill>
                  <a:blip>
                    <a:extLst>
                      <a:ext uri="{96DAC541-7B7A-43D3-8B79-37D633B846F1}">
                        <asvg:svgBlip xmlns:asvg="http://schemas.microsoft.com/office/drawing/2016/SVG/main" r:embed="rId13"/>
                      </a:ext>
                    </a:extLst>
                  </a:blip>
                  <a:srcRect t="48157" r="49905"/>
                  <a:stretch>
                    <a:fillRect/>
                  </a:stretch>
                </p:blipFill>
                <p:spPr>
                  <a:xfrm>
                    <a:off x="1571037" y="3448260"/>
                    <a:ext cx="458070" cy="474053"/>
                  </a:xfrm>
                  <a:prstGeom prst="rect">
                    <a:avLst/>
                  </a:prstGeom>
                </p:spPr>
              </p:pic>
            </p:grpSp>
            <p:grpSp>
              <p:nvGrpSpPr>
                <p:cNvPr id="106" name="Group 105">
                  <a:extLst>
                    <a:ext uri="{FF2B5EF4-FFF2-40B4-BE49-F238E27FC236}">
                      <a16:creationId xmlns:a16="http://schemas.microsoft.com/office/drawing/2014/main" id="{28B92BE4-D88E-93BD-9FEF-47CB8F40E1CB}"/>
                    </a:ext>
                  </a:extLst>
                </p:cNvPr>
                <p:cNvGrpSpPr/>
                <p:nvPr/>
              </p:nvGrpSpPr>
              <p:grpSpPr>
                <a:xfrm>
                  <a:off x="832445" y="2239258"/>
                  <a:ext cx="914400" cy="928653"/>
                  <a:chOff x="308502" y="3524927"/>
                  <a:chExt cx="914400" cy="928653"/>
                </a:xfrm>
              </p:grpSpPr>
              <p:pic>
                <p:nvPicPr>
                  <p:cNvPr id="107" name="Graphic 106" descr="Hammer with solid fill">
                    <a:extLst>
                      <a:ext uri="{FF2B5EF4-FFF2-40B4-BE49-F238E27FC236}">
                        <a16:creationId xmlns:a16="http://schemas.microsoft.com/office/drawing/2014/main" id="{FCF7B5F9-5A7B-6683-4445-4E20964DD4A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21190143">
                    <a:off x="308502" y="3524927"/>
                    <a:ext cx="914400" cy="914400"/>
                  </a:xfrm>
                  <a:prstGeom prst="rect">
                    <a:avLst/>
                  </a:prstGeom>
                </p:spPr>
              </p:pic>
              <p:pic>
                <p:nvPicPr>
                  <p:cNvPr id="108" name="Graphic 107" descr="Hammer with solid fill">
                    <a:extLst>
                      <a:ext uri="{FF2B5EF4-FFF2-40B4-BE49-F238E27FC236}">
                        <a16:creationId xmlns:a16="http://schemas.microsoft.com/office/drawing/2014/main" id="{7D2DD7B4-4FB3-A5C1-6E10-C6B6D8541820}"/>
                      </a:ext>
                    </a:extLst>
                  </p:cNvPr>
                  <p:cNvPicPr>
                    <a:picLocks noChangeAspect="1"/>
                  </p:cNvPicPr>
                  <p:nvPr/>
                </p:nvPicPr>
                <p:blipFill>
                  <a:blip>
                    <a:extLst>
                      <a:ext uri="{96DAC541-7B7A-43D3-8B79-37D633B846F1}">
                        <asvg:svgBlip xmlns:asvg="http://schemas.microsoft.com/office/drawing/2016/SVG/main" r:embed="rId15"/>
                      </a:ext>
                    </a:extLst>
                  </a:blip>
                  <a:srcRect t="53562" r="58555"/>
                  <a:stretch>
                    <a:fillRect/>
                  </a:stretch>
                </p:blipFill>
                <p:spPr>
                  <a:xfrm rot="21190143">
                    <a:off x="347457" y="4028955"/>
                    <a:ext cx="378970" cy="424625"/>
                  </a:xfrm>
                  <a:prstGeom prst="rect">
                    <a:avLst/>
                  </a:prstGeom>
                </p:spPr>
              </p:pic>
            </p:grpSp>
          </p:grpSp>
          <p:grpSp>
            <p:nvGrpSpPr>
              <p:cNvPr id="111" name="knowledge title">
                <a:extLst>
                  <a:ext uri="{FF2B5EF4-FFF2-40B4-BE49-F238E27FC236}">
                    <a16:creationId xmlns:a16="http://schemas.microsoft.com/office/drawing/2014/main" id="{C234BE26-E888-8EDB-4F4B-9BF97BEF7CD7}"/>
                  </a:ext>
                </a:extLst>
              </p:cNvPr>
              <p:cNvGrpSpPr/>
              <p:nvPr/>
            </p:nvGrpSpPr>
            <p:grpSpPr>
              <a:xfrm>
                <a:off x="9479066" y="3923353"/>
                <a:ext cx="2310542" cy="697203"/>
                <a:chOff x="6885312" y="4114643"/>
                <a:chExt cx="2310542" cy="697203"/>
              </a:xfrm>
            </p:grpSpPr>
            <p:pic>
              <p:nvPicPr>
                <p:cNvPr id="112" name="Picture 111">
                  <a:extLst>
                    <a:ext uri="{FF2B5EF4-FFF2-40B4-BE49-F238E27FC236}">
                      <a16:creationId xmlns:a16="http://schemas.microsoft.com/office/drawing/2014/main" id="{DB3BC1E2-1574-C8EE-AC56-56329F1BD4C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885312" y="4114643"/>
                  <a:ext cx="697203" cy="697203"/>
                </a:xfrm>
                <a:prstGeom prst="rect">
                  <a:avLst/>
                </a:prstGeom>
              </p:spPr>
            </p:pic>
            <p:sp>
              <p:nvSpPr>
                <p:cNvPr id="113" name="TextBox 112">
                  <a:extLst>
                    <a:ext uri="{FF2B5EF4-FFF2-40B4-BE49-F238E27FC236}">
                      <a16:creationId xmlns:a16="http://schemas.microsoft.com/office/drawing/2014/main" id="{03D2AF8B-0877-B55A-7E62-A5756BE49475}"/>
                    </a:ext>
                  </a:extLst>
                </p:cNvPr>
                <p:cNvSpPr txBox="1"/>
                <p:nvPr/>
              </p:nvSpPr>
              <p:spPr>
                <a:xfrm>
                  <a:off x="7459097" y="4254578"/>
                  <a:ext cx="17367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Knowledge</a:t>
                  </a:r>
                </a:p>
              </p:txBody>
            </p:sp>
          </p:grpSp>
          <p:grpSp>
            <p:nvGrpSpPr>
              <p:cNvPr id="114" name="Knowledge icon">
                <a:extLst>
                  <a:ext uri="{FF2B5EF4-FFF2-40B4-BE49-F238E27FC236}">
                    <a16:creationId xmlns:a16="http://schemas.microsoft.com/office/drawing/2014/main" id="{4EA63044-4A20-D441-E61D-97826C6D0BC1}"/>
                  </a:ext>
                </a:extLst>
              </p:cNvPr>
              <p:cNvGrpSpPr/>
              <p:nvPr/>
            </p:nvGrpSpPr>
            <p:grpSpPr>
              <a:xfrm>
                <a:off x="10308854" y="4486736"/>
                <a:ext cx="966902" cy="998886"/>
                <a:chOff x="7665332" y="4678026"/>
                <a:chExt cx="1246048" cy="1287266"/>
              </a:xfrm>
            </p:grpSpPr>
            <p:pic>
              <p:nvPicPr>
                <p:cNvPr id="115" name="Graphic 114" descr="Document outline">
                  <a:extLst>
                    <a:ext uri="{FF2B5EF4-FFF2-40B4-BE49-F238E27FC236}">
                      <a16:creationId xmlns:a16="http://schemas.microsoft.com/office/drawing/2014/main" id="{60979D96-46F1-BCE3-4D3A-CFB90ADB2F4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665332" y="4678026"/>
                  <a:ext cx="914400" cy="914400"/>
                </a:xfrm>
                <a:prstGeom prst="rect">
                  <a:avLst/>
                </a:prstGeom>
              </p:spPr>
            </p:pic>
            <p:grpSp>
              <p:nvGrpSpPr>
                <p:cNvPr id="116" name="Group 115">
                  <a:extLst>
                    <a:ext uri="{FF2B5EF4-FFF2-40B4-BE49-F238E27FC236}">
                      <a16:creationId xmlns:a16="http://schemas.microsoft.com/office/drawing/2014/main" id="{01B3E22D-395B-1659-DA68-4BFD33BCDCA4}"/>
                    </a:ext>
                  </a:extLst>
                </p:cNvPr>
                <p:cNvGrpSpPr/>
                <p:nvPr/>
              </p:nvGrpSpPr>
              <p:grpSpPr>
                <a:xfrm>
                  <a:off x="7996980" y="5050892"/>
                  <a:ext cx="914400" cy="914400"/>
                  <a:chOff x="10023333" y="3330046"/>
                  <a:chExt cx="914400" cy="914400"/>
                </a:xfrm>
              </p:grpSpPr>
              <p:pic>
                <p:nvPicPr>
                  <p:cNvPr id="117" name="Graphic 116" descr="Magnifying glass with solid fill">
                    <a:extLst>
                      <a:ext uri="{FF2B5EF4-FFF2-40B4-BE49-F238E27FC236}">
                        <a16:creationId xmlns:a16="http://schemas.microsoft.com/office/drawing/2014/main" id="{81D40B60-4A51-5A6C-87F4-AB622C50EE1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023333" y="3330046"/>
                    <a:ext cx="914400" cy="914400"/>
                  </a:xfrm>
                  <a:prstGeom prst="rect">
                    <a:avLst/>
                  </a:prstGeom>
                </p:spPr>
              </p:pic>
              <p:pic>
                <p:nvPicPr>
                  <p:cNvPr id="118" name="Graphic 117" descr="Magnifying glass with solid fill">
                    <a:extLst>
                      <a:ext uri="{FF2B5EF4-FFF2-40B4-BE49-F238E27FC236}">
                        <a16:creationId xmlns:a16="http://schemas.microsoft.com/office/drawing/2014/main" id="{9CAF2946-D079-848B-1B5C-9B8D74FA3C96}"/>
                      </a:ext>
                    </a:extLst>
                  </p:cNvPr>
                  <p:cNvPicPr>
                    <a:picLocks noChangeAspect="1"/>
                  </p:cNvPicPr>
                  <p:nvPr/>
                </p:nvPicPr>
                <p:blipFill>
                  <a:blip>
                    <a:extLst>
                      <a:ext uri="{96DAC541-7B7A-43D3-8B79-37D633B846F1}">
                        <asvg:svgBlip xmlns:asvg="http://schemas.microsoft.com/office/drawing/2016/SVG/main" r:embed="rId19"/>
                      </a:ext>
                    </a:extLst>
                  </a:blip>
                  <a:srcRect l="62331" t="59791"/>
                  <a:stretch>
                    <a:fillRect/>
                  </a:stretch>
                </p:blipFill>
                <p:spPr>
                  <a:xfrm>
                    <a:off x="10593290" y="3876769"/>
                    <a:ext cx="344443" cy="367677"/>
                  </a:xfrm>
                  <a:prstGeom prst="rect">
                    <a:avLst/>
                  </a:prstGeom>
                </p:spPr>
              </p:pic>
            </p:grpSp>
          </p:grpSp>
          <p:sp>
            <p:nvSpPr>
              <p:cNvPr id="126" name="TextBox 125">
                <a:extLst>
                  <a:ext uri="{FF2B5EF4-FFF2-40B4-BE49-F238E27FC236}">
                    <a16:creationId xmlns:a16="http://schemas.microsoft.com/office/drawing/2014/main" id="{F218C532-3287-FE02-C65D-165A0C1CB54D}"/>
                  </a:ext>
                </a:extLst>
              </p:cNvPr>
              <p:cNvSpPr txBox="1"/>
              <p:nvPr/>
            </p:nvSpPr>
            <p:spPr>
              <a:xfrm>
                <a:off x="7328222" y="1137938"/>
                <a:ext cx="3182603"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Semibold"/>
                    <a:ea typeface="+mn-ea"/>
                    <a:cs typeface="+mn-cs"/>
                  </a:rPr>
                  <a:t>Microsoft Foundry </a:t>
                </a:r>
                <a:r>
                  <a:rPr kumimoji="0" lang="en-US" sz="2000" b="0" i="1" u="none" strike="noStrike" kern="1200" cap="none" spc="0" normalizeH="0" baseline="0" noProof="0" dirty="0">
                    <a:ln>
                      <a:noFill/>
                    </a:ln>
                    <a:solidFill>
                      <a:srgbClr val="000000"/>
                    </a:solidFill>
                    <a:effectLst/>
                    <a:uLnTx/>
                    <a:uFillTx/>
                    <a:latin typeface="Segoe UI Semibold"/>
                    <a:ea typeface="+mn-ea"/>
                    <a:cs typeface="+mn-cs"/>
                  </a:rPr>
                  <a:t>resource</a:t>
                </a:r>
              </a:p>
            </p:txBody>
          </p:sp>
          <p:sp>
            <p:nvSpPr>
              <p:cNvPr id="127" name="TextBox 126">
                <a:extLst>
                  <a:ext uri="{FF2B5EF4-FFF2-40B4-BE49-F238E27FC236}">
                    <a16:creationId xmlns:a16="http://schemas.microsoft.com/office/drawing/2014/main" id="{5DFA6FEF-3AFD-5BD5-7834-33017ABFC53A}"/>
                  </a:ext>
                </a:extLst>
              </p:cNvPr>
              <p:cNvSpPr txBox="1"/>
              <p:nvPr/>
            </p:nvSpPr>
            <p:spPr>
              <a:xfrm>
                <a:off x="7579789" y="1758711"/>
                <a:ext cx="3008965"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Semibold"/>
                    <a:ea typeface="+mn-ea"/>
                    <a:cs typeface="+mn-cs"/>
                  </a:rPr>
                  <a:t>Microsoft Foundry </a:t>
                </a:r>
                <a:r>
                  <a:rPr kumimoji="0" lang="en-US" sz="2000" b="0" i="1" u="none" strike="noStrike" kern="1200" cap="none" spc="0" normalizeH="0" baseline="0" noProof="0" dirty="0">
                    <a:ln>
                      <a:noFill/>
                    </a:ln>
                    <a:solidFill>
                      <a:srgbClr val="000000"/>
                    </a:solidFill>
                    <a:effectLst/>
                    <a:uLnTx/>
                    <a:uFillTx/>
                    <a:latin typeface="Segoe UI Semibold"/>
                    <a:ea typeface="+mn-ea"/>
                    <a:cs typeface="+mn-cs"/>
                  </a:rPr>
                  <a:t>project</a:t>
                </a:r>
              </a:p>
            </p:txBody>
          </p:sp>
        </p:grpSp>
        <p:pic>
          <p:nvPicPr>
            <p:cNvPr id="132" name="Graphic 55">
              <a:extLst>
                <a:ext uri="{FF2B5EF4-FFF2-40B4-BE49-F238E27FC236}">
                  <a16:creationId xmlns:a16="http://schemas.microsoft.com/office/drawing/2014/main" id="{68B4DF00-6AD7-34E8-6D79-17BE3A304636}"/>
                </a:ext>
              </a:extLst>
            </p:cNvPr>
            <p:cNvPicPr>
              <a:picLocks noChangeAspect="1"/>
            </p:cNvPicPr>
            <p:nvPr/>
          </p:nvPicPr>
          <p:blipFill>
            <a:blip r:embed="rId20" cstate="screen">
              <a:extLst>
                <a:ext uri="{28A0092B-C50C-407E-A947-70E740481C1C}">
                  <a14:useLocalDpi xmlns:a14="http://schemas.microsoft.com/office/drawing/2010/main"/>
                </a:ext>
              </a:extLst>
            </a:blip>
            <a:srcRect/>
            <a:stretch/>
          </p:blipFill>
          <p:spPr>
            <a:xfrm>
              <a:off x="10363196" y="816325"/>
              <a:ext cx="1140170" cy="1075521"/>
            </a:xfrm>
            <a:prstGeom prst="rect">
              <a:avLst/>
            </a:prstGeom>
          </p:spPr>
        </p:pic>
      </p:gr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78608561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A18A-E1C6-6ED4-D7D6-CB00F8757C71}"/>
              </a:ext>
            </a:extLst>
          </p:cNvPr>
          <p:cNvSpPr>
            <a:spLocks noGrp="1"/>
          </p:cNvSpPr>
          <p:nvPr>
            <p:ph type="title"/>
          </p:nvPr>
        </p:nvSpPr>
        <p:spPr/>
        <p:txBody>
          <a:bodyPr/>
          <a:lstStyle/>
          <a:p>
            <a:r>
              <a:rPr lang="en-US" dirty="0"/>
              <a:t>Foundry Tools</a:t>
            </a:r>
          </a:p>
        </p:txBody>
      </p:sp>
      <p:grpSp>
        <p:nvGrpSpPr>
          <p:cNvPr id="34" name="Group 33" descr="Table showing available Foundry Tools.">
            <a:extLst>
              <a:ext uri="{FF2B5EF4-FFF2-40B4-BE49-F238E27FC236}">
                <a16:creationId xmlns:a16="http://schemas.microsoft.com/office/drawing/2014/main" id="{95F2715B-D37F-0450-83BB-2237161AC716}"/>
              </a:ext>
            </a:extLst>
          </p:cNvPr>
          <p:cNvGrpSpPr/>
          <p:nvPr/>
        </p:nvGrpSpPr>
        <p:grpSpPr>
          <a:xfrm>
            <a:off x="1415143" y="1248559"/>
            <a:ext cx="9173028" cy="5083294"/>
            <a:chOff x="1415143" y="1248559"/>
            <a:chExt cx="9173028" cy="5083294"/>
          </a:xfrm>
        </p:grpSpPr>
        <p:grpSp>
          <p:nvGrpSpPr>
            <p:cNvPr id="29" name="Group 28">
              <a:extLst>
                <a:ext uri="{FF2B5EF4-FFF2-40B4-BE49-F238E27FC236}">
                  <a16:creationId xmlns:a16="http://schemas.microsoft.com/office/drawing/2014/main" id="{97EC8DE9-536A-E9CD-C2F5-A7FF035795DD}"/>
                </a:ext>
              </a:extLst>
            </p:cNvPr>
            <p:cNvGrpSpPr/>
            <p:nvPr/>
          </p:nvGrpSpPr>
          <p:grpSpPr>
            <a:xfrm>
              <a:off x="1415143" y="1248559"/>
              <a:ext cx="9173028" cy="956934"/>
              <a:chOff x="1415143" y="1248559"/>
              <a:chExt cx="9173028" cy="956934"/>
            </a:xfrm>
          </p:grpSpPr>
          <p:sp>
            <p:nvSpPr>
              <p:cNvPr id="19" name="Rectangle 18">
                <a:extLst>
                  <a:ext uri="{FF2B5EF4-FFF2-40B4-BE49-F238E27FC236}">
                    <a16:creationId xmlns:a16="http://schemas.microsoft.com/office/drawing/2014/main" id="{D2E16E56-7EF3-40B0-A0D6-F819F1DDC6A0}"/>
                  </a:ext>
                </a:extLst>
              </p:cNvPr>
              <p:cNvSpPr/>
              <p:nvPr/>
            </p:nvSpPr>
            <p:spPr bwMode="auto">
              <a:xfrm>
                <a:off x="1415143" y="1248559"/>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B5A1E27B-6CB2-B2EA-90E7-2714EE9FC22E}"/>
                  </a:ext>
                </a:extLst>
              </p:cNvPr>
              <p:cNvPicPr>
                <a:picLocks noChangeAspect="1"/>
              </p:cNvPicPr>
              <p:nvPr/>
            </p:nvPicPr>
            <p:blipFill>
              <a:blip r:embed="rId3"/>
              <a:stretch>
                <a:fillRect/>
              </a:stretch>
            </p:blipFill>
            <p:spPr>
              <a:xfrm>
                <a:off x="1415143" y="1258435"/>
                <a:ext cx="947058" cy="947058"/>
              </a:xfrm>
              <a:prstGeom prst="rect">
                <a:avLst/>
              </a:prstGeom>
            </p:spPr>
          </p:pic>
          <p:sp>
            <p:nvSpPr>
              <p:cNvPr id="14" name="TextBox 13">
                <a:extLst>
                  <a:ext uri="{FF2B5EF4-FFF2-40B4-BE49-F238E27FC236}">
                    <a16:creationId xmlns:a16="http://schemas.microsoft.com/office/drawing/2014/main" id="{C46F3B07-00ED-A75F-97E2-2EA5DBC77825}"/>
                  </a:ext>
                </a:extLst>
              </p:cNvPr>
              <p:cNvSpPr txBox="1"/>
              <p:nvPr/>
            </p:nvSpPr>
            <p:spPr>
              <a:xfrm>
                <a:off x="2455169" y="1388625"/>
                <a:ext cx="3493713" cy="276999"/>
              </a:xfrm>
              <a:prstGeom prst="rect">
                <a:avLst/>
              </a:prstGeom>
              <a:noFill/>
            </p:spPr>
            <p:txBody>
              <a:bodyPr wrap="none" lIns="0" tIns="0" rIns="0" bIns="0" rtlCol="0">
                <a:spAutoFit/>
              </a:bodyPr>
              <a:lstStyle/>
              <a:p>
                <a:pPr algn="l"/>
                <a:r>
                  <a:rPr lang="en-US" sz="1800" dirty="0">
                    <a:latin typeface="+mj-lt"/>
                  </a:rPr>
                  <a:t>Azure Language in Foundry Tools</a:t>
                </a:r>
              </a:p>
            </p:txBody>
          </p:sp>
          <p:sp>
            <p:nvSpPr>
              <p:cNvPr id="24" name="TextBox 23">
                <a:extLst>
                  <a:ext uri="{FF2B5EF4-FFF2-40B4-BE49-F238E27FC236}">
                    <a16:creationId xmlns:a16="http://schemas.microsoft.com/office/drawing/2014/main" id="{20CD64D2-4971-BA33-A771-8077290417C5}"/>
                  </a:ext>
                </a:extLst>
              </p:cNvPr>
              <p:cNvSpPr txBox="1"/>
              <p:nvPr/>
            </p:nvSpPr>
            <p:spPr>
              <a:xfrm>
                <a:off x="2455169" y="1705981"/>
                <a:ext cx="4129849" cy="246221"/>
              </a:xfrm>
              <a:prstGeom prst="rect">
                <a:avLst/>
              </a:prstGeom>
              <a:noFill/>
            </p:spPr>
            <p:txBody>
              <a:bodyPr wrap="none" lIns="0" tIns="0" rIns="0" bIns="0" rtlCol="0">
                <a:spAutoFit/>
              </a:bodyPr>
              <a:lstStyle/>
              <a:p>
                <a:pPr algn="l"/>
                <a:r>
                  <a:rPr lang="en-US" sz="1600" dirty="0"/>
                  <a:t>Natural language processing and text analysis</a:t>
                </a:r>
              </a:p>
            </p:txBody>
          </p:sp>
        </p:grpSp>
        <p:grpSp>
          <p:nvGrpSpPr>
            <p:cNvPr id="30" name="Group 29">
              <a:extLst>
                <a:ext uri="{FF2B5EF4-FFF2-40B4-BE49-F238E27FC236}">
                  <a16:creationId xmlns:a16="http://schemas.microsoft.com/office/drawing/2014/main" id="{CC8C4777-BB5C-FD05-6F0B-F8FCBED6F9B3}"/>
                </a:ext>
              </a:extLst>
            </p:cNvPr>
            <p:cNvGrpSpPr/>
            <p:nvPr/>
          </p:nvGrpSpPr>
          <p:grpSpPr>
            <a:xfrm>
              <a:off x="1415143" y="2282618"/>
              <a:ext cx="9173028" cy="947058"/>
              <a:chOff x="1415143" y="2282618"/>
              <a:chExt cx="9173028" cy="947058"/>
            </a:xfrm>
          </p:grpSpPr>
          <p:sp>
            <p:nvSpPr>
              <p:cNvPr id="20" name="Rectangle 19">
                <a:extLst>
                  <a:ext uri="{FF2B5EF4-FFF2-40B4-BE49-F238E27FC236}">
                    <a16:creationId xmlns:a16="http://schemas.microsoft.com/office/drawing/2014/main" id="{AE17EB9F-C87D-B4EA-ECD6-383CFC990763}"/>
                  </a:ext>
                </a:extLst>
              </p:cNvPr>
              <p:cNvSpPr/>
              <p:nvPr/>
            </p:nvSpPr>
            <p:spPr bwMode="auto">
              <a:xfrm>
                <a:off x="1415143" y="2282618"/>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 name="Graphic 6">
                <a:extLst>
                  <a:ext uri="{FF2B5EF4-FFF2-40B4-BE49-F238E27FC236}">
                    <a16:creationId xmlns:a16="http://schemas.microsoft.com/office/drawing/2014/main" id="{84A1253E-48A8-D07F-144C-9FCC9EFF45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2945" y="2328863"/>
                <a:ext cx="791454" cy="791452"/>
              </a:xfrm>
              <a:prstGeom prst="rect">
                <a:avLst/>
              </a:prstGeom>
            </p:spPr>
          </p:pic>
          <p:sp>
            <p:nvSpPr>
              <p:cNvPr id="15" name="TextBox 14">
                <a:extLst>
                  <a:ext uri="{FF2B5EF4-FFF2-40B4-BE49-F238E27FC236}">
                    <a16:creationId xmlns:a16="http://schemas.microsoft.com/office/drawing/2014/main" id="{C863279C-86DA-C794-E144-B6E73BE0D686}"/>
                  </a:ext>
                </a:extLst>
              </p:cNvPr>
              <p:cNvSpPr txBox="1"/>
              <p:nvPr/>
            </p:nvSpPr>
            <p:spPr>
              <a:xfrm>
                <a:off x="2455169" y="2366517"/>
                <a:ext cx="3224409" cy="276999"/>
              </a:xfrm>
              <a:prstGeom prst="rect">
                <a:avLst/>
              </a:prstGeom>
              <a:noFill/>
            </p:spPr>
            <p:txBody>
              <a:bodyPr wrap="none" lIns="0" tIns="0" rIns="0" bIns="0" rtlCol="0">
                <a:spAutoFit/>
              </a:bodyPr>
              <a:lstStyle/>
              <a:p>
                <a:pPr algn="l"/>
                <a:r>
                  <a:rPr lang="en-US" sz="1800" dirty="0">
                    <a:latin typeface="+mj-lt"/>
                  </a:rPr>
                  <a:t>Azure Speech in Foundry Tools</a:t>
                </a:r>
              </a:p>
            </p:txBody>
          </p:sp>
          <p:sp>
            <p:nvSpPr>
              <p:cNvPr id="25" name="TextBox 24">
                <a:extLst>
                  <a:ext uri="{FF2B5EF4-FFF2-40B4-BE49-F238E27FC236}">
                    <a16:creationId xmlns:a16="http://schemas.microsoft.com/office/drawing/2014/main" id="{5715460B-A52F-2DB2-A681-51FEA68CCB33}"/>
                  </a:ext>
                </a:extLst>
              </p:cNvPr>
              <p:cNvSpPr txBox="1"/>
              <p:nvPr/>
            </p:nvSpPr>
            <p:spPr>
              <a:xfrm>
                <a:off x="2455169" y="2689324"/>
                <a:ext cx="3009350" cy="246221"/>
              </a:xfrm>
              <a:prstGeom prst="rect">
                <a:avLst/>
              </a:prstGeom>
              <a:noFill/>
            </p:spPr>
            <p:txBody>
              <a:bodyPr wrap="none" lIns="0" tIns="0" rIns="0" bIns="0" rtlCol="0">
                <a:spAutoFit/>
              </a:bodyPr>
              <a:lstStyle/>
              <a:p>
                <a:pPr algn="l"/>
                <a:r>
                  <a:rPr lang="en-US" sz="1600" dirty="0"/>
                  <a:t>Speech recognition and synthesis</a:t>
                </a:r>
              </a:p>
            </p:txBody>
          </p:sp>
        </p:grpSp>
        <p:grpSp>
          <p:nvGrpSpPr>
            <p:cNvPr id="31" name="Group 30">
              <a:extLst>
                <a:ext uri="{FF2B5EF4-FFF2-40B4-BE49-F238E27FC236}">
                  <a16:creationId xmlns:a16="http://schemas.microsoft.com/office/drawing/2014/main" id="{10416ABE-CFEA-8728-269D-D566A11867EA}"/>
                </a:ext>
              </a:extLst>
            </p:cNvPr>
            <p:cNvGrpSpPr/>
            <p:nvPr/>
          </p:nvGrpSpPr>
          <p:grpSpPr>
            <a:xfrm>
              <a:off x="1415143" y="3262735"/>
              <a:ext cx="9173028" cy="1001000"/>
              <a:chOff x="1415143" y="3262735"/>
              <a:chExt cx="9173028" cy="1001000"/>
            </a:xfrm>
          </p:grpSpPr>
          <p:sp>
            <p:nvSpPr>
              <p:cNvPr id="21" name="Rectangle 20">
                <a:extLst>
                  <a:ext uri="{FF2B5EF4-FFF2-40B4-BE49-F238E27FC236}">
                    <a16:creationId xmlns:a16="http://schemas.microsoft.com/office/drawing/2014/main" id="{F1BC5631-530A-F411-1032-17040E13CAC6}"/>
                  </a:ext>
                </a:extLst>
              </p:cNvPr>
              <p:cNvSpPr/>
              <p:nvPr/>
            </p:nvSpPr>
            <p:spPr bwMode="auto">
              <a:xfrm>
                <a:off x="1415143" y="3316677"/>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a:extLst>
                  <a:ext uri="{FF2B5EF4-FFF2-40B4-BE49-F238E27FC236}">
                    <a16:creationId xmlns:a16="http://schemas.microsoft.com/office/drawing/2014/main" id="{34EE34A0-4033-996F-B1DD-E14A6984A63D}"/>
                  </a:ext>
                </a:extLst>
              </p:cNvPr>
              <p:cNvPicPr>
                <a:picLocks noChangeAspect="1"/>
              </p:cNvPicPr>
              <p:nvPr/>
            </p:nvPicPr>
            <p:blipFill>
              <a:blip r:embed="rId5"/>
              <a:stretch>
                <a:fillRect/>
              </a:stretch>
            </p:blipFill>
            <p:spPr>
              <a:xfrm>
                <a:off x="1415143" y="3262735"/>
                <a:ext cx="947058" cy="947058"/>
              </a:xfrm>
              <a:prstGeom prst="rect">
                <a:avLst/>
              </a:prstGeom>
            </p:spPr>
          </p:pic>
          <p:sp>
            <p:nvSpPr>
              <p:cNvPr id="16" name="TextBox 15">
                <a:extLst>
                  <a:ext uri="{FF2B5EF4-FFF2-40B4-BE49-F238E27FC236}">
                    <a16:creationId xmlns:a16="http://schemas.microsoft.com/office/drawing/2014/main" id="{7ECDAC41-CF9B-5A47-2C7B-47CE2961750D}"/>
                  </a:ext>
                </a:extLst>
              </p:cNvPr>
              <p:cNvSpPr txBox="1"/>
              <p:nvPr/>
            </p:nvSpPr>
            <p:spPr>
              <a:xfrm>
                <a:off x="2455169" y="3384256"/>
                <a:ext cx="3502369" cy="276999"/>
              </a:xfrm>
              <a:prstGeom prst="rect">
                <a:avLst/>
              </a:prstGeom>
              <a:noFill/>
            </p:spPr>
            <p:txBody>
              <a:bodyPr wrap="none" lIns="0" tIns="0" rIns="0" bIns="0" rtlCol="0">
                <a:spAutoFit/>
              </a:bodyPr>
              <a:lstStyle/>
              <a:p>
                <a:pPr algn="l"/>
                <a:r>
                  <a:rPr lang="en-US" sz="1800" dirty="0">
                    <a:latin typeface="+mj-lt"/>
                  </a:rPr>
                  <a:t>Azure Translator in Foundry Tools</a:t>
                </a:r>
              </a:p>
            </p:txBody>
          </p:sp>
          <p:sp>
            <p:nvSpPr>
              <p:cNvPr id="26" name="TextBox 25">
                <a:extLst>
                  <a:ext uri="{FF2B5EF4-FFF2-40B4-BE49-F238E27FC236}">
                    <a16:creationId xmlns:a16="http://schemas.microsoft.com/office/drawing/2014/main" id="{70A9681B-57F2-9C98-F2AA-6E719C8802FE}"/>
                  </a:ext>
                </a:extLst>
              </p:cNvPr>
              <p:cNvSpPr txBox="1"/>
              <p:nvPr/>
            </p:nvSpPr>
            <p:spPr>
              <a:xfrm>
                <a:off x="2455169" y="3716209"/>
                <a:ext cx="3848811" cy="246221"/>
              </a:xfrm>
              <a:prstGeom prst="rect">
                <a:avLst/>
              </a:prstGeom>
              <a:noFill/>
            </p:spPr>
            <p:txBody>
              <a:bodyPr wrap="none" lIns="0" tIns="0" rIns="0" bIns="0" rtlCol="0">
                <a:spAutoFit/>
              </a:bodyPr>
              <a:lstStyle/>
              <a:p>
                <a:pPr algn="l"/>
                <a:r>
                  <a:rPr lang="en-US" sz="1600" dirty="0"/>
                  <a:t>Multilingual text and document translation</a:t>
                </a:r>
              </a:p>
            </p:txBody>
          </p:sp>
        </p:grpSp>
        <p:grpSp>
          <p:nvGrpSpPr>
            <p:cNvPr id="32" name="Group 31">
              <a:extLst>
                <a:ext uri="{FF2B5EF4-FFF2-40B4-BE49-F238E27FC236}">
                  <a16:creationId xmlns:a16="http://schemas.microsoft.com/office/drawing/2014/main" id="{142C0792-F5B7-2E11-AF60-CC5A70258AFB}"/>
                </a:ext>
              </a:extLst>
            </p:cNvPr>
            <p:cNvGrpSpPr/>
            <p:nvPr/>
          </p:nvGrpSpPr>
          <p:grpSpPr>
            <a:xfrm>
              <a:off x="1415143" y="4330984"/>
              <a:ext cx="9173028" cy="966810"/>
              <a:chOff x="1415143" y="4330984"/>
              <a:chExt cx="9173028" cy="966810"/>
            </a:xfrm>
          </p:grpSpPr>
          <p:sp>
            <p:nvSpPr>
              <p:cNvPr id="22" name="Rectangle 21">
                <a:extLst>
                  <a:ext uri="{FF2B5EF4-FFF2-40B4-BE49-F238E27FC236}">
                    <a16:creationId xmlns:a16="http://schemas.microsoft.com/office/drawing/2014/main" id="{9D725012-520F-F930-F071-48314E80FC71}"/>
                  </a:ext>
                </a:extLst>
              </p:cNvPr>
              <p:cNvSpPr/>
              <p:nvPr/>
            </p:nvSpPr>
            <p:spPr bwMode="auto">
              <a:xfrm>
                <a:off x="1415143" y="4350736"/>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A228585D-DA29-B677-6DD5-36F89AB9CBAF}"/>
                  </a:ext>
                </a:extLst>
              </p:cNvPr>
              <p:cNvPicPr>
                <a:picLocks noChangeAspect="1"/>
              </p:cNvPicPr>
              <p:nvPr/>
            </p:nvPicPr>
            <p:blipFill>
              <a:blip r:embed="rId6"/>
              <a:stretch>
                <a:fillRect/>
              </a:stretch>
            </p:blipFill>
            <p:spPr>
              <a:xfrm>
                <a:off x="1415143" y="4330984"/>
                <a:ext cx="947058" cy="947058"/>
              </a:xfrm>
              <a:prstGeom prst="rect">
                <a:avLst/>
              </a:prstGeom>
            </p:spPr>
          </p:pic>
          <p:sp>
            <p:nvSpPr>
              <p:cNvPr id="17" name="TextBox 16">
                <a:extLst>
                  <a:ext uri="{FF2B5EF4-FFF2-40B4-BE49-F238E27FC236}">
                    <a16:creationId xmlns:a16="http://schemas.microsoft.com/office/drawing/2014/main" id="{C2451D88-D568-AD3F-C7D7-2EFB8FDB2431}"/>
                  </a:ext>
                </a:extLst>
              </p:cNvPr>
              <p:cNvSpPr txBox="1"/>
              <p:nvPr/>
            </p:nvSpPr>
            <p:spPr>
              <a:xfrm>
                <a:off x="2455169" y="4406242"/>
                <a:ext cx="4846904" cy="276999"/>
              </a:xfrm>
              <a:prstGeom prst="rect">
                <a:avLst/>
              </a:prstGeom>
              <a:noFill/>
            </p:spPr>
            <p:txBody>
              <a:bodyPr wrap="none" lIns="0" tIns="0" rIns="0" bIns="0" rtlCol="0">
                <a:spAutoFit/>
              </a:bodyPr>
              <a:lstStyle/>
              <a:p>
                <a:pPr algn="l"/>
                <a:r>
                  <a:rPr lang="en-US" sz="1800" dirty="0">
                    <a:latin typeface="+mj-lt"/>
                  </a:rPr>
                  <a:t>Azure Document Intelligence in Foundry Tools</a:t>
                </a:r>
              </a:p>
            </p:txBody>
          </p:sp>
          <p:sp>
            <p:nvSpPr>
              <p:cNvPr id="27" name="TextBox 26">
                <a:extLst>
                  <a:ext uri="{FF2B5EF4-FFF2-40B4-BE49-F238E27FC236}">
                    <a16:creationId xmlns:a16="http://schemas.microsoft.com/office/drawing/2014/main" id="{C00F2F30-0649-EDAD-6519-B8A77675EBA9}"/>
                  </a:ext>
                </a:extLst>
              </p:cNvPr>
              <p:cNvSpPr txBox="1"/>
              <p:nvPr/>
            </p:nvSpPr>
            <p:spPr>
              <a:xfrm>
                <a:off x="2455169" y="4743094"/>
                <a:ext cx="4144276" cy="246221"/>
              </a:xfrm>
              <a:prstGeom prst="rect">
                <a:avLst/>
              </a:prstGeom>
              <a:noFill/>
            </p:spPr>
            <p:txBody>
              <a:bodyPr wrap="none" lIns="0" tIns="0" rIns="0" bIns="0" rtlCol="0">
                <a:spAutoFit/>
              </a:bodyPr>
              <a:lstStyle/>
              <a:p>
                <a:pPr algn="l"/>
                <a:r>
                  <a:rPr lang="en-US" sz="1600" dirty="0"/>
                  <a:t>Complex document processing and extraction</a:t>
                </a:r>
              </a:p>
            </p:txBody>
          </p:sp>
        </p:grpSp>
        <p:grpSp>
          <p:nvGrpSpPr>
            <p:cNvPr id="33" name="Group 32">
              <a:extLst>
                <a:ext uri="{FF2B5EF4-FFF2-40B4-BE49-F238E27FC236}">
                  <a16:creationId xmlns:a16="http://schemas.microsoft.com/office/drawing/2014/main" id="{5FC5E8CC-9724-0136-9036-1C0D47004646}"/>
                </a:ext>
              </a:extLst>
            </p:cNvPr>
            <p:cNvGrpSpPr/>
            <p:nvPr/>
          </p:nvGrpSpPr>
          <p:grpSpPr>
            <a:xfrm>
              <a:off x="1415143" y="5384795"/>
              <a:ext cx="9173028" cy="947058"/>
              <a:chOff x="1415143" y="5384795"/>
              <a:chExt cx="9173028" cy="947058"/>
            </a:xfrm>
          </p:grpSpPr>
          <p:sp>
            <p:nvSpPr>
              <p:cNvPr id="23" name="Rectangle 22">
                <a:extLst>
                  <a:ext uri="{FF2B5EF4-FFF2-40B4-BE49-F238E27FC236}">
                    <a16:creationId xmlns:a16="http://schemas.microsoft.com/office/drawing/2014/main" id="{56DA9D75-FDA4-916F-5F47-A452ED1DA9D1}"/>
                  </a:ext>
                </a:extLst>
              </p:cNvPr>
              <p:cNvSpPr/>
              <p:nvPr/>
            </p:nvSpPr>
            <p:spPr bwMode="auto">
              <a:xfrm>
                <a:off x="1415143" y="5384795"/>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a:extLst>
                  <a:ext uri="{FF2B5EF4-FFF2-40B4-BE49-F238E27FC236}">
                    <a16:creationId xmlns:a16="http://schemas.microsoft.com/office/drawing/2014/main" id="{82BE1B3E-37A0-93B9-D212-60AE2B97DBA6}"/>
                  </a:ext>
                </a:extLst>
              </p:cNvPr>
              <p:cNvPicPr>
                <a:picLocks noChangeAspect="1"/>
              </p:cNvPicPr>
              <p:nvPr/>
            </p:nvPicPr>
            <p:blipFill>
              <a:blip r:embed="rId7"/>
              <a:srcRect/>
              <a:stretch/>
            </p:blipFill>
            <p:spPr>
              <a:xfrm>
                <a:off x="1415143" y="5384795"/>
                <a:ext cx="947058" cy="947058"/>
              </a:xfrm>
              <a:prstGeom prst="rect">
                <a:avLst/>
              </a:prstGeom>
            </p:spPr>
          </p:pic>
          <p:sp>
            <p:nvSpPr>
              <p:cNvPr id="18" name="TextBox 17">
                <a:extLst>
                  <a:ext uri="{FF2B5EF4-FFF2-40B4-BE49-F238E27FC236}">
                    <a16:creationId xmlns:a16="http://schemas.microsoft.com/office/drawing/2014/main" id="{99ED5530-0543-AF5D-EC77-CB9699F93302}"/>
                  </a:ext>
                </a:extLst>
              </p:cNvPr>
              <p:cNvSpPr txBox="1"/>
              <p:nvPr/>
            </p:nvSpPr>
            <p:spPr>
              <a:xfrm>
                <a:off x="2455169" y="5466571"/>
                <a:ext cx="4930132" cy="276999"/>
              </a:xfrm>
              <a:prstGeom prst="rect">
                <a:avLst/>
              </a:prstGeom>
              <a:noFill/>
            </p:spPr>
            <p:txBody>
              <a:bodyPr wrap="none" lIns="0" tIns="0" rIns="0" bIns="0" rtlCol="0">
                <a:spAutoFit/>
              </a:bodyPr>
              <a:lstStyle/>
              <a:p>
                <a:pPr algn="l"/>
                <a:r>
                  <a:rPr lang="en-US" sz="1800" dirty="0">
                    <a:latin typeface="+mj-lt"/>
                  </a:rPr>
                  <a:t>Azure Content Understanding in Foundry Tools</a:t>
                </a:r>
              </a:p>
            </p:txBody>
          </p:sp>
          <p:sp>
            <p:nvSpPr>
              <p:cNvPr id="28" name="TextBox 27">
                <a:extLst>
                  <a:ext uri="{FF2B5EF4-FFF2-40B4-BE49-F238E27FC236}">
                    <a16:creationId xmlns:a16="http://schemas.microsoft.com/office/drawing/2014/main" id="{475E3D8B-84DC-F833-0B02-0BFF0BBA43EF}"/>
                  </a:ext>
                </a:extLst>
              </p:cNvPr>
              <p:cNvSpPr txBox="1"/>
              <p:nvPr/>
            </p:nvSpPr>
            <p:spPr>
              <a:xfrm>
                <a:off x="2455169" y="5784493"/>
                <a:ext cx="2535951" cy="246221"/>
              </a:xfrm>
              <a:prstGeom prst="rect">
                <a:avLst/>
              </a:prstGeom>
              <a:noFill/>
            </p:spPr>
            <p:txBody>
              <a:bodyPr wrap="none" lIns="0" tIns="0" rIns="0" bIns="0" rtlCol="0">
                <a:spAutoFit/>
              </a:bodyPr>
              <a:lstStyle/>
              <a:p>
                <a:pPr algn="l"/>
                <a:r>
                  <a:rPr lang="en-US" sz="1600" dirty="0"/>
                  <a:t>Multimodal content analysis</a:t>
                </a:r>
              </a:p>
            </p:txBody>
          </p:sp>
        </p:grpSp>
      </p:grpSp>
    </p:spTree>
    <p:extLst>
      <p:ext uri="{BB962C8B-B14F-4D97-AF65-F5344CB8AC3E}">
        <p14:creationId xmlns:p14="http://schemas.microsoft.com/office/powerpoint/2010/main" val="154441651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01BA-4C84-D321-DA09-8C009B94BF39}"/>
              </a:ext>
            </a:extLst>
          </p:cNvPr>
          <p:cNvSpPr>
            <a:spLocks noGrp="1"/>
          </p:cNvSpPr>
          <p:nvPr>
            <p:ph type="title"/>
          </p:nvPr>
        </p:nvSpPr>
        <p:spPr/>
        <p:txBody>
          <a:bodyPr/>
          <a:lstStyle/>
          <a:p>
            <a:r>
              <a:rPr lang="en-US" dirty="0"/>
              <a:t>Developer tools and SDKs</a:t>
            </a:r>
          </a:p>
        </p:txBody>
      </p:sp>
      <p:sp>
        <p:nvSpPr>
          <p:cNvPr id="4" name="Text Placeholder 44">
            <a:extLst>
              <a:ext uri="{FF2B5EF4-FFF2-40B4-BE49-F238E27FC236}">
                <a16:creationId xmlns:a16="http://schemas.microsoft.com/office/drawing/2014/main" id="{16AC550B-6210-5448-94F2-AA520F87667A}"/>
              </a:ext>
            </a:extLst>
          </p:cNvPr>
          <p:cNvSpPr txBox="1">
            <a:spLocks/>
          </p:cNvSpPr>
          <p:nvPr/>
        </p:nvSpPr>
        <p:spPr>
          <a:xfrm>
            <a:off x="586391" y="1991423"/>
            <a:ext cx="4972366" cy="86793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Visual Studio Code</a:t>
            </a:r>
          </a:p>
          <a:p>
            <a:pPr lvl="1" indent="-137160"/>
            <a:r>
              <a:rPr lang="en-US" sz="1600" dirty="0">
                <a:solidFill>
                  <a:srgbClr val="000000"/>
                </a:solidFill>
                <a:latin typeface="Segoe UI"/>
                <a:cs typeface="Segoe UI" panose="020B0502040204020203" pitchFamily="34" charset="0"/>
              </a:rPr>
              <a:t>Microsoft AI Toolkit Extension</a:t>
            </a:r>
          </a:p>
          <a:p>
            <a:pPr lvl="1" indent="-137160"/>
            <a:r>
              <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GitHub Copilot</a:t>
            </a:r>
          </a:p>
        </p:txBody>
      </p:sp>
      <p:sp>
        <p:nvSpPr>
          <p:cNvPr id="5" name="Text Placeholder 45">
            <a:extLst>
              <a:ext uri="{FF2B5EF4-FFF2-40B4-BE49-F238E27FC236}">
                <a16:creationId xmlns:a16="http://schemas.microsoft.com/office/drawing/2014/main" id="{D59817C8-4B01-FDEB-6958-EB3FB9A931E5}"/>
              </a:ext>
            </a:extLst>
          </p:cNvPr>
          <p:cNvSpPr txBox="1">
            <a:spLocks/>
          </p:cNvSpPr>
          <p:nvPr/>
        </p:nvSpPr>
        <p:spPr>
          <a:xfrm>
            <a:off x="584200" y="1594155"/>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dirty="0">
                <a:solidFill>
                  <a:srgbClr val="000000"/>
                </a:solidFill>
                <a:latin typeface="Segoe UI Semibold"/>
              </a:rPr>
              <a:t>Tools</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endParaRPr>
          </a:p>
        </p:txBody>
      </p:sp>
      <p:sp>
        <p:nvSpPr>
          <p:cNvPr id="6" name="Text Placeholder 44">
            <a:extLst>
              <a:ext uri="{FF2B5EF4-FFF2-40B4-BE49-F238E27FC236}">
                <a16:creationId xmlns:a16="http://schemas.microsoft.com/office/drawing/2014/main" id="{9B8F0807-9816-513C-DA10-E689F3757B96}"/>
              </a:ext>
            </a:extLst>
          </p:cNvPr>
          <p:cNvSpPr txBox="1">
            <a:spLocks/>
          </p:cNvSpPr>
          <p:nvPr/>
        </p:nvSpPr>
        <p:spPr>
          <a:xfrm>
            <a:off x="586391" y="3747108"/>
            <a:ext cx="4972366" cy="241912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Foundry SDK</a:t>
            </a:r>
          </a:p>
          <a:p>
            <a:r>
              <a:rPr lang="en-US" sz="1800" dirty="0">
                <a:solidFill>
                  <a:srgbClr val="000000"/>
                </a:solidFill>
                <a:latin typeface="Segoe UI"/>
                <a:cs typeface="Segoe UI" panose="020B0502040204020203" pitchFamily="34" charset="0"/>
              </a:rPr>
              <a:t>OpenAI SDK</a:t>
            </a:r>
          </a:p>
          <a:p>
            <a:r>
              <a:rPr lang="en-US" sz="1800" dirty="0">
                <a:solidFill>
                  <a:srgbClr val="000000"/>
                </a:solidFill>
                <a:latin typeface="Segoe UI"/>
              </a:rPr>
              <a:t>Microsoft Foundry Tools SDKs</a:t>
            </a:r>
          </a:p>
          <a:p>
            <a:pPr lvl="1"/>
            <a:r>
              <a:rPr lang="en-US" sz="1600" dirty="0">
                <a:solidFill>
                  <a:srgbClr val="000000"/>
                </a:solidFill>
                <a:latin typeface="Segoe UI"/>
                <a:cs typeface="Segoe UI" panose="020B0502040204020203" pitchFamily="34" charset="0"/>
              </a:rPr>
              <a:t>Language and Text Analysis</a:t>
            </a:r>
          </a:p>
          <a:p>
            <a:pPr lvl="1"/>
            <a:r>
              <a:rPr lang="en-US" sz="1600" dirty="0">
                <a:solidFill>
                  <a:srgbClr val="000000"/>
                </a:solidFill>
                <a:latin typeface="Segoe UI"/>
                <a:cs typeface="Segoe UI" panose="020B0502040204020203" pitchFamily="34" charset="0"/>
              </a:rPr>
              <a:t>Speech</a:t>
            </a:r>
          </a:p>
          <a:p>
            <a:pPr lvl="1"/>
            <a:r>
              <a:rPr lang="en-US" sz="1600" dirty="0">
                <a:solidFill>
                  <a:srgbClr val="000000"/>
                </a:solidFill>
                <a:latin typeface="Segoe UI"/>
                <a:cs typeface="Segoe UI" panose="020B0502040204020203" pitchFamily="34" charset="0"/>
              </a:rPr>
              <a:t>Translator</a:t>
            </a:r>
          </a:p>
          <a:p>
            <a:pPr lvl="1"/>
            <a:r>
              <a:rPr lang="en-US" sz="1600" dirty="0">
                <a:solidFill>
                  <a:srgbClr val="000000"/>
                </a:solidFill>
                <a:latin typeface="Segoe UI"/>
                <a:cs typeface="Segoe UI" panose="020B0502040204020203" pitchFamily="34" charset="0"/>
              </a:rPr>
              <a:t>Document Intelligence</a:t>
            </a:r>
          </a:p>
          <a:p>
            <a:pPr lvl="1"/>
            <a:r>
              <a:rPr lang="en-US" sz="1600" dirty="0">
                <a:solidFill>
                  <a:srgbClr val="000000"/>
                </a:solidFill>
                <a:latin typeface="Segoe UI"/>
                <a:cs typeface="Segoe UI" panose="020B0502040204020203" pitchFamily="34" charset="0"/>
              </a:rPr>
              <a:t>Content Understanding</a:t>
            </a:r>
          </a:p>
        </p:txBody>
      </p:sp>
      <p:sp>
        <p:nvSpPr>
          <p:cNvPr id="7" name="Text Placeholder 45">
            <a:extLst>
              <a:ext uri="{FF2B5EF4-FFF2-40B4-BE49-F238E27FC236}">
                <a16:creationId xmlns:a16="http://schemas.microsoft.com/office/drawing/2014/main" id="{9735E6D6-3162-0EA2-0F68-67208B383160}"/>
              </a:ext>
            </a:extLst>
          </p:cNvPr>
          <p:cNvSpPr txBox="1">
            <a:spLocks/>
          </p:cNvSpPr>
          <p:nvPr/>
        </p:nvSpPr>
        <p:spPr>
          <a:xfrm>
            <a:off x="584200" y="3349840"/>
            <a:ext cx="5364224" cy="338554"/>
          </a:xfrm>
          <a:prstGeom prst="rect">
            <a:avLst/>
          </a:prstGeom>
        </p:spPr>
        <p:txBody>
          <a:bodyPr vert="horz" wrap="square" lIns="0" tIns="0" rIns="0" bIns="0" rtlCol="0" anchor="t">
            <a:spAutoFit/>
          </a:bodyPr>
          <a:lstStyle>
            <a:lvl1pPr marR="0" indent="0" defTabSz="932742" fontAlgn="auto">
              <a:lnSpc>
                <a:spcPct val="100000"/>
              </a:lnSpc>
              <a:spcBef>
                <a:spcPts val="0"/>
              </a:spcBef>
              <a:spcAft>
                <a:spcPts val="0"/>
              </a:spcAft>
              <a:buClrTx/>
              <a:buSzPct val="90000"/>
              <a:buFont typeface="Arial" panose="020B0604020202020204" pitchFamily="34" charset="0"/>
              <a:buNone/>
              <a:tabLst/>
              <a:defRPr sz="2200" spc="0" baseline="0">
                <a:latin typeface="+mj-lt"/>
                <a:cs typeface="Segoe UI" panose="020B0502040204020203" pitchFamily="34" charset="0"/>
              </a:defRPr>
            </a:lvl1pPr>
            <a:lvl2pPr marL="265176" marR="0" indent="-109728"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dirty="0">
                <a:solidFill>
                  <a:srgbClr val="000000"/>
                </a:solidFill>
                <a:latin typeface="Segoe UI Semibold"/>
              </a:rPr>
              <a:t>SDKs</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endParaRPr>
          </a:p>
        </p:txBody>
      </p:sp>
      <p:pic>
        <p:nvPicPr>
          <p:cNvPr id="9" name="Picture 8" descr="Screenshot showing VS Code developer tools.">
            <a:extLst>
              <a:ext uri="{FF2B5EF4-FFF2-40B4-BE49-F238E27FC236}">
                <a16:creationId xmlns:a16="http://schemas.microsoft.com/office/drawing/2014/main" id="{DA9DD262-BDD6-F91C-DB8C-12A2A47FBCD3}"/>
              </a:ext>
            </a:extLst>
          </p:cNvPr>
          <p:cNvPicPr>
            <a:picLocks noChangeAspect="1"/>
          </p:cNvPicPr>
          <p:nvPr/>
        </p:nvPicPr>
        <p:blipFill>
          <a:blip r:embed="rId3"/>
          <a:stretch>
            <a:fillRect/>
          </a:stretch>
        </p:blipFill>
        <p:spPr>
          <a:xfrm>
            <a:off x="4346376" y="1340165"/>
            <a:ext cx="7253486" cy="4932619"/>
          </a:xfrm>
          <a:prstGeom prst="rect">
            <a:avLst/>
          </a:prstGeom>
        </p:spPr>
      </p:pic>
    </p:spTree>
    <p:extLst>
      <p:ext uri="{BB962C8B-B14F-4D97-AF65-F5344CB8AC3E}">
        <p14:creationId xmlns:p14="http://schemas.microsoft.com/office/powerpoint/2010/main" val="266717702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B0F8-FFBE-F6D5-81C9-242F647F84D7}"/>
              </a:ext>
            </a:extLst>
          </p:cNvPr>
          <p:cNvSpPr>
            <a:spLocks noGrp="1"/>
          </p:cNvSpPr>
          <p:nvPr>
            <p:ph type="title"/>
          </p:nvPr>
        </p:nvSpPr>
        <p:spPr/>
        <p:txBody>
          <a:bodyPr/>
          <a:lstStyle/>
          <a:p>
            <a:r>
              <a:rPr lang="en-US" dirty="0"/>
              <a:t>Principles of responsible AI</a:t>
            </a:r>
          </a:p>
        </p:txBody>
      </p:sp>
      <p:grpSp>
        <p:nvGrpSpPr>
          <p:cNvPr id="10" name="Group 9">
            <a:extLst>
              <a:ext uri="{FF2B5EF4-FFF2-40B4-BE49-F238E27FC236}">
                <a16:creationId xmlns:a16="http://schemas.microsoft.com/office/drawing/2014/main" id="{1387C517-8AF2-8A51-043D-6236394A73D0}"/>
              </a:ext>
              <a:ext uri="{C183D7F6-B498-43B3-948B-1728B52AA6E4}">
                <adec:decorative xmlns:adec="http://schemas.microsoft.com/office/drawing/2017/decorative" val="1"/>
              </a:ext>
            </a:extLst>
          </p:cNvPr>
          <p:cNvGrpSpPr/>
          <p:nvPr/>
        </p:nvGrpSpPr>
        <p:grpSpPr>
          <a:xfrm>
            <a:off x="1984233" y="1385033"/>
            <a:ext cx="8113347" cy="4658780"/>
            <a:chOff x="1984233" y="1385033"/>
            <a:chExt cx="8113347" cy="4658780"/>
          </a:xfrm>
        </p:grpSpPr>
        <p:sp>
          <p:nvSpPr>
            <p:cNvPr id="9" name="Rectangle 8">
              <a:extLst>
                <a:ext uri="{FF2B5EF4-FFF2-40B4-BE49-F238E27FC236}">
                  <a16:creationId xmlns:a16="http://schemas.microsoft.com/office/drawing/2014/main" id="{AE36F907-765C-E754-FF1F-49B5EA667971}"/>
                </a:ext>
                <a:ext uri="{C183D7F6-B498-43B3-948B-1728B52AA6E4}">
                  <adec:decorative xmlns:adec="http://schemas.microsoft.com/office/drawing/2017/decorative" val="1"/>
                </a:ext>
              </a:extLst>
            </p:cNvPr>
            <p:cNvSpPr/>
            <p:nvPr/>
          </p:nvSpPr>
          <p:spPr bwMode="auto">
            <a:xfrm>
              <a:off x="1984233"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Graphic 6">
              <a:extLst>
                <a:ext uri="{FF2B5EF4-FFF2-40B4-BE49-F238E27FC236}">
                  <a16:creationId xmlns:a16="http://schemas.microsoft.com/office/drawing/2014/main" id="{B9F35278-7311-53E6-AD8F-2883C1EE9DD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3445" y="1385033"/>
              <a:ext cx="1401231" cy="1401231"/>
            </a:xfrm>
            <a:prstGeom prst="rect">
              <a:avLst/>
            </a:prstGeom>
          </p:spPr>
        </p:pic>
        <p:sp>
          <p:nvSpPr>
            <p:cNvPr id="17" name="Rectangle 16">
              <a:extLst>
                <a:ext uri="{FF2B5EF4-FFF2-40B4-BE49-F238E27FC236}">
                  <a16:creationId xmlns:a16="http://schemas.microsoft.com/office/drawing/2014/main" id="{2DC431CF-FC46-39FD-0FAA-4AD67ADF51FB}"/>
                </a:ext>
              </a:extLst>
            </p:cNvPr>
            <p:cNvSpPr/>
            <p:nvPr/>
          </p:nvSpPr>
          <p:spPr bwMode="auto">
            <a:xfrm>
              <a:off x="1984233" y="2786263"/>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Fairness</a:t>
              </a:r>
            </a:p>
          </p:txBody>
        </p:sp>
        <p:sp>
          <p:nvSpPr>
            <p:cNvPr id="11" name="Rectangle 10">
              <a:extLst>
                <a:ext uri="{FF2B5EF4-FFF2-40B4-BE49-F238E27FC236}">
                  <a16:creationId xmlns:a16="http://schemas.microsoft.com/office/drawing/2014/main" id="{7738F8CA-0F76-4200-5599-D25C1AF13298}"/>
                </a:ext>
                <a:ext uri="{C183D7F6-B498-43B3-948B-1728B52AA6E4}">
                  <adec:decorative xmlns:adec="http://schemas.microsoft.com/office/drawing/2017/decorative" val="1"/>
                </a:ext>
              </a:extLst>
            </p:cNvPr>
            <p:cNvSpPr/>
            <p:nvPr/>
          </p:nvSpPr>
          <p:spPr bwMode="auto">
            <a:xfrm>
              <a:off x="4844178"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Graphic 5">
              <a:extLst>
                <a:ext uri="{FF2B5EF4-FFF2-40B4-BE49-F238E27FC236}">
                  <a16:creationId xmlns:a16="http://schemas.microsoft.com/office/drawing/2014/main" id="{3047C32D-5706-CAC5-A26D-6F38381B4A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3115" y="1385033"/>
              <a:ext cx="1401231" cy="1401231"/>
            </a:xfrm>
            <a:prstGeom prst="rect">
              <a:avLst/>
            </a:prstGeom>
          </p:spPr>
        </p:pic>
        <p:sp>
          <p:nvSpPr>
            <p:cNvPr id="18" name="Rectangle 17">
              <a:extLst>
                <a:ext uri="{FF2B5EF4-FFF2-40B4-BE49-F238E27FC236}">
                  <a16:creationId xmlns:a16="http://schemas.microsoft.com/office/drawing/2014/main" id="{9DB4A2B5-B39F-32AB-32F8-556263DE27EA}"/>
                </a:ext>
              </a:extLst>
            </p:cNvPr>
            <p:cNvSpPr/>
            <p:nvPr/>
          </p:nvSpPr>
          <p:spPr bwMode="auto">
            <a:xfrm>
              <a:off x="4838779" y="280073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Reliability &amp; Safety</a:t>
              </a:r>
            </a:p>
          </p:txBody>
        </p:sp>
        <p:sp>
          <p:nvSpPr>
            <p:cNvPr id="13" name="Rectangle 12">
              <a:extLst>
                <a:ext uri="{FF2B5EF4-FFF2-40B4-BE49-F238E27FC236}">
                  <a16:creationId xmlns:a16="http://schemas.microsoft.com/office/drawing/2014/main" id="{02D35539-2C75-DC94-9ADC-B6C1B0035154}"/>
                </a:ext>
                <a:ext uri="{C183D7F6-B498-43B3-948B-1728B52AA6E4}">
                  <adec:decorative xmlns:adec="http://schemas.microsoft.com/office/drawing/2017/decorative" val="1"/>
                </a:ext>
              </a:extLst>
            </p:cNvPr>
            <p:cNvSpPr/>
            <p:nvPr/>
          </p:nvSpPr>
          <p:spPr bwMode="auto">
            <a:xfrm>
              <a:off x="7700823" y="1431769"/>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Graphic 3">
              <a:extLst>
                <a:ext uri="{FF2B5EF4-FFF2-40B4-BE49-F238E27FC236}">
                  <a16:creationId xmlns:a16="http://schemas.microsoft.com/office/drawing/2014/main" id="{B144A037-FB40-022B-D74E-3AC9A5A152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2399" y="1385033"/>
              <a:ext cx="1401231" cy="1401231"/>
            </a:xfrm>
            <a:prstGeom prst="rect">
              <a:avLst/>
            </a:prstGeom>
          </p:spPr>
        </p:pic>
        <p:sp>
          <p:nvSpPr>
            <p:cNvPr id="19" name="Rectangle 18">
              <a:extLst>
                <a:ext uri="{FF2B5EF4-FFF2-40B4-BE49-F238E27FC236}">
                  <a16:creationId xmlns:a16="http://schemas.microsoft.com/office/drawing/2014/main" id="{015C953A-DC23-F736-736F-A8501E13F9FE}"/>
                </a:ext>
              </a:extLst>
            </p:cNvPr>
            <p:cNvSpPr/>
            <p:nvPr/>
          </p:nvSpPr>
          <p:spPr bwMode="auto">
            <a:xfrm>
              <a:off x="7702469" y="2800732"/>
              <a:ext cx="2374966"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Privacy &amp; Security</a:t>
              </a:r>
            </a:p>
          </p:txBody>
        </p:sp>
        <p:sp>
          <p:nvSpPr>
            <p:cNvPr id="14" name="Rectangle 13">
              <a:extLst>
                <a:ext uri="{FF2B5EF4-FFF2-40B4-BE49-F238E27FC236}">
                  <a16:creationId xmlns:a16="http://schemas.microsoft.com/office/drawing/2014/main" id="{C7CCBEFD-2F51-B81A-80C5-34290233E268}"/>
                </a:ext>
                <a:ext uri="{C183D7F6-B498-43B3-948B-1728B52AA6E4}">
                  <adec:decorative xmlns:adec="http://schemas.microsoft.com/office/drawing/2017/decorative" val="1"/>
                </a:ext>
              </a:extLst>
            </p:cNvPr>
            <p:cNvSpPr/>
            <p:nvPr/>
          </p:nvSpPr>
          <p:spPr bwMode="auto">
            <a:xfrm>
              <a:off x="1991731" y="3883686"/>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 name="Graphic 2">
              <a:extLst>
                <a:ext uri="{FF2B5EF4-FFF2-40B4-BE49-F238E27FC236}">
                  <a16:creationId xmlns:a16="http://schemas.microsoft.com/office/drawing/2014/main" id="{A4298076-1014-BC73-B387-DB835B2480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51268" y="3907846"/>
              <a:ext cx="1441394" cy="1441394"/>
            </a:xfrm>
            <a:prstGeom prst="rect">
              <a:avLst/>
            </a:prstGeom>
          </p:spPr>
        </p:pic>
        <p:sp>
          <p:nvSpPr>
            <p:cNvPr id="20" name="Rectangle 19">
              <a:extLst>
                <a:ext uri="{FF2B5EF4-FFF2-40B4-BE49-F238E27FC236}">
                  <a16:creationId xmlns:a16="http://schemas.microsoft.com/office/drawing/2014/main" id="{FA886D50-E4C4-1EF6-22CF-7D98F600C432}"/>
                </a:ext>
              </a:extLst>
            </p:cNvPr>
            <p:cNvSpPr/>
            <p:nvPr/>
          </p:nvSpPr>
          <p:spPr bwMode="auto">
            <a:xfrm>
              <a:off x="2003306" y="5242520"/>
              <a:ext cx="2367945"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Inclusiveness</a:t>
              </a:r>
            </a:p>
          </p:txBody>
        </p:sp>
        <p:sp>
          <p:nvSpPr>
            <p:cNvPr id="15" name="Rectangle 14">
              <a:extLst>
                <a:ext uri="{FF2B5EF4-FFF2-40B4-BE49-F238E27FC236}">
                  <a16:creationId xmlns:a16="http://schemas.microsoft.com/office/drawing/2014/main" id="{4C0A2255-BCD1-4C68-52BC-7E9D33C938BB}"/>
                </a:ext>
                <a:ext uri="{C183D7F6-B498-43B3-948B-1728B52AA6E4}">
                  <adec:decorative xmlns:adec="http://schemas.microsoft.com/office/drawing/2017/decorative" val="1"/>
                </a:ext>
              </a:extLst>
            </p:cNvPr>
            <p:cNvSpPr/>
            <p:nvPr/>
          </p:nvSpPr>
          <p:spPr bwMode="auto">
            <a:xfrm>
              <a:off x="4853393"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 name="Graphic 7">
              <a:extLst>
                <a:ext uri="{FF2B5EF4-FFF2-40B4-BE49-F238E27FC236}">
                  <a16:creationId xmlns:a16="http://schemas.microsoft.com/office/drawing/2014/main" id="{CAE4B6C8-7EAF-4A51-266F-33AB129E72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55" y="3883686"/>
              <a:ext cx="1401231" cy="1401231"/>
            </a:xfrm>
            <a:prstGeom prst="rect">
              <a:avLst/>
            </a:prstGeom>
          </p:spPr>
        </p:pic>
        <p:sp>
          <p:nvSpPr>
            <p:cNvPr id="21" name="Rectangle 20">
              <a:extLst>
                <a:ext uri="{FF2B5EF4-FFF2-40B4-BE49-F238E27FC236}">
                  <a16:creationId xmlns:a16="http://schemas.microsoft.com/office/drawing/2014/main" id="{CD09C8F4-F539-D880-F1BB-8EBEA6741069}"/>
                </a:ext>
              </a:extLst>
            </p:cNvPr>
            <p:cNvSpPr/>
            <p:nvPr/>
          </p:nvSpPr>
          <p:spPr bwMode="auto">
            <a:xfrm>
              <a:off x="4838779" y="5256990"/>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Transparency</a:t>
              </a:r>
            </a:p>
          </p:txBody>
        </p:sp>
        <p:sp>
          <p:nvSpPr>
            <p:cNvPr id="16" name="Rectangle 15">
              <a:extLst>
                <a:ext uri="{FF2B5EF4-FFF2-40B4-BE49-F238E27FC236}">
                  <a16:creationId xmlns:a16="http://schemas.microsoft.com/office/drawing/2014/main" id="{14CA32DC-4BF8-96D5-87A7-53EF59EC8835}"/>
                </a:ext>
                <a:ext uri="{C183D7F6-B498-43B3-948B-1728B52AA6E4}">
                  <adec:decorative xmlns:adec="http://schemas.microsoft.com/office/drawing/2017/decorative" val="1"/>
                </a:ext>
              </a:extLst>
            </p:cNvPr>
            <p:cNvSpPr/>
            <p:nvPr/>
          </p:nvSpPr>
          <p:spPr bwMode="auto">
            <a:xfrm>
              <a:off x="7713196"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Graphic 4">
              <a:extLst>
                <a:ext uri="{FF2B5EF4-FFF2-40B4-BE49-F238E27FC236}">
                  <a16:creationId xmlns:a16="http://schemas.microsoft.com/office/drawing/2014/main" id="{8196F23C-87AD-18E3-FBA9-9A7AD4200E5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16347" y="3883686"/>
              <a:ext cx="1401231" cy="1401231"/>
            </a:xfrm>
            <a:prstGeom prst="rect">
              <a:avLst/>
            </a:prstGeom>
          </p:spPr>
        </p:pic>
        <p:sp>
          <p:nvSpPr>
            <p:cNvPr id="22" name="Rectangle 21">
              <a:extLst>
                <a:ext uri="{FF2B5EF4-FFF2-40B4-BE49-F238E27FC236}">
                  <a16:creationId xmlns:a16="http://schemas.microsoft.com/office/drawing/2014/main" id="{CE8BB6BE-BEB8-1638-5696-6838220E4939}"/>
                </a:ext>
              </a:extLst>
            </p:cNvPr>
            <p:cNvSpPr/>
            <p:nvPr/>
          </p:nvSpPr>
          <p:spPr bwMode="auto">
            <a:xfrm>
              <a:off x="7688450" y="525699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Accountability</a:t>
              </a:r>
            </a:p>
          </p:txBody>
        </p:sp>
      </p:grpSp>
    </p:spTree>
    <p:extLst>
      <p:ext uri="{BB962C8B-B14F-4D97-AF65-F5344CB8AC3E}">
        <p14:creationId xmlns:p14="http://schemas.microsoft.com/office/powerpoint/2010/main" val="397780535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normAutofit fontScale="90000"/>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normAutofit fontScale="85000" lnSpcReduction="10000"/>
          </a:bodyPr>
          <a:lstStyle/>
          <a:p>
            <a:r>
              <a:rPr lang="en-US" sz="2000" dirty="0"/>
              <a:t>Prepare for an AI development project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4144361" cy="1772793"/>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Foundry project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Deploy and test a generative AI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Identify project endpoints and keys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Explore the Microsoft Foundry Extension for Visual Studio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https://go.microsoft.com/fwlink/?linkid=2353647</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a:srcRect r="7739"/>
          <a:stretch>
            <a:fillRect/>
          </a:stretch>
        </p:blipFill>
        <p:spPr>
          <a:xfrm>
            <a:off x="7723991" y="2010229"/>
            <a:ext cx="4468009" cy="3309257"/>
          </a:xfrm>
          <a:prstGeom prst="rect">
            <a:avLst/>
          </a:prstGeom>
        </p:spPr>
      </p:pic>
    </p:spTree>
    <p:extLst>
      <p:ext uri="{BB962C8B-B14F-4D97-AF65-F5344CB8AC3E}">
        <p14:creationId xmlns:p14="http://schemas.microsoft.com/office/powerpoint/2010/main" val="144667758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66085"/>
            <a:ext cx="8778782" cy="215444"/>
          </a:xfrm>
        </p:spPr>
        <p:txBody>
          <a:bodyPr>
            <a:normAutofit fontScale="70000" lnSpcReduction="20000"/>
          </a:bodyPr>
          <a:lstStyle/>
          <a:p>
            <a:r>
              <a:rPr lang="en-US" b="1" dirty="0"/>
              <a:t>Which web portal should you use to work with assets in a Microsoft Foundry project?</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33248"/>
            <a:ext cx="8775098" cy="732508"/>
          </a:xfrm>
          <a:noFill/>
        </p:spPr>
        <p:txBody>
          <a:bodyPr/>
          <a:lstStyle/>
          <a:p>
            <a:r>
              <a:rPr lang="en-US" noProof="0" dirty="0"/>
              <a:t>The Azure portal</a:t>
            </a:r>
            <a:endParaRPr lang="en-US" noProof="0" dirty="0">
              <a:solidFill>
                <a:srgbClr val="000000"/>
              </a:solidFill>
            </a:endParaRPr>
          </a:p>
          <a:p>
            <a:r>
              <a:rPr lang="en-US" noProof="0" dirty="0"/>
              <a:t>Microsoft Copilot</a:t>
            </a:r>
          </a:p>
          <a:p>
            <a:r>
              <a:rPr lang="en-US" noProof="0" dirty="0"/>
              <a:t>The Microsoft Foundry portal</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258655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139966"/>
            <a:ext cx="8778782" cy="215444"/>
          </a:xfrm>
        </p:spPr>
        <p:txBody>
          <a:bodyPr>
            <a:normAutofit fontScale="70000" lnSpcReduction="20000"/>
          </a:bodyPr>
          <a:lstStyle/>
          <a:p>
            <a:r>
              <a:rPr lang="en-US" noProof="0" dirty="0"/>
              <a:t>Which component of Microsoft Foundry provides pre-built services for common AI tasks?</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420839"/>
            <a:ext cx="8775098" cy="732508"/>
          </a:xfrm>
        </p:spPr>
        <p:txBody>
          <a:bodyPr/>
          <a:lstStyle/>
          <a:p>
            <a:r>
              <a:rPr lang="en-US" dirty="0"/>
              <a:t>Foundry Tools</a:t>
            </a:r>
          </a:p>
          <a:p>
            <a:r>
              <a:rPr lang="en-US" dirty="0"/>
              <a:t>Foundry Models</a:t>
            </a:r>
          </a:p>
          <a:p>
            <a:r>
              <a:rPr lang="en-US" dirty="0"/>
              <a:t>Foundry IQ</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a:spLocks/>
          </p:cNvSpPr>
          <p:nvPr/>
        </p:nvSpPr>
        <p:spPr>
          <a:xfrm>
            <a:off x="1263852" y="346773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5" name="Text Placeholder 27">
            <a:extLst>
              <a:ext uri="{FF2B5EF4-FFF2-40B4-BE49-F238E27FC236}">
                <a16:creationId xmlns:a16="http://schemas.microsoft.com/office/drawing/2014/main" id="{34D16EB8-8365-0243-BBD7-CDEF0D461774}"/>
              </a:ext>
            </a:extLst>
          </p:cNvPr>
          <p:cNvSpPr>
            <a:spLocks noGrp="1"/>
          </p:cNvSpPr>
          <p:nvPr>
            <p:ph type="body" sz="quarter" idx="20"/>
          </p:nvPr>
        </p:nvSpPr>
        <p:spPr>
          <a:xfrm>
            <a:off x="1235075" y="4418761"/>
            <a:ext cx="8778782" cy="215444"/>
          </a:xfrm>
        </p:spPr>
        <p:txBody>
          <a:bodyPr>
            <a:normAutofit fontScale="70000" lnSpcReduction="20000"/>
          </a:bodyPr>
          <a:lstStyle/>
          <a:p>
            <a:r>
              <a:rPr lang="en-US" dirty="0"/>
              <a:t>Which extension should you use in Visual Studio Code to work with Foundry projects?</a:t>
            </a:r>
          </a:p>
        </p:txBody>
      </p:sp>
      <p:sp>
        <p:nvSpPr>
          <p:cNvPr id="6" name="Text Placeholder 28">
            <a:extLst>
              <a:ext uri="{FF2B5EF4-FFF2-40B4-BE49-F238E27FC236}">
                <a16:creationId xmlns:a16="http://schemas.microsoft.com/office/drawing/2014/main" id="{AEC2857C-BDF9-8BF4-F7E2-7D7695E961D1}"/>
              </a:ext>
            </a:extLst>
          </p:cNvPr>
          <p:cNvSpPr>
            <a:spLocks noGrp="1"/>
          </p:cNvSpPr>
          <p:nvPr>
            <p:ph type="body" sz="quarter" idx="21"/>
          </p:nvPr>
        </p:nvSpPr>
        <p:spPr>
          <a:xfrm>
            <a:off x="1235075" y="4713285"/>
            <a:ext cx="8775700" cy="732508"/>
          </a:xfrm>
        </p:spPr>
        <p:txBody>
          <a:bodyPr/>
          <a:lstStyle/>
          <a:p>
            <a:r>
              <a:rPr lang="en-US" sz="1400" dirty="0"/>
              <a:t>Python extension for Visual Studio Code</a:t>
            </a:r>
          </a:p>
          <a:p>
            <a:r>
              <a:rPr lang="en-US" sz="1400" dirty="0"/>
              <a:t>GitHub Copilot</a:t>
            </a:r>
          </a:p>
          <a:p>
            <a:r>
              <a:rPr lang="en-US" sz="1400" dirty="0"/>
              <a:t>Microsoft AI Toolkit extension for Visual Studio Code</a:t>
            </a:r>
          </a:p>
        </p:txBody>
      </p:sp>
      <p:sp>
        <p:nvSpPr>
          <p:cNvPr id="7" name="Graphic 26">
            <a:extLst>
              <a:ext uri="{FF2B5EF4-FFF2-40B4-BE49-F238E27FC236}">
                <a16:creationId xmlns:a16="http://schemas.microsoft.com/office/drawing/2014/main" id="{0A19C4CE-392E-3724-47CD-84A7BC61FF68}"/>
              </a:ext>
              <a:ext uri="{C183D7F6-B498-43B3-948B-1728B52AA6E4}">
                <adec:decorative xmlns:adec="http://schemas.microsoft.com/office/drawing/2017/decorative" val="1"/>
              </a:ext>
            </a:extLst>
          </p:cNvPr>
          <p:cNvSpPr/>
          <p:nvPr/>
        </p:nvSpPr>
        <p:spPr>
          <a:xfrm>
            <a:off x="1292594" y="5274802"/>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35444618-9614-2178-2A02-0A7FB2A82627}"/>
              </a:ext>
              <a:ext uri="{C183D7F6-B498-43B3-948B-1728B52AA6E4}">
                <adec:decorative xmlns:adec="http://schemas.microsoft.com/office/drawing/2017/decorative" val="1"/>
              </a:ext>
            </a:extLst>
          </p:cNvPr>
          <p:cNvSpPr>
            <a:spLocks/>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387666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0"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5501</Words>
  <Application>Microsoft Office PowerPoint</Application>
  <PresentationFormat>Widescreen</PresentationFormat>
  <Paragraphs>410</Paragraphs>
  <Slides>25</Slides>
  <Notes>24</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Aptos</vt:lpstr>
      <vt:lpstr>Aptos Display</vt:lpstr>
      <vt:lpstr>Arial</vt:lpstr>
      <vt:lpstr>Cambria Math</vt:lpstr>
      <vt:lpstr>Segoe Light</vt:lpstr>
      <vt:lpstr>Segoe UI</vt:lpstr>
      <vt:lpstr>Segoe UI Light</vt:lpstr>
      <vt:lpstr>Segoe UI Semibold</vt:lpstr>
      <vt:lpstr>Symbol</vt:lpstr>
      <vt:lpstr>Times New Roman</vt:lpstr>
      <vt:lpstr>Wingdings</vt:lpstr>
      <vt:lpstr>Office Theme</vt:lpstr>
      <vt:lpstr>Introduction to Agents</vt:lpstr>
      <vt:lpstr>Module 3: Build and manage an agent</vt:lpstr>
      <vt:lpstr>Introduction</vt:lpstr>
      <vt:lpstr>Explore the components of an agent</vt:lpstr>
      <vt:lpstr>Create an agent in Copilot Chat – Part 1</vt:lpstr>
      <vt:lpstr>Create an agent in Copilot Chat – Part 1 (continued)</vt:lpstr>
      <vt:lpstr>Create an agent in Copilot Chat – Part 2</vt:lpstr>
      <vt:lpstr>Lab exercise</vt:lpstr>
      <vt:lpstr>Create an agent in SharePoint</vt:lpstr>
      <vt:lpstr>Lab exercise</vt:lpstr>
      <vt:lpstr>Video – One-click AI Agents</vt:lpstr>
      <vt:lpstr>Discussion – Video review</vt:lpstr>
      <vt:lpstr>Test and edit your agents</vt:lpstr>
      <vt:lpstr>Manage your agents</vt:lpstr>
      <vt:lpstr>Module Assessment</vt:lpstr>
      <vt:lpstr>Summary </vt:lpstr>
      <vt:lpstr>Artificial Intelligence workloads</vt:lpstr>
      <vt:lpstr>Our focus today</vt:lpstr>
      <vt:lpstr>Plan and prepare to develop AI solutions on Azure</vt:lpstr>
      <vt:lpstr>Microsoft Foundry</vt:lpstr>
      <vt:lpstr>Foundry Tools</vt:lpstr>
      <vt:lpstr>Developer tools and SDKs</vt:lpstr>
      <vt:lpstr>Principles of responsible AI</vt:lpstr>
      <vt:lpstr>Exercise</vt:lpstr>
      <vt:lpstr>Knowledge check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Conniff</dc:creator>
  <cp:lastModifiedBy>Andrew Conniff</cp:lastModifiedBy>
  <cp:revision>1</cp:revision>
  <dcterms:created xsi:type="dcterms:W3CDTF">2026-10-23T19:14:30Z</dcterms:created>
  <dcterms:modified xsi:type="dcterms:W3CDTF">2026-10-23T19:14:30Z</dcterms:modified>
</cp:coreProperties>
</file>