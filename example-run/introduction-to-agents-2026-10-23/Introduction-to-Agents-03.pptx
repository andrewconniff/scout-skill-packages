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147479799" r:id="rId3"/>
    <p:sldId id="2147479800" r:id="rId4"/>
    <p:sldId id="257" r:id="rId5"/>
    <p:sldId id="2147479801" r:id="rId6"/>
    <p:sldId id="2147479802" r:id="rId7"/>
    <p:sldId id="2147479803" r:id="rId8"/>
    <p:sldId id="2147479804" r:id="rId9"/>
    <p:sldId id="275" r:id="rId10"/>
    <p:sldId id="2147479806" r:id="rId11"/>
    <p:sldId id="2147479744" r:id="rId12"/>
    <p:sldId id="2147479813" r:id="rId13"/>
    <p:sldId id="2147479749" r:id="rId14"/>
    <p:sldId id="306" r:id="rId15"/>
    <p:sldId id="2147479808" r:id="rId16"/>
    <p:sldId id="2147479809" r:id="rId17"/>
    <p:sldId id="2147479811" r:id="rId18"/>
    <p:sldId id="2147479812" r:id="rId19"/>
    <p:sldId id="2147479814" r:id="rId20"/>
    <p:sldId id="2147479815" r:id="rId21"/>
    <p:sldId id="2147479816" r:id="rId22"/>
    <p:sldId id="2147479817" r:id="rId23"/>
    <p:sldId id="2147479818" r:id="rId24"/>
    <p:sldId id="2147479819" r:id="rId25"/>
    <p:sldId id="2147479821" r:id="rId26"/>
    <p:sldId id="2147479822" r:id="rId27"/>
    <p:sldId id="2147479823" r:id="rId28"/>
    <p:sldId id="2147479825" r:id="rId29"/>
    <p:sldId id="2147479826" r:id="rId30"/>
    <p:sldId id="2147479827" r:id="rId31"/>
    <p:sldId id="2147479820" r:id="rId32"/>
    <p:sldId id="2147479828" r:id="rId33"/>
    <p:sldId id="2147479829" r:id="rId34"/>
    <p:sldId id="2147479830" r:id="rId35"/>
    <p:sldId id="2147479831" r:id="rId36"/>
    <p:sldId id="2147479832" r:id="rId37"/>
    <p:sldId id="214747983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6"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CEF236-D7C3-42DE-819D-4783FEEAFEB6}"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71F5AF-8594-4C76-940E-DF53F544B3E5}" type="slidenum">
              <a:rPr lang="en-US" smtClean="0"/>
              <a:t>‹#›</a:t>
            </a:fld>
            <a:endParaRPr lang="en-US"/>
          </a:p>
        </p:txBody>
      </p:sp>
    </p:spTree>
    <p:extLst>
      <p:ext uri="{BB962C8B-B14F-4D97-AF65-F5344CB8AC3E}">
        <p14:creationId xmlns:p14="http://schemas.microsoft.com/office/powerpoint/2010/main" val="3332441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Use the link on the slide to see the Microsoft Learn learning path from which this presentation is derived.</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3567031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describe the broader AI landscape, which consists of multiple workloads all built on the foundation of machine learning.</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790953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focus for today is AI agents.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3510123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link on the slide to see the Microsoft Learn module from which this lesson is derived.</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2816158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Challenge the students to think of other examples of how AI agents could be used to assist in workflows.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884025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some of these tools are optimize for creating agents that integrate with Microsoft Copilot in a Microsoft 365 environment, while others are a better option for creating more generalized agents that can be delivered as custom apps or services on Azure.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3813561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focus for today is Azure AI Agent Service. We’ll also cover some elements of Semantic Kernel – primarily how to integrate it with Azure AI Agent Service agents and build multi-agent solutions.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1974148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Azure AI Agent Service supports the use of a </a:t>
            </a:r>
            <a:r>
              <a:rPr lang="en-US" i="1" dirty="0"/>
              <a:t>subset</a:t>
            </a:r>
            <a:r>
              <a:rPr lang="en-US" i="0" dirty="0"/>
              <a:t> of the models available in the Azure AI model catalog.</a:t>
            </a:r>
          </a:p>
          <a:p>
            <a:r>
              <a:rPr lang="en-US" i="0" dirty="0"/>
              <a:t>Choosing an appropriate model for your agent is a key consideration that depends on a number of factors.</a:t>
            </a:r>
          </a:p>
          <a:p>
            <a:r>
              <a:rPr lang="en-US" i="0" dirty="0"/>
              <a:t>Refer students to </a:t>
            </a:r>
            <a:r>
              <a:rPr lang="en-US" i="0" u="sng" dirty="0"/>
              <a:t>https://aka.ms/mslearn-ai-models</a:t>
            </a:r>
            <a:r>
              <a:rPr lang="en-US" i="0" dirty="0"/>
              <a:t> to learn more about the model catalog and model selection.</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538114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You can demo this if you like – bear in mind that students are about to do it for themselves in the exercise.</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05788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exercise begins with the same procedure to create an Azure AI Foundry Agent (which lives inside a project) –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2487972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p:cNvSpPr>
            <a:spLocks noGrp="1"/>
          </p:cNvSpPr>
          <p:nvPr>
            <p:ph type="sldNum" sz="quarter" idx="5"/>
          </p:nvPr>
        </p:nvSpPr>
        <p:spPr/>
        <p:txBody>
          <a:bodyPr/>
          <a:lstStyle/>
          <a:p>
            <a:fld id="{97E04F8E-88E9-481C-A2B3-C92BCE611EF5}" type="slidenum">
              <a:rPr lang="en-US" smtClean="0"/>
              <a:t>11</a:t>
            </a:fld>
            <a:endParaRPr lang="en-US" dirty="0"/>
          </a:p>
        </p:txBody>
      </p:sp>
    </p:spTree>
    <p:extLst>
      <p:ext uri="{BB962C8B-B14F-4D97-AF65-F5344CB8AC3E}">
        <p14:creationId xmlns:p14="http://schemas.microsoft.com/office/powerpoint/2010/main" val="351108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BDE40-7392-E47E-CB1C-1025CBE7B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02726-9E75-B52B-95A0-0EC6E7D29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1BF4C-6B44-4854-5DC1-13933D85E53F}"/>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Use the link on the slide to see the Microsoft Learn module from which this lesson is derived.</a:t>
            </a:r>
          </a:p>
          <a:p>
            <a:endParaRPr lang="en-US" dirty="0"/>
          </a:p>
        </p:txBody>
      </p:sp>
      <p:sp>
        <p:nvSpPr>
          <p:cNvPr id="4" name="Header Placeholder 3">
            <a:extLst>
              <a:ext uri="{FF2B5EF4-FFF2-40B4-BE49-F238E27FC236}">
                <a16:creationId xmlns:a16="http://schemas.microsoft.com/office/drawing/2014/main" id="{215ECCA5-E338-D0A7-0025-B4AE3D6CFF8D}"/>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0E756ED8-BB9C-282E-0CB0-7BE0BBDC5F6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8C2E1026-CABF-3E5F-DB4C-4331C8F0260E}"/>
              </a:ext>
            </a:extLst>
          </p:cNvPr>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a:extLst>
              <a:ext uri="{FF2B5EF4-FFF2-40B4-BE49-F238E27FC236}">
                <a16:creationId xmlns:a16="http://schemas.microsoft.com/office/drawing/2014/main" id="{DCEA11C2-5897-D89E-3B1B-2E7485BB30D0}"/>
              </a:ext>
            </a:extLst>
          </p:cNvPr>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264281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F7B80-C531-4965-815D-42C27C339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9B16B-A1C7-8010-A466-0439B2978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6D8A5-4ADB-C9D6-6F87-A181BEB0121E}"/>
              </a:ext>
            </a:extLst>
          </p:cNvPr>
          <p:cNvSpPr>
            <a:spLocks noGrp="1"/>
          </p:cNvSpPr>
          <p:nvPr>
            <p:ph type="body" idx="1"/>
          </p:nvPr>
        </p:nvSpPr>
        <p:spPr/>
        <p:txBody>
          <a:bodyPr/>
          <a:lstStyle/>
          <a:p>
            <a:pPr>
              <a:buNone/>
            </a:pPr>
            <a:r>
              <a:rPr lang="en-US" dirty="0"/>
              <a:t>Share any additional benefits or scenarios you can think of; and encourage students to do the same.</a:t>
            </a:r>
          </a:p>
        </p:txBody>
      </p:sp>
      <p:sp>
        <p:nvSpPr>
          <p:cNvPr id="4" name="Header Placeholder 3">
            <a:extLst>
              <a:ext uri="{FF2B5EF4-FFF2-40B4-BE49-F238E27FC236}">
                <a16:creationId xmlns:a16="http://schemas.microsoft.com/office/drawing/2014/main" id="{65F210E4-A921-10BE-042F-1D76C9480CBF}"/>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C20927CE-E663-862B-9A26-4CED614FA612}"/>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F56BAFF-C8B9-C283-8F38-78F9F8D2C2FB}"/>
              </a:ext>
            </a:extLst>
          </p:cNvPr>
          <p:cNvSpPr>
            <a:spLocks noGrp="1"/>
          </p:cNvSpPr>
          <p:nvPr>
            <p:ph type="dt" idx="12"/>
          </p:nvPr>
        </p:nvSpPr>
        <p:spPr/>
        <p:txBody>
          <a:bodyPr/>
          <a:lstStyle/>
          <a:p>
            <a:fld id="{27B0AC13-FB77-4A84-8681-0482EFC888F3}" type="datetime8">
              <a:rPr lang="en-US" smtClean="0"/>
              <a:t>10/23/2026 12:14 PM</a:t>
            </a:fld>
            <a:endParaRPr lang="en-US"/>
          </a:p>
        </p:txBody>
      </p:sp>
      <p:sp>
        <p:nvSpPr>
          <p:cNvPr id="7" name="Slide Number Placeholder 6">
            <a:extLst>
              <a:ext uri="{FF2B5EF4-FFF2-40B4-BE49-F238E27FC236}">
                <a16:creationId xmlns:a16="http://schemas.microsoft.com/office/drawing/2014/main" id="{F587C898-8AF6-1A33-5C89-DBCEFB5943B5}"/>
              </a:ext>
            </a:extLst>
          </p:cNvPr>
          <p:cNvSpPr>
            <a:spLocks noGrp="1"/>
          </p:cNvSpPr>
          <p:nvPr>
            <p:ph type="sldNum" sz="quarter" idx="13"/>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419735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bicep templates mentioned in the slide are available at </a:t>
            </a:r>
            <a:r>
              <a:rPr lang="en-US" u="sng" dirty="0"/>
              <a:t>https://github.com/Azure/azure-quickstart-templates/tree/master/quickstarts/microsoft.azure-ai-agent-service</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35006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see how to implement this pattern in code during the exercise.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9040291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use the Code Interpreter tool in the exercise.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20100232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F28A-B710-A601-974E-DA4359746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CDE8F-0BF7-4874-8D9F-6E1C2BA11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31563-19C2-91E5-3BF7-884D976B97CF}"/>
              </a:ext>
            </a:extLst>
          </p:cNvPr>
          <p:cNvSpPr>
            <a:spLocks noGrp="1"/>
          </p:cNvSpPr>
          <p:nvPr>
            <p:ph type="body" idx="1"/>
          </p:nvPr>
        </p:nvSpPr>
        <p:spPr/>
        <p:txBody>
          <a:bodyPr/>
          <a:lstStyle/>
          <a:p>
            <a:r>
              <a:rPr lang="en-US" dirty="0"/>
              <a:t>Each exercise begins with the same procedure to create an Azure AI Foundry project –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a:p>
            <a:endParaRPr lang="en-US" dirty="0"/>
          </a:p>
        </p:txBody>
      </p:sp>
      <p:sp>
        <p:nvSpPr>
          <p:cNvPr id="4" name="Header Placeholder 3">
            <a:extLst>
              <a:ext uri="{FF2B5EF4-FFF2-40B4-BE49-F238E27FC236}">
                <a16:creationId xmlns:a16="http://schemas.microsoft.com/office/drawing/2014/main" id="{4A296D45-3428-749C-D322-C7FB2D8CC2DE}"/>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0FA7FF22-4AC1-623F-FD8F-D0BA9D1CE14C}"/>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0698787F-A55C-1797-5954-55A9EE7942BF}"/>
              </a:ext>
            </a:extLst>
          </p:cNvPr>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a:extLst>
              <a:ext uri="{FF2B5EF4-FFF2-40B4-BE49-F238E27FC236}">
                <a16:creationId xmlns:a16="http://schemas.microsoft.com/office/drawing/2014/main" id="{4BF78862-4CF3-4546-0867-36B0B92FB386}"/>
              </a:ext>
            </a:extLst>
          </p:cNvPr>
          <p:cNvSpPr>
            <a:spLocks noGrp="1"/>
          </p:cNvSpPr>
          <p:nvPr>
            <p:ph type="sldNum" sz="quarter" idx="5"/>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3629175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50AC2-9823-B608-4FB0-7632A850F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9F6CE-A530-8803-7A53-7827FE8484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2E2ABC-8E33-F876-E0F7-660CAE7078F5}"/>
              </a:ext>
            </a:extLst>
          </p:cNvPr>
          <p:cNvSpPr>
            <a:spLocks noGrp="1"/>
          </p:cNvSpPr>
          <p:nvPr>
            <p:ph type="body" idx="1"/>
          </p:nvPr>
        </p:nvSpPr>
        <p:spPr/>
        <p:txBody>
          <a:bodyPr/>
          <a:lstStyle/>
          <a:p>
            <a:r>
              <a:rPr lang="en-US" i="0" dirty="0"/>
              <a:t>Allow students a few minutes to think about the questions, then reveal the correct answers.</a:t>
            </a:r>
          </a:p>
          <a:p>
            <a:endParaRPr lang="en-US" i="0" dirty="0"/>
          </a:p>
          <a:p>
            <a:endParaRPr lang="en-US" i="0" dirty="0"/>
          </a:p>
        </p:txBody>
      </p:sp>
      <p:sp>
        <p:nvSpPr>
          <p:cNvPr id="4" name="Slide Number Placeholder 3">
            <a:extLst>
              <a:ext uri="{FF2B5EF4-FFF2-40B4-BE49-F238E27FC236}">
                <a16:creationId xmlns:a16="http://schemas.microsoft.com/office/drawing/2014/main" id="{F8D4C427-A2E1-C0DD-4B1E-464309726B21}"/>
              </a:ext>
            </a:extLst>
          </p:cNvPr>
          <p:cNvSpPr>
            <a:spLocks noGrp="1"/>
          </p:cNvSpPr>
          <p:nvPr>
            <p:ph type="sldNum" sz="quarter" idx="5"/>
          </p:nvPr>
        </p:nvSpPr>
        <p:spPr/>
        <p:txBody>
          <a:bodyPr/>
          <a:lstStyle/>
          <a:p>
            <a:fld id="{97E04F8E-88E9-481C-A2B3-C92BCE611EF5}" type="slidenum">
              <a:rPr lang="en-US" smtClean="0"/>
              <a:t>18</a:t>
            </a:fld>
            <a:endParaRPr lang="en-US" dirty="0"/>
          </a:p>
        </p:txBody>
      </p:sp>
    </p:spTree>
    <p:extLst>
      <p:ext uri="{BB962C8B-B14F-4D97-AF65-F5344CB8AC3E}">
        <p14:creationId xmlns:p14="http://schemas.microsoft.com/office/powerpoint/2010/main" val="12678747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63D7-C7F9-2D69-40A8-C7973EE0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62F9B-B998-6D11-AE32-425089A2C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380E7A-DE67-C450-C25E-B50541093AE6}"/>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Use the link on the slide to see the Microsoft Learn module from which this lesson is derived.</a:t>
            </a:r>
          </a:p>
          <a:p>
            <a:endParaRPr lang="en-US" dirty="0"/>
          </a:p>
        </p:txBody>
      </p:sp>
      <p:sp>
        <p:nvSpPr>
          <p:cNvPr id="4" name="Header Placeholder 3">
            <a:extLst>
              <a:ext uri="{FF2B5EF4-FFF2-40B4-BE49-F238E27FC236}">
                <a16:creationId xmlns:a16="http://schemas.microsoft.com/office/drawing/2014/main" id="{41318425-22FA-A779-9576-A75BEA8B7B27}"/>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6DCD50F7-C5D4-2D3F-0371-A62C3E22666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CC85423C-CA8F-6898-1434-4D018159EB32}"/>
              </a:ext>
            </a:extLst>
          </p:cNvPr>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a:extLst>
              <a:ext uri="{FF2B5EF4-FFF2-40B4-BE49-F238E27FC236}">
                <a16:creationId xmlns:a16="http://schemas.microsoft.com/office/drawing/2014/main" id="{F4128134-15CE-A53C-9E7A-D8561BF84A9D}"/>
              </a:ext>
            </a:extLst>
          </p:cNvPr>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38821574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to think of additional examples; and encourage students to do the same.</a:t>
            </a:r>
          </a:p>
          <a:p>
            <a:r>
              <a:rPr lang="en-US" dirty="0"/>
              <a:t>In many cases, the built-in Code Interpreter tool can provide the functionality you need without the need for you to write custom functions. However, using a custom tool enables you to have more control over the specific logic used to implement a task or to enable your agent to leverage third-party services.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20615276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616"/>
                </a:solidFill>
                <a:effectLst/>
                <a:latin typeface="Segoe UI" panose="020B0502040204020203" pitchFamily="34" charset="0"/>
              </a:rPr>
              <a:t>One of the concepts related to agents and custom tools that developers often have difficulty with is the </a:t>
            </a:r>
            <a:r>
              <a:rPr lang="en-US" b="0" i="1" dirty="0">
                <a:solidFill>
                  <a:srgbClr val="161616"/>
                </a:solidFill>
                <a:effectLst/>
                <a:latin typeface="Segoe UI" panose="020B0502040204020203" pitchFamily="34" charset="0"/>
              </a:rPr>
              <a:t>declarative</a:t>
            </a:r>
            <a:r>
              <a:rPr lang="en-US" b="0" i="0" dirty="0">
                <a:solidFill>
                  <a:srgbClr val="161616"/>
                </a:solidFill>
                <a:effectLst/>
                <a:latin typeface="Segoe UI" panose="020B0502040204020203" pitchFamily="34" charset="0"/>
              </a:rPr>
              <a:t> nature of the solution. You don't need to write code that explicitly </a:t>
            </a:r>
            <a:r>
              <a:rPr lang="en-US" b="0" i="1" dirty="0">
                <a:solidFill>
                  <a:srgbClr val="161616"/>
                </a:solidFill>
                <a:effectLst/>
                <a:latin typeface="Segoe UI" panose="020B0502040204020203" pitchFamily="34" charset="0"/>
              </a:rPr>
              <a:t>calls</a:t>
            </a:r>
            <a:r>
              <a:rPr lang="en-US" b="0" i="0" dirty="0">
                <a:solidFill>
                  <a:srgbClr val="161616"/>
                </a:solidFill>
                <a:effectLst/>
                <a:latin typeface="Segoe UI" panose="020B0502040204020203" pitchFamily="34" charset="0"/>
              </a:rPr>
              <a:t> your custom tool functions - the agent itself decides to call tool functions based on messages in prompts. By providing the agent with functions that have meaningful names and well-documented parameters, the agent can "figure out" when and how to call the function all by itself!</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20076895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6AA5D-260F-27DA-AC68-4DF15D7F6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B0FCE-BAAB-8B65-A597-D1DBFCF97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5C36F5-601C-7B40-DB1C-0B8413CFB394}"/>
              </a:ext>
            </a:extLst>
          </p:cNvPr>
          <p:cNvSpPr>
            <a:spLocks noGrp="1"/>
          </p:cNvSpPr>
          <p:nvPr>
            <p:ph type="body" idx="1"/>
          </p:nvPr>
        </p:nvSpPr>
        <p:spPr/>
        <p:txBody>
          <a:bodyPr/>
          <a:lstStyle/>
          <a:p>
            <a:r>
              <a:rPr lang="en-US" dirty="0"/>
              <a:t>Each exercise begins with the same procedure to create an Azure AI Foundry project –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a:p>
            <a:endParaRPr lang="en-US" dirty="0"/>
          </a:p>
        </p:txBody>
      </p:sp>
      <p:sp>
        <p:nvSpPr>
          <p:cNvPr id="4" name="Header Placeholder 3">
            <a:extLst>
              <a:ext uri="{FF2B5EF4-FFF2-40B4-BE49-F238E27FC236}">
                <a16:creationId xmlns:a16="http://schemas.microsoft.com/office/drawing/2014/main" id="{ADA7DD88-0400-D980-BC51-AE7BE57CC5FA}"/>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EC40F8B4-3AE6-42F3-8102-5521469B163D}"/>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7165BE71-655F-8C5C-3902-CCCBCA3B3350}"/>
              </a:ext>
            </a:extLst>
          </p:cNvPr>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a:extLst>
              <a:ext uri="{FF2B5EF4-FFF2-40B4-BE49-F238E27FC236}">
                <a16:creationId xmlns:a16="http://schemas.microsoft.com/office/drawing/2014/main" id="{B7B4295B-1C2F-E4D5-903F-A1DE5B20A0B2}"/>
              </a:ext>
            </a:extLst>
          </p:cNvPr>
          <p:cNvSpPr>
            <a:spLocks noGrp="1"/>
          </p:cNvSpPr>
          <p:nvPr>
            <p:ph type="sldNum" sz="quarter" idx="5"/>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8248026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86760-AD47-1200-4C3A-43320250E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FE8CA-F34B-AFB3-3388-3CC5285F17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1344E7-98EB-F68C-D0C7-7CD0B820C9FB}"/>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2476D540-F0C7-DEF4-51B9-EA16367AD231}"/>
              </a:ext>
            </a:extLst>
          </p:cNvPr>
          <p:cNvSpPr>
            <a:spLocks noGrp="1"/>
          </p:cNvSpPr>
          <p:nvPr>
            <p:ph type="sldNum" sz="quarter" idx="5"/>
          </p:nvPr>
        </p:nvSpPr>
        <p:spPr/>
        <p:txBody>
          <a:bodyPr/>
          <a:lstStyle/>
          <a:p>
            <a:fld id="{97E04F8E-88E9-481C-A2B3-C92BCE611EF5}" type="slidenum">
              <a:rPr lang="en-US" smtClean="0"/>
              <a:t>23</a:t>
            </a:fld>
            <a:endParaRPr lang="en-US" dirty="0"/>
          </a:p>
        </p:txBody>
      </p:sp>
    </p:spTree>
    <p:extLst>
      <p:ext uri="{BB962C8B-B14F-4D97-AF65-F5344CB8AC3E}">
        <p14:creationId xmlns:p14="http://schemas.microsoft.com/office/powerpoint/2010/main" val="9665865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63D7-C7F9-2D69-40A8-C7973EE0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62F9B-B998-6D11-AE32-425089A2C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380E7A-DE67-C450-C25E-B50541093AE6}"/>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Use the link on the slide to see the Microsoft Learn module from which this lesson is derived.</a:t>
            </a:r>
          </a:p>
          <a:p>
            <a:endParaRPr lang="en-US" dirty="0"/>
          </a:p>
        </p:txBody>
      </p:sp>
      <p:sp>
        <p:nvSpPr>
          <p:cNvPr id="4" name="Header Placeholder 3">
            <a:extLst>
              <a:ext uri="{FF2B5EF4-FFF2-40B4-BE49-F238E27FC236}">
                <a16:creationId xmlns:a16="http://schemas.microsoft.com/office/drawing/2014/main" id="{41318425-22FA-A779-9576-A75BEA8B7B27}"/>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6DCD50F7-C5D4-2D3F-0371-A62C3E22666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CC85423C-CA8F-6898-1434-4D018159EB32}"/>
              </a:ext>
            </a:extLst>
          </p:cNvPr>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a:extLst>
              <a:ext uri="{FF2B5EF4-FFF2-40B4-BE49-F238E27FC236}">
                <a16:creationId xmlns:a16="http://schemas.microsoft.com/office/drawing/2014/main" id="{F4128134-15CE-A53C-9E7A-D8561BF84A9D}"/>
              </a:ext>
            </a:extLst>
          </p:cNvPr>
          <p:cNvSpPr>
            <a:spLocks noGrp="1"/>
          </p:cNvSpPr>
          <p:nvPr>
            <p:ph type="sldNum" sz="quarter" idx="5"/>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42370873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focusing specifically on integration between Semantic Kernel and Foundry Agent Service.</a:t>
            </a:r>
          </a:p>
          <a:p>
            <a:r>
              <a:rPr lang="en-US" dirty="0"/>
              <a:t>Semantic Kernel, and it’s Agent framework offers a lot of functionality for developers building generative AI apps and agents; much of it overlapping with functionality in Azure AI Agent Service.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23963787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if they have any experience with Semantic Kernel, or if they know of its use in their organization.</a:t>
            </a:r>
          </a:p>
          <a:p>
            <a:r>
              <a:rPr lang="en-US" dirty="0"/>
              <a:t>The ability to integrate it with Azure AI Foundry Agent Service provides flexibility to AI solution developers.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42339805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Semantic Kernel Agent framework includes a number of classes that are specifically designed to work with Azure AI Agent Service.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6000464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Plugins are the Semantic Kernel equivalent of Function calling in Azure AI Agent Service.</a:t>
            </a:r>
          </a:p>
          <a:p>
            <a:r>
              <a:rPr lang="en-US" dirty="0"/>
              <a:t>Note that you can use plugins as well as Azure AI Agent Service tools (like the code interpreter or Bing grounding) when working with Azure AI agents in Semantic Kernel SDK code.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11025703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2DEFF-3814-B6DB-1CCE-5A54C12A0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30F49-0192-78F4-1A6A-345F35974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4F394-8C6B-1F54-45B9-DE1B1E51522D}"/>
              </a:ext>
            </a:extLst>
          </p:cNvPr>
          <p:cNvSpPr>
            <a:spLocks noGrp="1"/>
          </p:cNvSpPr>
          <p:nvPr>
            <p:ph type="body" idx="1"/>
          </p:nvPr>
        </p:nvSpPr>
        <p:spPr/>
        <p:txBody>
          <a:bodyPr/>
          <a:lstStyle/>
          <a:p>
            <a:r>
              <a:rPr lang="en-US" dirty="0"/>
              <a:t>Each exercise begins with the same procedure to create an Azure AI Foundry project –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a:p>
            <a:endParaRPr lang="en-US" dirty="0"/>
          </a:p>
        </p:txBody>
      </p:sp>
      <p:sp>
        <p:nvSpPr>
          <p:cNvPr id="4" name="Header Placeholder 3">
            <a:extLst>
              <a:ext uri="{FF2B5EF4-FFF2-40B4-BE49-F238E27FC236}">
                <a16:creationId xmlns:a16="http://schemas.microsoft.com/office/drawing/2014/main" id="{35599E87-5914-F87E-D186-43AC05D3F8C1}"/>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AC7F87C7-CBA8-68FA-D665-86EDF0208EFE}"/>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A3E3EB3E-2DB1-EF22-56F8-C89CEF8179B5}"/>
              </a:ext>
            </a:extLst>
          </p:cNvPr>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a:extLst>
              <a:ext uri="{FF2B5EF4-FFF2-40B4-BE49-F238E27FC236}">
                <a16:creationId xmlns:a16="http://schemas.microsoft.com/office/drawing/2014/main" id="{552A7B0D-DE21-8523-11D3-A7C963342B1C}"/>
              </a:ext>
            </a:extLst>
          </p:cNvPr>
          <p:cNvSpPr>
            <a:spLocks noGrp="1"/>
          </p:cNvSpPr>
          <p:nvPr>
            <p:ph type="sldNum" sz="quarter" idx="5"/>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19127774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2497B-4AA9-9DBD-0447-88CA61E9C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10625-78CC-0C84-BE5D-492613C398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501E2-9A30-4D19-0407-11A6672A8288}"/>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CC8735E9-F9A1-B072-5372-8AD123AB17CA}"/>
              </a:ext>
            </a:extLst>
          </p:cNvPr>
          <p:cNvSpPr>
            <a:spLocks noGrp="1"/>
          </p:cNvSpPr>
          <p:nvPr>
            <p:ph type="sldNum" sz="quarter" idx="5"/>
          </p:nvPr>
        </p:nvSpPr>
        <p:spPr/>
        <p:txBody>
          <a:bodyPr/>
          <a:lstStyle/>
          <a:p>
            <a:fld id="{97E04F8E-88E9-481C-A2B3-C92BCE611EF5}" type="slidenum">
              <a:rPr lang="en-US" smtClean="0"/>
              <a:t>30</a:t>
            </a:fld>
            <a:endParaRPr lang="en-US" dirty="0"/>
          </a:p>
        </p:txBody>
      </p:sp>
    </p:spTree>
    <p:extLst>
      <p:ext uri="{BB962C8B-B14F-4D97-AF65-F5344CB8AC3E}">
        <p14:creationId xmlns:p14="http://schemas.microsoft.com/office/powerpoint/2010/main" val="27404402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63D7-C7F9-2D69-40A8-C7973EE0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62F9B-B998-6D11-AE32-425089A2C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380E7A-DE67-C450-C25E-B50541093AE6}"/>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Use the link on the slide to see the Microsoft Learn module from which this lesson is derived.</a:t>
            </a:r>
          </a:p>
          <a:p>
            <a:endParaRPr lang="en-US" dirty="0"/>
          </a:p>
          <a:p>
            <a:endParaRPr lang="en-US" dirty="0"/>
          </a:p>
        </p:txBody>
      </p:sp>
      <p:sp>
        <p:nvSpPr>
          <p:cNvPr id="4" name="Header Placeholder 3">
            <a:extLst>
              <a:ext uri="{FF2B5EF4-FFF2-40B4-BE49-F238E27FC236}">
                <a16:creationId xmlns:a16="http://schemas.microsoft.com/office/drawing/2014/main" id="{41318425-22FA-A779-9576-A75BEA8B7B27}"/>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6DCD50F7-C5D4-2D3F-0371-A62C3E22666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CC85423C-CA8F-6898-1434-4D018159EB32}"/>
              </a:ext>
            </a:extLst>
          </p:cNvPr>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a:extLst>
              <a:ext uri="{FF2B5EF4-FFF2-40B4-BE49-F238E27FC236}">
                <a16:creationId xmlns:a16="http://schemas.microsoft.com/office/drawing/2014/main" id="{F4128134-15CE-A53C-9E7A-D8561BF84A9D}"/>
              </a:ext>
            </a:extLst>
          </p:cNvPr>
          <p:cNvSpPr>
            <a:spLocks noGrp="1"/>
          </p:cNvSpPr>
          <p:nvPr>
            <p:ph type="sldNum" sz="quarter" idx="5"/>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6182037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point to consider is that the agents in a multi-agent solution communicate with users </a:t>
            </a:r>
            <a:r>
              <a:rPr lang="en-US" i="1" dirty="0"/>
              <a:t>and with one another </a:t>
            </a:r>
            <a:r>
              <a:rPr lang="en-US" dirty="0"/>
              <a:t>using natural language prompts. There’s no API integration between the agents – messages are exchanged in the chat, and agents respond to them appropriately.</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18462105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multi-agent solutions, where there’s a single-turn conversation, the sequential selection strategy ensures that each agent takes their turn in the right order. In more complex, multi-turn conversations, you need to provide guidance for which agent should take the next turn. Usually this guidance is based on an examination of the message history and the next agent is determined based on the previous responder or on the contents of the message.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33</a:t>
            </a:fld>
            <a:endParaRPr lang="en-US" dirty="0"/>
          </a:p>
        </p:txBody>
      </p:sp>
    </p:spTree>
    <p:extLst>
      <p:ext uri="{BB962C8B-B14F-4D97-AF65-F5344CB8AC3E}">
        <p14:creationId xmlns:p14="http://schemas.microsoft.com/office/powerpoint/2010/main" val="3429987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selection, termination criteria is usually based on the message history – often by looking for a keyword that an agent is instructed to respond with when the chat can be concluded.</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12466085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implement this pattern in code during the exercise.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2018087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2DEFF-3814-B6DB-1CCE-5A54C12A0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30F49-0192-78F4-1A6A-345F35974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4F394-8C6B-1F54-45B9-DE1B1E51522D}"/>
              </a:ext>
            </a:extLst>
          </p:cNvPr>
          <p:cNvSpPr>
            <a:spLocks noGrp="1"/>
          </p:cNvSpPr>
          <p:nvPr>
            <p:ph type="body" idx="1"/>
          </p:nvPr>
        </p:nvSpPr>
        <p:spPr/>
        <p:txBody>
          <a:bodyPr/>
          <a:lstStyle/>
          <a:p>
            <a:r>
              <a:rPr lang="en-US" dirty="0"/>
              <a:t>Each exercise begins with the same procedure to create an Azure AI Foundry project – students will become quite adept at this by the end of the day!</a:t>
            </a:r>
          </a:p>
          <a:p>
            <a:r>
              <a:rPr lang="en-US" dirty="0"/>
              <a:t>The repetition of this procedure can be onerous, but its necessary to keep the exercises modular and to avoid consuming Azure resources unnecessary (for both cost reasons and to free up data center capacity for other Azure customers)</a:t>
            </a:r>
          </a:p>
          <a:p>
            <a:endParaRPr lang="en-US" dirty="0"/>
          </a:p>
        </p:txBody>
      </p:sp>
      <p:sp>
        <p:nvSpPr>
          <p:cNvPr id="4" name="Header Placeholder 3">
            <a:extLst>
              <a:ext uri="{FF2B5EF4-FFF2-40B4-BE49-F238E27FC236}">
                <a16:creationId xmlns:a16="http://schemas.microsoft.com/office/drawing/2014/main" id="{35599E87-5914-F87E-D186-43AC05D3F8C1}"/>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AC7F87C7-CBA8-68FA-D665-86EDF0208EFE}"/>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A3E3EB3E-2DB1-EF22-56F8-C89CEF8179B5}"/>
              </a:ext>
            </a:extLst>
          </p:cNvPr>
          <p:cNvSpPr>
            <a:spLocks noGrp="1"/>
          </p:cNvSpPr>
          <p:nvPr>
            <p:ph type="dt" idx="1"/>
          </p:nvPr>
        </p:nvSpPr>
        <p:spPr/>
        <p:txBody>
          <a:bodyPr/>
          <a:lstStyle/>
          <a:p>
            <a:fld id="{61486BA7-839C-4D2B-BD52-EF0BBA8433FD}" type="datetime8">
              <a:rPr lang="en-US" smtClean="0"/>
              <a:t>10/23/2026 12:14 PM</a:t>
            </a:fld>
            <a:endParaRPr lang="en-US" dirty="0"/>
          </a:p>
        </p:txBody>
      </p:sp>
      <p:sp>
        <p:nvSpPr>
          <p:cNvPr id="7" name="Slide Number Placeholder 6">
            <a:extLst>
              <a:ext uri="{FF2B5EF4-FFF2-40B4-BE49-F238E27FC236}">
                <a16:creationId xmlns:a16="http://schemas.microsoft.com/office/drawing/2014/main" id="{552A7B0D-DE21-8523-11D3-A7C963342B1C}"/>
              </a:ext>
            </a:extLst>
          </p:cNvPr>
          <p:cNvSpPr>
            <a:spLocks noGrp="1"/>
          </p:cNvSpPr>
          <p:nvPr>
            <p:ph type="sldNum" sz="quarter" idx="5"/>
          </p:nvPr>
        </p:nvSpPr>
        <p:spPr/>
        <p:txBody>
          <a:bodyPr/>
          <a:lstStyle/>
          <a:p>
            <a:fld id="{B4008EB6-D09E-4580-8CD6-DDB14511944F}" type="slidenum">
              <a:rPr lang="en-US" smtClean="0"/>
              <a:pPr/>
              <a:t>36</a:t>
            </a:fld>
            <a:endParaRPr lang="en-US" dirty="0"/>
          </a:p>
        </p:txBody>
      </p:sp>
    </p:spTree>
    <p:extLst>
      <p:ext uri="{BB962C8B-B14F-4D97-AF65-F5344CB8AC3E}">
        <p14:creationId xmlns:p14="http://schemas.microsoft.com/office/powerpoint/2010/main" val="1369370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B26D1-0BAD-8EB3-2756-9AD124DE4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E18DC-5E07-A160-07A7-3510FDA1B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F04D2-0671-FB92-F8EE-252342471FE8}"/>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0" dirty="0"/>
              <a:t>Allow students a few minutes to think about the questions, then reveal the correct answers.</a:t>
            </a:r>
          </a:p>
          <a:p>
            <a:endParaRPr lang="en-US" dirty="0"/>
          </a:p>
        </p:txBody>
      </p:sp>
      <p:sp>
        <p:nvSpPr>
          <p:cNvPr id="4" name="Slide Number Placeholder 3">
            <a:extLst>
              <a:ext uri="{FF2B5EF4-FFF2-40B4-BE49-F238E27FC236}">
                <a16:creationId xmlns:a16="http://schemas.microsoft.com/office/drawing/2014/main" id="{DD79D5A9-7223-E5B1-C40B-852A07AFEE62}"/>
              </a:ext>
            </a:extLst>
          </p:cNvPr>
          <p:cNvSpPr>
            <a:spLocks noGrp="1"/>
          </p:cNvSpPr>
          <p:nvPr>
            <p:ph type="sldNum" sz="quarter" idx="5"/>
          </p:nvPr>
        </p:nvSpPr>
        <p:spPr/>
        <p:txBody>
          <a:bodyPr/>
          <a:lstStyle/>
          <a:p>
            <a:fld id="{97E04F8E-88E9-481C-A2B3-C92BCE611EF5}" type="slidenum">
              <a:rPr lang="en-US" smtClean="0"/>
              <a:t>37</a:t>
            </a:fld>
            <a:endParaRPr lang="en-US" dirty="0"/>
          </a:p>
        </p:txBody>
      </p:sp>
    </p:spTree>
    <p:extLst>
      <p:ext uri="{BB962C8B-B14F-4D97-AF65-F5344CB8AC3E}">
        <p14:creationId xmlns:p14="http://schemas.microsoft.com/office/powerpoint/2010/main" val="4118823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ECE71-9FCF-EBBB-D5FD-462E0C1464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5DB34E-B068-84F1-CFA3-74EDA21EA5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D64943-E978-634C-996A-82F5496B7D9F}"/>
              </a:ext>
            </a:extLst>
          </p:cNvPr>
          <p:cNvSpPr>
            <a:spLocks noGrp="1"/>
          </p:cNvSpPr>
          <p:nvPr>
            <p:ph type="dt" sz="half" idx="10"/>
          </p:nvPr>
        </p:nvSpPr>
        <p:spPr/>
        <p:txBody>
          <a:bodyPr/>
          <a:lstStyle/>
          <a:p>
            <a:fld id="{C3364746-40E2-4225-9AE6-50D169FBB276}" type="datetimeFigureOut">
              <a:rPr lang="en-US" smtClean="0"/>
              <a:t>10/23/2026</a:t>
            </a:fld>
            <a:endParaRPr lang="en-US"/>
          </a:p>
        </p:txBody>
      </p:sp>
      <p:sp>
        <p:nvSpPr>
          <p:cNvPr id="5" name="Footer Placeholder 4">
            <a:extLst>
              <a:ext uri="{FF2B5EF4-FFF2-40B4-BE49-F238E27FC236}">
                <a16:creationId xmlns:a16="http://schemas.microsoft.com/office/drawing/2014/main" id="{FEF41E14-28CC-923B-F6D4-19C46D72A0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8F3A7-C2BE-CBBC-563B-5A5DE15BAC79}"/>
              </a:ext>
            </a:extLst>
          </p:cNvPr>
          <p:cNvSpPr>
            <a:spLocks noGrp="1"/>
          </p:cNvSpPr>
          <p:nvPr>
            <p:ph type="sldNum" sz="quarter" idx="12"/>
          </p:nvPr>
        </p:nvSpPr>
        <p:spPr/>
        <p:txBody>
          <a:bodyPr/>
          <a:lstStyle/>
          <a:p>
            <a:fld id="{C85A0CD4-3310-40C1-B835-1FAA2119AD43}" type="slidenum">
              <a:rPr lang="en-US" smtClean="0"/>
              <a:t>‹#›</a:t>
            </a:fld>
            <a:endParaRPr lang="en-US"/>
          </a:p>
        </p:txBody>
      </p:sp>
    </p:spTree>
    <p:extLst>
      <p:ext uri="{BB962C8B-B14F-4D97-AF65-F5344CB8AC3E}">
        <p14:creationId xmlns:p14="http://schemas.microsoft.com/office/powerpoint/2010/main" val="3825916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65181-72A8-B59F-FCAD-D0527FCC7A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8D96B8-5604-B0D8-F6B3-B6F5089613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6C3D58-9981-67E9-4637-C87C908A47FF}"/>
              </a:ext>
            </a:extLst>
          </p:cNvPr>
          <p:cNvSpPr>
            <a:spLocks noGrp="1"/>
          </p:cNvSpPr>
          <p:nvPr>
            <p:ph type="dt" sz="half" idx="10"/>
          </p:nvPr>
        </p:nvSpPr>
        <p:spPr/>
        <p:txBody>
          <a:bodyPr/>
          <a:lstStyle/>
          <a:p>
            <a:fld id="{C3364746-40E2-4225-9AE6-50D169FBB276}" type="datetimeFigureOut">
              <a:rPr lang="en-US" smtClean="0"/>
              <a:t>10/23/2026</a:t>
            </a:fld>
            <a:endParaRPr lang="en-US"/>
          </a:p>
        </p:txBody>
      </p:sp>
      <p:sp>
        <p:nvSpPr>
          <p:cNvPr id="5" name="Footer Placeholder 4">
            <a:extLst>
              <a:ext uri="{FF2B5EF4-FFF2-40B4-BE49-F238E27FC236}">
                <a16:creationId xmlns:a16="http://schemas.microsoft.com/office/drawing/2014/main" id="{72DEDB35-C4D0-3790-9E44-2C09B052F1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36320-4103-5CCE-9F0F-46D16D7ABE06}"/>
              </a:ext>
            </a:extLst>
          </p:cNvPr>
          <p:cNvSpPr>
            <a:spLocks noGrp="1"/>
          </p:cNvSpPr>
          <p:nvPr>
            <p:ph type="sldNum" sz="quarter" idx="12"/>
          </p:nvPr>
        </p:nvSpPr>
        <p:spPr/>
        <p:txBody>
          <a:bodyPr/>
          <a:lstStyle/>
          <a:p>
            <a:fld id="{C85A0CD4-3310-40C1-B835-1FAA2119AD43}" type="slidenum">
              <a:rPr lang="en-US" smtClean="0"/>
              <a:t>‹#›</a:t>
            </a:fld>
            <a:endParaRPr lang="en-US"/>
          </a:p>
        </p:txBody>
      </p:sp>
    </p:spTree>
    <p:extLst>
      <p:ext uri="{BB962C8B-B14F-4D97-AF65-F5344CB8AC3E}">
        <p14:creationId xmlns:p14="http://schemas.microsoft.com/office/powerpoint/2010/main" val="1255935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E9CFE-BA5E-F39E-0FB5-DD01871C9C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C2D51C-B5EE-148C-A54D-4E6BFD2148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7BF065-3B4A-23E3-9A98-3A6B85FAEEA5}"/>
              </a:ext>
            </a:extLst>
          </p:cNvPr>
          <p:cNvSpPr>
            <a:spLocks noGrp="1"/>
          </p:cNvSpPr>
          <p:nvPr>
            <p:ph type="dt" sz="half" idx="10"/>
          </p:nvPr>
        </p:nvSpPr>
        <p:spPr/>
        <p:txBody>
          <a:bodyPr/>
          <a:lstStyle/>
          <a:p>
            <a:fld id="{C3364746-40E2-4225-9AE6-50D169FBB276}" type="datetimeFigureOut">
              <a:rPr lang="en-US" smtClean="0"/>
              <a:t>10/23/2026</a:t>
            </a:fld>
            <a:endParaRPr lang="en-US"/>
          </a:p>
        </p:txBody>
      </p:sp>
      <p:sp>
        <p:nvSpPr>
          <p:cNvPr id="5" name="Footer Placeholder 4">
            <a:extLst>
              <a:ext uri="{FF2B5EF4-FFF2-40B4-BE49-F238E27FC236}">
                <a16:creationId xmlns:a16="http://schemas.microsoft.com/office/drawing/2014/main" id="{41CC40EB-0E52-B6C2-D201-0EDB5E42D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7DE2D4-B2C9-7EA4-37DD-E8A0585D9D05}"/>
              </a:ext>
            </a:extLst>
          </p:cNvPr>
          <p:cNvSpPr>
            <a:spLocks noGrp="1"/>
          </p:cNvSpPr>
          <p:nvPr>
            <p:ph type="sldNum" sz="quarter" idx="12"/>
          </p:nvPr>
        </p:nvSpPr>
        <p:spPr/>
        <p:txBody>
          <a:bodyPr/>
          <a:lstStyle/>
          <a:p>
            <a:fld id="{C85A0CD4-3310-40C1-B835-1FAA2119AD43}" type="slidenum">
              <a:rPr lang="en-US" smtClean="0"/>
              <a:t>‹#›</a:t>
            </a:fld>
            <a:endParaRPr lang="en-US"/>
          </a:p>
        </p:txBody>
      </p:sp>
    </p:spTree>
    <p:extLst>
      <p:ext uri="{BB962C8B-B14F-4D97-AF65-F5344CB8AC3E}">
        <p14:creationId xmlns:p14="http://schemas.microsoft.com/office/powerpoint/2010/main" val="3776292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D8847-6445-7C78-033D-A9CD07F9A0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38C8E0-73EE-1985-7868-12684DAFCE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E2C3F8-BBE6-16C5-3ADB-AEB9C5A844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874174-2C24-E391-ACC7-3BDB533DB9AC}"/>
              </a:ext>
            </a:extLst>
          </p:cNvPr>
          <p:cNvSpPr>
            <a:spLocks noGrp="1"/>
          </p:cNvSpPr>
          <p:nvPr>
            <p:ph type="dt" sz="half" idx="10"/>
          </p:nvPr>
        </p:nvSpPr>
        <p:spPr/>
        <p:txBody>
          <a:bodyPr/>
          <a:lstStyle/>
          <a:p>
            <a:fld id="{C3364746-40E2-4225-9AE6-50D169FBB276}" type="datetimeFigureOut">
              <a:rPr lang="en-US" smtClean="0"/>
              <a:t>10/23/2026</a:t>
            </a:fld>
            <a:endParaRPr lang="en-US"/>
          </a:p>
        </p:txBody>
      </p:sp>
      <p:sp>
        <p:nvSpPr>
          <p:cNvPr id="6" name="Footer Placeholder 5">
            <a:extLst>
              <a:ext uri="{FF2B5EF4-FFF2-40B4-BE49-F238E27FC236}">
                <a16:creationId xmlns:a16="http://schemas.microsoft.com/office/drawing/2014/main" id="{67E58F89-CAD2-7D51-BB4D-FA5B7FB54D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9559D4-F943-4FE0-711F-AA1BC753D4F6}"/>
              </a:ext>
            </a:extLst>
          </p:cNvPr>
          <p:cNvSpPr>
            <a:spLocks noGrp="1"/>
          </p:cNvSpPr>
          <p:nvPr>
            <p:ph type="sldNum" sz="quarter" idx="12"/>
          </p:nvPr>
        </p:nvSpPr>
        <p:spPr/>
        <p:txBody>
          <a:bodyPr/>
          <a:lstStyle/>
          <a:p>
            <a:fld id="{C85A0CD4-3310-40C1-B835-1FAA2119AD43}" type="slidenum">
              <a:rPr lang="en-US" smtClean="0"/>
              <a:t>‹#›</a:t>
            </a:fld>
            <a:endParaRPr lang="en-US"/>
          </a:p>
        </p:txBody>
      </p:sp>
    </p:spTree>
    <p:extLst>
      <p:ext uri="{BB962C8B-B14F-4D97-AF65-F5344CB8AC3E}">
        <p14:creationId xmlns:p14="http://schemas.microsoft.com/office/powerpoint/2010/main" val="717750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903D5-0CA8-4D53-9D94-2335D7AF54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7BAF50-A10C-4506-2728-6D287962EA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F75DCF-D87D-D2C4-CBCE-90F85F4F57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554AE0-F954-3FAB-C612-099E70D8D8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4AE301-9115-954E-99C7-F7A6356F9A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C32231-9C45-701F-E8EC-53880AA41E96}"/>
              </a:ext>
            </a:extLst>
          </p:cNvPr>
          <p:cNvSpPr>
            <a:spLocks noGrp="1"/>
          </p:cNvSpPr>
          <p:nvPr>
            <p:ph type="dt" sz="half" idx="10"/>
          </p:nvPr>
        </p:nvSpPr>
        <p:spPr/>
        <p:txBody>
          <a:bodyPr/>
          <a:lstStyle/>
          <a:p>
            <a:fld id="{C3364746-40E2-4225-9AE6-50D169FBB276}" type="datetimeFigureOut">
              <a:rPr lang="en-US" smtClean="0"/>
              <a:t>10/23/2026</a:t>
            </a:fld>
            <a:endParaRPr lang="en-US"/>
          </a:p>
        </p:txBody>
      </p:sp>
      <p:sp>
        <p:nvSpPr>
          <p:cNvPr id="8" name="Footer Placeholder 7">
            <a:extLst>
              <a:ext uri="{FF2B5EF4-FFF2-40B4-BE49-F238E27FC236}">
                <a16:creationId xmlns:a16="http://schemas.microsoft.com/office/drawing/2014/main" id="{7A1FE457-5D40-40CC-CD53-5FD82626E9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983009-74DA-F3EC-D9C1-DC448DB06913}"/>
              </a:ext>
            </a:extLst>
          </p:cNvPr>
          <p:cNvSpPr>
            <a:spLocks noGrp="1"/>
          </p:cNvSpPr>
          <p:nvPr>
            <p:ph type="sldNum" sz="quarter" idx="12"/>
          </p:nvPr>
        </p:nvSpPr>
        <p:spPr/>
        <p:txBody>
          <a:bodyPr/>
          <a:lstStyle/>
          <a:p>
            <a:fld id="{C85A0CD4-3310-40C1-B835-1FAA2119AD43}" type="slidenum">
              <a:rPr lang="en-US" smtClean="0"/>
              <a:t>‹#›</a:t>
            </a:fld>
            <a:endParaRPr lang="en-US"/>
          </a:p>
        </p:txBody>
      </p:sp>
    </p:spTree>
    <p:extLst>
      <p:ext uri="{BB962C8B-B14F-4D97-AF65-F5344CB8AC3E}">
        <p14:creationId xmlns:p14="http://schemas.microsoft.com/office/powerpoint/2010/main" val="1572343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DA71A-4301-568A-F6E2-3E2E61A3AB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07B82B-6E1A-32FE-9256-07F44DA22602}"/>
              </a:ext>
            </a:extLst>
          </p:cNvPr>
          <p:cNvSpPr>
            <a:spLocks noGrp="1"/>
          </p:cNvSpPr>
          <p:nvPr>
            <p:ph type="dt" sz="half" idx="10"/>
          </p:nvPr>
        </p:nvSpPr>
        <p:spPr/>
        <p:txBody>
          <a:bodyPr/>
          <a:lstStyle/>
          <a:p>
            <a:fld id="{C3364746-40E2-4225-9AE6-50D169FBB276}" type="datetimeFigureOut">
              <a:rPr lang="en-US" smtClean="0"/>
              <a:t>10/23/2026</a:t>
            </a:fld>
            <a:endParaRPr lang="en-US"/>
          </a:p>
        </p:txBody>
      </p:sp>
      <p:sp>
        <p:nvSpPr>
          <p:cNvPr id="4" name="Footer Placeholder 3">
            <a:extLst>
              <a:ext uri="{FF2B5EF4-FFF2-40B4-BE49-F238E27FC236}">
                <a16:creationId xmlns:a16="http://schemas.microsoft.com/office/drawing/2014/main" id="{0F707780-8474-6B21-7527-CAEEAD112E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7F2906-5182-B73D-AFF0-B0EE3D8B8199}"/>
              </a:ext>
            </a:extLst>
          </p:cNvPr>
          <p:cNvSpPr>
            <a:spLocks noGrp="1"/>
          </p:cNvSpPr>
          <p:nvPr>
            <p:ph type="sldNum" sz="quarter" idx="12"/>
          </p:nvPr>
        </p:nvSpPr>
        <p:spPr/>
        <p:txBody>
          <a:bodyPr/>
          <a:lstStyle/>
          <a:p>
            <a:fld id="{C85A0CD4-3310-40C1-B835-1FAA2119AD43}" type="slidenum">
              <a:rPr lang="en-US" smtClean="0"/>
              <a:t>‹#›</a:t>
            </a:fld>
            <a:endParaRPr lang="en-US"/>
          </a:p>
        </p:txBody>
      </p:sp>
    </p:spTree>
    <p:extLst>
      <p:ext uri="{BB962C8B-B14F-4D97-AF65-F5344CB8AC3E}">
        <p14:creationId xmlns:p14="http://schemas.microsoft.com/office/powerpoint/2010/main" val="2276127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8C4062-69DC-464D-3E73-24545BAE3119}"/>
              </a:ext>
            </a:extLst>
          </p:cNvPr>
          <p:cNvSpPr>
            <a:spLocks noGrp="1"/>
          </p:cNvSpPr>
          <p:nvPr>
            <p:ph type="dt" sz="half" idx="10"/>
          </p:nvPr>
        </p:nvSpPr>
        <p:spPr/>
        <p:txBody>
          <a:bodyPr/>
          <a:lstStyle/>
          <a:p>
            <a:fld id="{C3364746-40E2-4225-9AE6-50D169FBB276}" type="datetimeFigureOut">
              <a:rPr lang="en-US" smtClean="0"/>
              <a:t>10/23/2026</a:t>
            </a:fld>
            <a:endParaRPr lang="en-US"/>
          </a:p>
        </p:txBody>
      </p:sp>
      <p:sp>
        <p:nvSpPr>
          <p:cNvPr id="3" name="Footer Placeholder 2">
            <a:extLst>
              <a:ext uri="{FF2B5EF4-FFF2-40B4-BE49-F238E27FC236}">
                <a16:creationId xmlns:a16="http://schemas.microsoft.com/office/drawing/2014/main" id="{36B972CF-D66D-BB2D-1327-2E80472B92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9A1668-A428-B264-A512-35860904E479}"/>
              </a:ext>
            </a:extLst>
          </p:cNvPr>
          <p:cNvSpPr>
            <a:spLocks noGrp="1"/>
          </p:cNvSpPr>
          <p:nvPr>
            <p:ph type="sldNum" sz="quarter" idx="12"/>
          </p:nvPr>
        </p:nvSpPr>
        <p:spPr/>
        <p:txBody>
          <a:bodyPr/>
          <a:lstStyle/>
          <a:p>
            <a:fld id="{C85A0CD4-3310-40C1-B835-1FAA2119AD43}" type="slidenum">
              <a:rPr lang="en-US" smtClean="0"/>
              <a:t>‹#›</a:t>
            </a:fld>
            <a:endParaRPr lang="en-US"/>
          </a:p>
        </p:txBody>
      </p:sp>
    </p:spTree>
    <p:extLst>
      <p:ext uri="{BB962C8B-B14F-4D97-AF65-F5344CB8AC3E}">
        <p14:creationId xmlns:p14="http://schemas.microsoft.com/office/powerpoint/2010/main" val="396789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DC4E3-E369-947F-C7E5-81B73D2CC4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CACBA0-7147-5CAA-602A-E1E783289F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AF1EB-D352-8956-3486-BBA4910EEE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3F4A8B-11ED-34C4-7027-23A9B895BFB3}"/>
              </a:ext>
            </a:extLst>
          </p:cNvPr>
          <p:cNvSpPr>
            <a:spLocks noGrp="1"/>
          </p:cNvSpPr>
          <p:nvPr>
            <p:ph type="dt" sz="half" idx="10"/>
          </p:nvPr>
        </p:nvSpPr>
        <p:spPr/>
        <p:txBody>
          <a:bodyPr/>
          <a:lstStyle/>
          <a:p>
            <a:fld id="{C3364746-40E2-4225-9AE6-50D169FBB276}" type="datetimeFigureOut">
              <a:rPr lang="en-US" smtClean="0"/>
              <a:t>10/23/2026</a:t>
            </a:fld>
            <a:endParaRPr lang="en-US"/>
          </a:p>
        </p:txBody>
      </p:sp>
      <p:sp>
        <p:nvSpPr>
          <p:cNvPr id="6" name="Footer Placeholder 5">
            <a:extLst>
              <a:ext uri="{FF2B5EF4-FFF2-40B4-BE49-F238E27FC236}">
                <a16:creationId xmlns:a16="http://schemas.microsoft.com/office/drawing/2014/main" id="{E59CEC33-7AC4-84FC-C8E0-3708602360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B7B078-5D90-1ED4-21AE-8F45A199BF88}"/>
              </a:ext>
            </a:extLst>
          </p:cNvPr>
          <p:cNvSpPr>
            <a:spLocks noGrp="1"/>
          </p:cNvSpPr>
          <p:nvPr>
            <p:ph type="sldNum" sz="quarter" idx="12"/>
          </p:nvPr>
        </p:nvSpPr>
        <p:spPr/>
        <p:txBody>
          <a:bodyPr/>
          <a:lstStyle/>
          <a:p>
            <a:fld id="{C85A0CD4-3310-40C1-B835-1FAA2119AD43}" type="slidenum">
              <a:rPr lang="en-US" smtClean="0"/>
              <a:t>‹#›</a:t>
            </a:fld>
            <a:endParaRPr lang="en-US"/>
          </a:p>
        </p:txBody>
      </p:sp>
    </p:spTree>
    <p:extLst>
      <p:ext uri="{BB962C8B-B14F-4D97-AF65-F5344CB8AC3E}">
        <p14:creationId xmlns:p14="http://schemas.microsoft.com/office/powerpoint/2010/main" val="3286439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49D55-7DC2-5F86-5E5F-23CCF7ECEC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A31885-8B69-C93B-5D1D-1AEFB24C950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23AEFE-763B-190C-0A7F-60FF19457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BAD715-B658-034A-97A5-793C32088814}"/>
              </a:ext>
            </a:extLst>
          </p:cNvPr>
          <p:cNvSpPr>
            <a:spLocks noGrp="1"/>
          </p:cNvSpPr>
          <p:nvPr>
            <p:ph type="dt" sz="half" idx="10"/>
          </p:nvPr>
        </p:nvSpPr>
        <p:spPr/>
        <p:txBody>
          <a:bodyPr/>
          <a:lstStyle/>
          <a:p>
            <a:fld id="{C3364746-40E2-4225-9AE6-50D169FBB276}" type="datetimeFigureOut">
              <a:rPr lang="en-US" smtClean="0"/>
              <a:t>10/23/2026</a:t>
            </a:fld>
            <a:endParaRPr lang="en-US"/>
          </a:p>
        </p:txBody>
      </p:sp>
      <p:sp>
        <p:nvSpPr>
          <p:cNvPr id="6" name="Footer Placeholder 5">
            <a:extLst>
              <a:ext uri="{FF2B5EF4-FFF2-40B4-BE49-F238E27FC236}">
                <a16:creationId xmlns:a16="http://schemas.microsoft.com/office/drawing/2014/main" id="{4CBF1EB3-64A2-6DCF-322E-6F85B5ADD7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B9933C-2F15-9C25-6C03-6660D06FF62A}"/>
              </a:ext>
            </a:extLst>
          </p:cNvPr>
          <p:cNvSpPr>
            <a:spLocks noGrp="1"/>
          </p:cNvSpPr>
          <p:nvPr>
            <p:ph type="sldNum" sz="quarter" idx="12"/>
          </p:nvPr>
        </p:nvSpPr>
        <p:spPr/>
        <p:txBody>
          <a:bodyPr/>
          <a:lstStyle/>
          <a:p>
            <a:fld id="{C85A0CD4-3310-40C1-B835-1FAA2119AD43}" type="slidenum">
              <a:rPr lang="en-US" smtClean="0"/>
              <a:t>‹#›</a:t>
            </a:fld>
            <a:endParaRPr lang="en-US"/>
          </a:p>
        </p:txBody>
      </p:sp>
    </p:spTree>
    <p:extLst>
      <p:ext uri="{BB962C8B-B14F-4D97-AF65-F5344CB8AC3E}">
        <p14:creationId xmlns:p14="http://schemas.microsoft.com/office/powerpoint/2010/main" val="2588688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901C3-2285-F9C3-58FE-926F488B81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602E2AE-21F9-5EBF-C8A1-96E3223ED8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1B5B97-6BEB-072A-1ED6-9007C225AE6D}"/>
              </a:ext>
            </a:extLst>
          </p:cNvPr>
          <p:cNvSpPr>
            <a:spLocks noGrp="1"/>
          </p:cNvSpPr>
          <p:nvPr>
            <p:ph type="dt" sz="half" idx="10"/>
          </p:nvPr>
        </p:nvSpPr>
        <p:spPr/>
        <p:txBody>
          <a:bodyPr/>
          <a:lstStyle/>
          <a:p>
            <a:fld id="{C3364746-40E2-4225-9AE6-50D169FBB276}" type="datetimeFigureOut">
              <a:rPr lang="en-US" smtClean="0"/>
              <a:t>10/23/2026</a:t>
            </a:fld>
            <a:endParaRPr lang="en-US"/>
          </a:p>
        </p:txBody>
      </p:sp>
      <p:sp>
        <p:nvSpPr>
          <p:cNvPr id="5" name="Footer Placeholder 4">
            <a:extLst>
              <a:ext uri="{FF2B5EF4-FFF2-40B4-BE49-F238E27FC236}">
                <a16:creationId xmlns:a16="http://schemas.microsoft.com/office/drawing/2014/main" id="{1C1BCE5C-8ECB-2824-7A61-FB0D542D62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30DD4-FF85-D93E-C4A7-CEB2AE6E07CC}"/>
              </a:ext>
            </a:extLst>
          </p:cNvPr>
          <p:cNvSpPr>
            <a:spLocks noGrp="1"/>
          </p:cNvSpPr>
          <p:nvPr>
            <p:ph type="sldNum" sz="quarter" idx="12"/>
          </p:nvPr>
        </p:nvSpPr>
        <p:spPr/>
        <p:txBody>
          <a:bodyPr/>
          <a:lstStyle/>
          <a:p>
            <a:fld id="{C85A0CD4-3310-40C1-B835-1FAA2119AD43}" type="slidenum">
              <a:rPr lang="en-US" smtClean="0"/>
              <a:t>‹#›</a:t>
            </a:fld>
            <a:endParaRPr lang="en-US"/>
          </a:p>
        </p:txBody>
      </p:sp>
    </p:spTree>
    <p:extLst>
      <p:ext uri="{BB962C8B-B14F-4D97-AF65-F5344CB8AC3E}">
        <p14:creationId xmlns:p14="http://schemas.microsoft.com/office/powerpoint/2010/main" val="1949600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F6CDD7-2838-E0A0-B90B-7262015B28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41B819-F0A5-4FB1-F922-34BD01034F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D4382D-3CB0-1704-545E-E01906679E53}"/>
              </a:ext>
            </a:extLst>
          </p:cNvPr>
          <p:cNvSpPr>
            <a:spLocks noGrp="1"/>
          </p:cNvSpPr>
          <p:nvPr>
            <p:ph type="dt" sz="half" idx="10"/>
          </p:nvPr>
        </p:nvSpPr>
        <p:spPr/>
        <p:txBody>
          <a:bodyPr/>
          <a:lstStyle/>
          <a:p>
            <a:fld id="{C3364746-40E2-4225-9AE6-50D169FBB276}" type="datetimeFigureOut">
              <a:rPr lang="en-US" smtClean="0"/>
              <a:t>10/23/2026</a:t>
            </a:fld>
            <a:endParaRPr lang="en-US"/>
          </a:p>
        </p:txBody>
      </p:sp>
      <p:sp>
        <p:nvSpPr>
          <p:cNvPr id="5" name="Footer Placeholder 4">
            <a:extLst>
              <a:ext uri="{FF2B5EF4-FFF2-40B4-BE49-F238E27FC236}">
                <a16:creationId xmlns:a16="http://schemas.microsoft.com/office/drawing/2014/main" id="{855EBB11-16EE-457C-CB12-49F8F03A1A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C4F474-9CDD-F4A6-07FA-880718624631}"/>
              </a:ext>
            </a:extLst>
          </p:cNvPr>
          <p:cNvSpPr>
            <a:spLocks noGrp="1"/>
          </p:cNvSpPr>
          <p:nvPr>
            <p:ph type="sldNum" sz="quarter" idx="12"/>
          </p:nvPr>
        </p:nvSpPr>
        <p:spPr/>
        <p:txBody>
          <a:bodyPr/>
          <a:lstStyle/>
          <a:p>
            <a:fld id="{C85A0CD4-3310-40C1-B835-1FAA2119AD43}" type="slidenum">
              <a:rPr lang="en-US" smtClean="0"/>
              <a:t>‹#›</a:t>
            </a:fld>
            <a:endParaRPr lang="en-US"/>
          </a:p>
        </p:txBody>
      </p:sp>
    </p:spTree>
    <p:extLst>
      <p:ext uri="{BB962C8B-B14F-4D97-AF65-F5344CB8AC3E}">
        <p14:creationId xmlns:p14="http://schemas.microsoft.com/office/powerpoint/2010/main" val="2311443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2225337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34540542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dirty="0"/>
          </a:p>
        </p:txBody>
      </p:sp>
    </p:spTree>
    <p:extLst>
      <p:ext uri="{BB962C8B-B14F-4D97-AF65-F5344CB8AC3E}">
        <p14:creationId xmlns:p14="http://schemas.microsoft.com/office/powerpoint/2010/main" val="31183170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6491553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with 1 text box and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30887"/>
          </a:xfrm>
        </p:spPr>
        <p:txBody>
          <a:bodyPr/>
          <a:lstStyle>
            <a:lvl1pPr>
              <a:defRPr sz="28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Picture Placeholder 3">
            <a:extLst>
              <a:ext uri="{FF2B5EF4-FFF2-40B4-BE49-F238E27FC236}">
                <a16:creationId xmlns:a16="http://schemas.microsoft.com/office/drawing/2014/main" id="{F85C714A-5EA4-82F3-730E-7F3FFA778333}"/>
              </a:ext>
            </a:extLst>
          </p:cNvPr>
          <p:cNvSpPr>
            <a:spLocks noGrp="1"/>
          </p:cNvSpPr>
          <p:nvPr>
            <p:ph type="pic" sz="quarter" idx="22"/>
          </p:nvPr>
        </p:nvSpPr>
        <p:spPr>
          <a:xfrm>
            <a:off x="646113" y="1590675"/>
            <a:ext cx="10899775" cy="4478338"/>
          </a:xfrm>
        </p:spPr>
        <p:txBody>
          <a:bodyPr/>
          <a:lstStyle/>
          <a:p>
            <a:endParaRPr lang="en-IN"/>
          </a:p>
        </p:txBody>
      </p:sp>
    </p:spTree>
    <p:extLst>
      <p:ext uri="{BB962C8B-B14F-4D97-AF65-F5344CB8AC3E}">
        <p14:creationId xmlns:p14="http://schemas.microsoft.com/office/powerpoint/2010/main" val="166718809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8463360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screen">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ounded Rectangle 3_1">
            <a:extLst>
              <a:ext uri="{FF2B5EF4-FFF2-40B4-BE49-F238E27FC236}">
                <a16:creationId xmlns:a16="http://schemas.microsoft.com/office/drawing/2014/main" id="{079C5FA9-9169-C9AB-23E2-67A6383A0D9C}"/>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10" name="Group 9">
            <a:extLst>
              <a:ext uri="{FF2B5EF4-FFF2-40B4-BE49-F238E27FC236}">
                <a16:creationId xmlns:a16="http://schemas.microsoft.com/office/drawing/2014/main" id="{082F0737-9A38-C75D-59A8-492FFEAFE3D4}"/>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11" name="Oval 10">
              <a:extLst>
                <a:ext uri="{FF2B5EF4-FFF2-40B4-BE49-F238E27FC236}">
                  <a16:creationId xmlns:a16="http://schemas.microsoft.com/office/drawing/2014/main" id="{9C7913A4-4182-5A10-9527-0FC6C54ED36F}"/>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4" name="Picture 13">
              <a:extLst>
                <a:ext uri="{FF2B5EF4-FFF2-40B4-BE49-F238E27FC236}">
                  <a16:creationId xmlns:a16="http://schemas.microsoft.com/office/drawing/2014/main" id="{F6B4F12D-C298-EBCA-B059-4A76EEC0A769}"/>
                </a:ext>
              </a:extLst>
            </p:cNvPr>
            <p:cNvPicPr/>
            <p:nvPr/>
          </p:nvPicPr>
          <p:blipFill>
            <a:blip r:embed="rId2" cstate="screen">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356442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4-column_Text_with Subheads-Icons">
    <p:bg>
      <p:bgRef idx="1001">
        <a:schemeClr val="bg1"/>
      </p:bgRef>
    </p:bg>
    <p:spTree>
      <p:nvGrpSpPr>
        <p:cNvPr id="1" name=""/>
        <p:cNvGrpSpPr/>
        <p:nvPr/>
      </p:nvGrpSpPr>
      <p:grpSpPr>
        <a:xfrm>
          <a:off x="0" y="0"/>
          <a:ext cx="0" cy="0"/>
          <a:chOff x="0" y="0"/>
          <a:chExt cx="0" cy="0"/>
        </a:xfrm>
      </p:grpSpPr>
      <p:cxnSp>
        <p:nvCxnSpPr>
          <p:cNvPr id="17" name="Straight Connector 16" descr="Microsoft Certification renewal process flow">
            <a:extLst>
              <a:ext uri="{FF2B5EF4-FFF2-40B4-BE49-F238E27FC236}">
                <a16:creationId xmlns:a16="http://schemas.microsoft.com/office/drawing/2014/main" id="{515B18D6-C2F9-32B4-4580-EE0A2DD44182}"/>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8" name="Title 1">
            <a:extLst>
              <a:ext uri="{FF2B5EF4-FFF2-40B4-BE49-F238E27FC236}">
                <a16:creationId xmlns:a16="http://schemas.microsoft.com/office/drawing/2014/main" id="{8D037683-CA4A-4FDE-5128-934BB1843BBB}"/>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9" name="Text Placeholder 11">
            <a:extLst>
              <a:ext uri="{FF2B5EF4-FFF2-40B4-BE49-F238E27FC236}">
                <a16:creationId xmlns:a16="http://schemas.microsoft.com/office/drawing/2014/main" id="{BB4F09C8-717E-F443-054D-F3A5A480FDB0}"/>
              </a:ext>
            </a:extLst>
          </p:cNvPr>
          <p:cNvSpPr>
            <a:spLocks noGrp="1"/>
          </p:cNvSpPr>
          <p:nvPr>
            <p:ph type="body" sz="quarter" idx="16"/>
          </p:nvPr>
        </p:nvSpPr>
        <p:spPr>
          <a:xfrm>
            <a:off x="584200" y="2995283"/>
            <a:ext cx="2651760" cy="49244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7363BD5D-6D8D-3896-EA9E-C22B18E5F71E}"/>
              </a:ext>
            </a:extLst>
          </p:cNvPr>
          <p:cNvSpPr>
            <a:spLocks noGrp="1"/>
          </p:cNvSpPr>
          <p:nvPr>
            <p:ph type="body" sz="quarter" idx="22"/>
          </p:nvPr>
        </p:nvSpPr>
        <p:spPr>
          <a:xfrm>
            <a:off x="3373353" y="2995283"/>
            <a:ext cx="2651760" cy="49244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21" name="Text Placeholder 11">
            <a:extLst>
              <a:ext uri="{FF2B5EF4-FFF2-40B4-BE49-F238E27FC236}">
                <a16:creationId xmlns:a16="http://schemas.microsoft.com/office/drawing/2014/main" id="{95078826-D192-6FD0-62F2-D472AF43D265}"/>
              </a:ext>
            </a:extLst>
          </p:cNvPr>
          <p:cNvSpPr>
            <a:spLocks noGrp="1"/>
          </p:cNvSpPr>
          <p:nvPr>
            <p:ph type="body" sz="quarter" idx="24"/>
          </p:nvPr>
        </p:nvSpPr>
        <p:spPr>
          <a:xfrm>
            <a:off x="6162506" y="2995283"/>
            <a:ext cx="2651760" cy="49244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22" name="Footer Placeholder 10">
            <a:extLst>
              <a:ext uri="{FF2B5EF4-FFF2-40B4-BE49-F238E27FC236}">
                <a16:creationId xmlns:a16="http://schemas.microsoft.com/office/drawing/2014/main" id="{37623505-C3AF-04BC-6E5D-DAF4DED2CF6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3" name="Text Placeholder 3">
            <a:extLst>
              <a:ext uri="{FF2B5EF4-FFF2-40B4-BE49-F238E27FC236}">
                <a16:creationId xmlns:a16="http://schemas.microsoft.com/office/drawing/2014/main" id="{47F67037-03B7-0EFB-5847-A8934F155E13}"/>
              </a:ext>
            </a:extLst>
          </p:cNvPr>
          <p:cNvSpPr>
            <a:spLocks noGrp="1"/>
          </p:cNvSpPr>
          <p:nvPr>
            <p:ph type="body" sz="quarter" idx="15"/>
          </p:nvPr>
        </p:nvSpPr>
        <p:spPr>
          <a:xfrm>
            <a:off x="586390" y="3616497"/>
            <a:ext cx="2651760"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24" name="Text Placeholder 3">
            <a:extLst>
              <a:ext uri="{FF2B5EF4-FFF2-40B4-BE49-F238E27FC236}">
                <a16:creationId xmlns:a16="http://schemas.microsoft.com/office/drawing/2014/main" id="{6E88D1C1-4498-D643-5DBA-37BC694911C4}"/>
              </a:ext>
            </a:extLst>
          </p:cNvPr>
          <p:cNvSpPr>
            <a:spLocks noGrp="1"/>
          </p:cNvSpPr>
          <p:nvPr>
            <p:ph type="body" sz="quarter" idx="23"/>
          </p:nvPr>
        </p:nvSpPr>
        <p:spPr>
          <a:xfrm>
            <a:off x="3375543" y="3616497"/>
            <a:ext cx="2651760"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25" name="Text Placeholder 3">
            <a:extLst>
              <a:ext uri="{FF2B5EF4-FFF2-40B4-BE49-F238E27FC236}">
                <a16:creationId xmlns:a16="http://schemas.microsoft.com/office/drawing/2014/main" id="{1EC033E3-089F-6880-75E5-F9A5A56E28BC}"/>
              </a:ext>
            </a:extLst>
          </p:cNvPr>
          <p:cNvSpPr>
            <a:spLocks noGrp="1"/>
          </p:cNvSpPr>
          <p:nvPr>
            <p:ph type="body" sz="quarter" idx="25"/>
          </p:nvPr>
        </p:nvSpPr>
        <p:spPr>
          <a:xfrm>
            <a:off x="6164696" y="3616497"/>
            <a:ext cx="2651760"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26" name="Text Placeholder 11">
            <a:extLst>
              <a:ext uri="{FF2B5EF4-FFF2-40B4-BE49-F238E27FC236}">
                <a16:creationId xmlns:a16="http://schemas.microsoft.com/office/drawing/2014/main" id="{4277BF66-4F7D-88A4-E29C-21A684C8874A}"/>
              </a:ext>
            </a:extLst>
          </p:cNvPr>
          <p:cNvSpPr>
            <a:spLocks noGrp="1"/>
          </p:cNvSpPr>
          <p:nvPr>
            <p:ph type="body" sz="quarter" idx="26"/>
          </p:nvPr>
        </p:nvSpPr>
        <p:spPr>
          <a:xfrm>
            <a:off x="8951660" y="2995283"/>
            <a:ext cx="2651760" cy="49244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27" name="Text Placeholder 3">
            <a:extLst>
              <a:ext uri="{FF2B5EF4-FFF2-40B4-BE49-F238E27FC236}">
                <a16:creationId xmlns:a16="http://schemas.microsoft.com/office/drawing/2014/main" id="{8C52FA56-45D8-6163-19F9-5AA2946C979A}"/>
              </a:ext>
            </a:extLst>
          </p:cNvPr>
          <p:cNvSpPr>
            <a:spLocks noGrp="1"/>
          </p:cNvSpPr>
          <p:nvPr>
            <p:ph type="body" sz="quarter" idx="27"/>
          </p:nvPr>
        </p:nvSpPr>
        <p:spPr>
          <a:xfrm>
            <a:off x="8953850" y="3616497"/>
            <a:ext cx="2651760"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28" name="Oval 27">
            <a:extLst>
              <a:ext uri="{FF2B5EF4-FFF2-40B4-BE49-F238E27FC236}">
                <a16:creationId xmlns:a16="http://schemas.microsoft.com/office/drawing/2014/main" id="{04701F4E-B895-CCA5-A9C4-EB48BCBE82EC}"/>
              </a:ext>
              <a:ext uri="{C183D7F6-B498-43B3-948B-1728B52AA6E4}">
                <adec:decorative xmlns:adec="http://schemas.microsoft.com/office/drawing/2017/decorative" val="1"/>
              </a:ext>
            </a:extLst>
          </p:cNvPr>
          <p:cNvSpPr/>
          <p:nvPr userDrawn="1"/>
        </p:nvSpPr>
        <p:spPr bwMode="auto">
          <a:xfrm>
            <a:off x="1420806"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29" name="Oval 28">
            <a:extLst>
              <a:ext uri="{FF2B5EF4-FFF2-40B4-BE49-F238E27FC236}">
                <a16:creationId xmlns:a16="http://schemas.microsoft.com/office/drawing/2014/main" id="{8DC3F39C-68C4-4C8B-8749-71CD49D5D547}"/>
              </a:ext>
              <a:ext uri="{C183D7F6-B498-43B3-948B-1728B52AA6E4}">
                <adec:decorative xmlns:adec="http://schemas.microsoft.com/office/drawing/2017/decorative" val="1"/>
              </a:ext>
            </a:extLst>
          </p:cNvPr>
          <p:cNvSpPr/>
          <p:nvPr userDrawn="1"/>
        </p:nvSpPr>
        <p:spPr bwMode="auto">
          <a:xfrm>
            <a:off x="420995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30" name="Oval 29">
            <a:extLst>
              <a:ext uri="{FF2B5EF4-FFF2-40B4-BE49-F238E27FC236}">
                <a16:creationId xmlns:a16="http://schemas.microsoft.com/office/drawing/2014/main" id="{CF65A3DE-D380-7EBA-1A4D-31055EA5C72B}"/>
              </a:ext>
              <a:ext uri="{C183D7F6-B498-43B3-948B-1728B52AA6E4}">
                <adec:decorative xmlns:adec="http://schemas.microsoft.com/office/drawing/2017/decorative" val="1"/>
              </a:ext>
            </a:extLst>
          </p:cNvPr>
          <p:cNvSpPr/>
          <p:nvPr userDrawn="1"/>
        </p:nvSpPr>
        <p:spPr bwMode="auto">
          <a:xfrm>
            <a:off x="699911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31" name="Oval 30">
            <a:extLst>
              <a:ext uri="{FF2B5EF4-FFF2-40B4-BE49-F238E27FC236}">
                <a16:creationId xmlns:a16="http://schemas.microsoft.com/office/drawing/2014/main" id="{BE2A62F3-0918-0961-916C-17F5412BE67F}"/>
              </a:ext>
              <a:ext uri="{C183D7F6-B498-43B3-948B-1728B52AA6E4}">
                <adec:decorative xmlns:adec="http://schemas.microsoft.com/office/drawing/2017/decorative" val="1"/>
              </a:ext>
            </a:extLst>
          </p:cNvPr>
          <p:cNvSpPr/>
          <p:nvPr userDrawn="1"/>
        </p:nvSpPr>
        <p:spPr bwMode="auto">
          <a:xfrm>
            <a:off x="9788266"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19421074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66719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9A6CC7-3A18-2545-0543-CD88D67402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688DC2-EF6B-5295-4B9D-8B52013D1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F81708-3911-BEA1-A7C1-A67FB9AA25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364746-40E2-4225-9AE6-50D169FBB276}" type="datetimeFigureOut">
              <a:rPr lang="en-US" smtClean="0"/>
              <a:t>10/23/2026</a:t>
            </a:fld>
            <a:endParaRPr lang="en-US"/>
          </a:p>
        </p:txBody>
      </p:sp>
      <p:sp>
        <p:nvSpPr>
          <p:cNvPr id="5" name="Footer Placeholder 4">
            <a:extLst>
              <a:ext uri="{FF2B5EF4-FFF2-40B4-BE49-F238E27FC236}">
                <a16:creationId xmlns:a16="http://schemas.microsoft.com/office/drawing/2014/main" id="{8B992EF2-62ED-D331-46EE-3877BE513A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D5C082C-B3F3-4532-6274-46EAD5BA30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5A0CD4-3310-40C1-B835-1FAA2119AD43}" type="slidenum">
              <a:rPr lang="en-US" smtClean="0"/>
              <a:t>‹#›</a:t>
            </a:fld>
            <a:endParaRPr lang="en-US"/>
          </a:p>
        </p:txBody>
      </p:sp>
    </p:spTree>
    <p:extLst>
      <p:ext uri="{BB962C8B-B14F-4D97-AF65-F5344CB8AC3E}">
        <p14:creationId xmlns:p14="http://schemas.microsoft.com/office/powerpoint/2010/main" val="2777913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image" Target="../media/image15.sv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9.svg"/><Relationship Id="rId11" Type="http://schemas.openxmlformats.org/officeDocument/2006/relationships/image" Target="../media/image14.svg"/><Relationship Id="rId5" Type="http://schemas.openxmlformats.org/officeDocument/2006/relationships/image" Target="../media/image8.svg"/><Relationship Id="rId23" Type="http://schemas.openxmlformats.org/officeDocument/2006/relationships/image" Target="NULL"/><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6.svg"/><Relationship Id="rId7" Type="http://schemas.openxmlformats.org/officeDocument/2006/relationships/image" Target="../media/image19.svg"/><Relationship Id="rId12" Type="http://schemas.openxmlformats.org/officeDocument/2006/relationships/image" Target="../media/image24.sv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9.svg"/><Relationship Id="rId11" Type="http://schemas.openxmlformats.org/officeDocument/2006/relationships/image" Target="../media/image23.svg"/><Relationship Id="rId5" Type="http://schemas.openxmlformats.org/officeDocument/2006/relationships/image" Target="../media/image18.svg"/><Relationship Id="rId23" Type="http://schemas.openxmlformats.org/officeDocument/2006/relationships/image" Target="NULL"/><Relationship Id="rId10" Type="http://schemas.openxmlformats.org/officeDocument/2006/relationships/image" Target="../media/image22.svg"/><Relationship Id="rId4" Type="http://schemas.openxmlformats.org/officeDocument/2006/relationships/image" Target="../media/image17.svg"/><Relationship Id="rId9" Type="http://schemas.openxmlformats.org/officeDocument/2006/relationships/image" Target="../media/image21.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svg"/><Relationship Id="rId3" Type="http://schemas.openxmlformats.org/officeDocument/2006/relationships/image" Target="../media/image25.sv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notesSlide" Target="../notesSlides/notesSlide5.xml"/><Relationship Id="rId16" Type="http://schemas.openxmlformats.org/officeDocument/2006/relationships/image" Target="../media/image38.svg"/><Relationship Id="rId1" Type="http://schemas.openxmlformats.org/officeDocument/2006/relationships/slideLayout" Target="../slideLayouts/slideLayout15.xml"/><Relationship Id="rId6" Type="http://schemas.openxmlformats.org/officeDocument/2006/relationships/image" Target="../media/image28.svg"/><Relationship Id="rId11" Type="http://schemas.openxmlformats.org/officeDocument/2006/relationships/image" Target="../media/image33.svg"/><Relationship Id="rId5" Type="http://schemas.openxmlformats.org/officeDocument/2006/relationships/image" Target="../media/image27.svg"/><Relationship Id="rId15" Type="http://schemas.openxmlformats.org/officeDocument/2006/relationships/image" Target="../media/image37.sv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svg"/><Relationship Id="rId14" Type="http://schemas.openxmlformats.org/officeDocument/2006/relationships/image" Target="../media/image36.svg"/></Relationships>
</file>

<file path=ppt/slides/_rels/slide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svg"/></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46.svg"/><Relationship Id="rId4" Type="http://schemas.openxmlformats.org/officeDocument/2006/relationships/image" Target="../media/image45.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49.sv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48.svg"/><Relationship Id="rId5" Type="http://schemas.openxmlformats.org/officeDocument/2006/relationships/image" Target="../media/image39.png"/><Relationship Id="rId4" Type="http://schemas.openxmlformats.org/officeDocument/2006/relationships/image" Target="../media/image47.sv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hyperlink" Target="https://go.microsoft.com/fwlink/?linkid=2303870" TargetMode="External"/><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8" Type="http://schemas.openxmlformats.org/officeDocument/2006/relationships/image" Target="../media/image56.svg"/><Relationship Id="rId13" Type="http://schemas.openxmlformats.org/officeDocument/2006/relationships/image" Target="../media/image61.svg"/><Relationship Id="rId3" Type="http://schemas.openxmlformats.org/officeDocument/2006/relationships/image" Target="../media/image51.svg"/><Relationship Id="rId7" Type="http://schemas.openxmlformats.org/officeDocument/2006/relationships/image" Target="../media/image55.svg"/><Relationship Id="rId12" Type="http://schemas.openxmlformats.org/officeDocument/2006/relationships/image" Target="../media/image60.svg"/><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image" Target="../media/image54.svg"/><Relationship Id="rId11" Type="http://schemas.openxmlformats.org/officeDocument/2006/relationships/image" Target="../media/image59.svg"/><Relationship Id="rId5" Type="http://schemas.openxmlformats.org/officeDocument/2006/relationships/image" Target="../media/image53.svg"/><Relationship Id="rId15" Type="http://schemas.openxmlformats.org/officeDocument/2006/relationships/image" Target="../media/image63.svg"/><Relationship Id="rId10" Type="http://schemas.openxmlformats.org/officeDocument/2006/relationships/image" Target="../media/image58.svg"/><Relationship Id="rId4" Type="http://schemas.openxmlformats.org/officeDocument/2006/relationships/image" Target="../media/image52.svg"/><Relationship Id="rId9" Type="http://schemas.openxmlformats.org/officeDocument/2006/relationships/image" Target="../media/image57.svg"/><Relationship Id="rId14" Type="http://schemas.openxmlformats.org/officeDocument/2006/relationships/image" Target="../media/image62.svg"/></Relationships>
</file>

<file path=ppt/slides/_rels/slide1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66.svg"/><Relationship Id="rId5" Type="http://schemas.openxmlformats.org/officeDocument/2006/relationships/image" Target="../media/image65.svg"/><Relationship Id="rId4" Type="http://schemas.openxmlformats.org/officeDocument/2006/relationships/image" Target="../media/image64.svg"/></Relationships>
</file>

<file path=ppt/slides/_rels/slide15.xml.rels><?xml version="1.0" encoding="UTF-8" standalone="yes"?>
<Relationships xmlns="http://schemas.openxmlformats.org/package/2006/relationships"><Relationship Id="rId8" Type="http://schemas.openxmlformats.org/officeDocument/2006/relationships/image" Target="../media/image70.svg"/><Relationship Id="rId13" Type="http://schemas.openxmlformats.org/officeDocument/2006/relationships/image" Target="../media/image75.svg"/><Relationship Id="rId3" Type="http://schemas.openxmlformats.org/officeDocument/2006/relationships/image" Target="../media/image39.png"/><Relationship Id="rId7" Type="http://schemas.openxmlformats.org/officeDocument/2006/relationships/image" Target="../media/image69.svg"/><Relationship Id="rId12" Type="http://schemas.openxmlformats.org/officeDocument/2006/relationships/image" Target="../media/image74.sv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68.svg"/><Relationship Id="rId11" Type="http://schemas.openxmlformats.org/officeDocument/2006/relationships/image" Target="../media/image73.svg"/><Relationship Id="rId5" Type="http://schemas.openxmlformats.org/officeDocument/2006/relationships/image" Target="../media/image67.svg"/><Relationship Id="rId15" Type="http://schemas.openxmlformats.org/officeDocument/2006/relationships/image" Target="../media/image77.svg"/><Relationship Id="rId10" Type="http://schemas.openxmlformats.org/officeDocument/2006/relationships/image" Target="../media/image72.svg"/><Relationship Id="rId4" Type="http://schemas.openxmlformats.org/officeDocument/2006/relationships/image" Target="../media/image46.svg"/><Relationship Id="rId9" Type="http://schemas.openxmlformats.org/officeDocument/2006/relationships/image" Target="../media/image71.svg"/><Relationship Id="rId14" Type="http://schemas.openxmlformats.org/officeDocument/2006/relationships/image" Target="../media/image76.svg"/></Relationships>
</file>

<file path=ppt/slides/_rels/slide16.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79.svg"/></Relationships>
</file>

<file path=ppt/slides/_rels/slide17.xml.rels><?xml version="1.0" encoding="UTF-8" standalone="yes"?>
<Relationships xmlns="http://schemas.openxmlformats.org/package/2006/relationships"><Relationship Id="rId3" Type="http://schemas.openxmlformats.org/officeDocument/2006/relationships/hyperlink" Target="https://go.microsoft.com/fwlink/?linkid=2305092" TargetMode="External"/><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8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8" Type="http://schemas.openxmlformats.org/officeDocument/2006/relationships/image" Target="../media/image86.svg"/><Relationship Id="rId13" Type="http://schemas.openxmlformats.org/officeDocument/2006/relationships/image" Target="../media/image89.svg"/><Relationship Id="rId18" Type="http://schemas.openxmlformats.org/officeDocument/2006/relationships/image" Target="../media/image94.svg"/><Relationship Id="rId3" Type="http://schemas.openxmlformats.org/officeDocument/2006/relationships/image" Target="../media/image81.svg"/><Relationship Id="rId7" Type="http://schemas.openxmlformats.org/officeDocument/2006/relationships/image" Target="../media/image85.svg"/><Relationship Id="rId12" Type="http://schemas.openxmlformats.org/officeDocument/2006/relationships/image" Target="../media/image88.svg"/><Relationship Id="rId17" Type="http://schemas.openxmlformats.org/officeDocument/2006/relationships/image" Target="../media/image93.svg"/><Relationship Id="rId2" Type="http://schemas.openxmlformats.org/officeDocument/2006/relationships/notesSlide" Target="../notesSlides/notesSlide20.xml"/><Relationship Id="rId16" Type="http://schemas.openxmlformats.org/officeDocument/2006/relationships/image" Target="../media/image92.svg"/><Relationship Id="rId1" Type="http://schemas.openxmlformats.org/officeDocument/2006/relationships/slideLayout" Target="../slideLayouts/slideLayout20.xml"/><Relationship Id="rId6" Type="http://schemas.openxmlformats.org/officeDocument/2006/relationships/image" Target="../media/image84.svg"/><Relationship Id="rId11" Type="http://schemas.openxmlformats.org/officeDocument/2006/relationships/image" Target="../media/image39.png"/><Relationship Id="rId5" Type="http://schemas.openxmlformats.org/officeDocument/2006/relationships/image" Target="../media/image83.svg"/><Relationship Id="rId15" Type="http://schemas.openxmlformats.org/officeDocument/2006/relationships/image" Target="../media/image91.svg"/><Relationship Id="rId10" Type="http://schemas.openxmlformats.org/officeDocument/2006/relationships/image" Target="../media/image47.svg"/><Relationship Id="rId4" Type="http://schemas.openxmlformats.org/officeDocument/2006/relationships/image" Target="../media/image82.svg"/><Relationship Id="rId9" Type="http://schemas.openxmlformats.org/officeDocument/2006/relationships/image" Target="../media/image87.svg"/><Relationship Id="rId14" Type="http://schemas.openxmlformats.org/officeDocument/2006/relationships/image" Target="../media/image90.svg"/></Relationships>
</file>

<file path=ppt/slides/_rels/slide21.xml.rels><?xml version="1.0" encoding="UTF-8" standalone="yes"?>
<Relationships xmlns="http://schemas.openxmlformats.org/package/2006/relationships"><Relationship Id="rId3" Type="http://schemas.openxmlformats.org/officeDocument/2006/relationships/image" Target="../media/image95.sv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97.svg"/><Relationship Id="rId4" Type="http://schemas.openxmlformats.org/officeDocument/2006/relationships/image" Target="../media/image96.svg"/></Relationships>
</file>

<file path=ppt/slides/_rels/slide22.xml.rels><?xml version="1.0" encoding="UTF-8" standalone="yes"?>
<Relationships xmlns="http://schemas.openxmlformats.org/package/2006/relationships"><Relationship Id="rId3" Type="http://schemas.openxmlformats.org/officeDocument/2006/relationships/hyperlink" Target="https://go.microsoft.com/fwlink/?linkid=2309805" TargetMode="External"/><Relationship Id="rId2" Type="http://schemas.openxmlformats.org/officeDocument/2006/relationships/notesSlide" Target="../notesSlides/notesSlide22.xml"/><Relationship Id="rId1" Type="http://schemas.openxmlformats.org/officeDocument/2006/relationships/slideLayout" Target="../slideLayouts/slideLayout17.xml"/><Relationship Id="rId4" Type="http://schemas.openxmlformats.org/officeDocument/2006/relationships/image" Target="../media/image9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99.png"/></Relationships>
</file>

<file path=ppt/slides/_rels/slide27.xml.rels><?xml version="1.0" encoding="UTF-8" standalone="yes"?>
<Relationships xmlns="http://schemas.openxmlformats.org/package/2006/relationships"><Relationship Id="rId8" Type="http://schemas.openxmlformats.org/officeDocument/2006/relationships/image" Target="../media/image102.svg"/><Relationship Id="rId3" Type="http://schemas.openxmlformats.org/officeDocument/2006/relationships/image" Target="../media/image39.png"/><Relationship Id="rId7" Type="http://schemas.openxmlformats.org/officeDocument/2006/relationships/image" Target="../media/image45.png"/><Relationship Id="rId12" Type="http://schemas.openxmlformats.org/officeDocument/2006/relationships/image" Target="../media/image106.sv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101.svg"/><Relationship Id="rId11" Type="http://schemas.openxmlformats.org/officeDocument/2006/relationships/image" Target="../media/image105.svg"/><Relationship Id="rId5" Type="http://schemas.openxmlformats.org/officeDocument/2006/relationships/image" Target="../media/image100.svg"/><Relationship Id="rId10" Type="http://schemas.openxmlformats.org/officeDocument/2006/relationships/image" Target="../media/image104.svg"/><Relationship Id="rId4" Type="http://schemas.openxmlformats.org/officeDocument/2006/relationships/image" Target="../media/image46.svg"/><Relationship Id="rId9" Type="http://schemas.openxmlformats.org/officeDocument/2006/relationships/image" Target="../media/image103.svg"/></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109.svg"/><Relationship Id="rId5" Type="http://schemas.openxmlformats.org/officeDocument/2006/relationships/image" Target="../media/image108.svg"/><Relationship Id="rId4" Type="http://schemas.openxmlformats.org/officeDocument/2006/relationships/image" Target="../media/image107.svg"/></Relationships>
</file>

<file path=ppt/slides/_rels/slide29.xml.rels><?xml version="1.0" encoding="UTF-8" standalone="yes"?>
<Relationships xmlns="http://schemas.openxmlformats.org/package/2006/relationships"><Relationship Id="rId3" Type="http://schemas.openxmlformats.org/officeDocument/2006/relationships/hyperlink" Target="https://go.microsoft.com/fwlink/?linkid=2313222" TargetMode="External"/><Relationship Id="rId2" Type="http://schemas.openxmlformats.org/officeDocument/2006/relationships/notesSlide" Target="../notesSlides/notesSlide29.xml"/><Relationship Id="rId1" Type="http://schemas.openxmlformats.org/officeDocument/2006/relationships/slideLayout" Target="../slideLayouts/slideLayout17.xml"/><Relationship Id="rId4" Type="http://schemas.openxmlformats.org/officeDocument/2006/relationships/image" Target="../media/image11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8" Type="http://schemas.openxmlformats.org/officeDocument/2006/relationships/image" Target="../media/image47.svg"/><Relationship Id="rId13" Type="http://schemas.openxmlformats.org/officeDocument/2006/relationships/image" Target="../media/image77.svg"/><Relationship Id="rId3" Type="http://schemas.openxmlformats.org/officeDocument/2006/relationships/image" Target="../media/image111.svg"/><Relationship Id="rId7" Type="http://schemas.openxmlformats.org/officeDocument/2006/relationships/image" Target="../media/image115.svg"/><Relationship Id="rId12" Type="http://schemas.openxmlformats.org/officeDocument/2006/relationships/image" Target="../media/image119.svg"/><Relationship Id="rId2" Type="http://schemas.openxmlformats.org/officeDocument/2006/relationships/notesSlide" Target="../notesSlides/notesSlide32.xml"/><Relationship Id="rId16" Type="http://schemas.openxmlformats.org/officeDocument/2006/relationships/image" Target="../media/image70.svg"/><Relationship Id="rId1" Type="http://schemas.openxmlformats.org/officeDocument/2006/relationships/slideLayout" Target="../slideLayouts/slideLayout13.xml"/><Relationship Id="rId6" Type="http://schemas.openxmlformats.org/officeDocument/2006/relationships/image" Target="../media/image114.svg"/><Relationship Id="rId11" Type="http://schemas.openxmlformats.org/officeDocument/2006/relationships/image" Target="../media/image118.svg"/><Relationship Id="rId5" Type="http://schemas.openxmlformats.org/officeDocument/2006/relationships/image" Target="../media/image113.svg"/><Relationship Id="rId15" Type="http://schemas.openxmlformats.org/officeDocument/2006/relationships/image" Target="../media/image69.svg"/><Relationship Id="rId10" Type="http://schemas.openxmlformats.org/officeDocument/2006/relationships/image" Target="../media/image117.svg"/><Relationship Id="rId4" Type="http://schemas.openxmlformats.org/officeDocument/2006/relationships/image" Target="../media/image112.svg"/><Relationship Id="rId9" Type="http://schemas.openxmlformats.org/officeDocument/2006/relationships/image" Target="../media/image116.png"/><Relationship Id="rId14" Type="http://schemas.openxmlformats.org/officeDocument/2006/relationships/image" Target="../media/image68.sv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120.svg"/><Relationship Id="rId5" Type="http://schemas.openxmlformats.org/officeDocument/2006/relationships/image" Target="../media/image118.svg"/><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hyperlink" Target="https://go.microsoft.com/fwlink/?linkid=2310729" TargetMode="External"/><Relationship Id="rId2" Type="http://schemas.openxmlformats.org/officeDocument/2006/relationships/notesSlide" Target="../notesSlides/notesSlide36.xml"/><Relationship Id="rId1" Type="http://schemas.openxmlformats.org/officeDocument/2006/relationships/slideLayout" Target="../slideLayouts/slideLayout17.xml"/><Relationship Id="rId4" Type="http://schemas.openxmlformats.org/officeDocument/2006/relationships/image" Target="../media/image12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2" y="4158302"/>
            <a:ext cx="5686955" cy="501804"/>
          </a:xfrm>
        </p:spPr>
        <p:txBody>
          <a:bodyPr/>
          <a:lstStyle/>
          <a:p>
            <a:pPr>
              <a:defRPr sz="3200"/>
            </a:pPr>
            <a:r>
              <a:rPr lang="it-IT" sz="3600" noProof="0"/>
              <a:t>Introduction to Agents</a:t>
            </a:r>
            <a:endParaRPr lang="en-US" sz="3600" noProof="0" dirty="0"/>
          </a:p>
        </p:txBody>
      </p:sp>
      <p:sp>
        <p:nvSpPr>
          <p:cNvPr id="3" name="Text Placeholder 2"/>
          <p:cNvSpPr>
            <a:spLocks noGrp="1"/>
          </p:cNvSpPr>
          <p:nvPr>
            <p:ph type="body" sz="quarter" idx="13"/>
          </p:nvPr>
        </p:nvSpPr>
        <p:spPr/>
        <p:txBody>
          <a:bodyPr/>
          <a:lstStyle/>
          <a:p>
            <a:r>
              <a:rPr lang="en-US" noProof="0" dirty="0"/>
              <a:t>April 2025</a:t>
            </a:r>
          </a:p>
        </p:txBody>
      </p:sp>
      <p:sp>
        <p:nvSpPr>
          <p:cNvPr id="5" name="TextBox 4">
            <a:extLst>
              <a:ext uri="{FF2B5EF4-FFF2-40B4-BE49-F238E27FC236}">
                <a16:creationId xmlns:a16="http://schemas.microsoft.com/office/drawing/2014/main" id="{193A691E-CDA7-5B29-A2DA-58D91CA4B1D4}"/>
              </a:ext>
            </a:extLst>
          </p:cNvPr>
          <p:cNvSpPr txBox="1"/>
          <p:nvPr/>
        </p:nvSpPr>
        <p:spPr>
          <a:xfrm>
            <a:off x="510540" y="4660106"/>
            <a:ext cx="6096000" cy="369332"/>
          </a:xfrm>
          <a:prstGeom prst="rect">
            <a:avLst/>
          </a:prstGeom>
          <a:noFill/>
        </p:spPr>
        <p:txBody>
          <a:bodyPr wrap="square">
            <a:spAutoFit/>
          </a:bodyPr>
          <a:lstStyle/>
          <a:p>
            <a:r>
              <a:rPr lang="en-US" sz="1770" dirty="0">
                <a:solidFill>
                  <a:schemeClr val="accent2"/>
                </a:solidFill>
              </a:rPr>
              <a:t>https://aka.ms/mslearn-develop-ai-agents</a:t>
            </a:r>
          </a:p>
        </p:txBody>
      </p:sp>
    </p:spTree>
    <p:extLst>
      <p:ext uri="{BB962C8B-B14F-4D97-AF65-F5344CB8AC3E}">
        <p14:creationId xmlns:p14="http://schemas.microsoft.com/office/powerpoint/2010/main" val="4288755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What is Artificial Intelligence?</a:t>
            </a:r>
          </a:p>
        </p:txBody>
      </p:sp>
      <p:grpSp>
        <p:nvGrpSpPr>
          <p:cNvPr id="21" name="Group 20">
            <a:extLst>
              <a:ext uri="{FF2B5EF4-FFF2-40B4-BE49-F238E27FC236}">
                <a16:creationId xmlns:a16="http://schemas.microsoft.com/office/drawing/2014/main" id="{1B013B3C-9F7C-AAB1-75B1-B2C6E6B0EA20}"/>
              </a:ext>
              <a:ext uri="{C183D7F6-B498-43B3-948B-1728B52AA6E4}">
                <adec:decorative xmlns:adec="http://schemas.microsoft.com/office/drawing/2017/decorative" val="1"/>
              </a:ext>
            </a:extLst>
          </p:cNvPr>
          <p:cNvGrpSpPr/>
          <p:nvPr/>
        </p:nvGrpSpPr>
        <p:grpSpPr>
          <a:xfrm>
            <a:off x="701040" y="1205911"/>
            <a:ext cx="10736580" cy="1259210"/>
            <a:chOff x="701040" y="1205911"/>
            <a:chExt cx="10736580" cy="1259210"/>
          </a:xfrm>
        </p:grpSpPr>
        <p:pic>
          <p:nvPicPr>
            <p:cNvPr id="42" name="Graphic 41">
              <a:extLst>
                <a:ext uri="{FF2B5EF4-FFF2-40B4-BE49-F238E27FC236}">
                  <a16:creationId xmlns:a16="http://schemas.microsoft.com/office/drawing/2014/main" id="{050F75AB-33D4-CF7F-B89A-90657397FB6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39740" y="1205911"/>
              <a:ext cx="1036320" cy="1036320"/>
            </a:xfrm>
            <a:prstGeom prst="rect">
              <a:avLst/>
            </a:prstGeom>
          </p:spPr>
        </p:pic>
        <p:sp>
          <p:nvSpPr>
            <p:cNvPr id="43" name="Left Brace 42">
              <a:extLst>
                <a:ext uri="{FF2B5EF4-FFF2-40B4-BE49-F238E27FC236}">
                  <a16:creationId xmlns:a16="http://schemas.microsoft.com/office/drawing/2014/main" id="{9A6083C9-B2AE-3404-6E43-9CF026CD3FA5}"/>
                </a:ext>
                <a:ext uri="{C183D7F6-B498-43B3-948B-1728B52AA6E4}">
                  <adec:decorative xmlns:adec="http://schemas.microsoft.com/office/drawing/2017/decorative" val="1"/>
                </a:ext>
              </a:extLst>
            </p:cNvPr>
            <p:cNvSpPr/>
            <p:nvPr/>
          </p:nvSpPr>
          <p:spPr>
            <a:xfrm rot="5400000">
              <a:off x="5890211" y="-3082288"/>
              <a:ext cx="358238" cy="10736580"/>
            </a:xfrm>
            <a:prstGeom prst="leftBrace">
              <a:avLst/>
            </a:prstGeom>
            <a:ln w="190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6" name="Group 5" descr="Generative AI.">
            <a:extLst>
              <a:ext uri="{FF2B5EF4-FFF2-40B4-BE49-F238E27FC236}">
                <a16:creationId xmlns:a16="http://schemas.microsoft.com/office/drawing/2014/main" id="{32C7E386-AFE3-974B-889A-DA288E6A403B}"/>
              </a:ext>
            </a:extLst>
          </p:cNvPr>
          <p:cNvGrpSpPr/>
          <p:nvPr/>
        </p:nvGrpSpPr>
        <p:grpSpPr>
          <a:xfrm>
            <a:off x="636270" y="2545078"/>
            <a:ext cx="2103120" cy="2631474"/>
            <a:chOff x="636270" y="2545078"/>
            <a:chExt cx="2103120" cy="2631474"/>
          </a:xfrm>
        </p:grpSpPr>
        <p:sp>
          <p:nvSpPr>
            <p:cNvPr id="13" name="Rectangle 12" descr="Generative AI">
              <a:extLst>
                <a:ext uri="{FF2B5EF4-FFF2-40B4-BE49-F238E27FC236}">
                  <a16:creationId xmlns:a16="http://schemas.microsoft.com/office/drawing/2014/main" id="{E475DA80-5177-2F28-3BDC-8D2D98B84D4C}"/>
                </a:ext>
              </a:extLst>
            </p:cNvPr>
            <p:cNvSpPr/>
            <p:nvPr/>
          </p:nvSpPr>
          <p:spPr bwMode="auto">
            <a:xfrm>
              <a:off x="636270" y="2545078"/>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Generative</a:t>
              </a:r>
            </a:p>
            <a:p>
              <a:pPr algn="ctr" defTabSz="932472" fontAlgn="base">
                <a:spcBef>
                  <a:spcPct val="0"/>
                </a:spcBef>
                <a:spcAft>
                  <a:spcPct val="0"/>
                </a:spcAft>
              </a:pPr>
              <a:r>
                <a:rPr lang="en-US" sz="2000" dirty="0">
                  <a:solidFill>
                    <a:schemeClr val="tx1"/>
                  </a:solidFill>
                  <a:ea typeface="Segoe UI" pitchFamily="34" charset="0"/>
                  <a:cs typeface="Segoe UI" pitchFamily="34" charset="0"/>
                </a:rPr>
                <a:t>AI</a:t>
              </a:r>
            </a:p>
          </p:txBody>
        </p:sp>
        <p:pic>
          <p:nvPicPr>
            <p:cNvPr id="18" name="Graphic 17" descr="Chat outline">
              <a:extLst>
                <a:ext uri="{FF2B5EF4-FFF2-40B4-BE49-F238E27FC236}">
                  <a16:creationId xmlns:a16="http://schemas.microsoft.com/office/drawing/2014/main" id="{8DCCD776-69E8-E853-A559-A221BAE848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9826" y="2746911"/>
              <a:ext cx="1499525" cy="1499525"/>
            </a:xfrm>
            <a:prstGeom prst="rect">
              <a:avLst/>
            </a:prstGeom>
          </p:spPr>
        </p:pic>
      </p:grpSp>
      <p:grpSp>
        <p:nvGrpSpPr>
          <p:cNvPr id="8" name="Group 7" descr="Agents and automation.">
            <a:extLst>
              <a:ext uri="{FF2B5EF4-FFF2-40B4-BE49-F238E27FC236}">
                <a16:creationId xmlns:a16="http://schemas.microsoft.com/office/drawing/2014/main" id="{FECD4625-EEF5-E96B-A847-EBC3150BB4D0}"/>
              </a:ext>
            </a:extLst>
          </p:cNvPr>
          <p:cNvGrpSpPr/>
          <p:nvPr/>
        </p:nvGrpSpPr>
        <p:grpSpPr>
          <a:xfrm>
            <a:off x="2827972" y="2545078"/>
            <a:ext cx="2103120" cy="2631474"/>
            <a:chOff x="2827972" y="2545078"/>
            <a:chExt cx="2103120" cy="2631474"/>
          </a:xfrm>
        </p:grpSpPr>
        <p:sp>
          <p:nvSpPr>
            <p:cNvPr id="14" name="Rectangle 13" descr="Agents and automation">
              <a:extLst>
                <a:ext uri="{FF2B5EF4-FFF2-40B4-BE49-F238E27FC236}">
                  <a16:creationId xmlns:a16="http://schemas.microsoft.com/office/drawing/2014/main" id="{1EB741A3-06AB-6084-7A32-3D2C07E20DC7}"/>
                </a:ext>
              </a:extLst>
            </p:cNvPr>
            <p:cNvSpPr/>
            <p:nvPr/>
          </p:nvSpPr>
          <p:spPr bwMode="auto">
            <a:xfrm>
              <a:off x="2827972" y="2545078"/>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Agents and automation</a:t>
              </a:r>
            </a:p>
          </p:txBody>
        </p:sp>
        <p:grpSp>
          <p:nvGrpSpPr>
            <p:cNvPr id="27" name="Group 26">
              <a:extLst>
                <a:ext uri="{FF2B5EF4-FFF2-40B4-BE49-F238E27FC236}">
                  <a16:creationId xmlns:a16="http://schemas.microsoft.com/office/drawing/2014/main" id="{6474A295-75A3-4DFE-9A3E-6D46101FFFCE}"/>
                </a:ext>
              </a:extLst>
            </p:cNvPr>
            <p:cNvGrpSpPr/>
            <p:nvPr/>
          </p:nvGrpSpPr>
          <p:grpSpPr>
            <a:xfrm>
              <a:off x="3189284" y="2746911"/>
              <a:ext cx="1278893" cy="1291225"/>
              <a:chOff x="3201314" y="2458146"/>
              <a:chExt cx="1278893" cy="1291225"/>
            </a:xfrm>
            <a:solidFill>
              <a:schemeClr val="tx1"/>
            </a:solidFill>
          </p:grpSpPr>
          <p:pic>
            <p:nvPicPr>
              <p:cNvPr id="20" name="Graphic 19" descr="User outline">
                <a:extLst>
                  <a:ext uri="{FF2B5EF4-FFF2-40B4-BE49-F238E27FC236}">
                    <a16:creationId xmlns:a16="http://schemas.microsoft.com/office/drawing/2014/main" id="{414EFB67-5F3F-FEEB-734D-9CA1D0E327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01314" y="2458146"/>
                <a:ext cx="1278893" cy="1278893"/>
              </a:xfrm>
              <a:prstGeom prst="rect">
                <a:avLst/>
              </a:prstGeom>
            </p:spPr>
          </p:pic>
          <p:pic>
            <p:nvPicPr>
              <p:cNvPr id="24" name="Graphic 23" descr="Single gear outline">
                <a:extLst>
                  <a:ext uri="{FF2B5EF4-FFF2-40B4-BE49-F238E27FC236}">
                    <a16:creationId xmlns:a16="http://schemas.microsoft.com/office/drawing/2014/main" id="{2273FEB7-2A1F-E9C3-9130-3F8539F4DE4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28480" y="3124811"/>
                <a:ext cx="624560" cy="624560"/>
              </a:xfrm>
              <a:prstGeom prst="rect">
                <a:avLst/>
              </a:prstGeom>
            </p:spPr>
          </p:pic>
        </p:grpSp>
      </p:grpSp>
      <p:grpSp>
        <p:nvGrpSpPr>
          <p:cNvPr id="4" name="Group 3" descr="Natural language.">
            <a:extLst>
              <a:ext uri="{FF2B5EF4-FFF2-40B4-BE49-F238E27FC236}">
                <a16:creationId xmlns:a16="http://schemas.microsoft.com/office/drawing/2014/main" id="{11E4BF55-924D-248F-C4C8-566E82E7D3D7}"/>
              </a:ext>
            </a:extLst>
          </p:cNvPr>
          <p:cNvGrpSpPr/>
          <p:nvPr/>
        </p:nvGrpSpPr>
        <p:grpSpPr>
          <a:xfrm>
            <a:off x="5019675" y="2545078"/>
            <a:ext cx="2103120" cy="2631474"/>
            <a:chOff x="7211379" y="2545079"/>
            <a:chExt cx="2103120" cy="2631474"/>
          </a:xfrm>
        </p:grpSpPr>
        <p:sp>
          <p:nvSpPr>
            <p:cNvPr id="16" name="Rectangle 15">
              <a:extLst>
                <a:ext uri="{FF2B5EF4-FFF2-40B4-BE49-F238E27FC236}">
                  <a16:creationId xmlns:a16="http://schemas.microsoft.com/office/drawing/2014/main" id="{D0C97147-0936-DC5B-3031-3E9D5FCD31A6}"/>
                </a:ext>
              </a:extLst>
            </p:cNvPr>
            <p:cNvSpPr/>
            <p:nvPr/>
          </p:nvSpPr>
          <p:spPr bwMode="auto">
            <a:xfrm>
              <a:off x="7211379" y="2545079"/>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Natural Language</a:t>
              </a:r>
            </a:p>
          </p:txBody>
        </p:sp>
        <p:grpSp>
          <p:nvGrpSpPr>
            <p:cNvPr id="34" name="Group 33">
              <a:extLst>
                <a:ext uri="{FF2B5EF4-FFF2-40B4-BE49-F238E27FC236}">
                  <a16:creationId xmlns:a16="http://schemas.microsoft.com/office/drawing/2014/main" id="{2AF24138-41F7-18C3-B7E9-A4A8F2747FA4}"/>
                </a:ext>
              </a:extLst>
            </p:cNvPr>
            <p:cNvGrpSpPr/>
            <p:nvPr/>
          </p:nvGrpSpPr>
          <p:grpSpPr>
            <a:xfrm>
              <a:off x="7618875" y="2668480"/>
              <a:ext cx="1239660" cy="1369656"/>
              <a:chOff x="7833360" y="207684"/>
              <a:chExt cx="1239660" cy="1369656"/>
            </a:xfrm>
            <a:solidFill>
              <a:schemeClr val="tx1"/>
            </a:solidFill>
          </p:grpSpPr>
          <p:pic>
            <p:nvPicPr>
              <p:cNvPr id="31" name="Graphic 30" descr="Document outline">
                <a:extLst>
                  <a:ext uri="{FF2B5EF4-FFF2-40B4-BE49-F238E27FC236}">
                    <a16:creationId xmlns:a16="http://schemas.microsoft.com/office/drawing/2014/main" id="{21E6DEB6-9356-879E-AA2B-02755C36A6E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67440" y="1005840"/>
                <a:ext cx="571500" cy="571500"/>
              </a:xfrm>
              <a:prstGeom prst="rect">
                <a:avLst/>
              </a:prstGeom>
            </p:spPr>
          </p:pic>
          <p:pic>
            <p:nvPicPr>
              <p:cNvPr id="33" name="Graphic 32" descr="Call center outline">
                <a:extLst>
                  <a:ext uri="{FF2B5EF4-FFF2-40B4-BE49-F238E27FC236}">
                    <a16:creationId xmlns:a16="http://schemas.microsoft.com/office/drawing/2014/main" id="{65E7D239-C471-72A9-0996-E7D9239D016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33360" y="207684"/>
                <a:ext cx="1239660" cy="1239660"/>
              </a:xfrm>
              <a:prstGeom prst="rect">
                <a:avLst/>
              </a:prstGeom>
            </p:spPr>
          </p:pic>
        </p:grpSp>
      </p:grpSp>
      <p:grpSp>
        <p:nvGrpSpPr>
          <p:cNvPr id="2" name="Group 1" descr="Computer vision.">
            <a:extLst>
              <a:ext uri="{FF2B5EF4-FFF2-40B4-BE49-F238E27FC236}">
                <a16:creationId xmlns:a16="http://schemas.microsoft.com/office/drawing/2014/main" id="{71A8CFB2-CB86-5567-57F0-CA5662551921}"/>
              </a:ext>
            </a:extLst>
          </p:cNvPr>
          <p:cNvGrpSpPr/>
          <p:nvPr/>
        </p:nvGrpSpPr>
        <p:grpSpPr>
          <a:xfrm>
            <a:off x="7211378" y="2545078"/>
            <a:ext cx="2103120" cy="2631474"/>
            <a:chOff x="5019676" y="2545079"/>
            <a:chExt cx="2103120" cy="2631474"/>
          </a:xfrm>
        </p:grpSpPr>
        <p:sp>
          <p:nvSpPr>
            <p:cNvPr id="15" name="Rectangle 14">
              <a:extLst>
                <a:ext uri="{FF2B5EF4-FFF2-40B4-BE49-F238E27FC236}">
                  <a16:creationId xmlns:a16="http://schemas.microsoft.com/office/drawing/2014/main" id="{23EAE5D4-B1D5-1E23-18B4-40236088C3D8}"/>
                </a:ext>
              </a:extLst>
            </p:cNvPr>
            <p:cNvSpPr/>
            <p:nvPr/>
          </p:nvSpPr>
          <p:spPr bwMode="auto">
            <a:xfrm>
              <a:off x="5019676" y="2545079"/>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Computer Vision</a:t>
              </a:r>
            </a:p>
          </p:txBody>
        </p:sp>
        <p:pic>
          <p:nvPicPr>
            <p:cNvPr id="28" name="Graphic 27" descr="Eye Scan with solid fill">
              <a:extLst>
                <a:ext uri="{FF2B5EF4-FFF2-40B4-BE49-F238E27FC236}">
                  <a16:creationId xmlns:a16="http://schemas.microsoft.com/office/drawing/2014/main" id="{1A11F3F8-0792-F49C-E174-9AC0B4EDE3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21383" y="2885142"/>
              <a:ext cx="1056868" cy="1056868"/>
            </a:xfrm>
            <a:prstGeom prst="rect">
              <a:avLst/>
            </a:prstGeom>
          </p:spPr>
        </p:pic>
      </p:grpSp>
      <p:grpSp>
        <p:nvGrpSpPr>
          <p:cNvPr id="10" name="Group 9" descr="Information extraction.">
            <a:extLst>
              <a:ext uri="{FF2B5EF4-FFF2-40B4-BE49-F238E27FC236}">
                <a16:creationId xmlns:a16="http://schemas.microsoft.com/office/drawing/2014/main" id="{6B7A5E7B-D1A2-4086-6785-A0EC2FF020AF}"/>
              </a:ext>
            </a:extLst>
          </p:cNvPr>
          <p:cNvGrpSpPr/>
          <p:nvPr/>
        </p:nvGrpSpPr>
        <p:grpSpPr>
          <a:xfrm>
            <a:off x="9403080" y="2545078"/>
            <a:ext cx="2103120" cy="2631474"/>
            <a:chOff x="9403080" y="2545078"/>
            <a:chExt cx="2103120" cy="2631474"/>
          </a:xfrm>
        </p:grpSpPr>
        <p:sp>
          <p:nvSpPr>
            <p:cNvPr id="17" name="Rectangle 16" descr="Information extraction">
              <a:extLst>
                <a:ext uri="{FF2B5EF4-FFF2-40B4-BE49-F238E27FC236}">
                  <a16:creationId xmlns:a16="http://schemas.microsoft.com/office/drawing/2014/main" id="{0F7005D2-3E6E-CB62-3D9C-4DA1B7E26E60}"/>
                </a:ext>
              </a:extLst>
            </p:cNvPr>
            <p:cNvSpPr/>
            <p:nvPr/>
          </p:nvSpPr>
          <p:spPr bwMode="auto">
            <a:xfrm>
              <a:off x="9403080" y="2545078"/>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Information Extraction</a:t>
              </a:r>
            </a:p>
          </p:txBody>
        </p:sp>
        <p:grpSp>
          <p:nvGrpSpPr>
            <p:cNvPr id="39" name="Group 38">
              <a:extLst>
                <a:ext uri="{FF2B5EF4-FFF2-40B4-BE49-F238E27FC236}">
                  <a16:creationId xmlns:a16="http://schemas.microsoft.com/office/drawing/2014/main" id="{0529A81C-451E-D358-197F-6FB373381C9B}"/>
                </a:ext>
              </a:extLst>
            </p:cNvPr>
            <p:cNvGrpSpPr/>
            <p:nvPr/>
          </p:nvGrpSpPr>
          <p:grpSpPr>
            <a:xfrm>
              <a:off x="9821645" y="2891657"/>
              <a:ext cx="1059255" cy="1134146"/>
              <a:chOff x="8324086" y="287197"/>
              <a:chExt cx="1059255" cy="1134146"/>
            </a:xfrm>
            <a:solidFill>
              <a:schemeClr val="tx1"/>
            </a:solidFill>
          </p:grpSpPr>
          <p:pic>
            <p:nvPicPr>
              <p:cNvPr id="36" name="Graphic 35" descr="Magnifying glass with solid fill">
                <a:extLst>
                  <a:ext uri="{FF2B5EF4-FFF2-40B4-BE49-F238E27FC236}">
                    <a16:creationId xmlns:a16="http://schemas.microsoft.com/office/drawing/2014/main" id="{33D3D325-78AD-457F-4D26-0D51435F9A8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600688" y="638690"/>
                <a:ext cx="782653" cy="782653"/>
              </a:xfrm>
              <a:prstGeom prst="rect">
                <a:avLst/>
              </a:prstGeom>
            </p:spPr>
          </p:pic>
          <p:pic>
            <p:nvPicPr>
              <p:cNvPr id="38" name="Graphic 37" descr="Contract outline">
                <a:extLst>
                  <a:ext uri="{FF2B5EF4-FFF2-40B4-BE49-F238E27FC236}">
                    <a16:creationId xmlns:a16="http://schemas.microsoft.com/office/drawing/2014/main" id="{C9CC180B-7C20-307D-36A6-388A74FABA9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324086" y="287197"/>
                <a:ext cx="914400" cy="914400"/>
              </a:xfrm>
              <a:prstGeom prst="rect">
                <a:avLst/>
              </a:prstGeom>
            </p:spPr>
          </p:pic>
        </p:grpSp>
      </p:grpSp>
      <p:grpSp>
        <p:nvGrpSpPr>
          <p:cNvPr id="19" name="Group 18" descr="Machine learning.">
            <a:extLst>
              <a:ext uri="{FF2B5EF4-FFF2-40B4-BE49-F238E27FC236}">
                <a16:creationId xmlns:a16="http://schemas.microsoft.com/office/drawing/2014/main" id="{1A31CE28-7BBD-F9DE-663B-F4D29B90CB21}"/>
              </a:ext>
            </a:extLst>
          </p:cNvPr>
          <p:cNvGrpSpPr/>
          <p:nvPr/>
        </p:nvGrpSpPr>
        <p:grpSpPr>
          <a:xfrm>
            <a:off x="624840" y="5280660"/>
            <a:ext cx="10896600" cy="914400"/>
            <a:chOff x="624840" y="5280660"/>
            <a:chExt cx="10896600" cy="914400"/>
          </a:xfrm>
        </p:grpSpPr>
        <p:sp>
          <p:nvSpPr>
            <p:cNvPr id="7" name="Rectangle 6" descr="Machine learning">
              <a:extLst>
                <a:ext uri="{FF2B5EF4-FFF2-40B4-BE49-F238E27FC236}">
                  <a16:creationId xmlns:a16="http://schemas.microsoft.com/office/drawing/2014/main" id="{51B2F25A-596B-CF78-5797-0424053F0726}"/>
                </a:ext>
              </a:extLst>
            </p:cNvPr>
            <p:cNvSpPr/>
            <p:nvPr/>
          </p:nvSpPr>
          <p:spPr bwMode="auto">
            <a:xfrm>
              <a:off x="624840" y="5280660"/>
              <a:ext cx="10896600" cy="899160"/>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Machine Learning</a:t>
              </a:r>
            </a:p>
          </p:txBody>
        </p:sp>
        <p:grpSp>
          <p:nvGrpSpPr>
            <p:cNvPr id="12" name="Group 11">
              <a:extLst>
                <a:ext uri="{FF2B5EF4-FFF2-40B4-BE49-F238E27FC236}">
                  <a16:creationId xmlns:a16="http://schemas.microsoft.com/office/drawing/2014/main" id="{484C916E-9C13-A0DE-3232-60C42C5A2444}"/>
                </a:ext>
              </a:extLst>
            </p:cNvPr>
            <p:cNvGrpSpPr/>
            <p:nvPr/>
          </p:nvGrpSpPr>
          <p:grpSpPr>
            <a:xfrm>
              <a:off x="3474720" y="5280660"/>
              <a:ext cx="1447447" cy="914400"/>
              <a:chOff x="5638800" y="2971800"/>
              <a:chExt cx="1447447" cy="914400"/>
            </a:xfrm>
          </p:grpSpPr>
          <p:pic>
            <p:nvPicPr>
              <p:cNvPr id="9" name="Graphic 8" descr="Gears outline">
                <a:extLst>
                  <a:ext uri="{FF2B5EF4-FFF2-40B4-BE49-F238E27FC236}">
                    <a16:creationId xmlns:a16="http://schemas.microsoft.com/office/drawing/2014/main" id="{3A382EE5-6B49-3DBA-EABA-5209D2B1515A}"/>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5638800" y="2971800"/>
                <a:ext cx="914400" cy="91440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DE0C97-3869-C9C1-EE7B-2229A50F05DE}"/>
                      </a:ext>
                    </a:extLst>
                  </p:cNvPr>
                  <p:cNvSpPr txBox="1"/>
                  <p:nvPr/>
                </p:nvSpPr>
                <p:spPr>
                  <a:xfrm>
                    <a:off x="6233513" y="3421380"/>
                    <a:ext cx="852734" cy="246221"/>
                  </a:xfrm>
                  <a:prstGeom prst="rect">
                    <a:avLst/>
                  </a:prstGeom>
                  <a:noFill/>
                </p:spPr>
                <p:txBody>
                  <a:bodyPr wrap="none" lIns="0" tIns="0" rIns="0" bIns="0" rtlCol="0">
                    <a:spAutoFit/>
                  </a:bodyPr>
                  <a:lstStyle/>
                  <a:p>
                    <a:pPr algn="l"/>
                    <a14:m>
                      <m:oMathPara xmlns:m="http://schemas.openxmlformats.org/officeDocument/2006/math">
                        <m:oMath>
                          <m:r>
                            <a:rPr lang="en-US" sz="1600" b="0" i="1" smtClean="0">
                              <a:solidFill>
                                <a:schemeClr val="bg1">
                                  <a:lumMod val="50000"/>
                                </a:schemeClr>
                              </a:solidFill>
                              <a:latin typeface="Cambria Math" panose="02040503050406030204" pitchFamily="18" charset="0"/>
                            </a:rPr>
                            <m:t>𝑦</m:t>
                          </m:r>
                          <m:r>
                            <a:rPr lang="en-US" sz="1600" b="0" i="1" smtClean="0">
                              <a:solidFill>
                                <a:schemeClr val="bg1">
                                  <a:lumMod val="50000"/>
                                </a:schemeClr>
                              </a:solidFill>
                              <a:latin typeface="Cambria Math" panose="02040503050406030204" pitchFamily="18" charset="0"/>
                            </a:rPr>
                            <m:t>=</m:t>
                          </m:r>
                          <m:r>
                            <a:rPr lang="en-US" sz="1600" b="0" i="1" smtClean="0">
                              <a:solidFill>
                                <a:schemeClr val="bg1">
                                  <a:lumMod val="50000"/>
                                </a:schemeClr>
                              </a:solidFill>
                              <a:latin typeface="Cambria Math" panose="02040503050406030204" pitchFamily="18" charset="0"/>
                            </a:rPr>
                            <m:t>𝑓</m:t>
                          </m:r>
                          <m:r>
                            <a:rPr lang="en-US" sz="1600" b="0" i="1" smtClean="0">
                              <a:solidFill>
                                <a:schemeClr val="bg1">
                                  <a:lumMod val="50000"/>
                                </a:schemeClr>
                              </a:solidFill>
                              <a:latin typeface="Cambria Math" panose="02040503050406030204" pitchFamily="18" charset="0"/>
                            </a:rPr>
                            <m:t>(</m:t>
                          </m:r>
                          <m:r>
                            <a:rPr lang="en-US" sz="1600" b="0" i="1" smtClean="0">
                              <a:solidFill>
                                <a:schemeClr val="bg1">
                                  <a:lumMod val="50000"/>
                                </a:schemeClr>
                              </a:solidFill>
                              <a:latin typeface="Cambria Math" panose="02040503050406030204" pitchFamily="18" charset="0"/>
                            </a:rPr>
                            <m:t>𝑥</m:t>
                          </m:r>
                          <m:r>
                            <a:rPr lang="en-US" sz="1600" b="0" i="1" smtClean="0">
                              <a:solidFill>
                                <a:schemeClr val="bg1">
                                  <a:lumMod val="50000"/>
                                </a:schemeClr>
                              </a:solidFill>
                              <a:latin typeface="Cambria Math" panose="02040503050406030204" pitchFamily="18" charset="0"/>
                            </a:rPr>
                            <m:t>)</m:t>
                          </m:r>
                        </m:oMath>
                      </m:oMathPara>
                    </a14:m>
                    <a:endParaRPr lang="en-US" sz="1600" dirty="0">
                      <a:solidFill>
                        <a:schemeClr val="bg1">
                          <a:lumMod val="50000"/>
                        </a:schemeClr>
                      </a:solidFill>
                    </a:endParaRPr>
                  </a:p>
                </p:txBody>
              </p:sp>
            </mc:Choice>
            <mc:Fallback xmlns="">
              <p:sp>
                <p:nvSpPr>
                  <p:cNvPr id="11" name="TextBox 10">
                    <a:extLst>
                      <a:ext uri="{FF2B5EF4-FFF2-40B4-BE49-F238E27FC236}">
                        <a16:creationId xmlns:a16="http://schemas.microsoft.com/office/drawing/2014/main" id="{52DE0C97-3869-C9C1-EE7B-2229A50F05DE}"/>
                      </a:ext>
                    </a:extLst>
                  </p:cNvPr>
                  <p:cNvSpPr txBox="1">
                    <a:spLocks noRot="1" noChangeAspect="1" noMove="1" noResize="1" noEditPoints="1" noAdjustHandles="1" noChangeArrowheads="1" noChangeShapeType="1" noTextEdit="1"/>
                  </p:cNvSpPr>
                  <p:nvPr/>
                </p:nvSpPr>
                <p:spPr>
                  <a:xfrm>
                    <a:off x="6233513" y="3421380"/>
                    <a:ext cx="852734" cy="246221"/>
                  </a:xfrm>
                  <a:prstGeom prst="rect">
                    <a:avLst/>
                  </a:prstGeom>
                  <a:blipFill>
                    <a:blip r:embed="rId23"/>
                    <a:stretch>
                      <a:fillRect l="-4317" r="-7194" b="-35000"/>
                    </a:stretch>
                  </a:blipFill>
                </p:spPr>
                <p:txBody>
                  <a:bodyPr/>
                  <a:lstStyle/>
                  <a:p>
                    <a:r>
                      <a:rPr lang="en-US">
                        <a:noFill/>
                      </a:rPr>
                      <a:t> </a:t>
                    </a:r>
                  </a:p>
                </p:txBody>
              </p:sp>
            </mc:Fallback>
          </mc:AlternateContent>
        </p:grpSp>
      </p:gr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120399509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92443"/>
          </a:xfrm>
        </p:spPr>
        <p:txBody>
          <a:bodyPr vert="horz" wrap="square" lIns="0" tIns="0" rIns="0" bIns="0" rtlCol="0" anchor="t">
            <a:spAutoFit/>
          </a:bodyPr>
          <a:lstStyle/>
          <a:p>
            <a:r>
              <a:rPr lang="en-US" sz="3200" dirty="0"/>
              <a:t>Our focus today</a:t>
            </a:r>
          </a:p>
        </p:txBody>
      </p:sp>
      <p:grpSp>
        <p:nvGrpSpPr>
          <p:cNvPr id="8" name="Group 7">
            <a:extLst>
              <a:ext uri="{FF2B5EF4-FFF2-40B4-BE49-F238E27FC236}">
                <a16:creationId xmlns:a16="http://schemas.microsoft.com/office/drawing/2014/main" id="{BA8B030C-76B5-4D03-70B5-B88430CFBC80}"/>
              </a:ext>
              <a:ext uri="{C183D7F6-B498-43B3-948B-1728B52AA6E4}">
                <adec:decorative xmlns:adec="http://schemas.microsoft.com/office/drawing/2017/decorative" val="1"/>
              </a:ext>
            </a:extLst>
          </p:cNvPr>
          <p:cNvGrpSpPr/>
          <p:nvPr/>
        </p:nvGrpSpPr>
        <p:grpSpPr>
          <a:xfrm>
            <a:off x="701040" y="1205911"/>
            <a:ext cx="10736580" cy="1259210"/>
            <a:chOff x="701040" y="1205911"/>
            <a:chExt cx="10736580" cy="1259210"/>
          </a:xfrm>
        </p:grpSpPr>
        <p:pic>
          <p:nvPicPr>
            <p:cNvPr id="42" name="Graphic 41">
              <a:extLst>
                <a:ext uri="{FF2B5EF4-FFF2-40B4-BE49-F238E27FC236}">
                  <a16:creationId xmlns:a16="http://schemas.microsoft.com/office/drawing/2014/main" id="{050F75AB-33D4-CF7F-B89A-90657397FB6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39740" y="1205911"/>
              <a:ext cx="1036320" cy="1036320"/>
            </a:xfrm>
            <a:prstGeom prst="rect">
              <a:avLst/>
            </a:prstGeom>
          </p:spPr>
        </p:pic>
        <p:sp>
          <p:nvSpPr>
            <p:cNvPr id="43" name="Left Brace 42">
              <a:extLst>
                <a:ext uri="{FF2B5EF4-FFF2-40B4-BE49-F238E27FC236}">
                  <a16:creationId xmlns:a16="http://schemas.microsoft.com/office/drawing/2014/main" id="{9A6083C9-B2AE-3404-6E43-9CF026CD3FA5}"/>
                </a:ext>
                <a:ext uri="{C183D7F6-B498-43B3-948B-1728B52AA6E4}">
                  <adec:decorative xmlns:adec="http://schemas.microsoft.com/office/drawing/2017/decorative" val="1"/>
                </a:ext>
              </a:extLst>
            </p:cNvPr>
            <p:cNvSpPr/>
            <p:nvPr/>
          </p:nvSpPr>
          <p:spPr>
            <a:xfrm rot="5400000">
              <a:off x="5890211" y="-3082288"/>
              <a:ext cx="358238" cy="10736580"/>
            </a:xfrm>
            <a:prstGeom prst="leftBrac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072262CF-D39C-184F-F710-107E77B00744}"/>
              </a:ext>
              <a:ext uri="{C183D7F6-B498-43B3-948B-1728B52AA6E4}">
                <adec:decorative xmlns:adec="http://schemas.microsoft.com/office/drawing/2017/decorative" val="1"/>
              </a:ext>
            </a:extLst>
          </p:cNvPr>
          <p:cNvGrpSpPr/>
          <p:nvPr/>
        </p:nvGrpSpPr>
        <p:grpSpPr>
          <a:xfrm>
            <a:off x="636270" y="2529843"/>
            <a:ext cx="2103120" cy="2631474"/>
            <a:chOff x="636270" y="2529843"/>
            <a:chExt cx="2103120" cy="2631474"/>
          </a:xfrm>
        </p:grpSpPr>
        <p:sp>
          <p:nvSpPr>
            <p:cNvPr id="13" name="Rectangle 12">
              <a:extLst>
                <a:ext uri="{FF2B5EF4-FFF2-40B4-BE49-F238E27FC236}">
                  <a16:creationId xmlns:a16="http://schemas.microsoft.com/office/drawing/2014/main" id="{E475DA80-5177-2F28-3BDC-8D2D98B84D4C}"/>
                </a:ext>
                <a:ext uri="{C183D7F6-B498-43B3-948B-1728B52AA6E4}">
                  <adec:decorative xmlns:adec="http://schemas.microsoft.com/office/drawing/2017/decorative" val="1"/>
                </a:ext>
              </a:extLst>
            </p:cNvPr>
            <p:cNvSpPr/>
            <p:nvPr/>
          </p:nvSpPr>
          <p:spPr bwMode="auto">
            <a:xfrm>
              <a:off x="636270" y="2529843"/>
              <a:ext cx="2103120" cy="2631474"/>
            </a:xfrm>
            <a:prstGeom prst="rect">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2000" dirty="0">
                  <a:solidFill>
                    <a:srgbClr val="D4D4D4"/>
                  </a:solidFill>
                  <a:ea typeface="Segoe UI" pitchFamily="34" charset="0"/>
                  <a:cs typeface="Segoe UI" pitchFamily="34" charset="0"/>
                </a:rPr>
                <a:t>Generative</a:t>
              </a:r>
            </a:p>
            <a:p>
              <a:pPr algn="ctr" defTabSz="932472" fontAlgn="base">
                <a:spcBef>
                  <a:spcPct val="0"/>
                </a:spcBef>
                <a:spcAft>
                  <a:spcPct val="0"/>
                </a:spcAft>
              </a:pPr>
              <a:r>
                <a:rPr lang="en-US" sz="2000" dirty="0">
                  <a:solidFill>
                    <a:srgbClr val="D4D4D4"/>
                  </a:solidFill>
                  <a:ea typeface="Segoe UI" pitchFamily="34" charset="0"/>
                  <a:cs typeface="Segoe UI" pitchFamily="34" charset="0"/>
                </a:rPr>
                <a:t>AI</a:t>
              </a:r>
            </a:p>
          </p:txBody>
        </p:sp>
        <p:pic>
          <p:nvPicPr>
            <p:cNvPr id="18" name="Graphic 17" descr="Chat outline">
              <a:extLst>
                <a:ext uri="{FF2B5EF4-FFF2-40B4-BE49-F238E27FC236}">
                  <a16:creationId xmlns:a16="http://schemas.microsoft.com/office/drawing/2014/main" id="{8DCCD776-69E8-E853-A559-A221BAE848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9826" y="2746911"/>
              <a:ext cx="1499525" cy="1499525"/>
            </a:xfrm>
            <a:prstGeom prst="rect">
              <a:avLst/>
            </a:prstGeom>
          </p:spPr>
        </p:pic>
      </p:grpSp>
      <p:grpSp>
        <p:nvGrpSpPr>
          <p:cNvPr id="10" name="Group 9" descr="Agents and automation.">
            <a:extLst>
              <a:ext uri="{FF2B5EF4-FFF2-40B4-BE49-F238E27FC236}">
                <a16:creationId xmlns:a16="http://schemas.microsoft.com/office/drawing/2014/main" id="{EF0C7931-35F4-599B-00BB-C4C905025964}"/>
              </a:ext>
            </a:extLst>
          </p:cNvPr>
          <p:cNvGrpSpPr/>
          <p:nvPr/>
        </p:nvGrpSpPr>
        <p:grpSpPr>
          <a:xfrm>
            <a:off x="2827973" y="2545078"/>
            <a:ext cx="2103120" cy="2631474"/>
            <a:chOff x="2827973" y="2545078"/>
            <a:chExt cx="2103120" cy="2631474"/>
          </a:xfrm>
        </p:grpSpPr>
        <p:sp>
          <p:nvSpPr>
            <p:cNvPr id="14" name="Rectangle 13" descr="Agents and automation">
              <a:extLst>
                <a:ext uri="{FF2B5EF4-FFF2-40B4-BE49-F238E27FC236}">
                  <a16:creationId xmlns:a16="http://schemas.microsoft.com/office/drawing/2014/main" id="{1EB741A3-06AB-6084-7A32-3D2C07E20DC7}"/>
                </a:ext>
              </a:extLst>
            </p:cNvPr>
            <p:cNvSpPr/>
            <p:nvPr/>
          </p:nvSpPr>
          <p:spPr bwMode="auto">
            <a:xfrm>
              <a:off x="2827973" y="2545078"/>
              <a:ext cx="2103120" cy="2631474"/>
            </a:xfrm>
            <a:prstGeom prst="rect">
              <a:avLst/>
            </a:prstGeom>
            <a:solidFill>
              <a:schemeClr val="bg1"/>
            </a:solidFill>
            <a:ln w="285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ea typeface="Segoe UI" pitchFamily="34" charset="0"/>
                  <a:cs typeface="Segoe UI" pitchFamily="34" charset="0"/>
                </a:rPr>
                <a:t>Agents and automation</a:t>
              </a:r>
            </a:p>
          </p:txBody>
        </p:sp>
        <p:grpSp>
          <p:nvGrpSpPr>
            <p:cNvPr id="27" name="Group 26">
              <a:extLst>
                <a:ext uri="{FF2B5EF4-FFF2-40B4-BE49-F238E27FC236}">
                  <a16:creationId xmlns:a16="http://schemas.microsoft.com/office/drawing/2014/main" id="{6474A295-75A3-4DFE-9A3E-6D46101FFFCE}"/>
                </a:ext>
              </a:extLst>
            </p:cNvPr>
            <p:cNvGrpSpPr/>
            <p:nvPr/>
          </p:nvGrpSpPr>
          <p:grpSpPr>
            <a:xfrm>
              <a:off x="3189284" y="2746911"/>
              <a:ext cx="1278893" cy="1291225"/>
              <a:chOff x="3201314" y="2458146"/>
              <a:chExt cx="1278893" cy="1291225"/>
            </a:xfrm>
            <a:solidFill>
              <a:schemeClr val="tx1"/>
            </a:solidFill>
          </p:grpSpPr>
          <p:pic>
            <p:nvPicPr>
              <p:cNvPr id="20" name="Graphic 19" descr="User outline">
                <a:extLst>
                  <a:ext uri="{FF2B5EF4-FFF2-40B4-BE49-F238E27FC236}">
                    <a16:creationId xmlns:a16="http://schemas.microsoft.com/office/drawing/2014/main" id="{414EFB67-5F3F-FEEB-734D-9CA1D0E327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01314" y="2458146"/>
                <a:ext cx="1278893" cy="1278893"/>
              </a:xfrm>
              <a:prstGeom prst="rect">
                <a:avLst/>
              </a:prstGeom>
            </p:spPr>
          </p:pic>
          <p:pic>
            <p:nvPicPr>
              <p:cNvPr id="24" name="Graphic 23" descr="Single gear outline">
                <a:extLst>
                  <a:ext uri="{FF2B5EF4-FFF2-40B4-BE49-F238E27FC236}">
                    <a16:creationId xmlns:a16="http://schemas.microsoft.com/office/drawing/2014/main" id="{2273FEB7-2A1F-E9C3-9130-3F8539F4DE4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28480" y="3124811"/>
                <a:ext cx="624560" cy="624560"/>
              </a:xfrm>
              <a:prstGeom prst="rect">
                <a:avLst/>
              </a:prstGeom>
            </p:spPr>
          </p:pic>
        </p:grpSp>
      </p:grpSp>
      <p:grpSp>
        <p:nvGrpSpPr>
          <p:cNvPr id="4" name="Group 3">
            <a:extLst>
              <a:ext uri="{FF2B5EF4-FFF2-40B4-BE49-F238E27FC236}">
                <a16:creationId xmlns:a16="http://schemas.microsoft.com/office/drawing/2014/main" id="{1987720E-C7EB-566C-DCBA-CE69B073131F}"/>
              </a:ext>
              <a:ext uri="{C183D7F6-B498-43B3-948B-1728B52AA6E4}">
                <adec:decorative xmlns:adec="http://schemas.microsoft.com/office/drawing/2017/decorative" val="1"/>
              </a:ext>
            </a:extLst>
          </p:cNvPr>
          <p:cNvGrpSpPr/>
          <p:nvPr/>
        </p:nvGrpSpPr>
        <p:grpSpPr>
          <a:xfrm>
            <a:off x="5019674" y="2538384"/>
            <a:ext cx="2103120" cy="2631474"/>
            <a:chOff x="7211379" y="2545079"/>
            <a:chExt cx="2103120" cy="2631474"/>
          </a:xfrm>
        </p:grpSpPr>
        <p:sp>
          <p:nvSpPr>
            <p:cNvPr id="16" name="Rectangle 15">
              <a:extLst>
                <a:ext uri="{FF2B5EF4-FFF2-40B4-BE49-F238E27FC236}">
                  <a16:creationId xmlns:a16="http://schemas.microsoft.com/office/drawing/2014/main" id="{D0C97147-0936-DC5B-3031-3E9D5FCD31A6}"/>
                </a:ext>
              </a:extLst>
            </p:cNvPr>
            <p:cNvSpPr/>
            <p:nvPr/>
          </p:nvSpPr>
          <p:spPr bwMode="auto">
            <a:xfrm>
              <a:off x="7211379" y="2545079"/>
              <a:ext cx="2103120" cy="2631474"/>
            </a:xfrm>
            <a:prstGeom prst="rect">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2000" dirty="0">
                  <a:solidFill>
                    <a:schemeClr val="bg1">
                      <a:lumMod val="75000"/>
                    </a:schemeClr>
                  </a:solidFill>
                  <a:ea typeface="Segoe UI" pitchFamily="34" charset="0"/>
                  <a:cs typeface="Segoe UI" pitchFamily="34" charset="0"/>
                </a:rPr>
                <a:t>Natural Language</a:t>
              </a:r>
            </a:p>
          </p:txBody>
        </p:sp>
        <p:grpSp>
          <p:nvGrpSpPr>
            <p:cNvPr id="34" name="Group 33">
              <a:extLst>
                <a:ext uri="{FF2B5EF4-FFF2-40B4-BE49-F238E27FC236}">
                  <a16:creationId xmlns:a16="http://schemas.microsoft.com/office/drawing/2014/main" id="{2AF24138-41F7-18C3-B7E9-A4A8F2747FA4}"/>
                </a:ext>
              </a:extLst>
            </p:cNvPr>
            <p:cNvGrpSpPr/>
            <p:nvPr/>
          </p:nvGrpSpPr>
          <p:grpSpPr>
            <a:xfrm>
              <a:off x="7618875" y="2668480"/>
              <a:ext cx="1239660" cy="1369656"/>
              <a:chOff x="7833360" y="207684"/>
              <a:chExt cx="1239660" cy="1369656"/>
            </a:xfrm>
            <a:solidFill>
              <a:schemeClr val="bg1">
                <a:lumMod val="75000"/>
              </a:schemeClr>
            </a:solidFill>
          </p:grpSpPr>
          <p:pic>
            <p:nvPicPr>
              <p:cNvPr id="31" name="Graphic 30" descr="Document outline">
                <a:extLst>
                  <a:ext uri="{FF2B5EF4-FFF2-40B4-BE49-F238E27FC236}">
                    <a16:creationId xmlns:a16="http://schemas.microsoft.com/office/drawing/2014/main" id="{21E6DEB6-9356-879E-AA2B-02755C36A6E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67440" y="1005840"/>
                <a:ext cx="571500" cy="571500"/>
              </a:xfrm>
              <a:prstGeom prst="rect">
                <a:avLst/>
              </a:prstGeom>
            </p:spPr>
          </p:pic>
          <p:pic>
            <p:nvPicPr>
              <p:cNvPr id="33" name="Graphic 32" descr="Call center outline">
                <a:extLst>
                  <a:ext uri="{FF2B5EF4-FFF2-40B4-BE49-F238E27FC236}">
                    <a16:creationId xmlns:a16="http://schemas.microsoft.com/office/drawing/2014/main" id="{65E7D239-C471-72A9-0996-E7D9239D016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33360" y="207684"/>
                <a:ext cx="1239660" cy="1239660"/>
              </a:xfrm>
              <a:prstGeom prst="rect">
                <a:avLst/>
              </a:prstGeom>
            </p:spPr>
          </p:pic>
        </p:grpSp>
      </p:grpSp>
      <p:grpSp>
        <p:nvGrpSpPr>
          <p:cNvPr id="2" name="Group 1">
            <a:extLst>
              <a:ext uri="{FF2B5EF4-FFF2-40B4-BE49-F238E27FC236}">
                <a16:creationId xmlns:a16="http://schemas.microsoft.com/office/drawing/2014/main" id="{086A8D4E-E239-AB0B-1EED-7720AA02CD4F}"/>
              </a:ext>
              <a:ext uri="{C183D7F6-B498-43B3-948B-1728B52AA6E4}">
                <adec:decorative xmlns:adec="http://schemas.microsoft.com/office/drawing/2017/decorative" val="1"/>
              </a:ext>
            </a:extLst>
          </p:cNvPr>
          <p:cNvGrpSpPr/>
          <p:nvPr/>
        </p:nvGrpSpPr>
        <p:grpSpPr>
          <a:xfrm>
            <a:off x="7211377" y="2553624"/>
            <a:ext cx="2103120" cy="2631474"/>
            <a:chOff x="5019676" y="2545079"/>
            <a:chExt cx="2103120" cy="2631474"/>
          </a:xfrm>
        </p:grpSpPr>
        <p:sp>
          <p:nvSpPr>
            <p:cNvPr id="15" name="Rectangle 14">
              <a:extLst>
                <a:ext uri="{FF2B5EF4-FFF2-40B4-BE49-F238E27FC236}">
                  <a16:creationId xmlns:a16="http://schemas.microsoft.com/office/drawing/2014/main" id="{23EAE5D4-B1D5-1E23-18B4-40236088C3D8}"/>
                </a:ext>
              </a:extLst>
            </p:cNvPr>
            <p:cNvSpPr/>
            <p:nvPr/>
          </p:nvSpPr>
          <p:spPr bwMode="auto">
            <a:xfrm>
              <a:off x="5019676" y="2545079"/>
              <a:ext cx="2103120" cy="2631474"/>
            </a:xfrm>
            <a:prstGeom prst="rect">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2000" dirty="0">
                  <a:solidFill>
                    <a:schemeClr val="bg1">
                      <a:lumMod val="75000"/>
                    </a:schemeClr>
                  </a:solidFill>
                  <a:ea typeface="Segoe UI" pitchFamily="34" charset="0"/>
                  <a:cs typeface="Segoe UI" pitchFamily="34" charset="0"/>
                </a:rPr>
                <a:t>Computer Vision</a:t>
              </a:r>
            </a:p>
          </p:txBody>
        </p:sp>
        <p:pic>
          <p:nvPicPr>
            <p:cNvPr id="28" name="Graphic 27" descr="Eye Scan with solid fill">
              <a:extLst>
                <a:ext uri="{FF2B5EF4-FFF2-40B4-BE49-F238E27FC236}">
                  <a16:creationId xmlns:a16="http://schemas.microsoft.com/office/drawing/2014/main" id="{1A11F3F8-0792-F49C-E174-9AC0B4EDE3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21383" y="2885142"/>
              <a:ext cx="1056868" cy="1056868"/>
            </a:xfrm>
            <a:prstGeom prst="rect">
              <a:avLst/>
            </a:prstGeom>
          </p:spPr>
        </p:pic>
      </p:grpSp>
      <p:grpSp>
        <p:nvGrpSpPr>
          <p:cNvPr id="19" name="Group 18">
            <a:extLst>
              <a:ext uri="{FF2B5EF4-FFF2-40B4-BE49-F238E27FC236}">
                <a16:creationId xmlns:a16="http://schemas.microsoft.com/office/drawing/2014/main" id="{D68A33AF-EB7A-CB98-9D69-E18B13B1D38F}"/>
              </a:ext>
              <a:ext uri="{C183D7F6-B498-43B3-948B-1728B52AA6E4}">
                <adec:decorative xmlns:adec="http://schemas.microsoft.com/office/drawing/2017/decorative" val="1"/>
              </a:ext>
            </a:extLst>
          </p:cNvPr>
          <p:cNvGrpSpPr/>
          <p:nvPr/>
        </p:nvGrpSpPr>
        <p:grpSpPr>
          <a:xfrm>
            <a:off x="9403080" y="2545080"/>
            <a:ext cx="2103120" cy="2631474"/>
            <a:chOff x="9403080" y="2545080"/>
            <a:chExt cx="2103120" cy="2631474"/>
          </a:xfrm>
        </p:grpSpPr>
        <p:sp>
          <p:nvSpPr>
            <p:cNvPr id="17" name="Rectangle 16">
              <a:extLst>
                <a:ext uri="{FF2B5EF4-FFF2-40B4-BE49-F238E27FC236}">
                  <a16:creationId xmlns:a16="http://schemas.microsoft.com/office/drawing/2014/main" id="{0F7005D2-3E6E-CB62-3D9C-4DA1B7E26E60}"/>
                </a:ext>
                <a:ext uri="{C183D7F6-B498-43B3-948B-1728B52AA6E4}">
                  <adec:decorative xmlns:adec="http://schemas.microsoft.com/office/drawing/2017/decorative" val="1"/>
                </a:ext>
              </a:extLst>
            </p:cNvPr>
            <p:cNvSpPr/>
            <p:nvPr/>
          </p:nvSpPr>
          <p:spPr bwMode="auto">
            <a:xfrm>
              <a:off x="9403080" y="2545080"/>
              <a:ext cx="2103120" cy="2631474"/>
            </a:xfrm>
            <a:prstGeom prst="rect">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2000" dirty="0">
                  <a:solidFill>
                    <a:schemeClr val="bg1">
                      <a:lumMod val="75000"/>
                    </a:schemeClr>
                  </a:solidFill>
                  <a:ea typeface="Segoe UI" pitchFamily="34" charset="0"/>
                  <a:cs typeface="Segoe UI" pitchFamily="34" charset="0"/>
                </a:rPr>
                <a:t>Information Extraction</a:t>
              </a:r>
            </a:p>
          </p:txBody>
        </p:sp>
        <p:grpSp>
          <p:nvGrpSpPr>
            <p:cNvPr id="39" name="Group 38">
              <a:extLst>
                <a:ext uri="{FF2B5EF4-FFF2-40B4-BE49-F238E27FC236}">
                  <a16:creationId xmlns:a16="http://schemas.microsoft.com/office/drawing/2014/main" id="{0529A81C-451E-D358-197F-6FB373381C9B}"/>
                </a:ext>
              </a:extLst>
            </p:cNvPr>
            <p:cNvGrpSpPr/>
            <p:nvPr/>
          </p:nvGrpSpPr>
          <p:grpSpPr>
            <a:xfrm>
              <a:off x="9821645" y="2891657"/>
              <a:ext cx="1059255" cy="1134146"/>
              <a:chOff x="8324086" y="287197"/>
              <a:chExt cx="1059255" cy="1134146"/>
            </a:xfrm>
            <a:solidFill>
              <a:schemeClr val="bg1">
                <a:lumMod val="75000"/>
              </a:schemeClr>
            </a:solidFill>
          </p:grpSpPr>
          <p:pic>
            <p:nvPicPr>
              <p:cNvPr id="36" name="Graphic 35" descr="Magnifying glass with solid fill">
                <a:extLst>
                  <a:ext uri="{FF2B5EF4-FFF2-40B4-BE49-F238E27FC236}">
                    <a16:creationId xmlns:a16="http://schemas.microsoft.com/office/drawing/2014/main" id="{33D3D325-78AD-457F-4D26-0D51435F9A8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600688" y="638690"/>
                <a:ext cx="782653" cy="782653"/>
              </a:xfrm>
              <a:prstGeom prst="rect">
                <a:avLst/>
              </a:prstGeom>
            </p:spPr>
          </p:pic>
          <p:pic>
            <p:nvPicPr>
              <p:cNvPr id="38" name="Graphic 37" descr="Contract outline">
                <a:extLst>
                  <a:ext uri="{FF2B5EF4-FFF2-40B4-BE49-F238E27FC236}">
                    <a16:creationId xmlns:a16="http://schemas.microsoft.com/office/drawing/2014/main" id="{C9CC180B-7C20-307D-36A6-388A74FABA9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324086" y="287197"/>
                <a:ext cx="914400" cy="914400"/>
              </a:xfrm>
              <a:prstGeom prst="rect">
                <a:avLst/>
              </a:prstGeom>
            </p:spPr>
          </p:pic>
        </p:grpSp>
      </p:grpSp>
      <p:grpSp>
        <p:nvGrpSpPr>
          <p:cNvPr id="21" name="Group 20">
            <a:extLst>
              <a:ext uri="{FF2B5EF4-FFF2-40B4-BE49-F238E27FC236}">
                <a16:creationId xmlns:a16="http://schemas.microsoft.com/office/drawing/2014/main" id="{0B78AEC5-5D81-8068-CF49-22A7408F2A32}"/>
              </a:ext>
              <a:ext uri="{C183D7F6-B498-43B3-948B-1728B52AA6E4}">
                <adec:decorative xmlns:adec="http://schemas.microsoft.com/office/drawing/2017/decorative" val="1"/>
              </a:ext>
            </a:extLst>
          </p:cNvPr>
          <p:cNvGrpSpPr/>
          <p:nvPr/>
        </p:nvGrpSpPr>
        <p:grpSpPr>
          <a:xfrm>
            <a:off x="624840" y="5280660"/>
            <a:ext cx="10896600" cy="914400"/>
            <a:chOff x="624840" y="5280660"/>
            <a:chExt cx="10896600" cy="914400"/>
          </a:xfrm>
        </p:grpSpPr>
        <p:sp>
          <p:nvSpPr>
            <p:cNvPr id="7" name="Rectangle 6">
              <a:extLst>
                <a:ext uri="{FF2B5EF4-FFF2-40B4-BE49-F238E27FC236}">
                  <a16:creationId xmlns:a16="http://schemas.microsoft.com/office/drawing/2014/main" id="{51B2F25A-596B-CF78-5797-0424053F0726}"/>
                </a:ext>
                <a:ext uri="{C183D7F6-B498-43B3-948B-1728B52AA6E4}">
                  <adec:decorative xmlns:adec="http://schemas.microsoft.com/office/drawing/2017/decorative" val="1"/>
                </a:ext>
              </a:extLst>
            </p:cNvPr>
            <p:cNvSpPr/>
            <p:nvPr/>
          </p:nvSpPr>
          <p:spPr bwMode="auto">
            <a:xfrm>
              <a:off x="624840" y="5280660"/>
              <a:ext cx="10896600" cy="899160"/>
            </a:xfrm>
            <a:prstGeom prst="rect">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bg1">
                      <a:lumMod val="75000"/>
                    </a:schemeClr>
                  </a:solidFill>
                  <a:ea typeface="Segoe UI" pitchFamily="34" charset="0"/>
                  <a:cs typeface="Segoe UI" pitchFamily="34" charset="0"/>
                </a:rPr>
                <a:t>Machine Learning</a:t>
              </a:r>
            </a:p>
          </p:txBody>
        </p:sp>
        <p:grpSp>
          <p:nvGrpSpPr>
            <p:cNvPr id="12" name="Group 11">
              <a:extLst>
                <a:ext uri="{FF2B5EF4-FFF2-40B4-BE49-F238E27FC236}">
                  <a16:creationId xmlns:a16="http://schemas.microsoft.com/office/drawing/2014/main" id="{484C916E-9C13-A0DE-3232-60C42C5A2444}"/>
                </a:ext>
              </a:extLst>
            </p:cNvPr>
            <p:cNvGrpSpPr/>
            <p:nvPr/>
          </p:nvGrpSpPr>
          <p:grpSpPr>
            <a:xfrm>
              <a:off x="3474720" y="5280660"/>
              <a:ext cx="1447447" cy="914400"/>
              <a:chOff x="5638800" y="2971800"/>
              <a:chExt cx="1447447" cy="914400"/>
            </a:xfrm>
          </p:grpSpPr>
          <p:pic>
            <p:nvPicPr>
              <p:cNvPr id="9" name="Graphic 8" descr="Gears outline">
                <a:extLst>
                  <a:ext uri="{FF2B5EF4-FFF2-40B4-BE49-F238E27FC236}">
                    <a16:creationId xmlns:a16="http://schemas.microsoft.com/office/drawing/2014/main" id="{3A382EE5-6B49-3DBA-EABA-5209D2B1515A}"/>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5638800" y="2971800"/>
                <a:ext cx="914400" cy="91440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DE0C97-3869-C9C1-EE7B-2229A50F05DE}"/>
                      </a:ext>
                    </a:extLst>
                  </p:cNvPr>
                  <p:cNvSpPr txBox="1"/>
                  <p:nvPr/>
                </p:nvSpPr>
                <p:spPr>
                  <a:xfrm>
                    <a:off x="6233513" y="3421380"/>
                    <a:ext cx="852734" cy="246221"/>
                  </a:xfrm>
                  <a:prstGeom prst="rect">
                    <a:avLst/>
                  </a:prstGeom>
                  <a:noFill/>
                </p:spPr>
                <p:txBody>
                  <a:bodyPr wrap="none" lIns="0" tIns="0" rIns="0" bIns="0" rtlCol="0">
                    <a:spAutoFit/>
                  </a:bodyPr>
                  <a:lstStyle/>
                  <a:p>
                    <a:pPr algn="l"/>
                    <a14:m>
                      <m:oMathPara xmlns:m="http://schemas.openxmlformats.org/officeDocument/2006/math">
                        <m:oMath>
                          <m:r>
                            <a:rPr lang="en-US" sz="1600" b="0" i="1" smtClean="0">
                              <a:solidFill>
                                <a:schemeClr val="bg1">
                                  <a:lumMod val="75000"/>
                                </a:schemeClr>
                              </a:solidFill>
                              <a:latin typeface="Cambria Math" panose="02040503050406030204" pitchFamily="18" charset="0"/>
                            </a:rPr>
                            <m:t>𝑦</m:t>
                          </m:r>
                          <m:r>
                            <a:rPr lang="en-US" sz="1600" b="0" i="1" smtClean="0">
                              <a:solidFill>
                                <a:schemeClr val="bg1">
                                  <a:lumMod val="75000"/>
                                </a:schemeClr>
                              </a:solidFill>
                              <a:latin typeface="Cambria Math" panose="02040503050406030204" pitchFamily="18" charset="0"/>
                            </a:rPr>
                            <m:t>=</m:t>
                          </m:r>
                          <m:r>
                            <a:rPr lang="en-US" sz="1600" b="0" i="1" smtClean="0">
                              <a:solidFill>
                                <a:schemeClr val="bg1">
                                  <a:lumMod val="75000"/>
                                </a:schemeClr>
                              </a:solidFill>
                              <a:latin typeface="Cambria Math" panose="02040503050406030204" pitchFamily="18" charset="0"/>
                            </a:rPr>
                            <m:t>𝑓</m:t>
                          </m:r>
                          <m:r>
                            <a:rPr lang="en-US" sz="1600" b="0" i="1" smtClean="0">
                              <a:solidFill>
                                <a:schemeClr val="bg1">
                                  <a:lumMod val="75000"/>
                                </a:schemeClr>
                              </a:solidFill>
                              <a:latin typeface="Cambria Math" panose="02040503050406030204" pitchFamily="18" charset="0"/>
                            </a:rPr>
                            <m:t>(</m:t>
                          </m:r>
                          <m:r>
                            <a:rPr lang="en-US" sz="1600" b="0" i="1" smtClean="0">
                              <a:solidFill>
                                <a:schemeClr val="bg1">
                                  <a:lumMod val="75000"/>
                                </a:schemeClr>
                              </a:solidFill>
                              <a:latin typeface="Cambria Math" panose="02040503050406030204" pitchFamily="18" charset="0"/>
                            </a:rPr>
                            <m:t>𝑥</m:t>
                          </m:r>
                          <m:r>
                            <a:rPr lang="en-US" sz="1600" b="0" i="1" smtClean="0">
                              <a:solidFill>
                                <a:schemeClr val="bg1">
                                  <a:lumMod val="75000"/>
                                </a:schemeClr>
                              </a:solidFill>
                              <a:latin typeface="Cambria Math" panose="02040503050406030204" pitchFamily="18" charset="0"/>
                            </a:rPr>
                            <m:t>)</m:t>
                          </m:r>
                        </m:oMath>
                      </m:oMathPara>
                    </a14:m>
                    <a:endParaRPr lang="en-US" sz="1600" dirty="0">
                      <a:solidFill>
                        <a:schemeClr val="bg1">
                          <a:lumMod val="75000"/>
                        </a:schemeClr>
                      </a:solidFill>
                    </a:endParaRPr>
                  </a:p>
                </p:txBody>
              </p:sp>
            </mc:Choice>
            <mc:Fallback xmlns="">
              <p:sp>
                <p:nvSpPr>
                  <p:cNvPr id="11" name="TextBox 10">
                    <a:extLst>
                      <a:ext uri="{FF2B5EF4-FFF2-40B4-BE49-F238E27FC236}">
                        <a16:creationId xmlns:a16="http://schemas.microsoft.com/office/drawing/2014/main" id="{52DE0C97-3869-C9C1-EE7B-2229A50F05DE}"/>
                      </a:ext>
                    </a:extLst>
                  </p:cNvPr>
                  <p:cNvSpPr txBox="1">
                    <a:spLocks noRot="1" noChangeAspect="1" noMove="1" noResize="1" noEditPoints="1" noAdjustHandles="1" noChangeArrowheads="1" noChangeShapeType="1" noTextEdit="1"/>
                  </p:cNvSpPr>
                  <p:nvPr/>
                </p:nvSpPr>
                <p:spPr>
                  <a:xfrm>
                    <a:off x="6233513" y="3421380"/>
                    <a:ext cx="852734" cy="246221"/>
                  </a:xfrm>
                  <a:prstGeom prst="rect">
                    <a:avLst/>
                  </a:prstGeom>
                  <a:blipFill>
                    <a:blip r:embed="rId23"/>
                    <a:stretch>
                      <a:fillRect l="-4317" r="-7194" b="-35000"/>
                    </a:stretch>
                  </a:blipFill>
                </p:spPr>
                <p:txBody>
                  <a:bodyPr/>
                  <a:lstStyle/>
                  <a:p>
                    <a:r>
                      <a:rPr lang="en-US">
                        <a:noFill/>
                      </a:rPr>
                      <a:t> </a:t>
                    </a:r>
                  </a:p>
                </p:txBody>
              </p:sp>
            </mc:Fallback>
          </mc:AlternateContent>
        </p:grpSp>
      </p:gr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200071078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2769057"/>
            <a:ext cx="6345239" cy="1231106"/>
          </a:xfrm>
        </p:spPr>
        <p:txBody>
          <a:bodyPr/>
          <a:lstStyle/>
          <a:p>
            <a:r>
              <a:rPr lang="en-US" noProof="0" dirty="0"/>
              <a:t>Get started with AI agent development on Azure</a:t>
            </a:r>
          </a:p>
        </p:txBody>
      </p:sp>
      <p:sp>
        <p:nvSpPr>
          <p:cNvPr id="4" name="TextBox 3">
            <a:extLst>
              <a:ext uri="{FF2B5EF4-FFF2-40B4-BE49-F238E27FC236}">
                <a16:creationId xmlns:a16="http://schemas.microsoft.com/office/drawing/2014/main" id="{F1E17AE1-6F4B-DCA2-B7E0-6061D1ED8619}"/>
              </a:ext>
            </a:extLst>
          </p:cNvPr>
          <p:cNvSpPr txBox="1"/>
          <p:nvPr/>
        </p:nvSpPr>
        <p:spPr>
          <a:xfrm>
            <a:off x="569911" y="4000163"/>
            <a:ext cx="4596449" cy="363946"/>
          </a:xfrm>
          <a:prstGeom prst="rect">
            <a:avLst/>
          </a:prstGeom>
          <a:noFill/>
        </p:spPr>
        <p:txBody>
          <a:bodyPr wrap="square">
            <a:spAutoFit/>
          </a:bodyPr>
          <a:lstStyle/>
          <a:p>
            <a:r>
              <a:rPr lang="en-US" dirty="0">
                <a:solidFill>
                  <a:schemeClr val="accent2"/>
                </a:solidFill>
              </a:rPr>
              <a:t>https://aka.ms/mslearn-get-started-agents</a:t>
            </a:r>
          </a:p>
        </p:txBody>
      </p:sp>
    </p:spTree>
    <p:extLst>
      <p:ext uri="{BB962C8B-B14F-4D97-AF65-F5344CB8AC3E}">
        <p14:creationId xmlns:p14="http://schemas.microsoft.com/office/powerpoint/2010/main" val="281816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6BA7E-4A73-F984-7F57-FE0F8E8C3BD2}"/>
              </a:ext>
            </a:extLst>
          </p:cNvPr>
          <p:cNvSpPr>
            <a:spLocks noGrp="1"/>
          </p:cNvSpPr>
          <p:nvPr>
            <p:ph type="title"/>
          </p:nvPr>
        </p:nvSpPr>
        <p:spPr>
          <a:xfrm>
            <a:off x="588262" y="585216"/>
            <a:ext cx="11013474" cy="492443"/>
          </a:xfrm>
        </p:spPr>
        <p:txBody>
          <a:bodyPr>
            <a:normAutofit fontScale="90000"/>
          </a:bodyPr>
          <a:lstStyle/>
          <a:p>
            <a:r>
              <a:rPr lang="en-US" sz="3200" noProof="0" dirty="0"/>
              <a:t>What are AI agents?</a:t>
            </a:r>
          </a:p>
        </p:txBody>
      </p:sp>
      <p:sp>
        <p:nvSpPr>
          <p:cNvPr id="5" name="Text Placeholder 4">
            <a:extLst>
              <a:ext uri="{FF2B5EF4-FFF2-40B4-BE49-F238E27FC236}">
                <a16:creationId xmlns:a16="http://schemas.microsoft.com/office/drawing/2014/main" id="{E7F8FF9D-D94B-6818-029E-CF52E7CF3A57}"/>
              </a:ext>
            </a:extLst>
          </p:cNvPr>
          <p:cNvSpPr>
            <a:spLocks noGrp="1"/>
          </p:cNvSpPr>
          <p:nvPr>
            <p:ph type="body" sz="quarter" idx="15"/>
          </p:nvPr>
        </p:nvSpPr>
        <p:spPr>
          <a:xfrm>
            <a:off x="586840" y="1600366"/>
            <a:ext cx="5579442" cy="1698927"/>
          </a:xfrm>
        </p:spPr>
        <p:txBody>
          <a:bodyPr/>
          <a:lstStyle/>
          <a:p>
            <a:pPr marL="0" indent="0">
              <a:buNone/>
            </a:pPr>
            <a:r>
              <a:rPr lang="en-US" sz="2400" dirty="0"/>
              <a:t>Smart software services that combine </a:t>
            </a:r>
          </a:p>
          <a:p>
            <a:pPr marL="288925" indent="-288925"/>
            <a:r>
              <a:rPr lang="en-US" sz="2400" dirty="0"/>
              <a:t>Generative AI models</a:t>
            </a:r>
          </a:p>
          <a:p>
            <a:pPr marL="288925" indent="-288925"/>
            <a:r>
              <a:rPr lang="en-US" sz="2400" dirty="0"/>
              <a:t>Contextual knowledge</a:t>
            </a:r>
          </a:p>
          <a:p>
            <a:pPr marL="288925" indent="-288925"/>
            <a:r>
              <a:rPr lang="en-US" sz="2400" dirty="0"/>
              <a:t>Tools to automate tasks</a:t>
            </a:r>
            <a:endParaRPr lang="en-US" sz="1600" dirty="0"/>
          </a:p>
        </p:txBody>
      </p:sp>
      <p:grpSp>
        <p:nvGrpSpPr>
          <p:cNvPr id="44" name="Group 43">
            <a:extLst>
              <a:ext uri="{FF2B5EF4-FFF2-40B4-BE49-F238E27FC236}">
                <a16:creationId xmlns:a16="http://schemas.microsoft.com/office/drawing/2014/main" id="{7FCDC7EC-AD36-799D-F422-B0F08827E1E6}"/>
              </a:ext>
              <a:ext uri="{C183D7F6-B498-43B3-948B-1728B52AA6E4}">
                <adec:decorative xmlns:adec="http://schemas.microsoft.com/office/drawing/2017/decorative" val="1"/>
              </a:ext>
            </a:extLst>
          </p:cNvPr>
          <p:cNvGrpSpPr/>
          <p:nvPr/>
        </p:nvGrpSpPr>
        <p:grpSpPr>
          <a:xfrm>
            <a:off x="6316449" y="1280160"/>
            <a:ext cx="5113551" cy="3293364"/>
            <a:chOff x="3535937" y="368914"/>
            <a:chExt cx="4423970" cy="2782973"/>
          </a:xfrm>
        </p:grpSpPr>
        <p:grpSp>
          <p:nvGrpSpPr>
            <p:cNvPr id="46" name="Group 45">
              <a:extLst>
                <a:ext uri="{FF2B5EF4-FFF2-40B4-BE49-F238E27FC236}">
                  <a16:creationId xmlns:a16="http://schemas.microsoft.com/office/drawing/2014/main" id="{4657AA16-E896-8CB2-61C8-5D83B96D4EE2}"/>
                </a:ext>
              </a:extLst>
            </p:cNvPr>
            <p:cNvGrpSpPr/>
            <p:nvPr/>
          </p:nvGrpSpPr>
          <p:grpSpPr>
            <a:xfrm>
              <a:off x="3535937" y="368914"/>
              <a:ext cx="3868757" cy="2612518"/>
              <a:chOff x="2840257" y="1599572"/>
              <a:chExt cx="3868757" cy="2612518"/>
            </a:xfrm>
          </p:grpSpPr>
          <p:pic>
            <p:nvPicPr>
              <p:cNvPr id="56" name="Graphic 55" descr="Document outline">
                <a:extLst>
                  <a:ext uri="{FF2B5EF4-FFF2-40B4-BE49-F238E27FC236}">
                    <a16:creationId xmlns:a16="http://schemas.microsoft.com/office/drawing/2014/main" id="{296E0234-55A9-F7F7-EC25-1B49F05572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39598" y="2602042"/>
                <a:ext cx="760978" cy="760978"/>
              </a:xfrm>
              <a:prstGeom prst="rect">
                <a:avLst/>
              </a:prstGeom>
            </p:spPr>
          </p:pic>
          <p:pic>
            <p:nvPicPr>
              <p:cNvPr id="57" name="Graphic 56" descr="Office worker female with solid fill">
                <a:extLst>
                  <a:ext uri="{FF2B5EF4-FFF2-40B4-BE49-F238E27FC236}">
                    <a16:creationId xmlns:a16="http://schemas.microsoft.com/office/drawing/2014/main" id="{4B75DED5-76A8-7965-22C5-5606BA1E8F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40257" y="2475941"/>
                <a:ext cx="914400" cy="914400"/>
              </a:xfrm>
              <a:prstGeom prst="rect">
                <a:avLst/>
              </a:prstGeom>
            </p:spPr>
          </p:pic>
          <p:grpSp>
            <p:nvGrpSpPr>
              <p:cNvPr id="58" name="Group 57">
                <a:extLst>
                  <a:ext uri="{FF2B5EF4-FFF2-40B4-BE49-F238E27FC236}">
                    <a16:creationId xmlns:a16="http://schemas.microsoft.com/office/drawing/2014/main" id="{9D138914-908B-78E2-C4BB-40AFCA275F82}"/>
                  </a:ext>
                </a:extLst>
              </p:cNvPr>
              <p:cNvGrpSpPr/>
              <p:nvPr/>
            </p:nvGrpSpPr>
            <p:grpSpPr>
              <a:xfrm>
                <a:off x="4642613" y="2712726"/>
                <a:ext cx="1162588" cy="814244"/>
                <a:chOff x="5335146" y="5051544"/>
                <a:chExt cx="1162588" cy="814244"/>
              </a:xfrm>
            </p:grpSpPr>
            <p:sp>
              <p:nvSpPr>
                <p:cNvPr id="69" name="Rectangle 68">
                  <a:extLst>
                    <a:ext uri="{FF2B5EF4-FFF2-40B4-BE49-F238E27FC236}">
                      <a16:creationId xmlns:a16="http://schemas.microsoft.com/office/drawing/2014/main" id="{0E391AB8-FA25-CDF1-84D4-9FBF9C709515}"/>
                    </a:ext>
                  </a:extLst>
                </p:cNvPr>
                <p:cNvSpPr/>
                <p:nvPr/>
              </p:nvSpPr>
              <p:spPr>
                <a:xfrm>
                  <a:off x="5335146" y="5051544"/>
                  <a:ext cx="914400" cy="558609"/>
                </a:xfrm>
                <a:prstGeom prst="rect">
                  <a:avLst/>
                </a:prstGeom>
                <a:solidFill>
                  <a:sysClr val="window" lastClr="FFFFFF"/>
                </a:solidFill>
                <a:ln w="19050" cap="flat" cmpd="sng" algn="ctr">
                  <a:solidFill>
                    <a:srgbClr val="0E2841">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70" name="Rectangle 69">
                  <a:extLst>
                    <a:ext uri="{FF2B5EF4-FFF2-40B4-BE49-F238E27FC236}">
                      <a16:creationId xmlns:a16="http://schemas.microsoft.com/office/drawing/2014/main" id="{C6A22907-2CEB-ECC5-C339-77C7BE934F4E}"/>
                    </a:ext>
                  </a:extLst>
                </p:cNvPr>
                <p:cNvSpPr/>
                <p:nvPr/>
              </p:nvSpPr>
              <p:spPr>
                <a:xfrm>
                  <a:off x="6050097" y="5417648"/>
                  <a:ext cx="358724" cy="344905"/>
                </a:xfrm>
                <a:prstGeom prst="rect">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71" name="Graphic 70" descr="Single gear with solid fill">
                  <a:extLst>
                    <a:ext uri="{FF2B5EF4-FFF2-40B4-BE49-F238E27FC236}">
                      <a16:creationId xmlns:a16="http://schemas.microsoft.com/office/drawing/2014/main" id="{54F5E376-D068-FCB5-1C2F-EEE38F99BC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73857" y="5341911"/>
                  <a:ext cx="523877" cy="523877"/>
                </a:xfrm>
                <a:prstGeom prst="rect">
                  <a:avLst/>
                </a:prstGeom>
              </p:spPr>
            </p:pic>
          </p:grpSp>
          <p:grpSp>
            <p:nvGrpSpPr>
              <p:cNvPr id="59" name="Group 58">
                <a:extLst>
                  <a:ext uri="{FF2B5EF4-FFF2-40B4-BE49-F238E27FC236}">
                    <a16:creationId xmlns:a16="http://schemas.microsoft.com/office/drawing/2014/main" id="{B980F6BE-4244-D2E8-59A8-BDB3ECCD567C}"/>
                  </a:ext>
                </a:extLst>
              </p:cNvPr>
              <p:cNvGrpSpPr/>
              <p:nvPr/>
            </p:nvGrpSpPr>
            <p:grpSpPr>
              <a:xfrm>
                <a:off x="5948036" y="1599572"/>
                <a:ext cx="760978" cy="837659"/>
                <a:chOff x="5948036" y="1599572"/>
                <a:chExt cx="760978" cy="837659"/>
              </a:xfrm>
            </p:grpSpPr>
            <p:pic>
              <p:nvPicPr>
                <p:cNvPr id="67" name="Graphic 66" descr="Brain with solid fill">
                  <a:extLst>
                    <a:ext uri="{FF2B5EF4-FFF2-40B4-BE49-F238E27FC236}">
                      <a16:creationId xmlns:a16="http://schemas.microsoft.com/office/drawing/2014/main" id="{A3F7945B-9E0C-619B-16FD-E4D52E9172E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48036" y="1676253"/>
                  <a:ext cx="760978" cy="760978"/>
                </a:xfrm>
                <a:prstGeom prst="rect">
                  <a:avLst/>
                </a:prstGeom>
              </p:spPr>
            </p:pic>
            <p:pic>
              <p:nvPicPr>
                <p:cNvPr id="68" name="Picture 67">
                  <a:extLst>
                    <a:ext uri="{FF2B5EF4-FFF2-40B4-BE49-F238E27FC236}">
                      <a16:creationId xmlns:a16="http://schemas.microsoft.com/office/drawing/2014/main" id="{515F27B8-BD5B-2D5F-6CC5-2E4450C91CB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140583" y="1599572"/>
                  <a:ext cx="400330" cy="407557"/>
                </a:xfrm>
                <a:prstGeom prst="rect">
                  <a:avLst/>
                </a:prstGeom>
              </p:spPr>
            </p:pic>
          </p:grpSp>
          <p:pic>
            <p:nvPicPr>
              <p:cNvPr id="60" name="Graphic 59" descr="List with solid fill">
                <a:extLst>
                  <a:ext uri="{FF2B5EF4-FFF2-40B4-BE49-F238E27FC236}">
                    <a16:creationId xmlns:a16="http://schemas.microsoft.com/office/drawing/2014/main" id="{20ECA8B9-54C2-C915-355E-868DE1E2A1C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85205" y="3586666"/>
                <a:ext cx="625424" cy="625424"/>
              </a:xfrm>
              <a:prstGeom prst="rect">
                <a:avLst/>
              </a:prstGeom>
            </p:spPr>
          </p:pic>
          <p:cxnSp>
            <p:nvCxnSpPr>
              <p:cNvPr id="61" name="Straight Connector 60">
                <a:extLst>
                  <a:ext uri="{FF2B5EF4-FFF2-40B4-BE49-F238E27FC236}">
                    <a16:creationId xmlns:a16="http://schemas.microsoft.com/office/drawing/2014/main" id="{6FABCFF6-EE9C-218B-D5D3-B6FE8FC26943}"/>
                  </a:ext>
                </a:extLst>
              </p:cNvPr>
              <p:cNvCxnSpPr>
                <a:stCxn id="69" idx="2"/>
                <a:endCxn id="60" idx="0"/>
              </p:cNvCxnSpPr>
              <p:nvPr/>
            </p:nvCxnSpPr>
            <p:spPr>
              <a:xfrm flipH="1">
                <a:off x="5097917" y="3271335"/>
                <a:ext cx="1896" cy="315331"/>
              </a:xfrm>
              <a:prstGeom prst="line">
                <a:avLst/>
              </a:prstGeom>
              <a:noFill/>
              <a:ln w="38100" cap="flat" cmpd="sng" algn="ctr">
                <a:solidFill>
                  <a:srgbClr val="156082"/>
                </a:solidFill>
                <a:prstDash val="solid"/>
                <a:miter lim="800000"/>
              </a:ln>
              <a:effectLst/>
            </p:spPr>
          </p:cxnSp>
          <p:cxnSp>
            <p:nvCxnSpPr>
              <p:cNvPr id="62" name="Straight Connector 61">
                <a:extLst>
                  <a:ext uri="{FF2B5EF4-FFF2-40B4-BE49-F238E27FC236}">
                    <a16:creationId xmlns:a16="http://schemas.microsoft.com/office/drawing/2014/main" id="{B6007D3E-6526-F214-7C9D-563E4CB4B3DB}"/>
                  </a:ext>
                </a:extLst>
              </p:cNvPr>
              <p:cNvCxnSpPr>
                <a:cxnSpLocks/>
              </p:cNvCxnSpPr>
              <p:nvPr/>
            </p:nvCxnSpPr>
            <p:spPr>
              <a:xfrm flipH="1">
                <a:off x="5321252" y="3899378"/>
                <a:ext cx="1019496" cy="0"/>
              </a:xfrm>
              <a:prstGeom prst="line">
                <a:avLst/>
              </a:prstGeom>
              <a:noFill/>
              <a:ln w="38100" cap="flat" cmpd="sng" algn="ctr">
                <a:solidFill>
                  <a:srgbClr val="156082"/>
                </a:solidFill>
                <a:prstDash val="solid"/>
                <a:miter lim="800000"/>
                <a:headEnd type="triangle" w="med" len="med"/>
                <a:tailEnd type="none" w="med" len="med"/>
              </a:ln>
              <a:effectLst/>
            </p:spPr>
          </p:cxnSp>
          <p:cxnSp>
            <p:nvCxnSpPr>
              <p:cNvPr id="63" name="Straight Connector 62">
                <a:extLst>
                  <a:ext uri="{FF2B5EF4-FFF2-40B4-BE49-F238E27FC236}">
                    <a16:creationId xmlns:a16="http://schemas.microsoft.com/office/drawing/2014/main" id="{9CF54AB4-72A3-8DFB-8CA3-C9C29A9928B5}"/>
                  </a:ext>
                </a:extLst>
              </p:cNvPr>
              <p:cNvCxnSpPr>
                <a:cxnSpLocks/>
                <a:endCxn id="71" idx="0"/>
              </p:cNvCxnSpPr>
              <p:nvPr/>
            </p:nvCxnSpPr>
            <p:spPr>
              <a:xfrm flipH="1">
                <a:off x="5543263" y="3003093"/>
                <a:ext cx="552737" cy="0"/>
              </a:xfrm>
              <a:prstGeom prst="line">
                <a:avLst/>
              </a:prstGeom>
              <a:noFill/>
              <a:ln w="38100" cap="flat" cmpd="sng" algn="ctr">
                <a:solidFill>
                  <a:srgbClr val="156082"/>
                </a:solidFill>
                <a:prstDash val="solid"/>
                <a:miter lim="800000"/>
              </a:ln>
              <a:effectLst/>
            </p:spPr>
          </p:cxnSp>
          <p:cxnSp>
            <p:nvCxnSpPr>
              <p:cNvPr id="64" name="Straight Connector 63">
                <a:extLst>
                  <a:ext uri="{FF2B5EF4-FFF2-40B4-BE49-F238E27FC236}">
                    <a16:creationId xmlns:a16="http://schemas.microsoft.com/office/drawing/2014/main" id="{734524C2-0103-34EC-DEBF-87C80AE82C32}"/>
                  </a:ext>
                </a:extLst>
              </p:cNvPr>
              <p:cNvCxnSpPr>
                <a:cxnSpLocks/>
                <a:endCxn id="56" idx="0"/>
              </p:cNvCxnSpPr>
              <p:nvPr/>
            </p:nvCxnSpPr>
            <p:spPr>
              <a:xfrm>
                <a:off x="6320087" y="2316938"/>
                <a:ext cx="0" cy="285104"/>
              </a:xfrm>
              <a:prstGeom prst="line">
                <a:avLst/>
              </a:prstGeom>
              <a:noFill/>
              <a:ln w="38100" cap="flat" cmpd="sng" algn="ctr">
                <a:solidFill>
                  <a:srgbClr val="156082"/>
                </a:solidFill>
                <a:prstDash val="solid"/>
                <a:miter lim="800000"/>
                <a:headEnd type="triangle" w="med" len="med"/>
                <a:tailEnd type="none" w="med" len="med"/>
              </a:ln>
              <a:effectLst/>
            </p:spPr>
          </p:cxnSp>
          <p:sp>
            <p:nvSpPr>
              <p:cNvPr id="65" name="Speech Bubble: Rectangle with Corners Rounded 64">
                <a:extLst>
                  <a:ext uri="{FF2B5EF4-FFF2-40B4-BE49-F238E27FC236}">
                    <a16:creationId xmlns:a16="http://schemas.microsoft.com/office/drawing/2014/main" id="{0647682A-3119-862B-EF8C-A9FDA5ECEC8C}"/>
                  </a:ext>
                </a:extLst>
              </p:cNvPr>
              <p:cNvSpPr/>
              <p:nvPr/>
            </p:nvSpPr>
            <p:spPr>
              <a:xfrm>
                <a:off x="3538619" y="2158976"/>
                <a:ext cx="618055" cy="388822"/>
              </a:xfrm>
              <a:prstGeom prst="wedgeRoundRectCallout">
                <a:avLst>
                  <a:gd name="adj1" fmla="val -52748"/>
                  <a:gd name="adj2" fmla="val 80256"/>
                  <a:gd name="adj3" fmla="val 16667"/>
                </a:avLst>
              </a:prstGeom>
              <a:solidFill>
                <a:sysClr val="window" lastClr="FFFFFF"/>
              </a:solidFill>
              <a:ln w="19050" cap="flat" cmpd="sng" algn="ctr">
                <a:solidFill>
                  <a:srgbClr val="0E2841">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Aptos" panose="02110004020202020204"/>
                    <a:ea typeface="+mn-ea"/>
                    <a:cs typeface="+mn-cs"/>
                  </a:rPr>
                  <a:t>?</a:t>
                </a:r>
              </a:p>
            </p:txBody>
          </p:sp>
          <p:sp>
            <p:nvSpPr>
              <p:cNvPr id="66" name="Speech Bubble: Rectangle with Corners Rounded 65">
                <a:extLst>
                  <a:ext uri="{FF2B5EF4-FFF2-40B4-BE49-F238E27FC236}">
                    <a16:creationId xmlns:a16="http://schemas.microsoft.com/office/drawing/2014/main" id="{2C913D2F-A4C9-D7A5-E512-3198EE065DA8}"/>
                  </a:ext>
                </a:extLst>
              </p:cNvPr>
              <p:cNvSpPr/>
              <p:nvPr/>
            </p:nvSpPr>
            <p:spPr>
              <a:xfrm>
                <a:off x="3964886" y="2475941"/>
                <a:ext cx="618055" cy="388822"/>
              </a:xfrm>
              <a:prstGeom prst="wedgeRoundRectCallout">
                <a:avLst>
                  <a:gd name="adj1" fmla="val 61828"/>
                  <a:gd name="adj2" fmla="val 87329"/>
                  <a:gd name="adj3" fmla="val 16667"/>
                </a:avLst>
              </a:prstGeom>
              <a:solidFill>
                <a:sysClr val="window" lastClr="FFFFFF"/>
              </a:solidFill>
              <a:ln w="19050" cap="flat" cmpd="sng" algn="ctr">
                <a:solidFill>
                  <a:srgbClr val="0E2841">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Aptos" panose="02110004020202020204"/>
                    <a:ea typeface="+mn-ea"/>
                    <a:cs typeface="+mn-cs"/>
                  </a:rPr>
                  <a:t>!</a:t>
                </a:r>
              </a:p>
            </p:txBody>
          </p:sp>
        </p:grpSp>
        <p:pic>
          <p:nvPicPr>
            <p:cNvPr id="47" name="Graphic 46" descr="Badge 4 with solid fill">
              <a:extLst>
                <a:ext uri="{FF2B5EF4-FFF2-40B4-BE49-F238E27FC236}">
                  <a16:creationId xmlns:a16="http://schemas.microsoft.com/office/drawing/2014/main" id="{14FE484C-F10D-F689-3DF3-0FD238F38FF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07865" y="853242"/>
              <a:ext cx="466075" cy="466075"/>
            </a:xfrm>
            <a:prstGeom prst="rect">
              <a:avLst/>
            </a:prstGeom>
          </p:spPr>
        </p:pic>
        <p:pic>
          <p:nvPicPr>
            <p:cNvPr id="48" name="Graphic 47" descr="Badge with solid fill">
              <a:extLst>
                <a:ext uri="{FF2B5EF4-FFF2-40B4-BE49-F238E27FC236}">
                  <a16:creationId xmlns:a16="http://schemas.microsoft.com/office/drawing/2014/main" id="{EA429627-0240-3361-7883-1160D0BE9EF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389395" y="1144428"/>
              <a:ext cx="466075" cy="466075"/>
            </a:xfrm>
            <a:prstGeom prst="rect">
              <a:avLst/>
            </a:prstGeom>
          </p:spPr>
        </p:pic>
        <p:pic>
          <p:nvPicPr>
            <p:cNvPr id="49" name="Graphic 48" descr="Badge 3 with solid fill">
              <a:extLst>
                <a:ext uri="{FF2B5EF4-FFF2-40B4-BE49-F238E27FC236}">
                  <a16:creationId xmlns:a16="http://schemas.microsoft.com/office/drawing/2014/main" id="{940D5843-143F-5B61-7D6D-565CE8009E7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25850" y="1229679"/>
              <a:ext cx="466075" cy="466075"/>
            </a:xfrm>
            <a:prstGeom prst="rect">
              <a:avLst/>
            </a:prstGeom>
          </p:spPr>
        </p:pic>
        <p:pic>
          <p:nvPicPr>
            <p:cNvPr id="50" name="Graphic 49" descr="Badge 5 with solid fill">
              <a:extLst>
                <a:ext uri="{FF2B5EF4-FFF2-40B4-BE49-F238E27FC236}">
                  <a16:creationId xmlns:a16="http://schemas.microsoft.com/office/drawing/2014/main" id="{948A7CE6-30C0-8BA6-6C4C-5010B8EF7E3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829824" y="2202645"/>
              <a:ext cx="466075" cy="466075"/>
            </a:xfrm>
            <a:prstGeom prst="rect">
              <a:avLst/>
            </a:prstGeom>
          </p:spPr>
        </p:pic>
        <p:pic>
          <p:nvPicPr>
            <p:cNvPr id="51" name="Graphic 50" descr="Badge 1 with solid fill">
              <a:extLst>
                <a:ext uri="{FF2B5EF4-FFF2-40B4-BE49-F238E27FC236}">
                  <a16:creationId xmlns:a16="http://schemas.microsoft.com/office/drawing/2014/main" id="{912706F6-CB49-53EF-F6A7-EF223EC0B64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760099" y="904504"/>
              <a:ext cx="466075" cy="466075"/>
            </a:xfrm>
            <a:prstGeom prst="rect">
              <a:avLst/>
            </a:prstGeom>
          </p:spPr>
        </p:pic>
        <p:grpSp>
          <p:nvGrpSpPr>
            <p:cNvPr id="52" name="Group 51">
              <a:extLst>
                <a:ext uri="{FF2B5EF4-FFF2-40B4-BE49-F238E27FC236}">
                  <a16:creationId xmlns:a16="http://schemas.microsoft.com/office/drawing/2014/main" id="{298045DF-112C-4A8C-003B-8AFBE0EE47A1}"/>
                </a:ext>
              </a:extLst>
            </p:cNvPr>
            <p:cNvGrpSpPr/>
            <p:nvPr/>
          </p:nvGrpSpPr>
          <p:grpSpPr>
            <a:xfrm>
              <a:off x="5444404" y="1512036"/>
              <a:ext cx="718741" cy="564668"/>
              <a:chOff x="1283050" y="3163212"/>
              <a:chExt cx="835905" cy="656716"/>
            </a:xfrm>
          </p:grpSpPr>
          <p:pic>
            <p:nvPicPr>
              <p:cNvPr id="54" name="Graphic 53" descr="Money with solid fill">
                <a:extLst>
                  <a:ext uri="{FF2B5EF4-FFF2-40B4-BE49-F238E27FC236}">
                    <a16:creationId xmlns:a16="http://schemas.microsoft.com/office/drawing/2014/main" id="{8A394074-2AA3-A175-EAA8-FC159E5EDF2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283050" y="3210921"/>
                <a:ext cx="609007" cy="609007"/>
              </a:xfrm>
              <a:prstGeom prst="rect">
                <a:avLst/>
              </a:prstGeom>
            </p:spPr>
          </p:pic>
          <p:pic>
            <p:nvPicPr>
              <p:cNvPr id="55" name="Graphic 54" descr="Coins with solid fill">
                <a:extLst>
                  <a:ext uri="{FF2B5EF4-FFF2-40B4-BE49-F238E27FC236}">
                    <a16:creationId xmlns:a16="http://schemas.microsoft.com/office/drawing/2014/main" id="{4BA19F80-413F-80E6-913D-022647F768F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771539" y="3163212"/>
                <a:ext cx="347416" cy="347416"/>
              </a:xfrm>
              <a:prstGeom prst="rect">
                <a:avLst/>
              </a:prstGeom>
            </p:spPr>
          </p:pic>
        </p:grpSp>
        <p:pic>
          <p:nvPicPr>
            <p:cNvPr id="53" name="Graphic 52" descr="Bank check with solid fill">
              <a:extLst>
                <a:ext uri="{FF2B5EF4-FFF2-40B4-BE49-F238E27FC236}">
                  <a16:creationId xmlns:a16="http://schemas.microsoft.com/office/drawing/2014/main" id="{E9E1E47C-8A3D-7464-94BD-10ECF6953F0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045507" y="2237487"/>
              <a:ext cx="914400" cy="914400"/>
            </a:xfrm>
            <a:prstGeom prst="rect">
              <a:avLst/>
            </a:prstGeom>
          </p:spPr>
        </p:pic>
      </p:grpSp>
      <p:sp>
        <p:nvSpPr>
          <p:cNvPr id="74" name="TextBox 73">
            <a:extLst>
              <a:ext uri="{FF2B5EF4-FFF2-40B4-BE49-F238E27FC236}">
                <a16:creationId xmlns:a16="http://schemas.microsoft.com/office/drawing/2014/main" id="{5DF06431-C36D-FDA5-3A95-DDA294141470}"/>
              </a:ext>
            </a:extLst>
          </p:cNvPr>
          <p:cNvSpPr txBox="1"/>
          <p:nvPr/>
        </p:nvSpPr>
        <p:spPr>
          <a:xfrm>
            <a:off x="652357" y="3617185"/>
            <a:ext cx="3845605" cy="369332"/>
          </a:xfrm>
          <a:prstGeom prst="rect">
            <a:avLst/>
          </a:prstGeom>
          <a:noFill/>
        </p:spPr>
        <p:txBody>
          <a:bodyPr wrap="none" lIns="0" tIns="0" rIns="0" bIns="0" rtlCol="0">
            <a:spAutoFit/>
          </a:bodyPr>
          <a:lstStyle/>
          <a:p>
            <a:pPr algn="l"/>
            <a:r>
              <a:rPr lang="en-US" sz="2400" dirty="0"/>
              <a:t>Example: An expenses agent</a:t>
            </a:r>
          </a:p>
        </p:txBody>
      </p:sp>
      <p:sp>
        <p:nvSpPr>
          <p:cNvPr id="73" name="TextBox 72">
            <a:extLst>
              <a:ext uri="{FF2B5EF4-FFF2-40B4-BE49-F238E27FC236}">
                <a16:creationId xmlns:a16="http://schemas.microsoft.com/office/drawing/2014/main" id="{A9FB62B9-1D10-AA05-94EB-105619349CB2}"/>
              </a:ext>
            </a:extLst>
          </p:cNvPr>
          <p:cNvSpPr txBox="1"/>
          <p:nvPr/>
        </p:nvSpPr>
        <p:spPr>
          <a:xfrm>
            <a:off x="1027097" y="4076949"/>
            <a:ext cx="11164903" cy="2246769"/>
          </a:xfrm>
          <a:prstGeom prst="rect">
            <a:avLst/>
          </a:prstGeom>
          <a:noFill/>
        </p:spPr>
        <p:txBody>
          <a:bodyPr wrap="square">
            <a:spAutoFit/>
          </a:bodyPr>
          <a:lstStyle/>
          <a:p>
            <a:pPr marL="342900" indent="-342900" algn="l">
              <a:spcAft>
                <a:spcPts val="600"/>
              </a:spcAft>
              <a:buClr>
                <a:schemeClr val="accent2">
                  <a:lumMod val="75000"/>
                </a:schemeClr>
              </a:buClr>
              <a:buFont typeface="+mj-lt"/>
              <a:buAutoNum type="arabicPeriod"/>
            </a:pPr>
            <a:r>
              <a:rPr lang="en-US" sz="2000" b="0" i="0" dirty="0">
                <a:solidFill>
                  <a:srgbClr val="161616"/>
                </a:solidFill>
                <a:effectLst/>
                <a:latin typeface="Segoe UI" panose="020B0502040204020203" pitchFamily="34" charset="0"/>
              </a:rPr>
              <a:t>A user asks the expense agent a question about expenses</a:t>
            </a:r>
          </a:p>
          <a:p>
            <a:pPr marL="342900" indent="-342900" algn="l">
              <a:spcAft>
                <a:spcPts val="600"/>
              </a:spcAft>
              <a:buClr>
                <a:schemeClr val="accent2">
                  <a:lumMod val="75000"/>
                </a:schemeClr>
              </a:buClr>
              <a:buFont typeface="+mj-lt"/>
              <a:buAutoNum type="arabicPeriod"/>
            </a:pPr>
            <a:r>
              <a:rPr lang="en-US" sz="2000" b="0" i="0" dirty="0">
                <a:solidFill>
                  <a:srgbClr val="161616"/>
                </a:solidFill>
                <a:effectLst/>
                <a:latin typeface="Segoe UI" panose="020B0502040204020203" pitchFamily="34" charset="0"/>
              </a:rPr>
              <a:t>The expenses agent accepts the question as a prompt</a:t>
            </a:r>
          </a:p>
          <a:p>
            <a:pPr marL="342900" indent="-342900" algn="l">
              <a:spcAft>
                <a:spcPts val="600"/>
              </a:spcAft>
              <a:buClr>
                <a:schemeClr val="accent2">
                  <a:lumMod val="75000"/>
                </a:schemeClr>
              </a:buClr>
              <a:buFont typeface="+mj-lt"/>
              <a:buAutoNum type="arabicPeriod"/>
            </a:pPr>
            <a:r>
              <a:rPr lang="en-US" sz="2000" b="0" i="0" dirty="0">
                <a:solidFill>
                  <a:srgbClr val="161616"/>
                </a:solidFill>
                <a:effectLst/>
                <a:latin typeface="Segoe UI" panose="020B0502040204020203" pitchFamily="34" charset="0"/>
              </a:rPr>
              <a:t>The agent uses knowledge of expenses policy information to </a:t>
            </a:r>
            <a:r>
              <a:rPr lang="en-US" sz="2000" b="0" i="1" dirty="0">
                <a:solidFill>
                  <a:srgbClr val="161616"/>
                </a:solidFill>
                <a:effectLst/>
                <a:latin typeface="Segoe UI" panose="020B0502040204020203" pitchFamily="34" charset="0"/>
              </a:rPr>
              <a:t>ground</a:t>
            </a:r>
            <a:r>
              <a:rPr lang="en-US" sz="2000" b="0" i="0" dirty="0">
                <a:solidFill>
                  <a:srgbClr val="161616"/>
                </a:solidFill>
                <a:effectLst/>
                <a:latin typeface="Segoe UI" panose="020B0502040204020203" pitchFamily="34" charset="0"/>
              </a:rPr>
              <a:t> the prompt</a:t>
            </a:r>
          </a:p>
          <a:p>
            <a:pPr marL="342900" indent="-342900" algn="l">
              <a:spcAft>
                <a:spcPts val="600"/>
              </a:spcAft>
              <a:buClr>
                <a:schemeClr val="accent2">
                  <a:lumMod val="75000"/>
                </a:schemeClr>
              </a:buClr>
              <a:buFont typeface="+mj-lt"/>
              <a:buAutoNum type="arabicPeriod"/>
            </a:pPr>
            <a:r>
              <a:rPr lang="en-US" sz="2000" b="0" i="0" dirty="0">
                <a:solidFill>
                  <a:srgbClr val="161616"/>
                </a:solidFill>
                <a:effectLst/>
                <a:latin typeface="Segoe UI" panose="020B0502040204020203" pitchFamily="34" charset="0"/>
              </a:rPr>
              <a:t>The agent uses a </a:t>
            </a:r>
            <a:r>
              <a:rPr lang="en-US" sz="2000" b="0" i="1" dirty="0">
                <a:solidFill>
                  <a:srgbClr val="161616"/>
                </a:solidFill>
                <a:effectLst/>
                <a:latin typeface="Segoe UI" panose="020B0502040204020203" pitchFamily="34" charset="0"/>
              </a:rPr>
              <a:t>language model</a:t>
            </a:r>
            <a:r>
              <a:rPr lang="en-US" sz="2000" b="0" i="0" dirty="0">
                <a:solidFill>
                  <a:srgbClr val="161616"/>
                </a:solidFill>
                <a:effectLst/>
                <a:latin typeface="Segoe UI" panose="020B0502040204020203" pitchFamily="34" charset="0"/>
              </a:rPr>
              <a:t> to interpret the prompt and generate a response</a:t>
            </a:r>
          </a:p>
          <a:p>
            <a:pPr marL="342900" indent="-342900" algn="l">
              <a:spcAft>
                <a:spcPts val="600"/>
              </a:spcAft>
              <a:buClr>
                <a:schemeClr val="accent2">
                  <a:lumMod val="75000"/>
                </a:schemeClr>
              </a:buClr>
              <a:buFont typeface="+mj-lt"/>
              <a:buAutoNum type="arabicPeriod"/>
            </a:pPr>
            <a:r>
              <a:rPr lang="en-US" sz="2000" b="0" i="0" dirty="0">
                <a:solidFill>
                  <a:srgbClr val="161616"/>
                </a:solidFill>
                <a:effectLst/>
                <a:latin typeface="Segoe UI" panose="020B0502040204020203" pitchFamily="34" charset="0"/>
              </a:rPr>
              <a:t>Based on the response, the agent can use its available </a:t>
            </a:r>
            <a:r>
              <a:rPr lang="en-US" sz="2000" b="0" i="1" dirty="0">
                <a:solidFill>
                  <a:srgbClr val="161616"/>
                </a:solidFill>
                <a:effectLst/>
                <a:latin typeface="Segoe UI" panose="020B0502040204020203" pitchFamily="34" charset="0"/>
              </a:rPr>
              <a:t>tools</a:t>
            </a:r>
            <a:r>
              <a:rPr lang="en-US" sz="2000" b="0" i="0" dirty="0">
                <a:solidFill>
                  <a:srgbClr val="161616"/>
                </a:solidFill>
                <a:effectLst/>
                <a:latin typeface="Segoe UI" panose="020B0502040204020203" pitchFamily="34" charset="0"/>
              </a:rPr>
              <a:t> to submit a claim to be processed and generate a check payment</a:t>
            </a:r>
          </a:p>
        </p:txBody>
      </p:sp>
      <p:sp>
        <p:nvSpPr>
          <p:cNvPr id="3" name="Footer Placeholder 3">
            <a:extLst>
              <a:ext uri="{FF2B5EF4-FFF2-40B4-BE49-F238E27FC236}">
                <a16:creationId xmlns:a16="http://schemas.microsoft.com/office/drawing/2014/main" id="{0E38FC5A-6FBB-3473-EA49-60A236B1B7B2}"/>
              </a:ext>
            </a:extLst>
          </p:cNvPr>
          <p:cNvSpPr>
            <a:spLocks noGrp="1"/>
          </p:cNvSpPr>
          <p:nvPr>
            <p:ph type="ftr" sz="quarter" idx="3"/>
          </p:nvPr>
        </p:nvSpPr>
        <p:spPr>
          <a:xfrm>
            <a:off x="609918" y="6421083"/>
            <a:ext cx="4151312" cy="197976"/>
          </a:xfrm>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135512253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9004-A8CE-BB57-E0AF-E06945E9975B}"/>
              </a:ext>
            </a:extLst>
          </p:cNvPr>
          <p:cNvSpPr>
            <a:spLocks noGrp="1"/>
          </p:cNvSpPr>
          <p:nvPr>
            <p:ph type="title"/>
          </p:nvPr>
        </p:nvSpPr>
        <p:spPr>
          <a:xfrm>
            <a:off x="588262" y="585216"/>
            <a:ext cx="11013474" cy="492443"/>
          </a:xfrm>
        </p:spPr>
        <p:txBody>
          <a:bodyPr>
            <a:normAutofit fontScale="90000"/>
          </a:bodyPr>
          <a:lstStyle/>
          <a:p>
            <a:r>
              <a:rPr lang="en-US" sz="3200" dirty="0"/>
              <a:t>Options for agent development</a:t>
            </a:r>
          </a:p>
        </p:txBody>
      </p:sp>
      <p:sp>
        <p:nvSpPr>
          <p:cNvPr id="16" name="Rectangle 15">
            <a:extLst>
              <a:ext uri="{FF2B5EF4-FFF2-40B4-BE49-F238E27FC236}">
                <a16:creationId xmlns:a16="http://schemas.microsoft.com/office/drawing/2014/main" id="{02C59DBF-B236-E06E-1967-C216027C63EF}"/>
              </a:ext>
              <a:ext uri="{C183D7F6-B498-43B3-948B-1728B52AA6E4}">
                <adec:decorative xmlns:adec="http://schemas.microsoft.com/office/drawing/2017/decorative" val="1"/>
              </a:ext>
            </a:extLst>
          </p:cNvPr>
          <p:cNvSpPr/>
          <p:nvPr/>
        </p:nvSpPr>
        <p:spPr bwMode="auto">
          <a:xfrm>
            <a:off x="213360" y="1530492"/>
            <a:ext cx="2712720" cy="221887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TextBox 23">
            <a:extLst>
              <a:ext uri="{FF2B5EF4-FFF2-40B4-BE49-F238E27FC236}">
                <a16:creationId xmlns:a16="http://schemas.microsoft.com/office/drawing/2014/main" id="{4A0B546D-589F-6C40-A7A4-5BCDE7F7C4A3}"/>
              </a:ext>
            </a:extLst>
          </p:cNvPr>
          <p:cNvSpPr txBox="1"/>
          <p:nvPr/>
        </p:nvSpPr>
        <p:spPr>
          <a:xfrm>
            <a:off x="572896" y="1479813"/>
            <a:ext cx="2313688" cy="584775"/>
          </a:xfrm>
          <a:prstGeom prst="rect">
            <a:avLst/>
          </a:prstGeom>
          <a:noFill/>
        </p:spPr>
        <p:txBody>
          <a:bodyPr wrap="square">
            <a:spAutoFit/>
          </a:bodyPr>
          <a:lstStyle/>
          <a:p>
            <a:pPr algn="l">
              <a:spcBef>
                <a:spcPts val="2400"/>
              </a:spcBef>
              <a:spcAft>
                <a:spcPts val="900"/>
              </a:spcAft>
            </a:pPr>
            <a:r>
              <a:rPr lang="en-US" sz="1600" i="0" dirty="0">
                <a:solidFill>
                  <a:srgbClr val="161616"/>
                </a:solidFill>
                <a:effectLst/>
                <a:latin typeface="+mj-lt"/>
              </a:rPr>
              <a:t>Azure AI Foundry Agent Service</a:t>
            </a:r>
          </a:p>
        </p:txBody>
      </p:sp>
      <p:sp>
        <p:nvSpPr>
          <p:cNvPr id="39" name="TextBox 38">
            <a:extLst>
              <a:ext uri="{FF2B5EF4-FFF2-40B4-BE49-F238E27FC236}">
                <a16:creationId xmlns:a16="http://schemas.microsoft.com/office/drawing/2014/main" id="{5029F8F0-B167-1819-3EA7-5F4BCBF2FD12}"/>
              </a:ext>
            </a:extLst>
          </p:cNvPr>
          <p:cNvSpPr txBox="1"/>
          <p:nvPr/>
        </p:nvSpPr>
        <p:spPr>
          <a:xfrm>
            <a:off x="115677" y="2003941"/>
            <a:ext cx="2916424" cy="1677382"/>
          </a:xfrm>
          <a:prstGeom prst="rect">
            <a:avLst/>
          </a:prstGeom>
          <a:noFill/>
        </p:spPr>
        <p:txBody>
          <a:bodyPr wrap="square">
            <a:spAutoFit/>
          </a:bodyPr>
          <a:lstStyle/>
          <a:p>
            <a:pPr marL="174625" indent="-174625">
              <a:spcAft>
                <a:spcPts val="600"/>
              </a:spcAft>
              <a:buFont typeface="Arial" panose="020B0604020202020204" pitchFamily="34" charset="0"/>
              <a:buChar char="•"/>
            </a:pPr>
            <a:r>
              <a:rPr lang="en-US" sz="1400" dirty="0"/>
              <a:t>Managed service in Azure for creating, managing, and using AI agents</a:t>
            </a:r>
          </a:p>
          <a:p>
            <a:pPr marL="174625" indent="-174625">
              <a:buFont typeface="Arial" panose="020B0604020202020204" pitchFamily="34" charset="0"/>
              <a:buChar char="•"/>
            </a:pPr>
            <a:r>
              <a:rPr lang="en-US" sz="1400" dirty="0"/>
              <a:t>Based on OpenAI Assistants API - more model choices, data integration, and enterprise security</a:t>
            </a:r>
          </a:p>
        </p:txBody>
      </p:sp>
      <p:pic>
        <p:nvPicPr>
          <p:cNvPr id="6" name="Picture 5">
            <a:extLst>
              <a:ext uri="{FF2B5EF4-FFF2-40B4-BE49-F238E27FC236}">
                <a16:creationId xmlns:a16="http://schemas.microsoft.com/office/drawing/2014/main" id="{05C9B534-B020-8277-D1CB-56618CB6D28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9786" y="1348674"/>
            <a:ext cx="583707" cy="583707"/>
          </a:xfrm>
          <a:prstGeom prst="rect">
            <a:avLst/>
          </a:prstGeom>
        </p:spPr>
      </p:pic>
      <p:sp>
        <p:nvSpPr>
          <p:cNvPr id="17" name="Rectangle 16">
            <a:extLst>
              <a:ext uri="{FF2B5EF4-FFF2-40B4-BE49-F238E27FC236}">
                <a16:creationId xmlns:a16="http://schemas.microsoft.com/office/drawing/2014/main" id="{9E8BF8D4-3FDB-D0A5-CB7B-6DCBF68EE64B}"/>
              </a:ext>
              <a:ext uri="{C183D7F6-B498-43B3-948B-1728B52AA6E4}">
                <adec:decorative xmlns:adec="http://schemas.microsoft.com/office/drawing/2017/decorative" val="1"/>
              </a:ext>
            </a:extLst>
          </p:cNvPr>
          <p:cNvSpPr/>
          <p:nvPr/>
        </p:nvSpPr>
        <p:spPr bwMode="auto">
          <a:xfrm>
            <a:off x="3230880" y="1530492"/>
            <a:ext cx="2712720" cy="221887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5" name="TextBox 24">
            <a:extLst>
              <a:ext uri="{FF2B5EF4-FFF2-40B4-BE49-F238E27FC236}">
                <a16:creationId xmlns:a16="http://schemas.microsoft.com/office/drawing/2014/main" id="{78E810C7-6F5B-409B-1C3F-75CE90831DE0}"/>
              </a:ext>
            </a:extLst>
          </p:cNvPr>
          <p:cNvSpPr txBox="1"/>
          <p:nvPr/>
        </p:nvSpPr>
        <p:spPr>
          <a:xfrm>
            <a:off x="3544713" y="1534989"/>
            <a:ext cx="2308860" cy="338554"/>
          </a:xfrm>
          <a:prstGeom prst="rect">
            <a:avLst/>
          </a:prstGeom>
          <a:noFill/>
        </p:spPr>
        <p:txBody>
          <a:bodyPr wrap="square">
            <a:spAutoFit/>
          </a:bodyPr>
          <a:lstStyle/>
          <a:p>
            <a:pPr algn="l">
              <a:spcBef>
                <a:spcPts val="2400"/>
              </a:spcBef>
              <a:spcAft>
                <a:spcPts val="900"/>
              </a:spcAft>
            </a:pPr>
            <a:r>
              <a:rPr lang="en-US" sz="1600" i="0" dirty="0">
                <a:solidFill>
                  <a:srgbClr val="161616"/>
                </a:solidFill>
                <a:effectLst/>
                <a:latin typeface="+mj-lt"/>
              </a:rPr>
              <a:t>OpenAI Assistants API</a:t>
            </a:r>
          </a:p>
        </p:txBody>
      </p:sp>
      <p:sp>
        <p:nvSpPr>
          <p:cNvPr id="40" name="TextBox 39">
            <a:extLst>
              <a:ext uri="{FF2B5EF4-FFF2-40B4-BE49-F238E27FC236}">
                <a16:creationId xmlns:a16="http://schemas.microsoft.com/office/drawing/2014/main" id="{CC23A400-BFF8-981B-009F-76AEEC1D3542}"/>
              </a:ext>
            </a:extLst>
          </p:cNvPr>
          <p:cNvSpPr txBox="1"/>
          <p:nvPr/>
        </p:nvSpPr>
        <p:spPr>
          <a:xfrm>
            <a:off x="3193798" y="2003941"/>
            <a:ext cx="2749802" cy="1323439"/>
          </a:xfrm>
          <a:prstGeom prst="rect">
            <a:avLst/>
          </a:prstGeom>
          <a:noFill/>
        </p:spPr>
        <p:txBody>
          <a:bodyPr wrap="square">
            <a:spAutoFit/>
          </a:bodyPr>
          <a:lstStyle/>
          <a:p>
            <a:pPr marL="174625" indent="-174625">
              <a:spcAft>
                <a:spcPts val="600"/>
              </a:spcAft>
              <a:buFont typeface="Arial" panose="020B0604020202020204" pitchFamily="34" charset="0"/>
              <a:buChar char="•"/>
            </a:pPr>
            <a:r>
              <a:rPr lang="en-US" sz="1400" dirty="0"/>
              <a:t>Standard API for OpenAI agent development</a:t>
            </a:r>
          </a:p>
          <a:p>
            <a:pPr marL="174625" indent="-174625">
              <a:spcAft>
                <a:spcPts val="600"/>
              </a:spcAft>
              <a:buFont typeface="Arial" panose="020B0604020202020204" pitchFamily="34" charset="0"/>
              <a:buChar char="•"/>
            </a:pPr>
            <a:r>
              <a:rPr lang="en-US" sz="1400" dirty="0"/>
              <a:t>Offers a subset of AI Agent Service features</a:t>
            </a:r>
          </a:p>
          <a:p>
            <a:pPr marL="174625" indent="-174625">
              <a:spcAft>
                <a:spcPts val="600"/>
              </a:spcAft>
              <a:buFont typeface="Arial" panose="020B0604020202020204" pitchFamily="34" charset="0"/>
              <a:buChar char="•"/>
            </a:pPr>
            <a:r>
              <a:rPr lang="en-US" sz="1400" dirty="0"/>
              <a:t>Restricted to OpenAI models</a:t>
            </a:r>
          </a:p>
        </p:txBody>
      </p:sp>
      <p:pic>
        <p:nvPicPr>
          <p:cNvPr id="8" name="Graphic 7">
            <a:extLst>
              <a:ext uri="{FF2B5EF4-FFF2-40B4-BE49-F238E27FC236}">
                <a16:creationId xmlns:a16="http://schemas.microsoft.com/office/drawing/2014/main" id="{58E8CDE1-25AD-3819-9550-AAFAE55DACA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35630" y="1460574"/>
            <a:ext cx="409083" cy="409083"/>
          </a:xfrm>
          <a:prstGeom prst="rect">
            <a:avLst/>
          </a:prstGeom>
        </p:spPr>
      </p:pic>
      <p:sp>
        <p:nvSpPr>
          <p:cNvPr id="18" name="Rectangle 17">
            <a:extLst>
              <a:ext uri="{FF2B5EF4-FFF2-40B4-BE49-F238E27FC236}">
                <a16:creationId xmlns:a16="http://schemas.microsoft.com/office/drawing/2014/main" id="{8C50F907-5BED-944A-7C28-AF2FE15CB58D}"/>
              </a:ext>
              <a:ext uri="{C183D7F6-B498-43B3-948B-1728B52AA6E4}">
                <adec:decorative xmlns:adec="http://schemas.microsoft.com/office/drawing/2017/decorative" val="1"/>
              </a:ext>
            </a:extLst>
          </p:cNvPr>
          <p:cNvSpPr/>
          <p:nvPr/>
        </p:nvSpPr>
        <p:spPr bwMode="auto">
          <a:xfrm>
            <a:off x="6248400" y="1530492"/>
            <a:ext cx="2712720" cy="221887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TextBox 25">
            <a:extLst>
              <a:ext uri="{FF2B5EF4-FFF2-40B4-BE49-F238E27FC236}">
                <a16:creationId xmlns:a16="http://schemas.microsoft.com/office/drawing/2014/main" id="{01BAD590-9665-D89F-C078-C8065B8ECAAC}"/>
              </a:ext>
            </a:extLst>
          </p:cNvPr>
          <p:cNvSpPr txBox="1"/>
          <p:nvPr/>
        </p:nvSpPr>
        <p:spPr>
          <a:xfrm>
            <a:off x="6579378" y="1511670"/>
            <a:ext cx="1672590" cy="338554"/>
          </a:xfrm>
          <a:prstGeom prst="rect">
            <a:avLst/>
          </a:prstGeom>
          <a:noFill/>
        </p:spPr>
        <p:txBody>
          <a:bodyPr wrap="square">
            <a:spAutoFit/>
          </a:bodyPr>
          <a:lstStyle/>
          <a:p>
            <a:pPr algn="r">
              <a:spcBef>
                <a:spcPts val="2400"/>
              </a:spcBef>
              <a:spcAft>
                <a:spcPts val="900"/>
              </a:spcAft>
            </a:pPr>
            <a:r>
              <a:rPr lang="en-US" sz="1600" i="0" dirty="0">
                <a:solidFill>
                  <a:srgbClr val="161616"/>
                </a:solidFill>
                <a:effectLst/>
                <a:latin typeface="+mj-lt"/>
              </a:rPr>
              <a:t>Semantic Kernel</a:t>
            </a:r>
          </a:p>
        </p:txBody>
      </p:sp>
      <p:sp>
        <p:nvSpPr>
          <p:cNvPr id="41" name="TextBox 40">
            <a:extLst>
              <a:ext uri="{FF2B5EF4-FFF2-40B4-BE49-F238E27FC236}">
                <a16:creationId xmlns:a16="http://schemas.microsoft.com/office/drawing/2014/main" id="{5FED038C-F13F-31A7-4C53-568FD3765AF5}"/>
              </a:ext>
            </a:extLst>
          </p:cNvPr>
          <p:cNvSpPr txBox="1"/>
          <p:nvPr/>
        </p:nvSpPr>
        <p:spPr>
          <a:xfrm>
            <a:off x="6290441" y="1957776"/>
            <a:ext cx="2670679" cy="1677382"/>
          </a:xfrm>
          <a:prstGeom prst="rect">
            <a:avLst/>
          </a:prstGeom>
          <a:noFill/>
        </p:spPr>
        <p:txBody>
          <a:bodyPr wrap="square">
            <a:spAutoFit/>
          </a:bodyPr>
          <a:lstStyle/>
          <a:p>
            <a:pPr marL="174625" indent="-174625">
              <a:spcAft>
                <a:spcPts val="600"/>
              </a:spcAft>
              <a:buFont typeface="Arial" panose="020B0604020202020204" pitchFamily="34" charset="0"/>
              <a:buChar char="•"/>
            </a:pPr>
            <a:r>
              <a:rPr lang="en-US" sz="1400" dirty="0"/>
              <a:t>Lightweight, open-source development kit for building AI agents</a:t>
            </a:r>
          </a:p>
          <a:p>
            <a:pPr marL="174625" indent="-174625">
              <a:spcAft>
                <a:spcPts val="600"/>
              </a:spcAft>
              <a:buFont typeface="Arial" panose="020B0604020202020204" pitchFamily="34" charset="0"/>
              <a:buChar char="•"/>
            </a:pPr>
            <a:r>
              <a:rPr lang="en-US" sz="1400" dirty="0"/>
              <a:t>Supports OpenAI Assistant and Azure AI agents as well as native chat completion agents</a:t>
            </a:r>
          </a:p>
        </p:txBody>
      </p:sp>
      <p:pic>
        <p:nvPicPr>
          <p:cNvPr id="1028" name="Picture 4">
            <a:extLst>
              <a:ext uri="{FF2B5EF4-FFF2-40B4-BE49-F238E27FC236}">
                <a16:creationId xmlns:a16="http://schemas.microsoft.com/office/drawing/2014/main" id="{027E6129-BF4C-19A0-1480-8DBDCEF76182}"/>
              </a:ext>
              <a:ext uri="{C183D7F6-B498-43B3-948B-1728B52AA6E4}">
                <adec:decorative xmlns:adec="http://schemas.microsoft.com/office/drawing/2017/decorative" val="1"/>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125479" y="1365700"/>
            <a:ext cx="488172" cy="488172"/>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6F455BF4-5CA4-C396-23BF-775A6BE115F4}"/>
              </a:ext>
              <a:ext uri="{C183D7F6-B498-43B3-948B-1728B52AA6E4}">
                <adec:decorative xmlns:adec="http://schemas.microsoft.com/office/drawing/2017/decorative" val="1"/>
              </a:ext>
            </a:extLst>
          </p:cNvPr>
          <p:cNvSpPr/>
          <p:nvPr/>
        </p:nvSpPr>
        <p:spPr bwMode="auto">
          <a:xfrm>
            <a:off x="9265920" y="1530492"/>
            <a:ext cx="2712720" cy="221887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Box 26">
            <a:extLst>
              <a:ext uri="{FF2B5EF4-FFF2-40B4-BE49-F238E27FC236}">
                <a16:creationId xmlns:a16="http://schemas.microsoft.com/office/drawing/2014/main" id="{C9E1FCA1-E041-16C5-9379-4B23A3E9D255}"/>
              </a:ext>
            </a:extLst>
          </p:cNvPr>
          <p:cNvSpPr txBox="1"/>
          <p:nvPr/>
        </p:nvSpPr>
        <p:spPr>
          <a:xfrm>
            <a:off x="9664047" y="1446654"/>
            <a:ext cx="1075536" cy="338554"/>
          </a:xfrm>
          <a:prstGeom prst="rect">
            <a:avLst/>
          </a:prstGeom>
          <a:noFill/>
        </p:spPr>
        <p:txBody>
          <a:bodyPr wrap="square">
            <a:spAutoFit/>
          </a:bodyPr>
          <a:lstStyle/>
          <a:p>
            <a:pPr algn="r">
              <a:spcBef>
                <a:spcPts val="2400"/>
              </a:spcBef>
              <a:spcAft>
                <a:spcPts val="900"/>
              </a:spcAft>
            </a:pPr>
            <a:r>
              <a:rPr lang="en-US" sz="1600" i="0" dirty="0" err="1">
                <a:solidFill>
                  <a:srgbClr val="161616"/>
                </a:solidFill>
                <a:effectLst/>
                <a:latin typeface="+mj-lt"/>
              </a:rPr>
              <a:t>AutoGen</a:t>
            </a:r>
            <a:endParaRPr lang="en-US" sz="1600" i="0" dirty="0">
              <a:solidFill>
                <a:srgbClr val="161616"/>
              </a:solidFill>
              <a:effectLst/>
              <a:latin typeface="+mj-lt"/>
            </a:endParaRPr>
          </a:p>
        </p:txBody>
      </p:sp>
      <p:sp>
        <p:nvSpPr>
          <p:cNvPr id="42" name="TextBox 41">
            <a:extLst>
              <a:ext uri="{FF2B5EF4-FFF2-40B4-BE49-F238E27FC236}">
                <a16:creationId xmlns:a16="http://schemas.microsoft.com/office/drawing/2014/main" id="{A6C920AC-07D2-4AF5-5080-1E7256103517}"/>
              </a:ext>
            </a:extLst>
          </p:cNvPr>
          <p:cNvSpPr txBox="1"/>
          <p:nvPr/>
        </p:nvSpPr>
        <p:spPr>
          <a:xfrm>
            <a:off x="9265920" y="1943680"/>
            <a:ext cx="2670679" cy="1246495"/>
          </a:xfrm>
          <a:prstGeom prst="rect">
            <a:avLst/>
          </a:prstGeom>
          <a:noFill/>
        </p:spPr>
        <p:txBody>
          <a:bodyPr wrap="square">
            <a:spAutoFit/>
          </a:bodyPr>
          <a:lstStyle/>
          <a:p>
            <a:pPr marL="174625" indent="-174625">
              <a:spcAft>
                <a:spcPts val="600"/>
              </a:spcAft>
              <a:buFont typeface="Arial" panose="020B0604020202020204" pitchFamily="34" charset="0"/>
              <a:buChar char="•"/>
            </a:pPr>
            <a:r>
              <a:rPr lang="en-US" sz="1400" dirty="0"/>
              <a:t>Open-source framework for rapid agent development</a:t>
            </a:r>
          </a:p>
          <a:p>
            <a:pPr marL="174625" indent="-174625">
              <a:spcAft>
                <a:spcPts val="600"/>
              </a:spcAft>
              <a:buFont typeface="Arial" panose="020B0604020202020204" pitchFamily="34" charset="0"/>
              <a:buChar char="•"/>
            </a:pPr>
            <a:r>
              <a:rPr lang="en-US" sz="1400" dirty="0"/>
              <a:t>Useful for research and ideation when experimenting with agents</a:t>
            </a:r>
          </a:p>
        </p:txBody>
      </p:sp>
      <p:sp>
        <p:nvSpPr>
          <p:cNvPr id="9" name="TextBox 8">
            <a:extLst>
              <a:ext uri="{FF2B5EF4-FFF2-40B4-BE49-F238E27FC236}">
                <a16:creationId xmlns:a16="http://schemas.microsoft.com/office/drawing/2014/main" id="{1D5952FD-0DB0-E1A6-1879-DB31A3572F52}"/>
              </a:ext>
              <a:ext uri="{C183D7F6-B498-43B3-948B-1728B52AA6E4}">
                <adec:decorative xmlns:adec="http://schemas.microsoft.com/office/drawing/2017/decorative" val="1"/>
              </a:ext>
            </a:extLst>
          </p:cNvPr>
          <p:cNvSpPr txBox="1"/>
          <p:nvPr/>
        </p:nvSpPr>
        <p:spPr>
          <a:xfrm>
            <a:off x="9186797" y="1361429"/>
            <a:ext cx="548227" cy="492443"/>
          </a:xfrm>
          <a:prstGeom prst="rect">
            <a:avLst/>
          </a:prstGeom>
          <a:noFill/>
        </p:spPr>
        <p:txBody>
          <a:bodyPr wrap="none" lIns="0" tIns="0" rIns="0" bIns="0" rtlCol="0" anchor="ctr">
            <a:spAutoFit/>
          </a:bodyPr>
          <a:lstStyle/>
          <a:p>
            <a:pPr algn="l"/>
            <a:r>
              <a:rPr lang="en-US" sz="3200" dirty="0">
                <a:ln>
                  <a:solidFill>
                    <a:schemeClr val="bg1">
                      <a:lumMod val="50000"/>
                    </a:schemeClr>
                  </a:solidFill>
                </a:ln>
                <a:solidFill>
                  <a:schemeClr val="bg1">
                    <a:lumMod val="75000"/>
                  </a:schemeClr>
                </a:solidFill>
                <a:latin typeface="Amasis MT Pro Medium" panose="02040604050005020304" pitchFamily="18" charset="0"/>
              </a:rPr>
              <a:t>A</a:t>
            </a:r>
            <a:r>
              <a:rPr lang="en-US" sz="2800" dirty="0">
                <a:ln>
                  <a:solidFill>
                    <a:schemeClr val="bg1">
                      <a:lumMod val="50000"/>
                    </a:schemeClr>
                  </a:solidFill>
                </a:ln>
                <a:solidFill>
                  <a:schemeClr val="bg1">
                    <a:lumMod val="75000"/>
                  </a:schemeClr>
                </a:solidFill>
                <a:latin typeface="Amasis MT Pro Medium" panose="02040604050005020304" pitchFamily="18" charset="0"/>
              </a:rPr>
              <a:t>G</a:t>
            </a:r>
            <a:endParaRPr lang="en-US" sz="3200" dirty="0">
              <a:ln>
                <a:solidFill>
                  <a:schemeClr val="bg1">
                    <a:lumMod val="50000"/>
                  </a:schemeClr>
                </a:solidFill>
              </a:ln>
              <a:solidFill>
                <a:schemeClr val="bg1">
                  <a:lumMod val="75000"/>
                </a:schemeClr>
              </a:solidFill>
              <a:latin typeface="Amasis MT Pro Medium" panose="02040604050005020304" pitchFamily="18" charset="0"/>
            </a:endParaRPr>
          </a:p>
        </p:txBody>
      </p:sp>
      <p:grpSp>
        <p:nvGrpSpPr>
          <p:cNvPr id="35" name="Group 34" descr="Microsoft 365 Agents SDK">
            <a:extLst>
              <a:ext uri="{FF2B5EF4-FFF2-40B4-BE49-F238E27FC236}">
                <a16:creationId xmlns:a16="http://schemas.microsoft.com/office/drawing/2014/main" id="{FA0528BF-0984-D90C-5300-0C0328D0493E}"/>
              </a:ext>
            </a:extLst>
          </p:cNvPr>
          <p:cNvGrpSpPr/>
          <p:nvPr/>
        </p:nvGrpSpPr>
        <p:grpSpPr>
          <a:xfrm>
            <a:off x="1729740" y="4038931"/>
            <a:ext cx="2781300" cy="2141220"/>
            <a:chOff x="1699260" y="4038931"/>
            <a:chExt cx="2781300" cy="2141220"/>
          </a:xfrm>
        </p:grpSpPr>
        <p:sp>
          <p:nvSpPr>
            <p:cNvPr id="20" name="Rectangle 19">
              <a:extLst>
                <a:ext uri="{FF2B5EF4-FFF2-40B4-BE49-F238E27FC236}">
                  <a16:creationId xmlns:a16="http://schemas.microsoft.com/office/drawing/2014/main" id="{9A177036-4629-C969-42B7-A8B1C168DC3E}"/>
                </a:ext>
              </a:extLst>
            </p:cNvPr>
            <p:cNvSpPr/>
            <p:nvPr/>
          </p:nvSpPr>
          <p:spPr bwMode="auto">
            <a:xfrm>
              <a:off x="1699260" y="4038931"/>
              <a:ext cx="2712720" cy="21412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8" name="TextBox 27">
              <a:extLst>
                <a:ext uri="{FF2B5EF4-FFF2-40B4-BE49-F238E27FC236}">
                  <a16:creationId xmlns:a16="http://schemas.microsoft.com/office/drawing/2014/main" id="{8ACA808A-D3CD-1308-7983-C74CCF48905E}"/>
                </a:ext>
              </a:extLst>
            </p:cNvPr>
            <p:cNvSpPr txBox="1"/>
            <p:nvPr/>
          </p:nvSpPr>
          <p:spPr>
            <a:xfrm>
              <a:off x="1834760" y="4040232"/>
              <a:ext cx="2645800" cy="338554"/>
            </a:xfrm>
            <a:prstGeom prst="rect">
              <a:avLst/>
            </a:prstGeom>
            <a:noFill/>
          </p:spPr>
          <p:txBody>
            <a:bodyPr wrap="square">
              <a:spAutoFit/>
            </a:bodyPr>
            <a:lstStyle/>
            <a:p>
              <a:pPr algn="r">
                <a:spcBef>
                  <a:spcPts val="2400"/>
                </a:spcBef>
                <a:spcAft>
                  <a:spcPts val="900"/>
                </a:spcAft>
              </a:pPr>
              <a:r>
                <a:rPr lang="en-US" sz="1600" i="0" dirty="0">
                  <a:solidFill>
                    <a:srgbClr val="161616"/>
                  </a:solidFill>
                  <a:effectLst/>
                  <a:latin typeface="+mj-lt"/>
                </a:rPr>
                <a:t>Microsoft 365 Agents SDK</a:t>
              </a:r>
            </a:p>
          </p:txBody>
        </p:sp>
      </p:grpSp>
      <p:sp>
        <p:nvSpPr>
          <p:cNvPr id="44" name="TextBox 43">
            <a:extLst>
              <a:ext uri="{FF2B5EF4-FFF2-40B4-BE49-F238E27FC236}">
                <a16:creationId xmlns:a16="http://schemas.microsoft.com/office/drawing/2014/main" id="{AA7D191A-7C0A-A15F-3F20-CA17016A22FB}"/>
              </a:ext>
            </a:extLst>
          </p:cNvPr>
          <p:cNvSpPr txBox="1"/>
          <p:nvPr/>
        </p:nvSpPr>
        <p:spPr>
          <a:xfrm>
            <a:off x="1710690" y="4505212"/>
            <a:ext cx="2712720" cy="1461939"/>
          </a:xfrm>
          <a:prstGeom prst="rect">
            <a:avLst/>
          </a:prstGeom>
          <a:noFill/>
        </p:spPr>
        <p:txBody>
          <a:bodyPr wrap="square">
            <a:spAutoFit/>
          </a:bodyPr>
          <a:lstStyle/>
          <a:p>
            <a:pPr marL="174625" indent="-174625">
              <a:spcAft>
                <a:spcPts val="600"/>
              </a:spcAft>
              <a:buFont typeface="Arial" panose="020B0604020202020204" pitchFamily="34" charset="0"/>
              <a:buChar char="•"/>
            </a:pPr>
            <a:r>
              <a:rPr lang="en-US" sz="1400" dirty="0"/>
              <a:t>Create self-hosted agents for various channels</a:t>
            </a:r>
          </a:p>
          <a:p>
            <a:pPr marL="174625" indent="-174625">
              <a:spcAft>
                <a:spcPts val="600"/>
              </a:spcAft>
              <a:buFont typeface="Arial" panose="020B0604020202020204" pitchFamily="34" charset="0"/>
              <a:buChar char="•"/>
            </a:pPr>
            <a:r>
              <a:rPr lang="en-US" sz="1400" dirty="0"/>
              <a:t>Not limited to Microsoft 365; can be delivered through channels like Slack or Messenger</a:t>
            </a:r>
          </a:p>
        </p:txBody>
      </p:sp>
      <p:sp>
        <p:nvSpPr>
          <p:cNvPr id="21" name="Rectangle 20">
            <a:extLst>
              <a:ext uri="{FF2B5EF4-FFF2-40B4-BE49-F238E27FC236}">
                <a16:creationId xmlns:a16="http://schemas.microsoft.com/office/drawing/2014/main" id="{CA87DA22-62F7-76C4-C027-50244A72C0FE}"/>
              </a:ext>
              <a:ext uri="{C183D7F6-B498-43B3-948B-1728B52AA6E4}">
                <adec:decorative xmlns:adec="http://schemas.microsoft.com/office/drawing/2017/decorative" val="1"/>
              </a:ext>
            </a:extLst>
          </p:cNvPr>
          <p:cNvSpPr/>
          <p:nvPr/>
        </p:nvSpPr>
        <p:spPr bwMode="auto">
          <a:xfrm>
            <a:off x="4747260" y="4038931"/>
            <a:ext cx="2712720" cy="21412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26" name="Picture 2">
            <a:extLst>
              <a:ext uri="{FF2B5EF4-FFF2-40B4-BE49-F238E27FC236}">
                <a16:creationId xmlns:a16="http://schemas.microsoft.com/office/drawing/2014/main" id="{C9A62A83-7C7A-7A66-B10E-50E850E35196}"/>
              </a:ext>
              <a:ext uri="{C183D7F6-B498-43B3-948B-1728B52AA6E4}">
                <adec:decorative xmlns:adec="http://schemas.microsoft.com/office/drawing/2017/decorative" val="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602726" y="3884916"/>
            <a:ext cx="488172" cy="488172"/>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637D9458-5152-5D02-254D-5EBFAAF27FF0}"/>
              </a:ext>
            </a:extLst>
          </p:cNvPr>
          <p:cNvSpPr txBox="1"/>
          <p:nvPr/>
        </p:nvSpPr>
        <p:spPr>
          <a:xfrm>
            <a:off x="4893945" y="4040232"/>
            <a:ext cx="1672590" cy="338554"/>
          </a:xfrm>
          <a:prstGeom prst="rect">
            <a:avLst/>
          </a:prstGeom>
          <a:noFill/>
        </p:spPr>
        <p:txBody>
          <a:bodyPr wrap="square">
            <a:spAutoFit/>
          </a:bodyPr>
          <a:lstStyle/>
          <a:p>
            <a:pPr algn="r">
              <a:spcBef>
                <a:spcPts val="2400"/>
              </a:spcBef>
              <a:spcAft>
                <a:spcPts val="900"/>
              </a:spcAft>
            </a:pPr>
            <a:r>
              <a:rPr lang="en-US" sz="1600" i="0" dirty="0">
                <a:solidFill>
                  <a:srgbClr val="161616"/>
                </a:solidFill>
                <a:effectLst/>
                <a:latin typeface="+mj-lt"/>
              </a:rPr>
              <a:t>Copilot Studio</a:t>
            </a:r>
          </a:p>
        </p:txBody>
      </p:sp>
      <p:sp>
        <p:nvSpPr>
          <p:cNvPr id="45" name="TextBox 44">
            <a:extLst>
              <a:ext uri="{FF2B5EF4-FFF2-40B4-BE49-F238E27FC236}">
                <a16:creationId xmlns:a16="http://schemas.microsoft.com/office/drawing/2014/main" id="{CE3515CD-27D3-55D8-F97A-7DD3D32F5A35}"/>
              </a:ext>
            </a:extLst>
          </p:cNvPr>
          <p:cNvSpPr txBox="1"/>
          <p:nvPr/>
        </p:nvSpPr>
        <p:spPr>
          <a:xfrm>
            <a:off x="4769119" y="4491764"/>
            <a:ext cx="2712720" cy="1677382"/>
          </a:xfrm>
          <a:prstGeom prst="rect">
            <a:avLst/>
          </a:prstGeom>
          <a:noFill/>
        </p:spPr>
        <p:txBody>
          <a:bodyPr wrap="square">
            <a:spAutoFit/>
          </a:bodyPr>
          <a:lstStyle/>
          <a:p>
            <a:pPr marL="174625" indent="-174625">
              <a:spcAft>
                <a:spcPts val="600"/>
              </a:spcAft>
              <a:buFont typeface="Arial" panose="020B0604020202020204" pitchFamily="34" charset="0"/>
              <a:buChar char="•"/>
            </a:pPr>
            <a:r>
              <a:rPr lang="en-US" sz="1400" dirty="0"/>
              <a:t>Low-code development environment for building and deploying agents</a:t>
            </a:r>
          </a:p>
          <a:p>
            <a:pPr marL="174625" indent="-174625">
              <a:spcAft>
                <a:spcPts val="600"/>
              </a:spcAft>
              <a:buFont typeface="Arial" panose="020B0604020202020204" pitchFamily="34" charset="0"/>
              <a:buChar char="•"/>
            </a:pPr>
            <a:r>
              <a:rPr lang="en-US" sz="1400" dirty="0"/>
              <a:t>Integrates with Microsoft 365 ecosystem and common channels like Slack and Messenger</a:t>
            </a:r>
          </a:p>
        </p:txBody>
      </p:sp>
      <p:sp>
        <p:nvSpPr>
          <p:cNvPr id="22" name="Rectangle 21">
            <a:extLst>
              <a:ext uri="{FF2B5EF4-FFF2-40B4-BE49-F238E27FC236}">
                <a16:creationId xmlns:a16="http://schemas.microsoft.com/office/drawing/2014/main" id="{BF3AE7A7-1EA3-2806-0D0F-C40A6F7D89BB}"/>
              </a:ext>
              <a:ext uri="{C183D7F6-B498-43B3-948B-1728B52AA6E4}">
                <adec:decorative xmlns:adec="http://schemas.microsoft.com/office/drawing/2017/decorative" val="1"/>
              </a:ext>
            </a:extLst>
          </p:cNvPr>
          <p:cNvSpPr/>
          <p:nvPr/>
        </p:nvSpPr>
        <p:spPr bwMode="auto">
          <a:xfrm>
            <a:off x="7764780" y="4038931"/>
            <a:ext cx="2712720" cy="21412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2">
            <a:extLst>
              <a:ext uri="{FF2B5EF4-FFF2-40B4-BE49-F238E27FC236}">
                <a16:creationId xmlns:a16="http://schemas.microsoft.com/office/drawing/2014/main" id="{0DB213F9-1E8C-0D82-609E-EBB8DE39D7DC}"/>
              </a:ext>
              <a:ext uri="{C183D7F6-B498-43B3-948B-1728B52AA6E4}">
                <adec:decorative xmlns:adec="http://schemas.microsoft.com/office/drawing/2017/decorative" val="1"/>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7604515" y="3882537"/>
            <a:ext cx="485086" cy="485086"/>
          </a:xfrm>
          <a:prstGeom prst="rect">
            <a:avLst/>
          </a:prstGeom>
          <a:noFill/>
          <a:ln w="12700">
            <a:noFill/>
          </a:ln>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AAD168FC-78F4-0365-405C-59DF9705A652}"/>
              </a:ext>
            </a:extLst>
          </p:cNvPr>
          <p:cNvSpPr txBox="1"/>
          <p:nvPr/>
        </p:nvSpPr>
        <p:spPr>
          <a:xfrm>
            <a:off x="7817634" y="4040232"/>
            <a:ext cx="1669266" cy="338554"/>
          </a:xfrm>
          <a:prstGeom prst="rect">
            <a:avLst/>
          </a:prstGeom>
          <a:noFill/>
        </p:spPr>
        <p:txBody>
          <a:bodyPr wrap="square">
            <a:spAutoFit/>
          </a:bodyPr>
          <a:lstStyle/>
          <a:p>
            <a:pPr algn="r">
              <a:spcBef>
                <a:spcPts val="2400"/>
              </a:spcBef>
              <a:spcAft>
                <a:spcPts val="900"/>
              </a:spcAft>
            </a:pPr>
            <a:r>
              <a:rPr lang="en-US" sz="1600" i="0" dirty="0">
                <a:solidFill>
                  <a:srgbClr val="161616"/>
                </a:solidFill>
                <a:effectLst/>
                <a:latin typeface="+mj-lt"/>
              </a:rPr>
              <a:t>Agent Builder</a:t>
            </a:r>
          </a:p>
        </p:txBody>
      </p:sp>
      <p:sp>
        <p:nvSpPr>
          <p:cNvPr id="46" name="TextBox 45">
            <a:extLst>
              <a:ext uri="{FF2B5EF4-FFF2-40B4-BE49-F238E27FC236}">
                <a16:creationId xmlns:a16="http://schemas.microsoft.com/office/drawing/2014/main" id="{5EDB598C-32E5-5BB2-3642-50232FC7DA94}"/>
              </a:ext>
            </a:extLst>
          </p:cNvPr>
          <p:cNvSpPr txBox="1"/>
          <p:nvPr/>
        </p:nvSpPr>
        <p:spPr>
          <a:xfrm>
            <a:off x="7720060" y="4491764"/>
            <a:ext cx="2795540" cy="1677382"/>
          </a:xfrm>
          <a:prstGeom prst="rect">
            <a:avLst/>
          </a:prstGeom>
          <a:noFill/>
        </p:spPr>
        <p:txBody>
          <a:bodyPr wrap="square">
            <a:spAutoFit/>
          </a:bodyPr>
          <a:lstStyle/>
          <a:p>
            <a:pPr marL="174625" indent="-174625">
              <a:spcAft>
                <a:spcPts val="600"/>
              </a:spcAft>
              <a:buFont typeface="Arial" panose="020B0604020202020204" pitchFamily="34" charset="0"/>
              <a:buChar char="•"/>
            </a:pPr>
            <a:r>
              <a:rPr lang="en-US" sz="1400" dirty="0"/>
              <a:t>Declarative tool for business users to author basic agents in Microsoft Copilot Chat and other Copilot-based interfaces</a:t>
            </a:r>
          </a:p>
          <a:p>
            <a:pPr marL="174625" indent="-174625">
              <a:spcAft>
                <a:spcPts val="600"/>
              </a:spcAft>
              <a:buFont typeface="Arial" panose="020B0604020202020204" pitchFamily="34" charset="0"/>
              <a:buChar char="•"/>
            </a:pPr>
            <a:r>
              <a:rPr lang="en-US" sz="1400" dirty="0"/>
              <a:t>Enables users to create agents by describing functionality or using a visual interface</a:t>
            </a:r>
          </a:p>
        </p:txBody>
      </p:sp>
      <p:pic>
        <p:nvPicPr>
          <p:cNvPr id="1032" name="Picture 8">
            <a:extLst>
              <a:ext uri="{FF2B5EF4-FFF2-40B4-BE49-F238E27FC236}">
                <a16:creationId xmlns:a16="http://schemas.microsoft.com/office/drawing/2014/main" id="{F8D711F6-DB72-AC1A-0986-860C2259B76B}"/>
              </a:ext>
              <a:ext uri="{C183D7F6-B498-43B3-948B-1728B52AA6E4}">
                <adec:decorative xmlns:adec="http://schemas.microsoft.com/office/drawing/2017/decorative" val="1"/>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1519693" y="3914380"/>
            <a:ext cx="455402" cy="488172"/>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9CA27469-2790-AD64-22AC-29FD753A5690}"/>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77429908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14BE736-D81A-65F9-F3D3-37D4119B03A1}"/>
              </a:ext>
              <a:ext uri="{C183D7F6-B498-43B3-948B-1728B52AA6E4}">
                <adec:decorative xmlns:adec="http://schemas.microsoft.com/office/drawing/2017/decorative" val="1"/>
              </a:ext>
            </a:extLst>
          </p:cNvPr>
          <p:cNvSpPr/>
          <p:nvPr/>
        </p:nvSpPr>
        <p:spPr bwMode="auto">
          <a:xfrm>
            <a:off x="1135380" y="1676400"/>
            <a:ext cx="5105400" cy="3573780"/>
          </a:xfrm>
          <a:prstGeom prst="rect">
            <a:avLst/>
          </a:prstGeom>
          <a:solidFill>
            <a:schemeClr val="bg1">
              <a:lumMod val="95000"/>
            </a:schemeClr>
          </a:solidFill>
          <a:ln w="1905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73B74E72-B192-1D46-CC57-EC00B5F36BD4}"/>
              </a:ext>
            </a:extLst>
          </p:cNvPr>
          <p:cNvSpPr>
            <a:spLocks noGrp="1"/>
          </p:cNvSpPr>
          <p:nvPr>
            <p:ph type="title"/>
          </p:nvPr>
        </p:nvSpPr>
        <p:spPr>
          <a:xfrm>
            <a:off x="588262" y="585216"/>
            <a:ext cx="11013474" cy="492443"/>
          </a:xfrm>
        </p:spPr>
        <p:txBody>
          <a:bodyPr>
            <a:normAutofit fontScale="90000"/>
          </a:bodyPr>
          <a:lstStyle/>
          <a:p>
            <a:r>
              <a:rPr lang="en-US" sz="3200" dirty="0"/>
              <a:t>Our focus in this course</a:t>
            </a:r>
          </a:p>
        </p:txBody>
      </p:sp>
      <p:pic>
        <p:nvPicPr>
          <p:cNvPr id="5" name="Picture 4">
            <a:extLst>
              <a:ext uri="{FF2B5EF4-FFF2-40B4-BE49-F238E27FC236}">
                <a16:creationId xmlns:a16="http://schemas.microsoft.com/office/drawing/2014/main" id="{976C5796-3A88-BB7D-B195-813B2F6269E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86139" y="2943022"/>
            <a:ext cx="675147" cy="675147"/>
          </a:xfrm>
          <a:prstGeom prst="rect">
            <a:avLst/>
          </a:prstGeom>
        </p:spPr>
      </p:pic>
      <p:pic>
        <p:nvPicPr>
          <p:cNvPr id="6" name="Picture 4">
            <a:extLst>
              <a:ext uri="{FF2B5EF4-FFF2-40B4-BE49-F238E27FC236}">
                <a16:creationId xmlns:a16="http://schemas.microsoft.com/office/drawing/2014/main" id="{07BC30D8-3F8B-1DBD-DAAE-2399092E9856}"/>
              </a:ext>
              <a:ext uri="{C183D7F6-B498-43B3-948B-1728B52AA6E4}">
                <adec:decorative xmlns:adec="http://schemas.microsoft.com/office/drawing/2017/decorative" val="1"/>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279625" y="3913194"/>
            <a:ext cx="544505" cy="544505"/>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a:extLst>
              <a:ext uri="{FF2B5EF4-FFF2-40B4-BE49-F238E27FC236}">
                <a16:creationId xmlns:a16="http://schemas.microsoft.com/office/drawing/2014/main" id="{3A71E309-A4D2-2F3D-5671-CBF113EC731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55218" y="1957635"/>
            <a:ext cx="908022" cy="908022"/>
          </a:xfrm>
          <a:prstGeom prst="rect">
            <a:avLst/>
          </a:prstGeom>
        </p:spPr>
      </p:pic>
      <p:sp>
        <p:nvSpPr>
          <p:cNvPr id="9" name="TextBox 8">
            <a:extLst>
              <a:ext uri="{FF2B5EF4-FFF2-40B4-BE49-F238E27FC236}">
                <a16:creationId xmlns:a16="http://schemas.microsoft.com/office/drawing/2014/main" id="{CFB0BC16-419D-5363-11D6-725C382C97E4}"/>
              </a:ext>
            </a:extLst>
          </p:cNvPr>
          <p:cNvSpPr txBox="1"/>
          <p:nvPr/>
        </p:nvSpPr>
        <p:spPr>
          <a:xfrm>
            <a:off x="2559078" y="2047832"/>
            <a:ext cx="3016339" cy="561692"/>
          </a:xfrm>
          <a:prstGeom prst="rect">
            <a:avLst/>
          </a:prstGeom>
          <a:noFill/>
        </p:spPr>
        <p:txBody>
          <a:bodyPr wrap="none" lIns="0" tIns="0" rIns="0" bIns="0" rtlCol="0">
            <a:spAutoFit/>
          </a:bodyPr>
          <a:lstStyle/>
          <a:p>
            <a:pPr algn="l">
              <a:spcBef>
                <a:spcPts val="300"/>
              </a:spcBef>
            </a:pPr>
            <a:r>
              <a:rPr lang="en-US" sz="2000" dirty="0"/>
              <a:t>Azure AI Foundry</a:t>
            </a:r>
          </a:p>
          <a:p>
            <a:pPr algn="l">
              <a:spcBef>
                <a:spcPts val="300"/>
              </a:spcBef>
            </a:pPr>
            <a:r>
              <a:rPr lang="en-US" sz="1400" dirty="0"/>
              <a:t>Platform for AI development on Azure</a:t>
            </a:r>
          </a:p>
        </p:txBody>
      </p:sp>
      <p:sp>
        <p:nvSpPr>
          <p:cNvPr id="10" name="TextBox 9">
            <a:extLst>
              <a:ext uri="{FF2B5EF4-FFF2-40B4-BE49-F238E27FC236}">
                <a16:creationId xmlns:a16="http://schemas.microsoft.com/office/drawing/2014/main" id="{A9DB7FFB-D795-90CB-7D6A-64473C43CF4D}"/>
              </a:ext>
            </a:extLst>
          </p:cNvPr>
          <p:cNvSpPr txBox="1"/>
          <p:nvPr/>
        </p:nvSpPr>
        <p:spPr>
          <a:xfrm>
            <a:off x="2877001" y="3034462"/>
            <a:ext cx="3226268" cy="530915"/>
          </a:xfrm>
          <a:prstGeom prst="rect">
            <a:avLst/>
          </a:prstGeom>
          <a:noFill/>
        </p:spPr>
        <p:txBody>
          <a:bodyPr wrap="none" lIns="0" tIns="0" rIns="0" bIns="0" rtlCol="0">
            <a:spAutoFit/>
          </a:bodyPr>
          <a:lstStyle/>
          <a:p>
            <a:pPr algn="l">
              <a:spcBef>
                <a:spcPts val="300"/>
              </a:spcBef>
            </a:pPr>
            <a:r>
              <a:rPr lang="en-US" sz="1800" dirty="0"/>
              <a:t>Azure AI Foundry Agent Service</a:t>
            </a:r>
          </a:p>
          <a:p>
            <a:pPr algn="l">
              <a:spcBef>
                <a:spcPts val="300"/>
              </a:spcBef>
            </a:pPr>
            <a:r>
              <a:rPr lang="en-US" sz="1400" dirty="0"/>
              <a:t>Managed service for agents on Azure</a:t>
            </a:r>
          </a:p>
        </p:txBody>
      </p:sp>
      <p:sp>
        <p:nvSpPr>
          <p:cNvPr id="11" name="TextBox 10">
            <a:extLst>
              <a:ext uri="{FF2B5EF4-FFF2-40B4-BE49-F238E27FC236}">
                <a16:creationId xmlns:a16="http://schemas.microsoft.com/office/drawing/2014/main" id="{F612BFDF-DCE5-43F4-D414-4711860D7388}"/>
              </a:ext>
            </a:extLst>
          </p:cNvPr>
          <p:cNvSpPr txBox="1"/>
          <p:nvPr/>
        </p:nvSpPr>
        <p:spPr>
          <a:xfrm>
            <a:off x="2877000" y="3928023"/>
            <a:ext cx="2786853" cy="530915"/>
          </a:xfrm>
          <a:prstGeom prst="rect">
            <a:avLst/>
          </a:prstGeom>
          <a:noFill/>
        </p:spPr>
        <p:txBody>
          <a:bodyPr wrap="none" lIns="0" tIns="0" rIns="0" bIns="0" rtlCol="0">
            <a:spAutoFit/>
          </a:bodyPr>
          <a:lstStyle/>
          <a:p>
            <a:pPr algn="l">
              <a:spcBef>
                <a:spcPts val="300"/>
              </a:spcBef>
            </a:pPr>
            <a:r>
              <a:rPr lang="en-US" sz="1800" dirty="0"/>
              <a:t>Semantic Kernel</a:t>
            </a:r>
          </a:p>
          <a:p>
            <a:pPr algn="l">
              <a:spcBef>
                <a:spcPts val="300"/>
              </a:spcBef>
            </a:pPr>
            <a:r>
              <a:rPr lang="en-US" sz="1400" dirty="0"/>
              <a:t>SDK with multi-agent orchestration</a:t>
            </a:r>
          </a:p>
        </p:txBody>
      </p:sp>
      <p:sp>
        <p:nvSpPr>
          <p:cNvPr id="13" name="TextBox 12">
            <a:extLst>
              <a:ext uri="{FF2B5EF4-FFF2-40B4-BE49-F238E27FC236}">
                <a16:creationId xmlns:a16="http://schemas.microsoft.com/office/drawing/2014/main" id="{40252994-DB02-57AF-0BB8-748AA3E75DA4}"/>
              </a:ext>
            </a:extLst>
          </p:cNvPr>
          <p:cNvSpPr txBox="1"/>
          <p:nvPr/>
        </p:nvSpPr>
        <p:spPr>
          <a:xfrm>
            <a:off x="6785159" y="1676400"/>
            <a:ext cx="4431481" cy="3447098"/>
          </a:xfrm>
          <a:prstGeom prst="rect">
            <a:avLst/>
          </a:prstGeom>
          <a:noFill/>
        </p:spPr>
        <p:txBody>
          <a:bodyPr wrap="square" lIns="0" tIns="0" rIns="0" bIns="0" rtlCol="0">
            <a:spAutoFit/>
          </a:bodyPr>
          <a:lstStyle/>
          <a:p>
            <a:pPr>
              <a:spcAft>
                <a:spcPts val="1200"/>
              </a:spcAft>
            </a:pPr>
            <a:r>
              <a:rPr lang="en-US" sz="2000" dirty="0"/>
              <a:t>Azure AI Foundry provides a platform for agent development:</a:t>
            </a:r>
          </a:p>
          <a:p>
            <a:pPr marL="631808" lvl="1" indent="-174625">
              <a:spcAft>
                <a:spcPts val="1200"/>
              </a:spcAft>
              <a:buFont typeface="Arial" panose="020B0604020202020204" pitchFamily="34" charset="0"/>
              <a:buChar char="•"/>
            </a:pPr>
            <a:r>
              <a:rPr lang="en-US" sz="1800" dirty="0"/>
              <a:t>Project-based resource management and model catalog</a:t>
            </a:r>
          </a:p>
          <a:p>
            <a:pPr marL="631808" lvl="1" indent="-174625">
              <a:spcAft>
                <a:spcPts val="1200"/>
              </a:spcAft>
              <a:buFont typeface="Arial" panose="020B0604020202020204" pitchFamily="34" charset="0"/>
              <a:buChar char="•"/>
            </a:pPr>
            <a:r>
              <a:rPr lang="en-US" sz="1800" dirty="0"/>
              <a:t>Visual agent design and test in Azure AI Foundry portal</a:t>
            </a:r>
          </a:p>
          <a:p>
            <a:pPr marL="631808" lvl="1" indent="-174625">
              <a:spcAft>
                <a:spcPts val="1200"/>
              </a:spcAft>
              <a:buFont typeface="Arial" panose="020B0604020202020204" pitchFamily="34" charset="0"/>
              <a:buChar char="•"/>
            </a:pPr>
            <a:r>
              <a:rPr lang="en-US" sz="1800" dirty="0"/>
              <a:t>Agent development with Azure AI Foundry Agent Service SDK</a:t>
            </a:r>
          </a:p>
          <a:p>
            <a:pPr marL="631808" lvl="1" indent="-174625">
              <a:spcAft>
                <a:spcPts val="1200"/>
              </a:spcAft>
              <a:buFont typeface="Arial" panose="020B0604020202020204" pitchFamily="34" charset="0"/>
              <a:buChar char="•"/>
            </a:pPr>
            <a:r>
              <a:rPr lang="en-US" sz="1800" dirty="0"/>
              <a:t>Azure AI Agent Service integration with Semantic Kernel</a:t>
            </a:r>
          </a:p>
        </p:txBody>
      </p:sp>
      <p:sp>
        <p:nvSpPr>
          <p:cNvPr id="4" name="Footer Placeholder 3">
            <a:extLst>
              <a:ext uri="{FF2B5EF4-FFF2-40B4-BE49-F238E27FC236}">
                <a16:creationId xmlns:a16="http://schemas.microsoft.com/office/drawing/2014/main" id="{50526768-FAF5-0C6A-A97A-090971A1FB30}"/>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56705599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2E5F7-A582-13CC-F4BF-DADC81B2C5DE}"/>
              </a:ext>
            </a:extLst>
          </p:cNvPr>
          <p:cNvSpPr>
            <a:spLocks noGrp="1"/>
          </p:cNvSpPr>
          <p:nvPr>
            <p:ph type="title"/>
          </p:nvPr>
        </p:nvSpPr>
        <p:spPr/>
        <p:txBody>
          <a:bodyPr vert="horz" wrap="square" lIns="0" tIns="0" rIns="0" bIns="0" rtlCol="0" anchor="t">
            <a:spAutoFit/>
          </a:bodyPr>
          <a:lstStyle/>
          <a:p>
            <a:r>
              <a:rPr lang="en-US" sz="3200" dirty="0"/>
              <a:t>Components of an agent</a:t>
            </a:r>
          </a:p>
        </p:txBody>
      </p:sp>
      <p:grpSp>
        <p:nvGrpSpPr>
          <p:cNvPr id="35" name="Group 34" descr="Diagram of a generative AI model">
            <a:extLst>
              <a:ext uri="{FF2B5EF4-FFF2-40B4-BE49-F238E27FC236}">
                <a16:creationId xmlns:a16="http://schemas.microsoft.com/office/drawing/2014/main" id="{63984385-B1ED-C2B5-ED4E-556B23E4C25B}"/>
              </a:ext>
            </a:extLst>
          </p:cNvPr>
          <p:cNvGrpSpPr/>
          <p:nvPr/>
        </p:nvGrpSpPr>
        <p:grpSpPr>
          <a:xfrm>
            <a:off x="2069024" y="1741320"/>
            <a:ext cx="3773838" cy="2162013"/>
            <a:chOff x="1332854" y="1774556"/>
            <a:chExt cx="3773838" cy="2162013"/>
          </a:xfrm>
        </p:grpSpPr>
        <p:sp>
          <p:nvSpPr>
            <p:cNvPr id="19" name="Rectangle 18">
              <a:extLst>
                <a:ext uri="{FF2B5EF4-FFF2-40B4-BE49-F238E27FC236}">
                  <a16:creationId xmlns:a16="http://schemas.microsoft.com/office/drawing/2014/main" id="{4EA29F1C-1297-29A2-AB19-598538413C78}"/>
                </a:ext>
              </a:extLst>
            </p:cNvPr>
            <p:cNvSpPr/>
            <p:nvPr/>
          </p:nvSpPr>
          <p:spPr bwMode="auto">
            <a:xfrm>
              <a:off x="1332854" y="1774556"/>
              <a:ext cx="3773838" cy="2162013"/>
            </a:xfrm>
            <a:prstGeom prst="rect">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8" name="Group 17">
              <a:extLst>
                <a:ext uri="{FF2B5EF4-FFF2-40B4-BE49-F238E27FC236}">
                  <a16:creationId xmlns:a16="http://schemas.microsoft.com/office/drawing/2014/main" id="{715DF23B-2C27-A37B-94EF-FDA734F1C56E}"/>
                </a:ext>
              </a:extLst>
            </p:cNvPr>
            <p:cNvGrpSpPr/>
            <p:nvPr/>
          </p:nvGrpSpPr>
          <p:grpSpPr>
            <a:xfrm>
              <a:off x="1511085" y="1922143"/>
              <a:ext cx="3474720" cy="1857340"/>
              <a:chOff x="2797444" y="2162367"/>
              <a:chExt cx="3474720" cy="1857340"/>
            </a:xfrm>
          </p:grpSpPr>
          <p:grpSp>
            <p:nvGrpSpPr>
              <p:cNvPr id="16" name="Group 15">
                <a:extLst>
                  <a:ext uri="{FF2B5EF4-FFF2-40B4-BE49-F238E27FC236}">
                    <a16:creationId xmlns:a16="http://schemas.microsoft.com/office/drawing/2014/main" id="{B9BE9A58-1356-E40E-B310-F7A0A94227A8}"/>
                  </a:ext>
                </a:extLst>
              </p:cNvPr>
              <p:cNvGrpSpPr/>
              <p:nvPr/>
            </p:nvGrpSpPr>
            <p:grpSpPr>
              <a:xfrm>
                <a:off x="2797444" y="2162367"/>
                <a:ext cx="1423827" cy="472345"/>
                <a:chOff x="2797444" y="2162367"/>
                <a:chExt cx="1423827" cy="472345"/>
              </a:xfrm>
            </p:grpSpPr>
            <p:pic>
              <p:nvPicPr>
                <p:cNvPr id="14" name="Picture 13">
                  <a:extLst>
                    <a:ext uri="{FF2B5EF4-FFF2-40B4-BE49-F238E27FC236}">
                      <a16:creationId xmlns:a16="http://schemas.microsoft.com/office/drawing/2014/main" id="{0EBE4845-A07F-AC48-EF4A-E3603D46CA9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797444" y="2162367"/>
                  <a:ext cx="453178" cy="472345"/>
                </a:xfrm>
                <a:prstGeom prst="rect">
                  <a:avLst/>
                </a:prstGeom>
              </p:spPr>
            </p:pic>
            <p:sp>
              <p:nvSpPr>
                <p:cNvPr id="15" name="TextBox 14">
                  <a:extLst>
                    <a:ext uri="{FF2B5EF4-FFF2-40B4-BE49-F238E27FC236}">
                      <a16:creationId xmlns:a16="http://schemas.microsoft.com/office/drawing/2014/main" id="{02395435-32D0-8AC2-7ABC-9C9587FD9DA2}"/>
                    </a:ext>
                  </a:extLst>
                </p:cNvPr>
                <p:cNvSpPr txBox="1"/>
                <p:nvPr/>
              </p:nvSpPr>
              <p:spPr>
                <a:xfrm>
                  <a:off x="3347634" y="2162367"/>
                  <a:ext cx="873637" cy="369332"/>
                </a:xfrm>
                <a:prstGeom prst="rect">
                  <a:avLst/>
                </a:prstGeom>
                <a:noFill/>
              </p:spPr>
              <p:txBody>
                <a:bodyPr wrap="none" lIns="0" tIns="0" rIns="0" bIns="0" rtlCol="0">
                  <a:spAutoFit/>
                </a:bodyPr>
                <a:lstStyle/>
                <a:p>
                  <a:pPr algn="l"/>
                  <a:r>
                    <a:rPr lang="en-US" sz="2400" dirty="0"/>
                    <a:t>Model</a:t>
                  </a:r>
                </a:p>
              </p:txBody>
            </p:sp>
          </p:grpSp>
          <p:sp>
            <p:nvSpPr>
              <p:cNvPr id="17" name="Text Placeholder 5">
                <a:extLst>
                  <a:ext uri="{FF2B5EF4-FFF2-40B4-BE49-F238E27FC236}">
                    <a16:creationId xmlns:a16="http://schemas.microsoft.com/office/drawing/2014/main" id="{E2ED8D14-35A8-6432-3350-03E267AFC47F}"/>
                  </a:ext>
                </a:extLst>
              </p:cNvPr>
              <p:cNvSpPr txBox="1">
                <a:spLocks/>
              </p:cNvSpPr>
              <p:nvPr/>
            </p:nvSpPr>
            <p:spPr>
              <a:xfrm>
                <a:off x="2797444" y="2634712"/>
                <a:ext cx="3474720" cy="1384995"/>
              </a:xfrm>
              <a:prstGeom prst="rect">
                <a:avLst/>
              </a:prstGeom>
            </p:spPr>
            <p:txBody>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r>
                  <a:rPr lang="en-US" dirty="0"/>
                  <a:t>Generative AI language model</a:t>
                </a:r>
              </a:p>
              <a:p>
                <a:pPr marL="285750" indent="-285750"/>
                <a:r>
                  <a:rPr lang="en-US" dirty="0"/>
                  <a:t>Deployed from Azure AI model catalog</a:t>
                </a:r>
              </a:p>
              <a:p>
                <a:pPr marL="285750" indent="-285750"/>
                <a:r>
                  <a:rPr lang="en-US" dirty="0"/>
                  <a:t>Interprets prompts</a:t>
                </a:r>
              </a:p>
              <a:p>
                <a:pPr marL="285750" indent="-285750"/>
                <a:endParaRPr lang="en-US" dirty="0"/>
              </a:p>
              <a:p>
                <a:pPr>
                  <a:buFont typeface="Arial" panose="020B0604020202020204" pitchFamily="34" charset="0"/>
                  <a:buNone/>
                </a:pPr>
                <a:endParaRPr lang="en-US" dirty="0"/>
              </a:p>
            </p:txBody>
          </p:sp>
        </p:grpSp>
      </p:grpSp>
      <p:grpSp>
        <p:nvGrpSpPr>
          <p:cNvPr id="36" name="Group 35" descr="Diagram of tools, including knowledge tools and action tools.">
            <a:extLst>
              <a:ext uri="{FF2B5EF4-FFF2-40B4-BE49-F238E27FC236}">
                <a16:creationId xmlns:a16="http://schemas.microsoft.com/office/drawing/2014/main" id="{07431634-AC85-B6F7-B522-0F86BBF0312E}"/>
              </a:ext>
            </a:extLst>
          </p:cNvPr>
          <p:cNvGrpSpPr/>
          <p:nvPr/>
        </p:nvGrpSpPr>
        <p:grpSpPr>
          <a:xfrm>
            <a:off x="6263899" y="1741319"/>
            <a:ext cx="3773838" cy="2162013"/>
            <a:chOff x="7085308" y="1774556"/>
            <a:chExt cx="3773838" cy="2162013"/>
          </a:xfrm>
        </p:grpSpPr>
        <p:sp>
          <p:nvSpPr>
            <p:cNvPr id="28" name="Rectangle 27">
              <a:extLst>
                <a:ext uri="{FF2B5EF4-FFF2-40B4-BE49-F238E27FC236}">
                  <a16:creationId xmlns:a16="http://schemas.microsoft.com/office/drawing/2014/main" id="{5CCD099C-393C-AB5E-4E5B-69626C30A868}"/>
                </a:ext>
              </a:extLst>
            </p:cNvPr>
            <p:cNvSpPr/>
            <p:nvPr/>
          </p:nvSpPr>
          <p:spPr bwMode="auto">
            <a:xfrm>
              <a:off x="7085308" y="1774556"/>
              <a:ext cx="3773838" cy="2162013"/>
            </a:xfrm>
            <a:prstGeom prst="rect">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9" name="Group 28">
              <a:extLst>
                <a:ext uri="{FF2B5EF4-FFF2-40B4-BE49-F238E27FC236}">
                  <a16:creationId xmlns:a16="http://schemas.microsoft.com/office/drawing/2014/main" id="{A0714BAE-0336-432B-A843-DEF6EB5A580C}"/>
                </a:ext>
              </a:extLst>
            </p:cNvPr>
            <p:cNvGrpSpPr/>
            <p:nvPr/>
          </p:nvGrpSpPr>
          <p:grpSpPr>
            <a:xfrm>
              <a:off x="7263539" y="1922143"/>
              <a:ext cx="3474720" cy="1857340"/>
              <a:chOff x="2797444" y="2162367"/>
              <a:chExt cx="3474720" cy="1857340"/>
            </a:xfrm>
          </p:grpSpPr>
          <p:sp>
            <p:nvSpPr>
              <p:cNvPr id="33" name="TextBox 32">
                <a:extLst>
                  <a:ext uri="{FF2B5EF4-FFF2-40B4-BE49-F238E27FC236}">
                    <a16:creationId xmlns:a16="http://schemas.microsoft.com/office/drawing/2014/main" id="{5B1E450B-2EFD-7D83-6899-E54CF0E750D1}"/>
                  </a:ext>
                </a:extLst>
              </p:cNvPr>
              <p:cNvSpPr txBox="1"/>
              <p:nvPr/>
            </p:nvSpPr>
            <p:spPr>
              <a:xfrm>
                <a:off x="3347634" y="2162367"/>
                <a:ext cx="697627" cy="369332"/>
              </a:xfrm>
              <a:prstGeom prst="rect">
                <a:avLst/>
              </a:prstGeom>
              <a:noFill/>
            </p:spPr>
            <p:txBody>
              <a:bodyPr wrap="none" lIns="0" tIns="0" rIns="0" bIns="0" rtlCol="0">
                <a:spAutoFit/>
              </a:bodyPr>
              <a:lstStyle/>
              <a:p>
                <a:pPr algn="l"/>
                <a:r>
                  <a:rPr lang="en-US" sz="2400" dirty="0"/>
                  <a:t>Tools</a:t>
                </a:r>
              </a:p>
            </p:txBody>
          </p:sp>
          <p:sp>
            <p:nvSpPr>
              <p:cNvPr id="31" name="Text Placeholder 5">
                <a:extLst>
                  <a:ext uri="{FF2B5EF4-FFF2-40B4-BE49-F238E27FC236}">
                    <a16:creationId xmlns:a16="http://schemas.microsoft.com/office/drawing/2014/main" id="{5CB6BFEE-2A3F-A421-D319-A88650986780}"/>
                  </a:ext>
                </a:extLst>
              </p:cNvPr>
              <p:cNvSpPr txBox="1">
                <a:spLocks/>
              </p:cNvSpPr>
              <p:nvPr/>
            </p:nvSpPr>
            <p:spPr>
              <a:xfrm>
                <a:off x="2797444" y="2634712"/>
                <a:ext cx="3474720" cy="1384995"/>
              </a:xfrm>
              <a:prstGeom prst="rect">
                <a:avLst/>
              </a:prstGeom>
            </p:spPr>
            <p:txBody>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Knowledge tools</a:t>
                </a:r>
              </a:p>
              <a:p>
                <a:pPr marL="285750" indent="-285750"/>
                <a:r>
                  <a:rPr lang="en-US" sz="1400" dirty="0"/>
                  <a:t>Search information sources, like Bing and enterprise data stores</a:t>
                </a:r>
              </a:p>
              <a:p>
                <a:pPr marL="0" indent="0">
                  <a:buNone/>
                </a:pPr>
                <a:r>
                  <a:rPr lang="en-US" dirty="0"/>
                  <a:t>Action tools</a:t>
                </a:r>
              </a:p>
              <a:p>
                <a:pPr marL="285750" indent="-285750"/>
                <a:r>
                  <a:rPr lang="en-US" sz="1400" dirty="0"/>
                  <a:t>Automate tasks, for example by generating and running code</a:t>
                </a:r>
              </a:p>
              <a:p>
                <a:pPr>
                  <a:buFont typeface="Arial" panose="020B0604020202020204" pitchFamily="34" charset="0"/>
                  <a:buNone/>
                </a:pPr>
                <a:endParaRPr lang="en-US" dirty="0"/>
              </a:p>
            </p:txBody>
          </p:sp>
        </p:grpSp>
        <p:sp>
          <p:nvSpPr>
            <p:cNvPr id="34" name="DeveloperTools_EC7A" title="Icon of a wrench and a screwdriver">
              <a:extLst>
                <a:ext uri="{FF2B5EF4-FFF2-40B4-BE49-F238E27FC236}">
                  <a16:creationId xmlns:a16="http://schemas.microsoft.com/office/drawing/2014/main" id="{0FCD6982-7042-47DB-D853-B5F7E550B4D8}"/>
                </a:ext>
              </a:extLst>
            </p:cNvPr>
            <p:cNvSpPr>
              <a:spLocks noChangeAspect="1" noEditPoints="1"/>
            </p:cNvSpPr>
            <p:nvPr/>
          </p:nvSpPr>
          <p:spPr bwMode="auto">
            <a:xfrm>
              <a:off x="7344592" y="1922142"/>
              <a:ext cx="234397" cy="369331"/>
            </a:xfrm>
            <a:custGeom>
              <a:avLst/>
              <a:gdLst>
                <a:gd name="T0" fmla="*/ 765 w 2384"/>
                <a:gd name="T1" fmla="*/ 958 h 3756"/>
                <a:gd name="T2" fmla="*/ 765 w 2384"/>
                <a:gd name="T3" fmla="*/ 3500 h 3756"/>
                <a:gd name="T4" fmla="*/ 509 w 2384"/>
                <a:gd name="T5" fmla="*/ 3756 h 3756"/>
                <a:gd name="T6" fmla="*/ 509 w 2384"/>
                <a:gd name="T7" fmla="*/ 3756 h 3756"/>
                <a:gd name="T8" fmla="*/ 253 w 2384"/>
                <a:gd name="T9" fmla="*/ 3500 h 3756"/>
                <a:gd name="T10" fmla="*/ 253 w 2384"/>
                <a:gd name="T11" fmla="*/ 958 h 3756"/>
                <a:gd name="T12" fmla="*/ 0 w 2384"/>
                <a:gd name="T13" fmla="*/ 518 h 3756"/>
                <a:gd name="T14" fmla="*/ 509 w 2384"/>
                <a:gd name="T15" fmla="*/ 9 h 3756"/>
                <a:gd name="T16" fmla="*/ 1018 w 2384"/>
                <a:gd name="T17" fmla="*/ 518 h 3756"/>
                <a:gd name="T18" fmla="*/ 765 w 2384"/>
                <a:gd name="T19" fmla="*/ 958 h 3756"/>
                <a:gd name="T20" fmla="*/ 1503 w 2384"/>
                <a:gd name="T21" fmla="*/ 2012 h 3756"/>
                <a:gd name="T22" fmla="*/ 1503 w 2384"/>
                <a:gd name="T23" fmla="*/ 3500 h 3756"/>
                <a:gd name="T24" fmla="*/ 1759 w 2384"/>
                <a:gd name="T25" fmla="*/ 3756 h 3756"/>
                <a:gd name="T26" fmla="*/ 1759 w 2384"/>
                <a:gd name="T27" fmla="*/ 3756 h 3756"/>
                <a:gd name="T28" fmla="*/ 2015 w 2384"/>
                <a:gd name="T29" fmla="*/ 3500 h 3756"/>
                <a:gd name="T30" fmla="*/ 2015 w 2384"/>
                <a:gd name="T31" fmla="*/ 2012 h 3756"/>
                <a:gd name="T32" fmla="*/ 509 w 2384"/>
                <a:gd name="T33" fmla="*/ 0 h 3756"/>
                <a:gd name="T34" fmla="*/ 509 w 2384"/>
                <a:gd name="T35" fmla="*/ 509 h 3756"/>
                <a:gd name="T36" fmla="*/ 1134 w 2384"/>
                <a:gd name="T37" fmla="*/ 2012 h 3756"/>
                <a:gd name="T38" fmla="*/ 2384 w 2384"/>
                <a:gd name="T39" fmla="*/ 2012 h 3756"/>
                <a:gd name="T40" fmla="*/ 1759 w 2384"/>
                <a:gd name="T41" fmla="*/ 2012 h 3756"/>
                <a:gd name="T42" fmla="*/ 1759 w 2384"/>
                <a:gd name="T43" fmla="*/ 711 h 3756"/>
                <a:gd name="T44" fmla="*/ 2015 w 2384"/>
                <a:gd name="T45" fmla="*/ 9 h 3756"/>
                <a:gd name="T46" fmla="*/ 1503 w 2384"/>
                <a:gd name="T47" fmla="*/ 9 h 3756"/>
                <a:gd name="T48" fmla="*/ 1503 w 2384"/>
                <a:gd name="T49" fmla="*/ 510 h 3756"/>
                <a:gd name="T50" fmla="*/ 1759 w 2384"/>
                <a:gd name="T51" fmla="*/ 756 h 3756"/>
                <a:gd name="T52" fmla="*/ 2015 w 2384"/>
                <a:gd name="T53" fmla="*/ 510 h 3756"/>
                <a:gd name="T54" fmla="*/ 2015 w 2384"/>
                <a:gd name="T55" fmla="*/ 9 h 3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84" h="3756">
                  <a:moveTo>
                    <a:pt x="765" y="958"/>
                  </a:moveTo>
                  <a:cubicBezTo>
                    <a:pt x="765" y="3500"/>
                    <a:pt x="765" y="3500"/>
                    <a:pt x="765" y="3500"/>
                  </a:cubicBezTo>
                  <a:cubicBezTo>
                    <a:pt x="765" y="3641"/>
                    <a:pt x="650" y="3756"/>
                    <a:pt x="509" y="3756"/>
                  </a:cubicBezTo>
                  <a:cubicBezTo>
                    <a:pt x="509" y="3756"/>
                    <a:pt x="509" y="3756"/>
                    <a:pt x="509" y="3756"/>
                  </a:cubicBezTo>
                  <a:cubicBezTo>
                    <a:pt x="368" y="3756"/>
                    <a:pt x="253" y="3641"/>
                    <a:pt x="253" y="3500"/>
                  </a:cubicBezTo>
                  <a:cubicBezTo>
                    <a:pt x="253" y="958"/>
                    <a:pt x="253" y="958"/>
                    <a:pt x="253" y="958"/>
                  </a:cubicBezTo>
                  <a:cubicBezTo>
                    <a:pt x="102" y="869"/>
                    <a:pt x="0" y="706"/>
                    <a:pt x="0" y="518"/>
                  </a:cubicBezTo>
                  <a:cubicBezTo>
                    <a:pt x="0" y="237"/>
                    <a:pt x="228" y="9"/>
                    <a:pt x="509" y="9"/>
                  </a:cubicBezTo>
                  <a:cubicBezTo>
                    <a:pt x="790" y="9"/>
                    <a:pt x="1018" y="237"/>
                    <a:pt x="1018" y="518"/>
                  </a:cubicBezTo>
                  <a:cubicBezTo>
                    <a:pt x="1018" y="706"/>
                    <a:pt x="916" y="869"/>
                    <a:pt x="765" y="958"/>
                  </a:cubicBezTo>
                  <a:close/>
                  <a:moveTo>
                    <a:pt x="1503" y="2012"/>
                  </a:moveTo>
                  <a:cubicBezTo>
                    <a:pt x="1503" y="3500"/>
                    <a:pt x="1503" y="3500"/>
                    <a:pt x="1503" y="3500"/>
                  </a:cubicBezTo>
                  <a:cubicBezTo>
                    <a:pt x="1503" y="3641"/>
                    <a:pt x="1618" y="3756"/>
                    <a:pt x="1759" y="3756"/>
                  </a:cubicBezTo>
                  <a:cubicBezTo>
                    <a:pt x="1759" y="3756"/>
                    <a:pt x="1759" y="3756"/>
                    <a:pt x="1759" y="3756"/>
                  </a:cubicBezTo>
                  <a:cubicBezTo>
                    <a:pt x="1900" y="3756"/>
                    <a:pt x="2015" y="3641"/>
                    <a:pt x="2015" y="3500"/>
                  </a:cubicBezTo>
                  <a:cubicBezTo>
                    <a:pt x="2015" y="2012"/>
                    <a:pt x="2015" y="2012"/>
                    <a:pt x="2015" y="2012"/>
                  </a:cubicBezTo>
                  <a:moveTo>
                    <a:pt x="509" y="0"/>
                  </a:moveTo>
                  <a:cubicBezTo>
                    <a:pt x="509" y="509"/>
                    <a:pt x="509" y="509"/>
                    <a:pt x="509" y="509"/>
                  </a:cubicBezTo>
                  <a:moveTo>
                    <a:pt x="1134" y="2012"/>
                  </a:moveTo>
                  <a:cubicBezTo>
                    <a:pt x="2384" y="2012"/>
                    <a:pt x="2384" y="2012"/>
                    <a:pt x="2384" y="2012"/>
                  </a:cubicBezTo>
                  <a:moveTo>
                    <a:pt x="1759" y="2012"/>
                  </a:moveTo>
                  <a:cubicBezTo>
                    <a:pt x="1759" y="711"/>
                    <a:pt x="1759" y="711"/>
                    <a:pt x="1759" y="711"/>
                  </a:cubicBezTo>
                  <a:moveTo>
                    <a:pt x="2015" y="9"/>
                  </a:moveTo>
                  <a:cubicBezTo>
                    <a:pt x="1503" y="9"/>
                    <a:pt x="1503" y="9"/>
                    <a:pt x="1503" y="9"/>
                  </a:cubicBezTo>
                  <a:cubicBezTo>
                    <a:pt x="1503" y="510"/>
                    <a:pt x="1503" y="510"/>
                    <a:pt x="1503" y="510"/>
                  </a:cubicBezTo>
                  <a:cubicBezTo>
                    <a:pt x="1759" y="756"/>
                    <a:pt x="1759" y="756"/>
                    <a:pt x="1759" y="756"/>
                  </a:cubicBezTo>
                  <a:cubicBezTo>
                    <a:pt x="2015" y="510"/>
                    <a:pt x="2015" y="510"/>
                    <a:pt x="2015" y="510"/>
                  </a:cubicBezTo>
                  <a:lnTo>
                    <a:pt x="2015" y="9"/>
                  </a:lnTo>
                  <a:close/>
                </a:path>
              </a:pathLst>
            </a:custGeom>
            <a:solidFill>
              <a:schemeClr val="bg1">
                <a:lumMod val="95000"/>
              </a:schemeClr>
            </a:solidFill>
            <a:ln w="9525" cap="flat">
              <a:solidFill>
                <a:srgbClr val="0078D4"/>
              </a:solidFill>
              <a:prstDash val="solid"/>
              <a:miter lim="800000"/>
              <a:headEnd/>
              <a:tailEnd/>
            </a:ln>
          </p:spPr>
          <p:txBody>
            <a:bodyPr vert="horz" wrap="square" lIns="91440" tIns="45720" rIns="91440" bIns="45720"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endParaRPr lang="en-US"/>
            </a:p>
          </p:txBody>
        </p:sp>
      </p:grpSp>
      <p:sp>
        <p:nvSpPr>
          <p:cNvPr id="37" name="Left Brace 36">
            <a:extLst>
              <a:ext uri="{FF2B5EF4-FFF2-40B4-BE49-F238E27FC236}">
                <a16:creationId xmlns:a16="http://schemas.microsoft.com/office/drawing/2014/main" id="{14B02F5B-A934-10DD-B8B6-DDA781AB71EB}"/>
              </a:ext>
              <a:ext uri="{C183D7F6-B498-43B3-948B-1728B52AA6E4}">
                <adec:decorative xmlns:adec="http://schemas.microsoft.com/office/drawing/2017/decorative" val="1"/>
              </a:ext>
            </a:extLst>
          </p:cNvPr>
          <p:cNvSpPr/>
          <p:nvPr/>
        </p:nvSpPr>
        <p:spPr>
          <a:xfrm rot="16200000">
            <a:off x="5929541" y="2277105"/>
            <a:ext cx="174710" cy="3727992"/>
          </a:xfrm>
          <a:prstGeom prst="leftBrace">
            <a:avLst/>
          </a:prstGeom>
          <a:ln>
            <a:headEnd type="none" w="lg" len="med"/>
            <a:tailEnd type="none" w="lg"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grpSp>
        <p:nvGrpSpPr>
          <p:cNvPr id="3" name="Group 2">
            <a:extLst>
              <a:ext uri="{FF2B5EF4-FFF2-40B4-BE49-F238E27FC236}">
                <a16:creationId xmlns:a16="http://schemas.microsoft.com/office/drawing/2014/main" id="{E5171AC6-E3AF-5807-6203-5EA5758168CF}"/>
              </a:ext>
              <a:ext uri="{C183D7F6-B498-43B3-948B-1728B52AA6E4}">
                <adec:decorative xmlns:adec="http://schemas.microsoft.com/office/drawing/2017/decorative" val="1"/>
              </a:ext>
            </a:extLst>
          </p:cNvPr>
          <p:cNvGrpSpPr/>
          <p:nvPr/>
        </p:nvGrpSpPr>
        <p:grpSpPr>
          <a:xfrm>
            <a:off x="2758554" y="4246686"/>
            <a:ext cx="4011301" cy="1505919"/>
            <a:chOff x="2758554" y="4246686"/>
            <a:chExt cx="4011301" cy="1505919"/>
          </a:xfrm>
        </p:grpSpPr>
        <p:grpSp>
          <p:nvGrpSpPr>
            <p:cNvPr id="26" name="Group 25">
              <a:extLst>
                <a:ext uri="{FF2B5EF4-FFF2-40B4-BE49-F238E27FC236}">
                  <a16:creationId xmlns:a16="http://schemas.microsoft.com/office/drawing/2014/main" id="{D256ED07-EE05-6732-09A8-F757569A541D}"/>
                </a:ext>
              </a:extLst>
            </p:cNvPr>
            <p:cNvGrpSpPr/>
            <p:nvPr/>
          </p:nvGrpSpPr>
          <p:grpSpPr>
            <a:xfrm>
              <a:off x="5263936" y="4246686"/>
              <a:ext cx="1505919" cy="1505919"/>
              <a:chOff x="5638799" y="2971799"/>
              <a:chExt cx="1505919" cy="1505919"/>
            </a:xfrm>
          </p:grpSpPr>
          <p:pic>
            <p:nvPicPr>
              <p:cNvPr id="24" name="Graphic 23" descr="Robot outline">
                <a:extLst>
                  <a:ext uri="{FF2B5EF4-FFF2-40B4-BE49-F238E27FC236}">
                    <a16:creationId xmlns:a16="http://schemas.microsoft.com/office/drawing/2014/main" id="{E272DC32-B076-9B23-FEC3-8CED8AF33B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799" y="2971799"/>
                <a:ext cx="1505919" cy="1505919"/>
              </a:xfrm>
              <a:prstGeom prst="rect">
                <a:avLst/>
              </a:prstGeom>
            </p:spPr>
          </p:pic>
          <p:sp>
            <p:nvSpPr>
              <p:cNvPr id="25" name="Rectangle 24">
                <a:extLst>
                  <a:ext uri="{FF2B5EF4-FFF2-40B4-BE49-F238E27FC236}">
                    <a16:creationId xmlns:a16="http://schemas.microsoft.com/office/drawing/2014/main" id="{F20BBF21-2C15-F9DC-9DDF-F97CC70B03A2}"/>
                  </a:ext>
                </a:extLst>
              </p:cNvPr>
              <p:cNvSpPr/>
              <p:nvPr/>
            </p:nvSpPr>
            <p:spPr bwMode="auto">
              <a:xfrm>
                <a:off x="6160576" y="3680847"/>
                <a:ext cx="464949" cy="41070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0" name="Picture 19" descr="A purple and blue hexagon with stars&#10;&#10;AI-generated content may be incorrect.">
                <a:extLst>
                  <a:ext uri="{FF2B5EF4-FFF2-40B4-BE49-F238E27FC236}">
                    <a16:creationId xmlns:a16="http://schemas.microsoft.com/office/drawing/2014/main" id="{BE84429B-BAFC-DD47-F8B7-F76C37CC6D24}"/>
                  </a:ext>
                </a:extLst>
              </p:cNvPr>
              <p:cNvPicPr>
                <a:picLocks noChangeAspect="1"/>
              </p:cNvPicPr>
              <p:nvPr/>
            </p:nvPicPr>
            <p:blipFill>
              <a:blip r:embed="rId5"/>
              <a:stretch>
                <a:fillRect/>
              </a:stretch>
            </p:blipFill>
            <p:spPr>
              <a:xfrm>
                <a:off x="6153512" y="3619540"/>
                <a:ext cx="472013" cy="472013"/>
              </a:xfrm>
              <a:prstGeom prst="rect">
                <a:avLst/>
              </a:prstGeom>
            </p:spPr>
          </p:pic>
        </p:grpSp>
        <p:pic>
          <p:nvPicPr>
            <p:cNvPr id="39" name="Graphic 38" descr="User with solid fill">
              <a:extLst>
                <a:ext uri="{FF2B5EF4-FFF2-40B4-BE49-F238E27FC236}">
                  <a16:creationId xmlns:a16="http://schemas.microsoft.com/office/drawing/2014/main" id="{3F31C5FB-5F49-0EC4-734E-B44795B5B68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58554" y="4584359"/>
              <a:ext cx="1044425" cy="1044425"/>
            </a:xfrm>
            <a:prstGeom prst="rect">
              <a:avLst/>
            </a:prstGeom>
          </p:spPr>
        </p:pic>
        <p:cxnSp>
          <p:nvCxnSpPr>
            <p:cNvPr id="41" name="Straight Connector 40">
              <a:extLst>
                <a:ext uri="{FF2B5EF4-FFF2-40B4-BE49-F238E27FC236}">
                  <a16:creationId xmlns:a16="http://schemas.microsoft.com/office/drawing/2014/main" id="{E881AEB4-5462-6BCA-6083-C7F09FACEE12}"/>
                </a:ext>
              </a:extLst>
            </p:cNvPr>
            <p:cNvCxnSpPr>
              <a:cxnSpLocks/>
              <a:endCxn id="20" idx="1"/>
            </p:cNvCxnSpPr>
            <p:nvPr/>
          </p:nvCxnSpPr>
          <p:spPr>
            <a:xfrm>
              <a:off x="3749040" y="5130434"/>
              <a:ext cx="2029609" cy="0"/>
            </a:xfrm>
            <a:prstGeom prst="line">
              <a:avLst/>
            </a:prstGeom>
            <a:ln w="38100">
              <a:solidFill>
                <a:schemeClr val="accent2"/>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7" name="Graphic 46" descr="Chat outline">
              <a:extLst>
                <a:ext uri="{FF2B5EF4-FFF2-40B4-BE49-F238E27FC236}">
                  <a16:creationId xmlns:a16="http://schemas.microsoft.com/office/drawing/2014/main" id="{8C2D022F-9689-6B6E-3EEA-93500AC1966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12728" y="4375678"/>
              <a:ext cx="914400" cy="914400"/>
            </a:xfrm>
            <a:prstGeom prst="rect">
              <a:avLst/>
            </a:prstGeom>
          </p:spPr>
        </p:pic>
      </p:grpSp>
      <p:sp>
        <p:nvSpPr>
          <p:cNvPr id="48" name="TextBox 47">
            <a:extLst>
              <a:ext uri="{FF2B5EF4-FFF2-40B4-BE49-F238E27FC236}">
                <a16:creationId xmlns:a16="http://schemas.microsoft.com/office/drawing/2014/main" id="{99EFCBEF-406A-1977-737D-FABC33D5DF91}"/>
              </a:ext>
            </a:extLst>
          </p:cNvPr>
          <p:cNvSpPr txBox="1"/>
          <p:nvPr/>
        </p:nvSpPr>
        <p:spPr>
          <a:xfrm>
            <a:off x="6640381" y="4998849"/>
            <a:ext cx="3999300" cy="215444"/>
          </a:xfrm>
          <a:prstGeom prst="rect">
            <a:avLst/>
          </a:prstGeom>
          <a:noFill/>
        </p:spPr>
        <p:txBody>
          <a:bodyPr wrap="none" lIns="0" tIns="0" rIns="0" bIns="0" rtlCol="0">
            <a:spAutoFit/>
          </a:bodyPr>
          <a:lstStyle/>
          <a:p>
            <a:pPr algn="l"/>
            <a:r>
              <a:rPr lang="en-US" sz="1400" dirty="0"/>
              <a:t>Chat sessions with an agent take place on a </a:t>
            </a:r>
            <a:r>
              <a:rPr lang="en-US" sz="1400" i="1" dirty="0"/>
              <a:t>thread</a:t>
            </a:r>
            <a:endParaRPr lang="en-US" sz="1400" dirty="0"/>
          </a:p>
        </p:txBody>
      </p:sp>
      <p:sp>
        <p:nvSpPr>
          <p:cNvPr id="4" name="Footer Placeholder 3">
            <a:extLst>
              <a:ext uri="{FF2B5EF4-FFF2-40B4-BE49-F238E27FC236}">
                <a16:creationId xmlns:a16="http://schemas.microsoft.com/office/drawing/2014/main" id="{3CAEAFB6-597C-51E0-B09C-5D1CA779F29B}"/>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163088115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2" y="585217"/>
            <a:ext cx="10544558" cy="550164"/>
          </a:xfrm>
        </p:spPr>
        <p:txBody>
          <a:bodyPr/>
          <a:lstStyle/>
          <a:p>
            <a:r>
              <a:rPr lang="en-US" sz="3200" dirty="0"/>
              <a:t>Creating an agent in Azure AI Foundry portal</a:t>
            </a:r>
          </a:p>
        </p:txBody>
      </p:sp>
      <p:sp>
        <p:nvSpPr>
          <p:cNvPr id="4" name="TextBox 3">
            <a:extLst>
              <a:ext uri="{FF2B5EF4-FFF2-40B4-BE49-F238E27FC236}">
                <a16:creationId xmlns:a16="http://schemas.microsoft.com/office/drawing/2014/main" id="{66BE9932-D9F9-C598-71F0-64224F607A0E}"/>
              </a:ext>
            </a:extLst>
          </p:cNvPr>
          <p:cNvSpPr txBox="1"/>
          <p:nvPr/>
        </p:nvSpPr>
        <p:spPr>
          <a:xfrm>
            <a:off x="699094" y="1883529"/>
            <a:ext cx="4474886" cy="2646878"/>
          </a:xfrm>
          <a:prstGeom prst="rect">
            <a:avLst/>
          </a:prstGeom>
          <a:noFill/>
        </p:spPr>
        <p:txBody>
          <a:bodyPr wrap="square" lIns="0" tIns="0" rIns="0" bIns="0" rtlCol="0">
            <a:spAutoFit/>
          </a:bodyPr>
          <a:lstStyle/>
          <a:p>
            <a:pPr marL="457200" indent="-457200" algn="l">
              <a:buFont typeface="+mj-lt"/>
              <a:buAutoNum type="arabicPeriod"/>
            </a:pPr>
            <a:r>
              <a:rPr lang="en-US" sz="2000" dirty="0"/>
              <a:t>Deploy a supported model</a:t>
            </a:r>
          </a:p>
          <a:p>
            <a:pPr marL="457200" indent="-457200" algn="l">
              <a:buFont typeface="+mj-lt"/>
              <a:buAutoNum type="arabicPeriod"/>
            </a:pPr>
            <a:r>
              <a:rPr lang="en-US" sz="2000" dirty="0"/>
              <a:t>Create an agent and configure:</a:t>
            </a:r>
          </a:p>
          <a:p>
            <a:pPr marL="914383" lvl="1" indent="-457200">
              <a:buFont typeface="Arial" panose="020B0604020202020204" pitchFamily="34" charset="0"/>
              <a:buChar char="•"/>
            </a:pPr>
            <a:r>
              <a:rPr lang="en-US" sz="1800" dirty="0"/>
              <a:t>Name</a:t>
            </a:r>
          </a:p>
          <a:p>
            <a:pPr marL="914383" lvl="1" indent="-457200">
              <a:buFont typeface="Arial" panose="020B0604020202020204" pitchFamily="34" charset="0"/>
              <a:buChar char="•"/>
            </a:pPr>
            <a:r>
              <a:rPr lang="en-US" sz="1800" dirty="0"/>
              <a:t>Model deployment</a:t>
            </a:r>
          </a:p>
          <a:p>
            <a:pPr marL="914383" lvl="1" indent="-457200">
              <a:buFont typeface="Arial" panose="020B0604020202020204" pitchFamily="34" charset="0"/>
              <a:buChar char="•"/>
            </a:pPr>
            <a:r>
              <a:rPr lang="en-US" sz="1800" dirty="0"/>
              <a:t>Instructions</a:t>
            </a:r>
          </a:p>
          <a:p>
            <a:pPr marL="914383" lvl="1" indent="-457200">
              <a:buFont typeface="Arial" panose="020B0604020202020204" pitchFamily="34" charset="0"/>
              <a:buChar char="•"/>
            </a:pPr>
            <a:r>
              <a:rPr lang="en-US" sz="1800" dirty="0"/>
              <a:t>Tool connections</a:t>
            </a:r>
          </a:p>
          <a:p>
            <a:pPr marL="457200" indent="-457200" algn="l">
              <a:buFont typeface="+mj-lt"/>
              <a:buAutoNum type="arabicPeriod"/>
            </a:pPr>
            <a:r>
              <a:rPr lang="en-US" sz="2000" dirty="0"/>
              <a:t>Test the agent in the playground</a:t>
            </a:r>
          </a:p>
          <a:p>
            <a:pPr marL="457200" indent="-457200" algn="l">
              <a:buFont typeface="+mj-lt"/>
              <a:buAutoNum type="arabicPeriod"/>
            </a:pPr>
            <a:r>
              <a:rPr lang="en-US" sz="2000" dirty="0"/>
              <a:t>Connect to and consume your agent using code</a:t>
            </a:r>
          </a:p>
        </p:txBody>
      </p:sp>
      <p:pic>
        <p:nvPicPr>
          <p:cNvPr id="3" name="Picture Placeholder 2"/>
          <p:cNvPicPr>
            <a:picLocks noGrp="1" noChangeAspect="1"/>
          </p:cNvPicPr>
          <p:nvPr>
            <p:ph type="pic" sz="quarter" idx="22"/>
          </p:nvPr>
        </p:nvPicPr>
        <p:blipFill>
          <a:blip r:embed="rId3" cstate="screen">
            <a:extLst>
              <a:ext uri="{28A0092B-C50C-407E-A947-70E740481C1C}">
                <a14:useLocalDpi xmlns:a14="http://schemas.microsoft.com/office/drawing/2010/main" val="0"/>
              </a:ext>
            </a:extLst>
          </a:blip>
          <a:srcRect r="329"/>
          <a:stretch>
            <a:fillRect/>
          </a:stretch>
        </p:blipFill>
        <p:spPr>
          <a:xfrm>
            <a:off x="5393014" y="1539063"/>
            <a:ext cx="6079849" cy="4478338"/>
          </a:xfrm>
          <a:ln>
            <a:solidFill>
              <a:schemeClr val="bg1">
                <a:lumMod val="75000"/>
              </a:schemeClr>
            </a:solidFill>
          </a:ln>
        </p:spPr>
      </p:pic>
      <p:sp>
        <p:nvSpPr>
          <p:cNvPr id="5" name="Footer Placeholder 3">
            <a:extLst>
              <a:ext uri="{FF2B5EF4-FFF2-40B4-BE49-F238E27FC236}">
                <a16:creationId xmlns:a16="http://schemas.microsoft.com/office/drawing/2014/main" id="{ABC65B34-D905-28A2-C52F-7C3D4690DB18}"/>
              </a:ext>
            </a:extLst>
          </p:cNvPr>
          <p:cNvSpPr>
            <a:spLocks noGrp="1"/>
          </p:cNvSpPr>
          <p:nvPr>
            <p:ph type="ftr" sz="quarter" idx="3"/>
          </p:nvPr>
        </p:nvSpPr>
        <p:spPr>
          <a:xfrm>
            <a:off x="609918" y="6421083"/>
            <a:ext cx="4151312" cy="197976"/>
          </a:xfrm>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84457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92443"/>
          </a:xfrm>
        </p:spPr>
        <p:txBody>
          <a:bodyPr>
            <a:normAutofit fontScale="90000"/>
          </a:bodyPr>
          <a:lstStyle/>
          <a:p>
            <a:r>
              <a:rPr lang="en-US" sz="3200" dirty="0"/>
              <a:t>Exercise</a:t>
            </a:r>
          </a:p>
        </p:txBody>
      </p:sp>
      <p:sp>
        <p:nvSpPr>
          <p:cNvPr id="8" name="Picture Placeholder 7">
            <a:extLst>
              <a:ext uri="{FF2B5EF4-FFF2-40B4-BE49-F238E27FC236}">
                <a16:creationId xmlns:a16="http://schemas.microsoft.com/office/drawing/2014/main" id="{4756C260-930D-F128-2221-3A416321EDFB}"/>
              </a:ext>
              <a:ext uri="{C183D7F6-B498-43B3-948B-1728B52AA6E4}">
                <adec:decorative xmlns:adec="http://schemas.microsoft.com/office/drawing/2017/decorative" val="1"/>
              </a:ext>
            </a:extLst>
          </p:cNvPr>
          <p:cNvSpPr>
            <a:spLocks noGrp="1"/>
          </p:cNvSpPr>
          <p:nvPr>
            <p:ph type="pic" sz="quarter" idx="20"/>
          </p:nvPr>
        </p:nvSpPr>
        <p:spPr/>
        <p:txBody>
          <a:bodyPr/>
          <a:lstStyle/>
          <a:p>
            <a:endParaRPr lang="en-US"/>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307777"/>
          </a:xfrm>
        </p:spPr>
        <p:txBody>
          <a:bodyPr>
            <a:normAutofit fontScale="85000" lnSpcReduction="10000"/>
          </a:bodyPr>
          <a:lstStyle/>
          <a:p>
            <a:r>
              <a:rPr lang="en-US" sz="2000" dirty="0"/>
              <a:t>Explore AI Agent development</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5652201" cy="1526572"/>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the Azure AI Foundry portal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Deploy a model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000000"/>
                </a:solidFill>
                <a:latin typeface="Segoe UI"/>
              </a:rPr>
              <a:t>Create an agent</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Configure a knowledge tool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000000"/>
                </a:solidFill>
                <a:latin typeface="Segoe UI"/>
              </a:rPr>
              <a:t>Test the agent in the playground</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https://go.microsoft.com/fwlink/?linkid=2303870</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 name="Picture Placeholder 2">
            <a:extLst>
              <a:ext uri="{FF2B5EF4-FFF2-40B4-BE49-F238E27FC236}">
                <a16:creationId xmlns:a16="http://schemas.microsoft.com/office/drawing/2014/main" id="{61190C04-3C5A-81AE-7C17-771261FA6D09}"/>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p:blipFill>
        <p:spPr>
          <a:xfrm>
            <a:off x="7697502" y="2000524"/>
            <a:ext cx="5031908" cy="3389593"/>
          </a:xfrm>
          <a:prstGeom prst="rect">
            <a:avLst/>
          </a:prstGeom>
        </p:spPr>
      </p:pic>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27067625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5FCF-B252-4FCE-BD44-0A5779C8AFE7}"/>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2BB91D5E-20DE-97FE-6AAB-A18132335615}"/>
              </a:ext>
            </a:extLst>
          </p:cNvPr>
          <p:cNvSpPr>
            <a:spLocks noGrp="1"/>
          </p:cNvSpPr>
          <p:nvPr>
            <p:ph type="body" sz="quarter" idx="17"/>
          </p:nvPr>
        </p:nvSpPr>
        <p:spPr>
          <a:xfrm>
            <a:off x="1235075" y="1687706"/>
            <a:ext cx="8778782" cy="215444"/>
          </a:xfrm>
        </p:spPr>
        <p:txBody>
          <a:bodyPr>
            <a:normAutofit fontScale="70000" lnSpcReduction="20000"/>
          </a:bodyPr>
          <a:lstStyle/>
          <a:p>
            <a:pPr>
              <a:buNone/>
            </a:pPr>
            <a:r>
              <a:rPr lang="en-US" noProof="0" dirty="0"/>
              <a:t>Which of the following best describes an AI agent?</a:t>
            </a:r>
          </a:p>
        </p:txBody>
      </p:sp>
      <p:sp>
        <p:nvSpPr>
          <p:cNvPr id="9" name="Text Placeholder 8">
            <a:extLst>
              <a:ext uri="{FF2B5EF4-FFF2-40B4-BE49-F238E27FC236}">
                <a16:creationId xmlns:a16="http://schemas.microsoft.com/office/drawing/2014/main" id="{6BD2CD61-EA12-FBFF-FE4D-8ABB0630E116}"/>
              </a:ext>
            </a:extLst>
          </p:cNvPr>
          <p:cNvSpPr>
            <a:spLocks noGrp="1"/>
          </p:cNvSpPr>
          <p:nvPr>
            <p:ph type="body" sz="quarter" idx="15"/>
          </p:nvPr>
        </p:nvSpPr>
        <p:spPr>
          <a:xfrm>
            <a:off x="1235075" y="2012919"/>
            <a:ext cx="8775098" cy="732508"/>
          </a:xfrm>
          <a:noFill/>
        </p:spPr>
        <p:txBody>
          <a:bodyPr/>
          <a:lstStyle/>
          <a:p>
            <a:r>
              <a:rPr lang="en-US" noProof="0" dirty="0"/>
              <a:t>A developer who specializes in building generative AI solutions</a:t>
            </a:r>
            <a:endParaRPr lang="en-US" noProof="0" dirty="0">
              <a:solidFill>
                <a:srgbClr val="000000"/>
              </a:solidFill>
            </a:endParaRPr>
          </a:p>
          <a:p>
            <a:r>
              <a:rPr lang="en-US" noProof="0" dirty="0"/>
              <a:t>A software service that uses AI to assist users with information and task automation</a:t>
            </a:r>
          </a:p>
          <a:p>
            <a:r>
              <a:rPr lang="en-US" noProof="0" dirty="0"/>
              <a:t>A marketplace for off-the-shelf AI software components</a:t>
            </a:r>
          </a:p>
        </p:txBody>
      </p:sp>
      <p:sp>
        <p:nvSpPr>
          <p:cNvPr id="18" name="Text Placeholder 17">
            <a:extLst>
              <a:ext uri="{FF2B5EF4-FFF2-40B4-BE49-F238E27FC236}">
                <a16:creationId xmlns:a16="http://schemas.microsoft.com/office/drawing/2014/main" id="{95A8C63B-6169-9A98-B0F7-479F68890332}"/>
              </a:ext>
            </a:extLst>
          </p:cNvPr>
          <p:cNvSpPr>
            <a:spLocks noGrp="1"/>
          </p:cNvSpPr>
          <p:nvPr>
            <p:ph type="body" sz="quarter" idx="22"/>
          </p:nvPr>
        </p:nvSpPr>
        <p:spPr>
          <a:xfrm>
            <a:off x="1235075" y="3046370"/>
            <a:ext cx="8778782" cy="430887"/>
          </a:xfrm>
        </p:spPr>
        <p:txBody>
          <a:bodyPr>
            <a:normAutofit fontScale="92500" lnSpcReduction="10000"/>
          </a:bodyPr>
          <a:lstStyle/>
          <a:p>
            <a:r>
              <a:rPr lang="en-US" noProof="0" dirty="0"/>
              <a:t>Which AI agent development service offers a choice of generative AI models from multiple vendors in the Azure AI Foundry model catalog?</a:t>
            </a:r>
            <a:endParaRPr lang="en-US" b="1" noProof="0" dirty="0"/>
          </a:p>
        </p:txBody>
      </p:sp>
      <p:sp>
        <p:nvSpPr>
          <p:cNvPr id="19" name="Text Placeholder 18">
            <a:extLst>
              <a:ext uri="{FF2B5EF4-FFF2-40B4-BE49-F238E27FC236}">
                <a16:creationId xmlns:a16="http://schemas.microsoft.com/office/drawing/2014/main" id="{34A41BD7-1086-C355-3E5F-4AAE0B778651}"/>
              </a:ext>
            </a:extLst>
          </p:cNvPr>
          <p:cNvSpPr>
            <a:spLocks noGrp="1"/>
          </p:cNvSpPr>
          <p:nvPr>
            <p:ph type="body" sz="quarter" idx="23"/>
          </p:nvPr>
        </p:nvSpPr>
        <p:spPr>
          <a:xfrm>
            <a:off x="1237265" y="3555231"/>
            <a:ext cx="8775098" cy="732508"/>
          </a:xfrm>
        </p:spPr>
        <p:txBody>
          <a:bodyPr/>
          <a:lstStyle/>
          <a:p>
            <a:r>
              <a:rPr lang="en-US" noProof="0" dirty="0"/>
              <a:t>Azure AI Foundry Agent Service</a:t>
            </a:r>
          </a:p>
          <a:p>
            <a:r>
              <a:rPr lang="en-US" noProof="0" dirty="0"/>
              <a:t>OpenAI Assistants API</a:t>
            </a:r>
          </a:p>
          <a:p>
            <a:r>
              <a:rPr lang="en-US" noProof="0" dirty="0"/>
              <a:t>Microsoft 365 Copilot Chat</a:t>
            </a:r>
          </a:p>
        </p:txBody>
      </p:sp>
      <p:sp>
        <p:nvSpPr>
          <p:cNvPr id="15" name="Text Placeholder 14">
            <a:extLst>
              <a:ext uri="{FF2B5EF4-FFF2-40B4-BE49-F238E27FC236}">
                <a16:creationId xmlns:a16="http://schemas.microsoft.com/office/drawing/2014/main" id="{40689312-8095-CCFD-22A6-F89AAB2992CD}"/>
              </a:ext>
            </a:extLst>
          </p:cNvPr>
          <p:cNvSpPr>
            <a:spLocks noGrp="1"/>
          </p:cNvSpPr>
          <p:nvPr>
            <p:ph type="body" sz="quarter" idx="20"/>
          </p:nvPr>
        </p:nvSpPr>
        <p:spPr>
          <a:xfrm>
            <a:off x="1235074" y="4588103"/>
            <a:ext cx="8957333" cy="215444"/>
          </a:xfrm>
        </p:spPr>
        <p:txBody>
          <a:bodyPr>
            <a:normAutofit fontScale="70000" lnSpcReduction="20000"/>
          </a:bodyPr>
          <a:lstStyle/>
          <a:p>
            <a:r>
              <a:rPr lang="en-US" b="1" noProof="0" dirty="0"/>
              <a:t>What element of an Foundry Agent Service agent enables it to ground prompts with contextual data?</a:t>
            </a:r>
          </a:p>
        </p:txBody>
      </p:sp>
      <p:sp>
        <p:nvSpPr>
          <p:cNvPr id="17" name="Text Placeholder 16">
            <a:extLst>
              <a:ext uri="{FF2B5EF4-FFF2-40B4-BE49-F238E27FC236}">
                <a16:creationId xmlns:a16="http://schemas.microsoft.com/office/drawing/2014/main" id="{1D49697D-DE0C-2ACF-7A46-2A7D4EA740A1}"/>
              </a:ext>
            </a:extLst>
          </p:cNvPr>
          <p:cNvSpPr>
            <a:spLocks noGrp="1"/>
          </p:cNvSpPr>
          <p:nvPr>
            <p:ph type="body" sz="quarter" idx="21"/>
          </p:nvPr>
        </p:nvSpPr>
        <p:spPr>
          <a:xfrm>
            <a:off x="1235075" y="4923253"/>
            <a:ext cx="8775098" cy="732508"/>
          </a:xfrm>
        </p:spPr>
        <p:txBody>
          <a:bodyPr/>
          <a:lstStyle/>
          <a:p>
            <a:r>
              <a:rPr lang="en-US" noProof="0" dirty="0"/>
              <a:t>Model </a:t>
            </a:r>
          </a:p>
          <a:p>
            <a:r>
              <a:rPr lang="en-US" noProof="0" dirty="0"/>
              <a:t>Code interpreter tool</a:t>
            </a:r>
          </a:p>
          <a:p>
            <a:r>
              <a:rPr lang="en-US" noProof="0" dirty="0"/>
              <a:t>Knowledge</a:t>
            </a:r>
          </a:p>
        </p:txBody>
      </p:sp>
      <p:sp>
        <p:nvSpPr>
          <p:cNvPr id="76" name="Oval 75">
            <a:extLst>
              <a:ext uri="{FF2B5EF4-FFF2-40B4-BE49-F238E27FC236}">
                <a16:creationId xmlns:a16="http://schemas.microsoft.com/office/drawing/2014/main" id="{407114A2-8BF6-A1A6-2CD6-2CBFBD1551C7}"/>
              </a:ext>
              <a:ext uri="{C183D7F6-B498-43B3-948B-1728B52AA6E4}">
                <adec:decorative xmlns:adec="http://schemas.microsoft.com/office/drawing/2017/decorative" val="1"/>
              </a:ext>
            </a:extLst>
          </p:cNvPr>
          <p:cNvSpPr>
            <a:spLocks/>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14ACD916-6FAD-9782-1B88-1B0BC3A12F7E}"/>
              </a:ext>
              <a:ext uri="{C183D7F6-B498-43B3-948B-1728B52AA6E4}">
                <adec:decorative xmlns:adec="http://schemas.microsoft.com/office/drawing/2017/decorative" val="1"/>
              </a:ext>
            </a:extLst>
          </p:cNvPr>
          <p:cNvSpPr>
            <a:spLocks/>
          </p:cNvSpPr>
          <p:nvPr/>
        </p:nvSpPr>
        <p:spPr bwMode="auto">
          <a:xfrm>
            <a:off x="722582" y="30468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33232D8E-9600-037A-525E-D1CEB4DF77B9}"/>
              </a:ext>
              <a:ext uri="{C183D7F6-B498-43B3-948B-1728B52AA6E4}">
                <adec:decorative xmlns:adec="http://schemas.microsoft.com/office/drawing/2017/decorative" val="1"/>
              </a:ext>
            </a:extLst>
          </p:cNvPr>
          <p:cNvSpPr>
            <a:spLocks/>
          </p:cNvSpPr>
          <p:nvPr/>
        </p:nvSpPr>
        <p:spPr>
          <a:xfrm>
            <a:off x="1263852" y="358767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78" name="Oval 77">
            <a:extLst>
              <a:ext uri="{FF2B5EF4-FFF2-40B4-BE49-F238E27FC236}">
                <a16:creationId xmlns:a16="http://schemas.microsoft.com/office/drawing/2014/main" id="{FABD4A0D-F27D-198E-C389-B8C1471825CB}"/>
              </a:ext>
              <a:ext uri="{C183D7F6-B498-43B3-948B-1728B52AA6E4}">
                <adec:decorative xmlns:adec="http://schemas.microsoft.com/office/drawing/2017/decorative" val="1"/>
              </a:ext>
            </a:extLst>
          </p:cNvPr>
          <p:cNvSpPr>
            <a:spLocks/>
          </p:cNvSpPr>
          <p:nvPr/>
        </p:nvSpPr>
        <p:spPr bwMode="auto">
          <a:xfrm>
            <a:off x="722582" y="449622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p>
        </p:txBody>
      </p:sp>
      <p:sp>
        <p:nvSpPr>
          <p:cNvPr id="81" name="Graphic 26">
            <a:extLst>
              <a:ext uri="{FF2B5EF4-FFF2-40B4-BE49-F238E27FC236}">
                <a16:creationId xmlns:a16="http://schemas.microsoft.com/office/drawing/2014/main" id="{0971EFD5-5C2D-6201-133A-7531D6D2C7C1}"/>
              </a:ext>
              <a:ext uri="{C183D7F6-B498-43B3-948B-1728B52AA6E4}">
                <adec:decorative xmlns:adec="http://schemas.microsoft.com/office/drawing/2017/decorative" val="1"/>
              </a:ext>
            </a:extLst>
          </p:cNvPr>
          <p:cNvSpPr>
            <a:spLocks/>
          </p:cNvSpPr>
          <p:nvPr/>
        </p:nvSpPr>
        <p:spPr>
          <a:xfrm>
            <a:off x="1263852" y="546803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73EFA5EC-BE50-D924-BC3E-285D8A5882FE}"/>
              </a:ext>
              <a:ext uri="{C183D7F6-B498-43B3-948B-1728B52AA6E4}">
                <adec:decorative xmlns:adec="http://schemas.microsoft.com/office/drawing/2017/decorative" val="1"/>
              </a:ext>
            </a:extLst>
          </p:cNvPr>
          <p:cNvSpPr>
            <a:spLocks/>
          </p:cNvSpPr>
          <p:nvPr/>
        </p:nvSpPr>
        <p:spPr>
          <a:xfrm>
            <a:off x="1256418" y="230340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874596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DB2DB-D718-0845-A846-DD293D23C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A0C15-2C00-046E-C1B3-4CE40F84A061}"/>
              </a:ext>
            </a:extLst>
          </p:cNvPr>
          <p:cNvSpPr>
            <a:spLocks noGrp="1"/>
          </p:cNvSpPr>
          <p:nvPr>
            <p:ph type="title"/>
          </p:nvPr>
        </p:nvSpPr>
        <p:spPr>
          <a:xfrm>
            <a:off x="569911" y="2153504"/>
            <a:ext cx="6345239" cy="1846659"/>
          </a:xfrm>
        </p:spPr>
        <p:txBody>
          <a:bodyPr/>
          <a:lstStyle/>
          <a:p>
            <a:r>
              <a:rPr lang="en-US" noProof="0" dirty="0"/>
              <a:t>Develop an AI agent with Azure AI Foundry Agent Service</a:t>
            </a:r>
          </a:p>
        </p:txBody>
      </p:sp>
      <p:sp>
        <p:nvSpPr>
          <p:cNvPr id="4" name="TextBox 3">
            <a:extLst>
              <a:ext uri="{FF2B5EF4-FFF2-40B4-BE49-F238E27FC236}">
                <a16:creationId xmlns:a16="http://schemas.microsoft.com/office/drawing/2014/main" id="{1792B89C-4DD7-ADD8-3945-BC15868ED2CC}"/>
              </a:ext>
            </a:extLst>
          </p:cNvPr>
          <p:cNvSpPr txBox="1"/>
          <p:nvPr/>
        </p:nvSpPr>
        <p:spPr>
          <a:xfrm>
            <a:off x="502920" y="4000163"/>
            <a:ext cx="6096000" cy="363946"/>
          </a:xfrm>
          <a:prstGeom prst="rect">
            <a:avLst/>
          </a:prstGeom>
          <a:noFill/>
        </p:spPr>
        <p:txBody>
          <a:bodyPr wrap="square">
            <a:spAutoFit/>
          </a:bodyPr>
          <a:lstStyle/>
          <a:p>
            <a:r>
              <a:rPr lang="en-US" dirty="0">
                <a:solidFill>
                  <a:schemeClr val="accent2"/>
                </a:solidFill>
              </a:rPr>
              <a:t>https://aka.ms/mslearn-develop-ai-agent</a:t>
            </a:r>
          </a:p>
        </p:txBody>
      </p:sp>
    </p:spTree>
    <p:extLst>
      <p:ext uri="{BB962C8B-B14F-4D97-AF65-F5344CB8AC3E}">
        <p14:creationId xmlns:p14="http://schemas.microsoft.com/office/powerpoint/2010/main" val="115557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3439A-475D-86BB-DF0B-3DC8626B609D}"/>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E5F99059-5EC5-E397-4ABD-22CB53EBF794}"/>
              </a:ext>
              <a:ext uri="{C183D7F6-B498-43B3-948B-1728B52AA6E4}">
                <adec:decorative xmlns:adec="http://schemas.microsoft.com/office/drawing/2017/decorative" val="1"/>
              </a:ext>
            </a:extLst>
          </p:cNvPr>
          <p:cNvSpPr/>
          <p:nvPr/>
        </p:nvSpPr>
        <p:spPr bwMode="auto">
          <a:xfrm>
            <a:off x="586390" y="4754881"/>
            <a:ext cx="11026172" cy="1517904"/>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Title 16">
            <a:extLst>
              <a:ext uri="{FF2B5EF4-FFF2-40B4-BE49-F238E27FC236}">
                <a16:creationId xmlns:a16="http://schemas.microsoft.com/office/drawing/2014/main" id="{7C6B6A7E-CC69-D718-A23E-FA554D4203CA}"/>
              </a:ext>
            </a:extLst>
          </p:cNvPr>
          <p:cNvSpPr>
            <a:spLocks noGrp="1"/>
          </p:cNvSpPr>
          <p:nvPr>
            <p:ph type="title"/>
          </p:nvPr>
        </p:nvSpPr>
        <p:spPr>
          <a:xfrm>
            <a:off x="588262" y="585216"/>
            <a:ext cx="10397238" cy="492443"/>
          </a:xfrm>
        </p:spPr>
        <p:txBody>
          <a:bodyPr>
            <a:normAutofit fontScale="90000"/>
          </a:bodyPr>
          <a:lstStyle/>
          <a:p>
            <a:r>
              <a:rPr lang="en-US" dirty="0"/>
              <a:t>Why are AI agents useful?</a:t>
            </a:r>
          </a:p>
        </p:txBody>
      </p:sp>
      <p:pic>
        <p:nvPicPr>
          <p:cNvPr id="24" name="Graphic 23">
            <a:extLst>
              <a:ext uri="{FF2B5EF4-FFF2-40B4-BE49-F238E27FC236}">
                <a16:creationId xmlns:a16="http://schemas.microsoft.com/office/drawing/2014/main" id="{9BC7A86C-4DBF-E784-276A-3FF3ACB1E60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1267" y="1731175"/>
            <a:ext cx="617374" cy="617374"/>
          </a:xfrm>
          <a:prstGeom prst="rect">
            <a:avLst/>
          </a:prstGeom>
        </p:spPr>
      </p:pic>
      <p:pic>
        <p:nvPicPr>
          <p:cNvPr id="15" name="Graphic 14">
            <a:extLst>
              <a:ext uri="{FF2B5EF4-FFF2-40B4-BE49-F238E27FC236}">
                <a16:creationId xmlns:a16="http://schemas.microsoft.com/office/drawing/2014/main" id="{2B75420C-356D-4D2D-7C56-067A72FA00E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90546" y="1709332"/>
            <a:ext cx="617374" cy="617374"/>
          </a:xfrm>
          <a:prstGeom prst="rect">
            <a:avLst/>
          </a:prstGeom>
        </p:spPr>
      </p:pic>
      <p:pic>
        <p:nvPicPr>
          <p:cNvPr id="13" name="Graphic 12">
            <a:extLst>
              <a:ext uri="{FF2B5EF4-FFF2-40B4-BE49-F238E27FC236}">
                <a16:creationId xmlns:a16="http://schemas.microsoft.com/office/drawing/2014/main" id="{423137A4-DB48-5208-6761-13DDE28120A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96815" y="1717690"/>
            <a:ext cx="583141" cy="583141"/>
          </a:xfrm>
          <a:prstGeom prst="rect">
            <a:avLst/>
          </a:prstGeom>
        </p:spPr>
      </p:pic>
      <p:pic>
        <p:nvPicPr>
          <p:cNvPr id="22" name="Graphic 21">
            <a:extLst>
              <a:ext uri="{FF2B5EF4-FFF2-40B4-BE49-F238E27FC236}">
                <a16:creationId xmlns:a16="http://schemas.microsoft.com/office/drawing/2014/main" id="{1B9EFDDE-4E2A-725F-C571-A8FE8B811F9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68853" y="1727784"/>
            <a:ext cx="617374" cy="617374"/>
          </a:xfrm>
          <a:prstGeom prst="rect">
            <a:avLst/>
          </a:prstGeom>
        </p:spPr>
      </p:pic>
      <p:sp>
        <p:nvSpPr>
          <p:cNvPr id="3" name="Text Placeholder 2">
            <a:extLst>
              <a:ext uri="{FF2B5EF4-FFF2-40B4-BE49-F238E27FC236}">
                <a16:creationId xmlns:a16="http://schemas.microsoft.com/office/drawing/2014/main" id="{96468AAA-B7D4-43D9-D9F2-75FE6A05D9AA}"/>
              </a:ext>
            </a:extLst>
          </p:cNvPr>
          <p:cNvSpPr>
            <a:spLocks noGrp="1"/>
          </p:cNvSpPr>
          <p:nvPr>
            <p:ph type="body" sz="quarter" idx="4294967295"/>
          </p:nvPr>
        </p:nvSpPr>
        <p:spPr>
          <a:xfrm>
            <a:off x="584199" y="2567966"/>
            <a:ext cx="2651760" cy="307777"/>
          </a:xfrm>
        </p:spPr>
        <p:txBody>
          <a:bodyPr>
            <a:normAutofit fontScale="85000" lnSpcReduction="10000"/>
          </a:bodyPr>
          <a:lstStyle/>
          <a:p>
            <a:pPr marL="0" indent="0" algn="ctr">
              <a:spcBef>
                <a:spcPts val="0"/>
              </a:spcBef>
              <a:buFont typeface="Arial" panose="020B0604020202020204" pitchFamily="34" charset="0"/>
              <a:buNone/>
            </a:pPr>
            <a:r>
              <a:rPr lang="en-US" sz="2000" dirty="0">
                <a:latin typeface="+mj-lt"/>
              </a:rPr>
              <a:t>Automation</a:t>
            </a:r>
          </a:p>
        </p:txBody>
      </p:sp>
      <p:sp>
        <p:nvSpPr>
          <p:cNvPr id="52" name="Text Placeholder 51">
            <a:extLst>
              <a:ext uri="{FF2B5EF4-FFF2-40B4-BE49-F238E27FC236}">
                <a16:creationId xmlns:a16="http://schemas.microsoft.com/office/drawing/2014/main" id="{39C7CF53-D7FB-D6DE-8539-E136748FFC22}"/>
              </a:ext>
              <a:ext uri="{C183D7F6-B498-43B3-948B-1728B52AA6E4}">
                <adec:decorative xmlns:adec="http://schemas.microsoft.com/office/drawing/2017/decorative" val="0"/>
              </a:ext>
            </a:extLst>
          </p:cNvPr>
          <p:cNvSpPr>
            <a:spLocks noGrp="1"/>
          </p:cNvSpPr>
          <p:nvPr>
            <p:ph type="body" sz="quarter" idx="4294967295"/>
          </p:nvPr>
        </p:nvSpPr>
        <p:spPr>
          <a:xfrm>
            <a:off x="586390" y="3250737"/>
            <a:ext cx="2651760" cy="1378839"/>
          </a:xfrm>
        </p:spPr>
        <p:txBody>
          <a:bodyPr>
            <a:normAutofit fontScale="55000" lnSpcReduction="20000"/>
          </a:bodyPr>
          <a:lstStyle/>
          <a:p>
            <a:r>
              <a:rPr lang="en-US" dirty="0"/>
              <a:t>Handle repetitive tasks.</a:t>
            </a:r>
          </a:p>
          <a:p>
            <a:r>
              <a:rPr lang="en-US" dirty="0"/>
              <a:t>Free up human workers.</a:t>
            </a:r>
          </a:p>
          <a:p>
            <a:r>
              <a:rPr lang="en-US" dirty="0"/>
              <a:t>Increase productivity and efficiency.</a:t>
            </a:r>
          </a:p>
          <a:p>
            <a:pPr marL="0" indent="0">
              <a:buNone/>
            </a:pPr>
            <a:endParaRPr lang="LID4096" dirty="0"/>
          </a:p>
        </p:txBody>
      </p:sp>
      <p:sp>
        <p:nvSpPr>
          <p:cNvPr id="4" name="Text Placeholder 3">
            <a:extLst>
              <a:ext uri="{FF2B5EF4-FFF2-40B4-BE49-F238E27FC236}">
                <a16:creationId xmlns:a16="http://schemas.microsoft.com/office/drawing/2014/main" id="{5EAAC70C-8365-5A1C-150A-3543DFC55870}"/>
              </a:ext>
            </a:extLst>
          </p:cNvPr>
          <p:cNvSpPr>
            <a:spLocks noGrp="1"/>
          </p:cNvSpPr>
          <p:nvPr>
            <p:ph type="body" sz="quarter" idx="4294967295"/>
          </p:nvPr>
        </p:nvSpPr>
        <p:spPr>
          <a:xfrm>
            <a:off x="3373353" y="2629523"/>
            <a:ext cx="2651760" cy="307777"/>
          </a:xfrm>
        </p:spPr>
        <p:txBody>
          <a:bodyPr>
            <a:normAutofit fontScale="85000" lnSpcReduction="10000"/>
          </a:bodyPr>
          <a:lstStyle/>
          <a:p>
            <a:pPr marL="0" indent="0" algn="ctr">
              <a:spcBef>
                <a:spcPts val="0"/>
              </a:spcBef>
              <a:buFont typeface="Arial" panose="020B0604020202020204" pitchFamily="34" charset="0"/>
              <a:buNone/>
            </a:pPr>
            <a:r>
              <a:rPr lang="en-US" sz="2000" dirty="0">
                <a:latin typeface="+mj-lt"/>
              </a:rPr>
              <a:t>Decision-Making</a:t>
            </a:r>
          </a:p>
        </p:txBody>
      </p:sp>
      <p:sp>
        <p:nvSpPr>
          <p:cNvPr id="16" name="Text Placeholder 15">
            <a:extLst>
              <a:ext uri="{FF2B5EF4-FFF2-40B4-BE49-F238E27FC236}">
                <a16:creationId xmlns:a16="http://schemas.microsoft.com/office/drawing/2014/main" id="{58B44545-1458-C738-AA49-F55C5CDBED13}"/>
              </a:ext>
            </a:extLst>
          </p:cNvPr>
          <p:cNvSpPr>
            <a:spLocks noGrp="1"/>
          </p:cNvSpPr>
          <p:nvPr>
            <p:ph type="body" sz="quarter" idx="4294967295"/>
          </p:nvPr>
        </p:nvSpPr>
        <p:spPr>
          <a:xfrm>
            <a:off x="3375543" y="3250737"/>
            <a:ext cx="2651760" cy="1083374"/>
          </a:xfrm>
        </p:spPr>
        <p:txBody>
          <a:bodyPr>
            <a:normAutofit fontScale="55000" lnSpcReduction="20000"/>
          </a:bodyPr>
          <a:lstStyle/>
          <a:p>
            <a:r>
              <a:rPr lang="en-US" dirty="0"/>
              <a:t>Analyze trends and predict outcomes. </a:t>
            </a:r>
          </a:p>
          <a:p>
            <a:r>
              <a:rPr lang="en-US" dirty="0"/>
              <a:t>Handle complex scenarios.</a:t>
            </a:r>
          </a:p>
          <a:p>
            <a:r>
              <a:rPr lang="en-US" dirty="0"/>
              <a:t>Provide actionable insights</a:t>
            </a:r>
            <a:endParaRPr lang="LID4096" b="1" dirty="0"/>
          </a:p>
        </p:txBody>
      </p:sp>
      <p:sp>
        <p:nvSpPr>
          <p:cNvPr id="6" name="Text Placeholder 5">
            <a:extLst>
              <a:ext uri="{FF2B5EF4-FFF2-40B4-BE49-F238E27FC236}">
                <a16:creationId xmlns:a16="http://schemas.microsoft.com/office/drawing/2014/main" id="{63E519F1-7318-E6A5-0124-D043B62553D3}"/>
              </a:ext>
            </a:extLst>
          </p:cNvPr>
          <p:cNvSpPr>
            <a:spLocks noGrp="1"/>
          </p:cNvSpPr>
          <p:nvPr>
            <p:ph type="body" sz="quarter" idx="4294967295"/>
          </p:nvPr>
        </p:nvSpPr>
        <p:spPr>
          <a:xfrm>
            <a:off x="6162506" y="2629523"/>
            <a:ext cx="2651760" cy="307777"/>
          </a:xfrm>
        </p:spPr>
        <p:txBody>
          <a:bodyPr>
            <a:normAutofit fontScale="85000" lnSpcReduction="10000"/>
          </a:bodyPr>
          <a:lstStyle/>
          <a:p>
            <a:pPr marL="0" indent="0" algn="ctr">
              <a:spcBef>
                <a:spcPts val="0"/>
              </a:spcBef>
              <a:buFont typeface="Arial" panose="020B0604020202020204" pitchFamily="34" charset="0"/>
              <a:buNone/>
            </a:pPr>
            <a:r>
              <a:rPr lang="en-US" sz="2000" dirty="0">
                <a:latin typeface="+mj-lt"/>
              </a:rPr>
              <a:t>Scalability</a:t>
            </a:r>
          </a:p>
        </p:txBody>
      </p:sp>
      <p:sp>
        <p:nvSpPr>
          <p:cNvPr id="19" name="Text Placeholder 18">
            <a:extLst>
              <a:ext uri="{FF2B5EF4-FFF2-40B4-BE49-F238E27FC236}">
                <a16:creationId xmlns:a16="http://schemas.microsoft.com/office/drawing/2014/main" id="{D8A1D8EF-5E06-0C82-3071-48552AE4E0F5}"/>
              </a:ext>
              <a:ext uri="{C183D7F6-B498-43B3-948B-1728B52AA6E4}">
                <adec:decorative xmlns:adec="http://schemas.microsoft.com/office/drawing/2017/decorative" val="0"/>
              </a:ext>
            </a:extLst>
          </p:cNvPr>
          <p:cNvSpPr>
            <a:spLocks noGrp="1"/>
          </p:cNvSpPr>
          <p:nvPr>
            <p:ph type="body" sz="quarter" idx="4294967295"/>
          </p:nvPr>
        </p:nvSpPr>
        <p:spPr>
          <a:xfrm>
            <a:off x="6164696" y="3250737"/>
            <a:ext cx="2649570" cy="1132618"/>
          </a:xfrm>
        </p:spPr>
        <p:txBody>
          <a:bodyPr>
            <a:normAutofit fontScale="55000" lnSpcReduction="20000"/>
          </a:bodyPr>
          <a:lstStyle/>
          <a:p>
            <a:r>
              <a:rPr lang="en-US" dirty="0"/>
              <a:t>Scale operations efficiently.</a:t>
            </a:r>
          </a:p>
          <a:p>
            <a:r>
              <a:rPr lang="en-US" dirty="0"/>
              <a:t>Reduce operational costs.</a:t>
            </a:r>
          </a:p>
          <a:p>
            <a:r>
              <a:rPr lang="en-US" dirty="0"/>
              <a:t>Support business growth.</a:t>
            </a:r>
          </a:p>
          <a:p>
            <a:endParaRPr lang="LID4096" dirty="0"/>
          </a:p>
        </p:txBody>
      </p:sp>
      <p:sp>
        <p:nvSpPr>
          <p:cNvPr id="10" name="Text Placeholder 9">
            <a:extLst>
              <a:ext uri="{FF2B5EF4-FFF2-40B4-BE49-F238E27FC236}">
                <a16:creationId xmlns:a16="http://schemas.microsoft.com/office/drawing/2014/main" id="{13D50471-C672-07E7-A0F1-F714F44E9B2F}"/>
              </a:ext>
            </a:extLst>
          </p:cNvPr>
          <p:cNvSpPr>
            <a:spLocks noGrp="1"/>
          </p:cNvSpPr>
          <p:nvPr>
            <p:ph type="body" sz="quarter" idx="4294967295"/>
          </p:nvPr>
        </p:nvSpPr>
        <p:spPr>
          <a:xfrm>
            <a:off x="8951660" y="2629523"/>
            <a:ext cx="2651760" cy="615553"/>
          </a:xfrm>
        </p:spPr>
        <p:txBody>
          <a:bodyPr/>
          <a:lstStyle/>
          <a:p>
            <a:pPr marL="0" indent="0" algn="ctr">
              <a:spcBef>
                <a:spcPts val="0"/>
              </a:spcBef>
              <a:buFont typeface="Arial" panose="020B0604020202020204" pitchFamily="34" charset="0"/>
              <a:buNone/>
            </a:pPr>
            <a:r>
              <a:rPr lang="en-US" sz="2000" dirty="0">
                <a:latin typeface="+mj-lt"/>
              </a:rPr>
              <a:t>24/7 Availability</a:t>
            </a:r>
          </a:p>
          <a:p>
            <a:pPr marL="0" indent="0" algn="ctr">
              <a:spcBef>
                <a:spcPts val="0"/>
              </a:spcBef>
              <a:buFont typeface="Arial" panose="020B0604020202020204" pitchFamily="34" charset="0"/>
              <a:buNone/>
            </a:pPr>
            <a:endParaRPr lang="en-US" sz="2000" dirty="0">
              <a:latin typeface="+mj-lt"/>
            </a:endParaRPr>
          </a:p>
        </p:txBody>
      </p:sp>
      <p:sp>
        <p:nvSpPr>
          <p:cNvPr id="50" name="Text Placeholder 49">
            <a:extLst>
              <a:ext uri="{FF2B5EF4-FFF2-40B4-BE49-F238E27FC236}">
                <a16:creationId xmlns:a16="http://schemas.microsoft.com/office/drawing/2014/main" id="{E7E01519-FD6B-E0B4-9129-D12AA713BE84}"/>
              </a:ext>
              <a:ext uri="{C183D7F6-B498-43B3-948B-1728B52AA6E4}">
                <adec:decorative xmlns:adec="http://schemas.microsoft.com/office/drawing/2017/decorative" val="0"/>
              </a:ext>
            </a:extLst>
          </p:cNvPr>
          <p:cNvSpPr>
            <a:spLocks noGrp="1"/>
          </p:cNvSpPr>
          <p:nvPr>
            <p:ph type="body" sz="quarter" idx="4294967295"/>
          </p:nvPr>
        </p:nvSpPr>
        <p:spPr>
          <a:xfrm>
            <a:off x="8953850" y="3250737"/>
            <a:ext cx="2940970" cy="1329595"/>
          </a:xfrm>
        </p:spPr>
        <p:txBody>
          <a:bodyPr>
            <a:normAutofit fontScale="62500" lnSpcReduction="20000"/>
          </a:bodyPr>
          <a:lstStyle/>
          <a:p>
            <a:r>
              <a:rPr lang="en-US" dirty="0"/>
              <a:t>Operate continuously.</a:t>
            </a:r>
          </a:p>
          <a:p>
            <a:r>
              <a:rPr lang="en-US" dirty="0"/>
              <a:t>Ensure prompt task completion.</a:t>
            </a:r>
          </a:p>
          <a:p>
            <a:r>
              <a:rPr lang="en-US" dirty="0"/>
              <a:t>Provide round-the-clock service</a:t>
            </a:r>
            <a:endParaRPr lang="LID4096" dirty="0"/>
          </a:p>
        </p:txBody>
      </p:sp>
      <p:sp>
        <p:nvSpPr>
          <p:cNvPr id="74" name="TextBox 73">
            <a:extLst>
              <a:ext uri="{FF2B5EF4-FFF2-40B4-BE49-F238E27FC236}">
                <a16:creationId xmlns:a16="http://schemas.microsoft.com/office/drawing/2014/main" id="{E3C70C01-1A7C-FF00-9341-6214FD3A4204}"/>
              </a:ext>
            </a:extLst>
          </p:cNvPr>
          <p:cNvSpPr txBox="1"/>
          <p:nvPr/>
        </p:nvSpPr>
        <p:spPr>
          <a:xfrm>
            <a:off x="5228909" y="4753119"/>
            <a:ext cx="1728037" cy="246221"/>
          </a:xfrm>
          <a:prstGeom prst="rect">
            <a:avLst/>
          </a:prstGeom>
          <a:noFill/>
        </p:spPr>
        <p:txBody>
          <a:bodyPr wrap="none" lIns="0" tIns="0" rIns="0" bIns="0" rtlCol="0">
            <a:spAutoFit/>
          </a:bodyPr>
          <a:lstStyle/>
          <a:p>
            <a:pPr algn="l"/>
            <a:r>
              <a:rPr lang="en-US" sz="1600" dirty="0">
                <a:latin typeface="+mj-lt"/>
              </a:rPr>
              <a:t>Use case examples</a:t>
            </a:r>
          </a:p>
        </p:txBody>
      </p:sp>
      <p:grpSp>
        <p:nvGrpSpPr>
          <p:cNvPr id="84" name="Group 83" descr="Personal productivity">
            <a:extLst>
              <a:ext uri="{FF2B5EF4-FFF2-40B4-BE49-F238E27FC236}">
                <a16:creationId xmlns:a16="http://schemas.microsoft.com/office/drawing/2014/main" id="{221A6E39-A1BC-27DF-0629-18172149E5CB}"/>
              </a:ext>
            </a:extLst>
          </p:cNvPr>
          <p:cNvGrpSpPr/>
          <p:nvPr/>
        </p:nvGrpSpPr>
        <p:grpSpPr>
          <a:xfrm>
            <a:off x="779212" y="5177621"/>
            <a:ext cx="1664110" cy="955871"/>
            <a:chOff x="779212" y="5177621"/>
            <a:chExt cx="1664110" cy="955871"/>
          </a:xfrm>
        </p:grpSpPr>
        <p:grpSp>
          <p:nvGrpSpPr>
            <p:cNvPr id="66" name="Group 65">
              <a:extLst>
                <a:ext uri="{FF2B5EF4-FFF2-40B4-BE49-F238E27FC236}">
                  <a16:creationId xmlns:a16="http://schemas.microsoft.com/office/drawing/2014/main" id="{4742D944-FC3E-3351-0288-F3ABF1650F01}"/>
                </a:ext>
              </a:extLst>
            </p:cNvPr>
            <p:cNvGrpSpPr/>
            <p:nvPr/>
          </p:nvGrpSpPr>
          <p:grpSpPr>
            <a:xfrm>
              <a:off x="1137177" y="5177621"/>
              <a:ext cx="810041" cy="810041"/>
              <a:chOff x="1771440" y="4610928"/>
              <a:chExt cx="1562971" cy="1562971"/>
            </a:xfrm>
          </p:grpSpPr>
          <p:pic>
            <p:nvPicPr>
              <p:cNvPr id="38" name="Graphic 37" descr="Checklist outline">
                <a:extLst>
                  <a:ext uri="{FF2B5EF4-FFF2-40B4-BE49-F238E27FC236}">
                    <a16:creationId xmlns:a16="http://schemas.microsoft.com/office/drawing/2014/main" id="{9FC71AB1-3602-0395-7FD0-33435C478C9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52925" y="5168942"/>
                <a:ext cx="625790" cy="625790"/>
              </a:xfrm>
              <a:prstGeom prst="rect">
                <a:avLst/>
              </a:prstGeom>
            </p:spPr>
          </p:pic>
          <p:pic>
            <p:nvPicPr>
              <p:cNvPr id="40" name="Graphic 39" descr="Browser window with solid fill">
                <a:extLst>
                  <a:ext uri="{FF2B5EF4-FFF2-40B4-BE49-F238E27FC236}">
                    <a16:creationId xmlns:a16="http://schemas.microsoft.com/office/drawing/2014/main" id="{6CF4A0B9-5A95-8777-1797-52C491073ED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771440" y="4610928"/>
                <a:ext cx="1562971" cy="1562971"/>
              </a:xfrm>
              <a:prstGeom prst="rect">
                <a:avLst/>
              </a:prstGeom>
            </p:spPr>
          </p:pic>
          <p:pic>
            <p:nvPicPr>
              <p:cNvPr id="65" name="Graphic 64" descr="Document outline">
                <a:extLst>
                  <a:ext uri="{FF2B5EF4-FFF2-40B4-BE49-F238E27FC236}">
                    <a16:creationId xmlns:a16="http://schemas.microsoft.com/office/drawing/2014/main" id="{563386E8-97E0-2197-4E3B-C919C7E74CA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974356" y="5161322"/>
                <a:ext cx="625790" cy="625790"/>
              </a:xfrm>
              <a:prstGeom prst="rect">
                <a:avLst/>
              </a:prstGeom>
            </p:spPr>
          </p:pic>
        </p:grpSp>
        <p:sp>
          <p:nvSpPr>
            <p:cNvPr id="75" name="TextBox 74">
              <a:extLst>
                <a:ext uri="{FF2B5EF4-FFF2-40B4-BE49-F238E27FC236}">
                  <a16:creationId xmlns:a16="http://schemas.microsoft.com/office/drawing/2014/main" id="{CE4C1E69-0296-A81C-563C-9EC26637A115}"/>
                </a:ext>
              </a:extLst>
            </p:cNvPr>
            <p:cNvSpPr txBox="1"/>
            <p:nvPr/>
          </p:nvSpPr>
          <p:spPr>
            <a:xfrm>
              <a:off x="779212" y="5918048"/>
              <a:ext cx="1664110" cy="215444"/>
            </a:xfrm>
            <a:prstGeom prst="rect">
              <a:avLst/>
            </a:prstGeom>
            <a:noFill/>
          </p:spPr>
          <p:txBody>
            <a:bodyPr wrap="none" lIns="0" tIns="0" rIns="0" bIns="0" rtlCol="0">
              <a:spAutoFit/>
            </a:bodyPr>
            <a:lstStyle/>
            <a:p>
              <a:pPr algn="l"/>
              <a:r>
                <a:rPr lang="en-US" sz="1400" dirty="0"/>
                <a:t>Personal productivity</a:t>
              </a:r>
            </a:p>
          </p:txBody>
        </p:sp>
      </p:grpSp>
      <p:grpSp>
        <p:nvGrpSpPr>
          <p:cNvPr id="83" name="Group 82" descr="Research">
            <a:extLst>
              <a:ext uri="{FF2B5EF4-FFF2-40B4-BE49-F238E27FC236}">
                <a16:creationId xmlns:a16="http://schemas.microsoft.com/office/drawing/2014/main" id="{507A6B78-18B9-E31D-5BEE-1BF209D41F48}"/>
              </a:ext>
            </a:extLst>
          </p:cNvPr>
          <p:cNvGrpSpPr/>
          <p:nvPr/>
        </p:nvGrpSpPr>
        <p:grpSpPr>
          <a:xfrm>
            <a:off x="3335924" y="5182164"/>
            <a:ext cx="912790" cy="951328"/>
            <a:chOff x="3006628" y="5182164"/>
            <a:chExt cx="912790" cy="951328"/>
          </a:xfrm>
        </p:grpSpPr>
        <p:grpSp>
          <p:nvGrpSpPr>
            <p:cNvPr id="72" name="Group 71">
              <a:extLst>
                <a:ext uri="{FF2B5EF4-FFF2-40B4-BE49-F238E27FC236}">
                  <a16:creationId xmlns:a16="http://schemas.microsoft.com/office/drawing/2014/main" id="{CE033DE3-FE7B-58F3-CCB6-42B472C5E29D}"/>
                </a:ext>
              </a:extLst>
            </p:cNvPr>
            <p:cNvGrpSpPr/>
            <p:nvPr/>
          </p:nvGrpSpPr>
          <p:grpSpPr>
            <a:xfrm>
              <a:off x="3014659" y="5182164"/>
              <a:ext cx="904759" cy="774232"/>
              <a:chOff x="7488385" y="5507750"/>
              <a:chExt cx="1182987" cy="1012321"/>
            </a:xfrm>
          </p:grpSpPr>
          <p:pic>
            <p:nvPicPr>
              <p:cNvPr id="59" name="Graphic 58" descr="Magnifying glass with solid fill">
                <a:extLst>
                  <a:ext uri="{FF2B5EF4-FFF2-40B4-BE49-F238E27FC236}">
                    <a16:creationId xmlns:a16="http://schemas.microsoft.com/office/drawing/2014/main" id="{7C3AC006-6096-5FC0-BDE9-DA9CBA81A72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756972" y="5605671"/>
                <a:ext cx="914400" cy="914400"/>
              </a:xfrm>
              <a:prstGeom prst="rect">
                <a:avLst/>
              </a:prstGeom>
            </p:spPr>
          </p:pic>
          <p:pic>
            <p:nvPicPr>
              <p:cNvPr id="61" name="Graphic 60" descr="Open book outline">
                <a:extLst>
                  <a:ext uri="{FF2B5EF4-FFF2-40B4-BE49-F238E27FC236}">
                    <a16:creationId xmlns:a16="http://schemas.microsoft.com/office/drawing/2014/main" id="{33BA5025-F2ED-AF30-FB29-43D564DF7B5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488385" y="5507750"/>
                <a:ext cx="914400" cy="914400"/>
              </a:xfrm>
              <a:prstGeom prst="rect">
                <a:avLst/>
              </a:prstGeom>
            </p:spPr>
          </p:pic>
        </p:grpSp>
        <p:sp>
          <p:nvSpPr>
            <p:cNvPr id="77" name="TextBox 76">
              <a:extLst>
                <a:ext uri="{FF2B5EF4-FFF2-40B4-BE49-F238E27FC236}">
                  <a16:creationId xmlns:a16="http://schemas.microsoft.com/office/drawing/2014/main" id="{298014B7-6ABC-00FF-10FE-B31D73492A97}"/>
                </a:ext>
              </a:extLst>
            </p:cNvPr>
            <p:cNvSpPr txBox="1"/>
            <p:nvPr/>
          </p:nvSpPr>
          <p:spPr>
            <a:xfrm>
              <a:off x="3006628" y="5918048"/>
              <a:ext cx="704360" cy="215444"/>
            </a:xfrm>
            <a:prstGeom prst="rect">
              <a:avLst/>
            </a:prstGeom>
            <a:noFill/>
          </p:spPr>
          <p:txBody>
            <a:bodyPr wrap="none" lIns="0" tIns="0" rIns="0" bIns="0" rtlCol="0">
              <a:spAutoFit/>
            </a:bodyPr>
            <a:lstStyle/>
            <a:p>
              <a:pPr algn="l"/>
              <a:r>
                <a:rPr lang="en-US" sz="1400" dirty="0"/>
                <a:t>Research</a:t>
              </a:r>
            </a:p>
          </p:txBody>
        </p:sp>
      </p:grpSp>
      <p:grpSp>
        <p:nvGrpSpPr>
          <p:cNvPr id="82" name="Group 81" descr="Sales">
            <a:extLst>
              <a:ext uri="{FF2B5EF4-FFF2-40B4-BE49-F238E27FC236}">
                <a16:creationId xmlns:a16="http://schemas.microsoft.com/office/drawing/2014/main" id="{0C157068-5EDB-5ED7-C68A-FFC58A713BC7}"/>
              </a:ext>
            </a:extLst>
          </p:cNvPr>
          <p:cNvGrpSpPr/>
          <p:nvPr/>
        </p:nvGrpSpPr>
        <p:grpSpPr>
          <a:xfrm>
            <a:off x="5141316" y="5209724"/>
            <a:ext cx="1124360" cy="923768"/>
            <a:chOff x="4773645" y="5209724"/>
            <a:chExt cx="1124360" cy="923768"/>
          </a:xfrm>
        </p:grpSpPr>
        <p:grpSp>
          <p:nvGrpSpPr>
            <p:cNvPr id="71" name="Group 70">
              <a:extLst>
                <a:ext uri="{FF2B5EF4-FFF2-40B4-BE49-F238E27FC236}">
                  <a16:creationId xmlns:a16="http://schemas.microsoft.com/office/drawing/2014/main" id="{2620D0BD-1B02-64F6-93DF-0714A0DF9A2B}"/>
                </a:ext>
              </a:extLst>
            </p:cNvPr>
            <p:cNvGrpSpPr/>
            <p:nvPr/>
          </p:nvGrpSpPr>
          <p:grpSpPr>
            <a:xfrm>
              <a:off x="4773645" y="5209724"/>
              <a:ext cx="1124360" cy="830627"/>
              <a:chOff x="5682935" y="5110378"/>
              <a:chExt cx="1470118" cy="1086058"/>
            </a:xfrm>
          </p:grpSpPr>
          <p:pic>
            <p:nvPicPr>
              <p:cNvPr id="68" name="Graphic 67" descr="Register with solid fill">
                <a:extLst>
                  <a:ext uri="{FF2B5EF4-FFF2-40B4-BE49-F238E27FC236}">
                    <a16:creationId xmlns:a16="http://schemas.microsoft.com/office/drawing/2014/main" id="{622BA0DE-730B-18AC-B5EC-DD01BA425A9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682935" y="5110378"/>
                <a:ext cx="914400" cy="914400"/>
              </a:xfrm>
              <a:prstGeom prst="rect">
                <a:avLst/>
              </a:prstGeom>
            </p:spPr>
          </p:pic>
          <p:grpSp>
            <p:nvGrpSpPr>
              <p:cNvPr id="70" name="Group 69">
                <a:extLst>
                  <a:ext uri="{FF2B5EF4-FFF2-40B4-BE49-F238E27FC236}">
                    <a16:creationId xmlns:a16="http://schemas.microsoft.com/office/drawing/2014/main" id="{6C4CA065-C017-E628-EA0A-5C7A7C3062A8}"/>
                  </a:ext>
                </a:extLst>
              </p:cNvPr>
              <p:cNvGrpSpPr/>
              <p:nvPr/>
            </p:nvGrpSpPr>
            <p:grpSpPr>
              <a:xfrm>
                <a:off x="6444149" y="5487532"/>
                <a:ext cx="708904" cy="708904"/>
                <a:chOff x="6542883" y="5487532"/>
                <a:chExt cx="708904" cy="708904"/>
              </a:xfrm>
            </p:grpSpPr>
            <p:pic>
              <p:nvPicPr>
                <p:cNvPr id="48" name="Graphic 47" descr="Tag outline">
                  <a:extLst>
                    <a:ext uri="{FF2B5EF4-FFF2-40B4-BE49-F238E27FC236}">
                      <a16:creationId xmlns:a16="http://schemas.microsoft.com/office/drawing/2014/main" id="{A1373C54-2431-3ACE-446E-C140E4E1418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42883" y="5487532"/>
                  <a:ext cx="708904" cy="708904"/>
                </a:xfrm>
                <a:prstGeom prst="rect">
                  <a:avLst/>
                </a:prstGeom>
              </p:spPr>
            </p:pic>
            <p:sp>
              <p:nvSpPr>
                <p:cNvPr id="69" name="TextBox 68">
                  <a:extLst>
                    <a:ext uri="{FF2B5EF4-FFF2-40B4-BE49-F238E27FC236}">
                      <a16:creationId xmlns:a16="http://schemas.microsoft.com/office/drawing/2014/main" id="{9388BAE9-90E7-92D0-A516-CE21BCFCA0F2}"/>
                    </a:ext>
                  </a:extLst>
                </p:cNvPr>
                <p:cNvSpPr txBox="1"/>
                <p:nvPr/>
              </p:nvSpPr>
              <p:spPr>
                <a:xfrm rot="2677008">
                  <a:off x="6879970" y="5747491"/>
                  <a:ext cx="125757" cy="281697"/>
                </a:xfrm>
                <a:prstGeom prst="rect">
                  <a:avLst/>
                </a:prstGeom>
                <a:noFill/>
              </p:spPr>
              <p:txBody>
                <a:bodyPr wrap="none" lIns="0" tIns="0" rIns="0" bIns="0" rtlCol="0">
                  <a:spAutoFit/>
                </a:bodyPr>
                <a:lstStyle/>
                <a:p>
                  <a:pPr algn="l"/>
                  <a:r>
                    <a:rPr lang="en-US" sz="1400" dirty="0"/>
                    <a:t>$</a:t>
                  </a:r>
                </a:p>
              </p:txBody>
            </p:sp>
          </p:grpSp>
        </p:grpSp>
        <p:sp>
          <p:nvSpPr>
            <p:cNvPr id="78" name="TextBox 77">
              <a:extLst>
                <a:ext uri="{FF2B5EF4-FFF2-40B4-BE49-F238E27FC236}">
                  <a16:creationId xmlns:a16="http://schemas.microsoft.com/office/drawing/2014/main" id="{0D35DFCD-E700-4EC9-C1ED-07C6079F0015}"/>
                </a:ext>
              </a:extLst>
            </p:cNvPr>
            <p:cNvSpPr txBox="1"/>
            <p:nvPr/>
          </p:nvSpPr>
          <p:spPr>
            <a:xfrm>
              <a:off x="4895220" y="5918048"/>
              <a:ext cx="402354" cy="215444"/>
            </a:xfrm>
            <a:prstGeom prst="rect">
              <a:avLst/>
            </a:prstGeom>
            <a:noFill/>
          </p:spPr>
          <p:txBody>
            <a:bodyPr wrap="none" lIns="0" tIns="0" rIns="0" bIns="0" rtlCol="0">
              <a:spAutoFit/>
            </a:bodyPr>
            <a:lstStyle/>
            <a:p>
              <a:pPr algn="l"/>
              <a:r>
                <a:rPr lang="en-US" sz="1400" dirty="0"/>
                <a:t>Sales</a:t>
              </a:r>
            </a:p>
          </p:txBody>
        </p:sp>
      </p:grpSp>
      <p:grpSp>
        <p:nvGrpSpPr>
          <p:cNvPr id="81" name="Group 80" descr="Custom service">
            <a:extLst>
              <a:ext uri="{FF2B5EF4-FFF2-40B4-BE49-F238E27FC236}">
                <a16:creationId xmlns:a16="http://schemas.microsoft.com/office/drawing/2014/main" id="{52C7CD76-AA32-925B-5A0F-FE6E14E6E04A}"/>
              </a:ext>
            </a:extLst>
          </p:cNvPr>
          <p:cNvGrpSpPr/>
          <p:nvPr/>
        </p:nvGrpSpPr>
        <p:grpSpPr>
          <a:xfrm>
            <a:off x="7158278" y="5179741"/>
            <a:ext cx="1363515" cy="953143"/>
            <a:chOff x="6293997" y="5179741"/>
            <a:chExt cx="1363515" cy="953143"/>
          </a:xfrm>
        </p:grpSpPr>
        <p:pic>
          <p:nvPicPr>
            <p:cNvPr id="42" name="Graphic 41" descr="Call center with solid fill">
              <a:extLst>
                <a:ext uri="{FF2B5EF4-FFF2-40B4-BE49-F238E27FC236}">
                  <a16:creationId xmlns:a16="http://schemas.microsoft.com/office/drawing/2014/main" id="{6BAA2734-D503-ED69-C828-2847981DC9E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532632" y="5179741"/>
              <a:ext cx="780738" cy="780738"/>
            </a:xfrm>
            <a:prstGeom prst="rect">
              <a:avLst/>
            </a:prstGeom>
          </p:spPr>
        </p:pic>
        <p:sp>
          <p:nvSpPr>
            <p:cNvPr id="76" name="TextBox 75">
              <a:extLst>
                <a:ext uri="{FF2B5EF4-FFF2-40B4-BE49-F238E27FC236}">
                  <a16:creationId xmlns:a16="http://schemas.microsoft.com/office/drawing/2014/main" id="{233539B5-0941-EFC1-97D4-D9797C498FA7}"/>
                </a:ext>
              </a:extLst>
            </p:cNvPr>
            <p:cNvSpPr txBox="1"/>
            <p:nvPr/>
          </p:nvSpPr>
          <p:spPr>
            <a:xfrm>
              <a:off x="6293997" y="5917440"/>
              <a:ext cx="1363515" cy="215444"/>
            </a:xfrm>
            <a:prstGeom prst="rect">
              <a:avLst/>
            </a:prstGeom>
            <a:noFill/>
          </p:spPr>
          <p:txBody>
            <a:bodyPr wrap="none" lIns="0" tIns="0" rIns="0" bIns="0" rtlCol="0">
              <a:spAutoFit/>
            </a:bodyPr>
            <a:lstStyle/>
            <a:p>
              <a:pPr algn="l"/>
              <a:r>
                <a:rPr lang="en-US" sz="1400" dirty="0"/>
                <a:t>Customer service</a:t>
              </a:r>
            </a:p>
          </p:txBody>
        </p:sp>
      </p:grpSp>
      <p:grpSp>
        <p:nvGrpSpPr>
          <p:cNvPr id="80" name="Group 79" descr="Software development">
            <a:extLst>
              <a:ext uri="{FF2B5EF4-FFF2-40B4-BE49-F238E27FC236}">
                <a16:creationId xmlns:a16="http://schemas.microsoft.com/office/drawing/2014/main" id="{DBEA84DC-F44C-9C2B-1507-39E8103E9455}"/>
              </a:ext>
            </a:extLst>
          </p:cNvPr>
          <p:cNvGrpSpPr/>
          <p:nvPr/>
        </p:nvGrpSpPr>
        <p:grpSpPr>
          <a:xfrm>
            <a:off x="9414395" y="5209724"/>
            <a:ext cx="1790362" cy="924984"/>
            <a:chOff x="7844675" y="5209724"/>
            <a:chExt cx="1790362" cy="924984"/>
          </a:xfrm>
        </p:grpSpPr>
        <p:pic>
          <p:nvPicPr>
            <p:cNvPr id="63" name="Graphic 62" descr="Programmer male with solid fill">
              <a:extLst>
                <a:ext uri="{FF2B5EF4-FFF2-40B4-BE49-F238E27FC236}">
                  <a16:creationId xmlns:a16="http://schemas.microsoft.com/office/drawing/2014/main" id="{DC26C006-845C-3638-4E49-48B45074426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252319" y="5209724"/>
              <a:ext cx="699341" cy="699341"/>
            </a:xfrm>
            <a:prstGeom prst="rect">
              <a:avLst/>
            </a:prstGeom>
          </p:spPr>
        </p:pic>
        <p:sp>
          <p:nvSpPr>
            <p:cNvPr id="79" name="TextBox 78">
              <a:extLst>
                <a:ext uri="{FF2B5EF4-FFF2-40B4-BE49-F238E27FC236}">
                  <a16:creationId xmlns:a16="http://schemas.microsoft.com/office/drawing/2014/main" id="{175F6247-BA4D-D2A8-BBB6-E935311A5D56}"/>
                </a:ext>
              </a:extLst>
            </p:cNvPr>
            <p:cNvSpPr txBox="1"/>
            <p:nvPr/>
          </p:nvSpPr>
          <p:spPr>
            <a:xfrm>
              <a:off x="7844675" y="5919264"/>
              <a:ext cx="1790362" cy="215444"/>
            </a:xfrm>
            <a:prstGeom prst="rect">
              <a:avLst/>
            </a:prstGeom>
            <a:noFill/>
          </p:spPr>
          <p:txBody>
            <a:bodyPr wrap="none" lIns="0" tIns="0" rIns="0" bIns="0" rtlCol="0">
              <a:spAutoFit/>
            </a:bodyPr>
            <a:lstStyle/>
            <a:p>
              <a:pPr algn="l"/>
              <a:r>
                <a:rPr lang="en-US" sz="1400" dirty="0"/>
                <a:t>Software development</a:t>
              </a:r>
            </a:p>
          </p:txBody>
        </p:sp>
      </p:grpSp>
      <p:sp>
        <p:nvSpPr>
          <p:cNvPr id="56" name="Footer Placeholder 55">
            <a:extLst>
              <a:ext uri="{FF2B5EF4-FFF2-40B4-BE49-F238E27FC236}">
                <a16:creationId xmlns:a16="http://schemas.microsoft.com/office/drawing/2014/main" id="{849ED81C-2E0F-621C-A310-3799A63B2E2F}"/>
              </a:ext>
            </a:extLst>
          </p:cNvPr>
          <p:cNvSpPr>
            <a:spLocks noGrp="1"/>
          </p:cNvSpPr>
          <p:nvPr>
            <p:ph type="ftr" sz="quarter" idx="3"/>
          </p:nvPr>
        </p:nvSpPr>
        <p:spPr>
          <a:xfrm>
            <a:off x="579438" y="6421083"/>
            <a:ext cx="4151312" cy="197976"/>
          </a:xfrm>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0392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0" tIns="0" rIns="0" bIns="0" rtlCol="0" anchor="t">
            <a:spAutoFit/>
          </a:bodyPr>
          <a:lstStyle/>
          <a:p>
            <a:r>
              <a:rPr sz="3200" dirty="0"/>
              <a:t>Agent resource setup</a:t>
            </a:r>
          </a:p>
        </p:txBody>
      </p:sp>
      <p:sp>
        <p:nvSpPr>
          <p:cNvPr id="1038" name="TextBox 1037">
            <a:extLst>
              <a:ext uri="{FF2B5EF4-FFF2-40B4-BE49-F238E27FC236}">
                <a16:creationId xmlns:a16="http://schemas.microsoft.com/office/drawing/2014/main" id="{53A30943-81FA-9366-714B-9AE161E04543}"/>
              </a:ext>
            </a:extLst>
          </p:cNvPr>
          <p:cNvSpPr txBox="1"/>
          <p:nvPr/>
        </p:nvSpPr>
        <p:spPr>
          <a:xfrm>
            <a:off x="883403" y="1451002"/>
            <a:ext cx="7394910" cy="615553"/>
          </a:xfrm>
          <a:prstGeom prst="rect">
            <a:avLst/>
          </a:prstGeom>
          <a:noFill/>
        </p:spPr>
        <p:txBody>
          <a:bodyPr wrap="none" lIns="0" tIns="0" rIns="0" bIns="0" rtlCol="0">
            <a:spAutoFit/>
          </a:bodyPr>
          <a:lstStyle/>
          <a:p>
            <a:pPr marL="285750" indent="-285750">
              <a:buFont typeface="Arial" panose="020B0604020202020204" pitchFamily="34" charset="0"/>
              <a:buChar char="•"/>
            </a:pPr>
            <a:r>
              <a:rPr lang="en-US" sz="2000" dirty="0"/>
              <a:t>Use bicep templates for basic and standard setup</a:t>
            </a:r>
          </a:p>
          <a:p>
            <a:pPr marL="285750" indent="-285750" algn="l">
              <a:buFont typeface="Arial" panose="020B0604020202020204" pitchFamily="34" charset="0"/>
              <a:buChar char="•"/>
            </a:pPr>
            <a:r>
              <a:rPr lang="en-US" sz="2000" dirty="0"/>
              <a:t>Or create resources for a basic setup in Azure AI Foundry portal</a:t>
            </a:r>
          </a:p>
        </p:txBody>
      </p:sp>
      <p:grpSp>
        <p:nvGrpSpPr>
          <p:cNvPr id="1035" name="Group 1034" descr="Diagram of a basic setup that includes Azure Ai Hub, Azure AI project, and Azure AI Services resources.">
            <a:extLst>
              <a:ext uri="{FF2B5EF4-FFF2-40B4-BE49-F238E27FC236}">
                <a16:creationId xmlns:a16="http://schemas.microsoft.com/office/drawing/2014/main" id="{2C3F0D50-54BE-3148-4EBD-F7DB868526B7}"/>
              </a:ext>
            </a:extLst>
          </p:cNvPr>
          <p:cNvGrpSpPr/>
          <p:nvPr/>
        </p:nvGrpSpPr>
        <p:grpSpPr>
          <a:xfrm>
            <a:off x="883403" y="2262749"/>
            <a:ext cx="3285697" cy="4126270"/>
            <a:chOff x="883403" y="2146514"/>
            <a:chExt cx="3285697" cy="4126270"/>
          </a:xfrm>
        </p:grpSpPr>
        <p:sp>
          <p:nvSpPr>
            <p:cNvPr id="1033" name="Rectangle 1032">
              <a:extLst>
                <a:ext uri="{FF2B5EF4-FFF2-40B4-BE49-F238E27FC236}">
                  <a16:creationId xmlns:a16="http://schemas.microsoft.com/office/drawing/2014/main" id="{5155833B-8B53-0F42-49DA-B1A19CD8846A}"/>
                </a:ext>
              </a:extLst>
            </p:cNvPr>
            <p:cNvSpPr/>
            <p:nvPr/>
          </p:nvSpPr>
          <p:spPr bwMode="auto">
            <a:xfrm>
              <a:off x="883403" y="2146514"/>
              <a:ext cx="3285697" cy="412627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 name="Graphic 2">
              <a:extLst>
                <a:ext uri="{FF2B5EF4-FFF2-40B4-BE49-F238E27FC236}">
                  <a16:creationId xmlns:a16="http://schemas.microsoft.com/office/drawing/2014/main" id="{F4AA7B63-B58A-241D-1D05-D85D86D0CB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37987" y="2724421"/>
              <a:ext cx="572504" cy="572504"/>
            </a:xfrm>
            <a:prstGeom prst="rect">
              <a:avLst/>
            </a:prstGeom>
          </p:spPr>
        </p:pic>
        <p:pic>
          <p:nvPicPr>
            <p:cNvPr id="4" name="Graphic 3">
              <a:extLst>
                <a:ext uri="{FF2B5EF4-FFF2-40B4-BE49-F238E27FC236}">
                  <a16:creationId xmlns:a16="http://schemas.microsoft.com/office/drawing/2014/main" id="{71D947A4-212F-881E-1221-A9D7267165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37987" y="3969318"/>
              <a:ext cx="572504" cy="572504"/>
            </a:xfrm>
            <a:prstGeom prst="rect">
              <a:avLst/>
            </a:prstGeom>
          </p:spPr>
        </p:pic>
        <p:pic>
          <p:nvPicPr>
            <p:cNvPr id="5" name="Graphic 4">
              <a:extLst>
                <a:ext uri="{FF2B5EF4-FFF2-40B4-BE49-F238E27FC236}">
                  <a16:creationId xmlns:a16="http://schemas.microsoft.com/office/drawing/2014/main" id="{E1CE45A0-5E8E-8E02-EC5A-4C7953305E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37987" y="5158041"/>
              <a:ext cx="572504" cy="572504"/>
            </a:xfrm>
            <a:prstGeom prst="rect">
              <a:avLst/>
            </a:prstGeom>
          </p:spPr>
        </p:pic>
        <p:sp>
          <p:nvSpPr>
            <p:cNvPr id="6" name="TextBox 5">
              <a:extLst>
                <a:ext uri="{FF2B5EF4-FFF2-40B4-BE49-F238E27FC236}">
                  <a16:creationId xmlns:a16="http://schemas.microsoft.com/office/drawing/2014/main" id="{53AFA82C-1F9D-9B0E-6878-7A9771AFAB5A}"/>
                </a:ext>
              </a:extLst>
            </p:cNvPr>
            <p:cNvSpPr txBox="1"/>
            <p:nvPr/>
          </p:nvSpPr>
          <p:spPr>
            <a:xfrm>
              <a:off x="1777133" y="3328606"/>
              <a:ext cx="1373774" cy="215444"/>
            </a:xfrm>
            <a:prstGeom prst="rect">
              <a:avLst/>
            </a:prstGeom>
            <a:noFill/>
          </p:spPr>
          <p:txBody>
            <a:bodyPr wrap="none" lIns="0" tIns="0" rIns="0" bIns="0" rtlCol="0">
              <a:spAutoFit/>
            </a:bodyPr>
            <a:lstStyle/>
            <a:p>
              <a:pPr algn="l"/>
              <a:r>
                <a:rPr lang="en-US" sz="1400" dirty="0"/>
                <a:t>Azure AI Foundry</a:t>
              </a:r>
            </a:p>
          </p:txBody>
        </p:sp>
        <p:sp>
          <p:nvSpPr>
            <p:cNvPr id="7" name="TextBox 6">
              <a:extLst>
                <a:ext uri="{FF2B5EF4-FFF2-40B4-BE49-F238E27FC236}">
                  <a16:creationId xmlns:a16="http://schemas.microsoft.com/office/drawing/2014/main" id="{98E7C382-55D3-A328-E22A-DC3A42989AA8}"/>
                </a:ext>
              </a:extLst>
            </p:cNvPr>
            <p:cNvSpPr txBox="1"/>
            <p:nvPr/>
          </p:nvSpPr>
          <p:spPr>
            <a:xfrm>
              <a:off x="2261233" y="4522189"/>
              <a:ext cx="549061" cy="215444"/>
            </a:xfrm>
            <a:prstGeom prst="rect">
              <a:avLst/>
            </a:prstGeom>
            <a:noFill/>
          </p:spPr>
          <p:txBody>
            <a:bodyPr wrap="none" lIns="0" tIns="0" rIns="0" bIns="0" rtlCol="0">
              <a:spAutoFit/>
            </a:bodyPr>
            <a:lstStyle/>
            <a:p>
              <a:pPr algn="l"/>
              <a:r>
                <a:rPr lang="en-US" sz="1400" dirty="0"/>
                <a:t>Project</a:t>
              </a:r>
            </a:p>
          </p:txBody>
        </p:sp>
        <p:sp>
          <p:nvSpPr>
            <p:cNvPr id="8" name="TextBox 7">
              <a:extLst>
                <a:ext uri="{FF2B5EF4-FFF2-40B4-BE49-F238E27FC236}">
                  <a16:creationId xmlns:a16="http://schemas.microsoft.com/office/drawing/2014/main" id="{8B91939E-D1BA-5BD7-7334-4D07A1776D1F}"/>
                </a:ext>
              </a:extLst>
            </p:cNvPr>
            <p:cNvSpPr txBox="1"/>
            <p:nvPr/>
          </p:nvSpPr>
          <p:spPr>
            <a:xfrm>
              <a:off x="1849509" y="5747424"/>
              <a:ext cx="1360950" cy="215444"/>
            </a:xfrm>
            <a:prstGeom prst="rect">
              <a:avLst/>
            </a:prstGeom>
            <a:noFill/>
          </p:spPr>
          <p:txBody>
            <a:bodyPr wrap="none" lIns="0" tIns="0" rIns="0" bIns="0" rtlCol="0">
              <a:spAutoFit/>
            </a:bodyPr>
            <a:lstStyle/>
            <a:p>
              <a:pPr algn="l"/>
              <a:r>
                <a:rPr lang="en-US" sz="1400" dirty="0"/>
                <a:t>Azure AI Services</a:t>
              </a:r>
            </a:p>
          </p:txBody>
        </p:sp>
        <p:cxnSp>
          <p:nvCxnSpPr>
            <p:cNvPr id="10" name="Straight Arrow Connector 9">
              <a:extLst>
                <a:ext uri="{FF2B5EF4-FFF2-40B4-BE49-F238E27FC236}">
                  <a16:creationId xmlns:a16="http://schemas.microsoft.com/office/drawing/2014/main" id="{57C8D1E3-3FF0-F6CF-4B0D-23336B6A13FF}"/>
                </a:ext>
              </a:extLst>
            </p:cNvPr>
            <p:cNvCxnSpPr>
              <a:stCxn id="7" idx="2"/>
              <a:endCxn id="5" idx="0"/>
            </p:cNvCxnSpPr>
            <p:nvPr/>
          </p:nvCxnSpPr>
          <p:spPr>
            <a:xfrm flipH="1">
              <a:off x="2524239" y="4737633"/>
              <a:ext cx="11525" cy="420408"/>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E57A26F-6C82-64ED-7396-2D7E8783AAD0}"/>
                </a:ext>
              </a:extLst>
            </p:cNvPr>
            <p:cNvCxnSpPr>
              <a:cxnSpLocks/>
              <a:stCxn id="4" idx="0"/>
            </p:cNvCxnSpPr>
            <p:nvPr/>
          </p:nvCxnSpPr>
          <p:spPr>
            <a:xfrm flipV="1">
              <a:off x="2524239" y="3536722"/>
              <a:ext cx="0" cy="432596"/>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6A07559-008A-BE57-D045-12D413A44A86}"/>
                </a:ext>
              </a:extLst>
            </p:cNvPr>
            <p:cNvSpPr txBox="1"/>
            <p:nvPr/>
          </p:nvSpPr>
          <p:spPr>
            <a:xfrm>
              <a:off x="1071748" y="2247368"/>
              <a:ext cx="1628651" cy="246221"/>
            </a:xfrm>
            <a:prstGeom prst="rect">
              <a:avLst/>
            </a:prstGeom>
            <a:noFill/>
          </p:spPr>
          <p:txBody>
            <a:bodyPr wrap="none" lIns="0" tIns="0" rIns="0" bIns="0" rtlCol="0">
              <a:spAutoFit/>
            </a:bodyPr>
            <a:lstStyle/>
            <a:p>
              <a:pPr algn="l"/>
              <a:r>
                <a:rPr lang="en-US" sz="1600" dirty="0">
                  <a:latin typeface="+mj-lt"/>
                </a:rPr>
                <a:t>Basic agent setup</a:t>
              </a:r>
            </a:p>
          </p:txBody>
        </p:sp>
      </p:grpSp>
      <p:grpSp>
        <p:nvGrpSpPr>
          <p:cNvPr id="1036" name="Group 1035" descr="Diagram of a standard setup that includes Azure Ai Hub, Azure AI Project, Azure AI Services, Azure AI Key Vault, Azure AI Search, and Azure Storage resources.">
            <a:extLst>
              <a:ext uri="{FF2B5EF4-FFF2-40B4-BE49-F238E27FC236}">
                <a16:creationId xmlns:a16="http://schemas.microsoft.com/office/drawing/2014/main" id="{633640ED-B318-DF52-7FC2-8D7BD40172B8}"/>
              </a:ext>
            </a:extLst>
          </p:cNvPr>
          <p:cNvGrpSpPr/>
          <p:nvPr/>
        </p:nvGrpSpPr>
        <p:grpSpPr>
          <a:xfrm>
            <a:off x="4942994" y="2262749"/>
            <a:ext cx="6254531" cy="4126269"/>
            <a:chOff x="4942994" y="2146514"/>
            <a:chExt cx="6254531" cy="4126269"/>
          </a:xfrm>
        </p:grpSpPr>
        <p:sp>
          <p:nvSpPr>
            <p:cNvPr id="1034" name="Rectangle 1033">
              <a:extLst>
                <a:ext uri="{FF2B5EF4-FFF2-40B4-BE49-F238E27FC236}">
                  <a16:creationId xmlns:a16="http://schemas.microsoft.com/office/drawing/2014/main" id="{97F4A687-196A-3A48-974B-F54D9885AFBA}"/>
                </a:ext>
              </a:extLst>
            </p:cNvPr>
            <p:cNvSpPr/>
            <p:nvPr/>
          </p:nvSpPr>
          <p:spPr bwMode="auto">
            <a:xfrm>
              <a:off x="4942994" y="2146514"/>
              <a:ext cx="6254531" cy="412626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0" name="Graphic 29">
              <a:extLst>
                <a:ext uri="{FF2B5EF4-FFF2-40B4-BE49-F238E27FC236}">
                  <a16:creationId xmlns:a16="http://schemas.microsoft.com/office/drawing/2014/main" id="{6F2E8ECC-417A-A889-60A5-0DAF77D665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6369" y="2719933"/>
              <a:ext cx="572504" cy="572504"/>
            </a:xfrm>
            <a:prstGeom prst="rect">
              <a:avLst/>
            </a:prstGeom>
          </p:spPr>
        </p:pic>
        <p:pic>
          <p:nvPicPr>
            <p:cNvPr id="31" name="Graphic 30">
              <a:extLst>
                <a:ext uri="{FF2B5EF4-FFF2-40B4-BE49-F238E27FC236}">
                  <a16:creationId xmlns:a16="http://schemas.microsoft.com/office/drawing/2014/main" id="{22AB1E2A-1CF1-90ED-0128-4BA8334A20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6369" y="3964830"/>
              <a:ext cx="572504" cy="572504"/>
            </a:xfrm>
            <a:prstGeom prst="rect">
              <a:avLst/>
            </a:prstGeom>
          </p:spPr>
        </p:pic>
        <p:sp>
          <p:nvSpPr>
            <p:cNvPr id="33" name="TextBox 32">
              <a:extLst>
                <a:ext uri="{FF2B5EF4-FFF2-40B4-BE49-F238E27FC236}">
                  <a16:creationId xmlns:a16="http://schemas.microsoft.com/office/drawing/2014/main" id="{157FC6DE-C23A-3957-00E1-D43FBA4EB7D0}"/>
                </a:ext>
              </a:extLst>
            </p:cNvPr>
            <p:cNvSpPr txBox="1"/>
            <p:nvPr/>
          </p:nvSpPr>
          <p:spPr>
            <a:xfrm>
              <a:off x="7231905" y="3321278"/>
              <a:ext cx="1050800" cy="215444"/>
            </a:xfrm>
            <a:prstGeom prst="rect">
              <a:avLst/>
            </a:prstGeom>
            <a:noFill/>
          </p:spPr>
          <p:txBody>
            <a:bodyPr wrap="none" lIns="0" tIns="0" rIns="0" bIns="0" rtlCol="0">
              <a:spAutoFit/>
            </a:bodyPr>
            <a:lstStyle/>
            <a:p>
              <a:pPr algn="l"/>
              <a:r>
                <a:rPr lang="en-US" sz="1400" dirty="0"/>
                <a:t>Azure AI Hub</a:t>
              </a:r>
            </a:p>
          </p:txBody>
        </p:sp>
        <p:sp>
          <p:nvSpPr>
            <p:cNvPr id="34" name="TextBox 33">
              <a:extLst>
                <a:ext uri="{FF2B5EF4-FFF2-40B4-BE49-F238E27FC236}">
                  <a16:creationId xmlns:a16="http://schemas.microsoft.com/office/drawing/2014/main" id="{F419A743-30DD-B7B6-0B00-A211967D838A}"/>
                </a:ext>
              </a:extLst>
            </p:cNvPr>
            <p:cNvSpPr txBox="1"/>
            <p:nvPr/>
          </p:nvSpPr>
          <p:spPr>
            <a:xfrm>
              <a:off x="7124456" y="4537334"/>
              <a:ext cx="1264833" cy="215444"/>
            </a:xfrm>
            <a:prstGeom prst="rect">
              <a:avLst/>
            </a:prstGeom>
            <a:noFill/>
          </p:spPr>
          <p:txBody>
            <a:bodyPr wrap="none" lIns="0" tIns="0" rIns="0" bIns="0" rtlCol="0">
              <a:spAutoFit/>
            </a:bodyPr>
            <a:lstStyle/>
            <a:p>
              <a:pPr algn="l"/>
              <a:r>
                <a:rPr lang="en-US" sz="1400" dirty="0"/>
                <a:t>Azure AI Project</a:t>
              </a:r>
            </a:p>
          </p:txBody>
        </p:sp>
        <p:grpSp>
          <p:nvGrpSpPr>
            <p:cNvPr id="49" name="Group 48">
              <a:extLst>
                <a:ext uri="{FF2B5EF4-FFF2-40B4-BE49-F238E27FC236}">
                  <a16:creationId xmlns:a16="http://schemas.microsoft.com/office/drawing/2014/main" id="{608F21FF-9D45-5F06-414B-CDA44C6126D3}"/>
                </a:ext>
              </a:extLst>
            </p:cNvPr>
            <p:cNvGrpSpPr/>
            <p:nvPr/>
          </p:nvGrpSpPr>
          <p:grpSpPr>
            <a:xfrm>
              <a:off x="8129594" y="5164007"/>
              <a:ext cx="1360950" cy="804827"/>
              <a:chOff x="6941288" y="5153553"/>
              <a:chExt cx="1360950" cy="804827"/>
            </a:xfrm>
          </p:grpSpPr>
          <p:pic>
            <p:nvPicPr>
              <p:cNvPr id="32" name="Graphic 31">
                <a:extLst>
                  <a:ext uri="{FF2B5EF4-FFF2-40B4-BE49-F238E27FC236}">
                    <a16:creationId xmlns:a16="http://schemas.microsoft.com/office/drawing/2014/main" id="{2F6E1317-13BF-E9FB-35BD-D536F9F5CC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29766" y="5153553"/>
                <a:ext cx="572504" cy="572504"/>
              </a:xfrm>
              <a:prstGeom prst="rect">
                <a:avLst/>
              </a:prstGeom>
            </p:spPr>
          </p:pic>
          <p:sp>
            <p:nvSpPr>
              <p:cNvPr id="35" name="TextBox 34">
                <a:extLst>
                  <a:ext uri="{FF2B5EF4-FFF2-40B4-BE49-F238E27FC236}">
                    <a16:creationId xmlns:a16="http://schemas.microsoft.com/office/drawing/2014/main" id="{37D486B3-7786-AFDC-A1D8-8EED55E7FA7D}"/>
                  </a:ext>
                </a:extLst>
              </p:cNvPr>
              <p:cNvSpPr txBox="1"/>
              <p:nvPr/>
            </p:nvSpPr>
            <p:spPr>
              <a:xfrm>
                <a:off x="6941288" y="5742936"/>
                <a:ext cx="1360950" cy="215444"/>
              </a:xfrm>
              <a:prstGeom prst="rect">
                <a:avLst/>
              </a:prstGeom>
              <a:noFill/>
            </p:spPr>
            <p:txBody>
              <a:bodyPr wrap="none" lIns="0" tIns="0" rIns="0" bIns="0" rtlCol="0">
                <a:spAutoFit/>
              </a:bodyPr>
              <a:lstStyle/>
              <a:p>
                <a:pPr algn="l"/>
                <a:r>
                  <a:rPr lang="en-US" sz="1400" dirty="0"/>
                  <a:t>Azure AI Services</a:t>
                </a:r>
              </a:p>
            </p:txBody>
          </p:sp>
        </p:grpSp>
        <p:cxnSp>
          <p:nvCxnSpPr>
            <p:cNvPr id="36" name="Straight Arrow Connector 35">
              <a:extLst>
                <a:ext uri="{FF2B5EF4-FFF2-40B4-BE49-F238E27FC236}">
                  <a16:creationId xmlns:a16="http://schemas.microsoft.com/office/drawing/2014/main" id="{5CD27DA3-7DA9-E626-D427-05ABA4A9669A}"/>
                </a:ext>
              </a:extLst>
            </p:cNvPr>
            <p:cNvCxnSpPr>
              <a:cxnSpLocks/>
            </p:cNvCxnSpPr>
            <p:nvPr/>
          </p:nvCxnSpPr>
          <p:spPr>
            <a:xfrm rot="16200000" flipH="1">
              <a:off x="8074984" y="4434666"/>
              <a:ext cx="411229" cy="1047451"/>
            </a:xfrm>
            <a:prstGeom prst="bentConnector3">
              <a:avLst>
                <a:gd name="adj1" fmla="val 43360"/>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A2E5F86-E20C-3A93-E0AF-7AFF336496EB}"/>
                </a:ext>
              </a:extLst>
            </p:cNvPr>
            <p:cNvCxnSpPr>
              <a:cxnSpLocks/>
              <a:stCxn id="31" idx="0"/>
              <a:endCxn id="33" idx="2"/>
            </p:cNvCxnSpPr>
            <p:nvPr/>
          </p:nvCxnSpPr>
          <p:spPr>
            <a:xfrm flipH="1" flipV="1">
              <a:off x="7757305" y="3536722"/>
              <a:ext cx="5316" cy="428108"/>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4AAE76E2-E8DA-0C9C-279C-C1B8CE334416}"/>
                </a:ext>
              </a:extLst>
            </p:cNvPr>
            <p:cNvGrpSpPr/>
            <p:nvPr/>
          </p:nvGrpSpPr>
          <p:grpSpPr>
            <a:xfrm>
              <a:off x="9747518" y="5186166"/>
              <a:ext cx="1112549" cy="782668"/>
              <a:chOff x="8755627" y="5189111"/>
              <a:chExt cx="1112549" cy="782668"/>
            </a:xfrm>
          </p:grpSpPr>
          <p:pic>
            <p:nvPicPr>
              <p:cNvPr id="39" name="Graphic 38">
                <a:extLst>
                  <a:ext uri="{FF2B5EF4-FFF2-40B4-BE49-F238E27FC236}">
                    <a16:creationId xmlns:a16="http://schemas.microsoft.com/office/drawing/2014/main" id="{C1B5414B-C284-D978-6D0E-A0A11BFFD4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25649" y="5189111"/>
                <a:ext cx="572504" cy="572504"/>
              </a:xfrm>
              <a:prstGeom prst="rect">
                <a:avLst/>
              </a:prstGeom>
            </p:spPr>
          </p:pic>
          <p:sp>
            <p:nvSpPr>
              <p:cNvPr id="44" name="TextBox 43">
                <a:extLst>
                  <a:ext uri="{FF2B5EF4-FFF2-40B4-BE49-F238E27FC236}">
                    <a16:creationId xmlns:a16="http://schemas.microsoft.com/office/drawing/2014/main" id="{9DD7ADB2-2BE7-D6F6-E462-1C3160801220}"/>
                  </a:ext>
                </a:extLst>
              </p:cNvPr>
              <p:cNvSpPr txBox="1"/>
              <p:nvPr/>
            </p:nvSpPr>
            <p:spPr>
              <a:xfrm>
                <a:off x="8755627" y="5756335"/>
                <a:ext cx="1112549" cy="215444"/>
              </a:xfrm>
              <a:prstGeom prst="rect">
                <a:avLst/>
              </a:prstGeom>
              <a:noFill/>
            </p:spPr>
            <p:txBody>
              <a:bodyPr wrap="none" lIns="0" tIns="0" rIns="0" bIns="0" rtlCol="0">
                <a:spAutoFit/>
              </a:bodyPr>
              <a:lstStyle/>
              <a:p>
                <a:pPr algn="l"/>
                <a:r>
                  <a:rPr lang="en-US" sz="1400" dirty="0"/>
                  <a:t>Azure Storage</a:t>
                </a:r>
              </a:p>
            </p:txBody>
          </p:sp>
        </p:grpSp>
        <p:grpSp>
          <p:nvGrpSpPr>
            <p:cNvPr id="48" name="Group 47">
              <a:extLst>
                <a:ext uri="{FF2B5EF4-FFF2-40B4-BE49-F238E27FC236}">
                  <a16:creationId xmlns:a16="http://schemas.microsoft.com/office/drawing/2014/main" id="{11D9E9E8-A20E-A44B-ADF4-28202C32DD2A}"/>
                </a:ext>
              </a:extLst>
            </p:cNvPr>
            <p:cNvGrpSpPr/>
            <p:nvPr/>
          </p:nvGrpSpPr>
          <p:grpSpPr>
            <a:xfrm>
              <a:off x="6630228" y="5136608"/>
              <a:ext cx="1242391" cy="832226"/>
              <a:chOff x="5522590" y="5136608"/>
              <a:chExt cx="1242391" cy="832226"/>
            </a:xfrm>
          </p:grpSpPr>
          <p:pic>
            <p:nvPicPr>
              <p:cNvPr id="41" name="Graphic 40">
                <a:extLst>
                  <a:ext uri="{FF2B5EF4-FFF2-40B4-BE49-F238E27FC236}">
                    <a16:creationId xmlns:a16="http://schemas.microsoft.com/office/drawing/2014/main" id="{6F2B5E47-5DDD-7557-C937-E026B0A48F7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05046" y="5136608"/>
                <a:ext cx="643728" cy="643728"/>
              </a:xfrm>
              <a:prstGeom prst="rect">
                <a:avLst/>
              </a:prstGeom>
            </p:spPr>
          </p:pic>
          <p:sp>
            <p:nvSpPr>
              <p:cNvPr id="45" name="TextBox 44">
                <a:extLst>
                  <a:ext uri="{FF2B5EF4-FFF2-40B4-BE49-F238E27FC236}">
                    <a16:creationId xmlns:a16="http://schemas.microsoft.com/office/drawing/2014/main" id="{13ABFAE8-2755-748A-37F6-1F6907B5D350}"/>
                  </a:ext>
                </a:extLst>
              </p:cNvPr>
              <p:cNvSpPr txBox="1"/>
              <p:nvPr/>
            </p:nvSpPr>
            <p:spPr>
              <a:xfrm>
                <a:off x="5522590" y="5753390"/>
                <a:ext cx="1242391" cy="215444"/>
              </a:xfrm>
              <a:prstGeom prst="rect">
                <a:avLst/>
              </a:prstGeom>
              <a:noFill/>
            </p:spPr>
            <p:txBody>
              <a:bodyPr wrap="none" lIns="0" tIns="0" rIns="0" bIns="0" rtlCol="0">
                <a:spAutoFit/>
              </a:bodyPr>
              <a:lstStyle/>
              <a:p>
                <a:pPr algn="l"/>
                <a:r>
                  <a:rPr lang="en-US" sz="1400" dirty="0"/>
                  <a:t>Azure AI Search</a:t>
                </a:r>
              </a:p>
            </p:txBody>
          </p:sp>
        </p:grpSp>
        <p:grpSp>
          <p:nvGrpSpPr>
            <p:cNvPr id="47" name="Group 46">
              <a:extLst>
                <a:ext uri="{FF2B5EF4-FFF2-40B4-BE49-F238E27FC236}">
                  <a16:creationId xmlns:a16="http://schemas.microsoft.com/office/drawing/2014/main" id="{85E41D64-9C32-A246-E273-76D4D3F3DB0A}"/>
                </a:ext>
              </a:extLst>
            </p:cNvPr>
            <p:cNvGrpSpPr/>
            <p:nvPr/>
          </p:nvGrpSpPr>
          <p:grpSpPr>
            <a:xfrm>
              <a:off x="5142147" y="5153553"/>
              <a:ext cx="1231106" cy="815281"/>
              <a:chOff x="4150256" y="5153553"/>
              <a:chExt cx="1231106" cy="815281"/>
            </a:xfrm>
          </p:grpSpPr>
          <p:pic>
            <p:nvPicPr>
              <p:cNvPr id="43" name="Graphic 42">
                <a:extLst>
                  <a:ext uri="{FF2B5EF4-FFF2-40B4-BE49-F238E27FC236}">
                    <a16:creationId xmlns:a16="http://schemas.microsoft.com/office/drawing/2014/main" id="{D94BD030-0A1B-41B4-5586-FF3201DAE23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00806" y="5153553"/>
                <a:ext cx="603705" cy="603705"/>
              </a:xfrm>
              <a:prstGeom prst="rect">
                <a:avLst/>
              </a:prstGeom>
            </p:spPr>
          </p:pic>
          <p:sp>
            <p:nvSpPr>
              <p:cNvPr id="46" name="TextBox 45">
                <a:extLst>
                  <a:ext uri="{FF2B5EF4-FFF2-40B4-BE49-F238E27FC236}">
                    <a16:creationId xmlns:a16="http://schemas.microsoft.com/office/drawing/2014/main" id="{EC965A50-245E-70D6-B826-1F2609803062}"/>
                  </a:ext>
                </a:extLst>
              </p:cNvPr>
              <p:cNvSpPr txBox="1"/>
              <p:nvPr/>
            </p:nvSpPr>
            <p:spPr>
              <a:xfrm>
                <a:off x="4150256" y="5753390"/>
                <a:ext cx="1231106" cy="215444"/>
              </a:xfrm>
              <a:prstGeom prst="rect">
                <a:avLst/>
              </a:prstGeom>
              <a:noFill/>
            </p:spPr>
            <p:txBody>
              <a:bodyPr wrap="none" lIns="0" tIns="0" rIns="0" bIns="0" rtlCol="0">
                <a:spAutoFit/>
              </a:bodyPr>
              <a:lstStyle/>
              <a:p>
                <a:pPr algn="l"/>
                <a:r>
                  <a:rPr lang="en-US" sz="1400" dirty="0"/>
                  <a:t>Azure Key Vault</a:t>
                </a:r>
              </a:p>
            </p:txBody>
          </p:sp>
        </p:grpSp>
        <p:cxnSp>
          <p:nvCxnSpPr>
            <p:cNvPr id="51" name="Straight Arrow Connector 35">
              <a:extLst>
                <a:ext uri="{FF2B5EF4-FFF2-40B4-BE49-F238E27FC236}">
                  <a16:creationId xmlns:a16="http://schemas.microsoft.com/office/drawing/2014/main" id="{A5307225-2751-DEFF-58EC-342B3990FF2E}"/>
                </a:ext>
              </a:extLst>
            </p:cNvPr>
            <p:cNvCxnSpPr>
              <a:cxnSpLocks/>
            </p:cNvCxnSpPr>
            <p:nvPr/>
          </p:nvCxnSpPr>
          <p:spPr>
            <a:xfrm rot="16200000" flipH="1">
              <a:off x="8813638" y="3696011"/>
              <a:ext cx="433388" cy="2546919"/>
            </a:xfrm>
            <a:prstGeom prst="bentConnector3">
              <a:avLst>
                <a:gd name="adj1" fmla="val 4125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35">
              <a:extLst>
                <a:ext uri="{FF2B5EF4-FFF2-40B4-BE49-F238E27FC236}">
                  <a16:creationId xmlns:a16="http://schemas.microsoft.com/office/drawing/2014/main" id="{CAC21144-DBA9-83A7-EADE-57394A157BCA}"/>
                </a:ext>
              </a:extLst>
            </p:cNvPr>
            <p:cNvCxnSpPr>
              <a:cxnSpLocks/>
            </p:cNvCxnSpPr>
            <p:nvPr/>
          </p:nvCxnSpPr>
          <p:spPr>
            <a:xfrm rot="5400000">
              <a:off x="7303796" y="4683529"/>
              <a:ext cx="383830" cy="522325"/>
            </a:xfrm>
            <a:prstGeom prst="bentConnector3">
              <a:avLst>
                <a:gd name="adj1" fmla="val 47667"/>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35">
              <a:extLst>
                <a:ext uri="{FF2B5EF4-FFF2-40B4-BE49-F238E27FC236}">
                  <a16:creationId xmlns:a16="http://schemas.microsoft.com/office/drawing/2014/main" id="{147BA53E-4120-DFA7-38F7-20F6FCA179A8}"/>
                </a:ext>
              </a:extLst>
            </p:cNvPr>
            <p:cNvCxnSpPr>
              <a:cxnSpLocks/>
            </p:cNvCxnSpPr>
            <p:nvPr/>
          </p:nvCxnSpPr>
          <p:spPr>
            <a:xfrm rot="5400000">
              <a:off x="6575325" y="3972002"/>
              <a:ext cx="400775" cy="1962323"/>
            </a:xfrm>
            <a:prstGeom prst="bentConnector3">
              <a:avLst>
                <a:gd name="adj1" fmla="val 4634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24" name="Straight Arrow Connector 35">
              <a:extLst>
                <a:ext uri="{FF2B5EF4-FFF2-40B4-BE49-F238E27FC236}">
                  <a16:creationId xmlns:a16="http://schemas.microsoft.com/office/drawing/2014/main" id="{364D6081-4F9C-8103-BF54-BCA82A0FA5CC}"/>
                </a:ext>
              </a:extLst>
            </p:cNvPr>
            <p:cNvCxnSpPr>
              <a:cxnSpLocks/>
              <a:stCxn id="30" idx="1"/>
              <a:endCxn id="43" idx="0"/>
            </p:cNvCxnSpPr>
            <p:nvPr/>
          </p:nvCxnSpPr>
          <p:spPr>
            <a:xfrm rot="10800000" flipV="1">
              <a:off x="5794551" y="3006185"/>
              <a:ext cx="1681819" cy="2147368"/>
            </a:xfrm>
            <a:prstGeom prst="bentConnector2">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29" name="Straight Arrow Connector 35">
              <a:extLst>
                <a:ext uri="{FF2B5EF4-FFF2-40B4-BE49-F238E27FC236}">
                  <a16:creationId xmlns:a16="http://schemas.microsoft.com/office/drawing/2014/main" id="{5B37DB4C-3FC5-8C78-B689-C24534AE1D8E}"/>
                </a:ext>
              </a:extLst>
            </p:cNvPr>
            <p:cNvCxnSpPr>
              <a:cxnSpLocks/>
              <a:stCxn id="30" idx="3"/>
              <a:endCxn id="39" idx="0"/>
            </p:cNvCxnSpPr>
            <p:nvPr/>
          </p:nvCxnSpPr>
          <p:spPr>
            <a:xfrm>
              <a:off x="8048873" y="3006185"/>
              <a:ext cx="2254919" cy="2179981"/>
            </a:xfrm>
            <a:prstGeom prst="bentConnector2">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032" name="TextBox 1031">
              <a:extLst>
                <a:ext uri="{FF2B5EF4-FFF2-40B4-BE49-F238E27FC236}">
                  <a16:creationId xmlns:a16="http://schemas.microsoft.com/office/drawing/2014/main" id="{6740A6B2-B9DF-0F0B-FE52-88DF45DC5FB9}"/>
                </a:ext>
              </a:extLst>
            </p:cNvPr>
            <p:cNvSpPr txBox="1"/>
            <p:nvPr/>
          </p:nvSpPr>
          <p:spPr>
            <a:xfrm>
              <a:off x="5097970" y="2247367"/>
              <a:ext cx="1996059" cy="246221"/>
            </a:xfrm>
            <a:prstGeom prst="rect">
              <a:avLst/>
            </a:prstGeom>
            <a:noFill/>
          </p:spPr>
          <p:txBody>
            <a:bodyPr wrap="none" lIns="0" tIns="0" rIns="0" bIns="0" rtlCol="0">
              <a:spAutoFit/>
            </a:bodyPr>
            <a:lstStyle/>
            <a:p>
              <a:pPr algn="l"/>
              <a:r>
                <a:rPr lang="en-US" sz="1600" dirty="0">
                  <a:latin typeface="+mj-lt"/>
                </a:rPr>
                <a:t>Standard agent setup</a:t>
              </a:r>
            </a:p>
          </p:txBody>
        </p:sp>
      </p:grpSp>
      <p:sp>
        <p:nvSpPr>
          <p:cNvPr id="1037" name="Footer Placeholder 2">
            <a:extLst>
              <a:ext uri="{FF2B5EF4-FFF2-40B4-BE49-F238E27FC236}">
                <a16:creationId xmlns:a16="http://schemas.microsoft.com/office/drawing/2014/main" id="{5F8CDBAD-6052-1C6F-289A-486E9B5F019B}"/>
              </a:ext>
            </a:extLst>
          </p:cNvPr>
          <p:cNvSpPr>
            <a:spLocks noGrp="1"/>
          </p:cNvSpPr>
          <p:nvPr>
            <p:ph type="ftr" sz="quarter" idx="3"/>
          </p:nvPr>
        </p:nvSpPr>
        <p:spPr>
          <a:xfrm>
            <a:off x="579438" y="6421083"/>
            <a:ext cx="4151312" cy="197976"/>
          </a:xfrm>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665083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27C5A-D73E-2CC6-402C-8DA6D9CA5F98}"/>
              </a:ext>
            </a:extLst>
          </p:cNvPr>
          <p:cNvSpPr>
            <a:spLocks noGrp="1"/>
          </p:cNvSpPr>
          <p:nvPr>
            <p:ph type="title"/>
          </p:nvPr>
        </p:nvSpPr>
        <p:spPr>
          <a:xfrm>
            <a:off x="588262" y="585216"/>
            <a:ext cx="8193024" cy="492443"/>
          </a:xfrm>
        </p:spPr>
        <p:txBody>
          <a:bodyPr/>
          <a:lstStyle/>
          <a:p>
            <a:r>
              <a:rPr lang="en-US" sz="3200" dirty="0"/>
              <a:t>Using the SDK to chat with an agent</a:t>
            </a:r>
          </a:p>
        </p:txBody>
      </p:sp>
      <p:sp>
        <p:nvSpPr>
          <p:cNvPr id="4" name="TextBox 3">
            <a:extLst>
              <a:ext uri="{FF2B5EF4-FFF2-40B4-BE49-F238E27FC236}">
                <a16:creationId xmlns:a16="http://schemas.microsoft.com/office/drawing/2014/main" id="{3010C6CD-EFFD-B383-757D-E7EE8AFFB6CD}"/>
              </a:ext>
            </a:extLst>
          </p:cNvPr>
          <p:cNvSpPr txBox="1"/>
          <p:nvPr/>
        </p:nvSpPr>
        <p:spPr>
          <a:xfrm>
            <a:off x="678744" y="1568194"/>
            <a:ext cx="6175108" cy="4924425"/>
          </a:xfrm>
          <a:prstGeom prst="rect">
            <a:avLst/>
          </a:prstGeom>
          <a:noFill/>
        </p:spPr>
        <p:txBody>
          <a:bodyPr wrap="square" lIns="0" tIns="0" rIns="0" bIns="0" rtlCol="0">
            <a:spAutoFit/>
          </a:bodyPr>
          <a:lstStyle/>
          <a:p>
            <a:pPr marL="457200" indent="-457200" algn="l">
              <a:buFont typeface="+mj-lt"/>
              <a:buAutoNum type="arabicPeriod"/>
            </a:pPr>
            <a:r>
              <a:rPr lang="en-US" sz="2000" dirty="0"/>
              <a:t>Connect to the AI Foundry </a:t>
            </a:r>
            <a:r>
              <a:rPr lang="en-US" sz="2000" i="1" dirty="0"/>
              <a:t>project</a:t>
            </a:r>
          </a:p>
          <a:p>
            <a:pPr marL="457200" indent="-457200" algn="l">
              <a:buFont typeface="+mj-lt"/>
              <a:buAutoNum type="arabicPeriod"/>
            </a:pPr>
            <a:r>
              <a:rPr lang="en-US" sz="2000" dirty="0"/>
              <a:t>Get an existing </a:t>
            </a:r>
            <a:r>
              <a:rPr lang="en-US" sz="2000" i="1" dirty="0"/>
              <a:t>agent</a:t>
            </a:r>
            <a:r>
              <a:rPr lang="en-US" sz="2000" dirty="0"/>
              <a:t>, or create one specifying:</a:t>
            </a:r>
          </a:p>
          <a:p>
            <a:pPr marL="914383" lvl="1" indent="-457200">
              <a:buFont typeface="Arial" panose="020B0604020202020204" pitchFamily="34" charset="0"/>
              <a:buChar char="•"/>
            </a:pPr>
            <a:r>
              <a:rPr lang="en-US" sz="2000" i="1" dirty="0"/>
              <a:t>Model</a:t>
            </a:r>
          </a:p>
          <a:p>
            <a:pPr marL="914383" lvl="1" indent="-457200">
              <a:buFont typeface="Arial" panose="020B0604020202020204" pitchFamily="34" charset="0"/>
              <a:buChar char="•"/>
            </a:pPr>
            <a:r>
              <a:rPr lang="en-US" sz="2000" i="1" dirty="0"/>
              <a:t>Instructions</a:t>
            </a:r>
          </a:p>
          <a:p>
            <a:pPr marL="914383" lvl="1" indent="-457200">
              <a:buFont typeface="Arial" panose="020B0604020202020204" pitchFamily="34" charset="0"/>
              <a:buChar char="•"/>
            </a:pPr>
            <a:r>
              <a:rPr lang="en-US" sz="2000" i="1" dirty="0"/>
              <a:t>Tools</a:t>
            </a:r>
            <a:r>
              <a:rPr lang="en-US" sz="2000" dirty="0"/>
              <a:t> and </a:t>
            </a:r>
            <a:r>
              <a:rPr lang="en-US" sz="2000" i="1" dirty="0"/>
              <a:t>resources</a:t>
            </a:r>
            <a:r>
              <a:rPr lang="en-US" sz="2000" dirty="0"/>
              <a:t> it can use</a:t>
            </a:r>
          </a:p>
          <a:p>
            <a:pPr marL="457200" indent="-457200" algn="l">
              <a:buFont typeface="+mj-lt"/>
              <a:buAutoNum type="arabicPeriod"/>
            </a:pPr>
            <a:r>
              <a:rPr lang="en-US" sz="2000" dirty="0"/>
              <a:t>Create a </a:t>
            </a:r>
            <a:r>
              <a:rPr lang="en-US" sz="2000" i="1" dirty="0"/>
              <a:t>thread</a:t>
            </a:r>
            <a:r>
              <a:rPr lang="en-US" sz="2000" dirty="0"/>
              <a:t> for the chat session</a:t>
            </a:r>
          </a:p>
          <a:p>
            <a:pPr marL="457200" indent="-457200" algn="l">
              <a:buFont typeface="+mj-lt"/>
              <a:buAutoNum type="arabicPeriod"/>
            </a:pPr>
            <a:r>
              <a:rPr lang="en-US" sz="2000" dirty="0"/>
              <a:t>Add </a:t>
            </a:r>
            <a:r>
              <a:rPr lang="en-US" sz="2000" i="1" dirty="0"/>
              <a:t>messages</a:t>
            </a:r>
            <a:r>
              <a:rPr lang="en-US" sz="2000" dirty="0"/>
              <a:t> to the thread and invoke it with the agent</a:t>
            </a:r>
          </a:p>
          <a:p>
            <a:pPr marL="457200" indent="-457200">
              <a:buFont typeface="+mj-lt"/>
              <a:buAutoNum type="arabicPeriod"/>
            </a:pPr>
            <a:r>
              <a:rPr lang="en-US" sz="2000" dirty="0"/>
              <a:t>Check the thread </a:t>
            </a:r>
            <a:r>
              <a:rPr lang="en-US" sz="2000" i="1" dirty="0"/>
              <a:t>status</a:t>
            </a:r>
            <a:r>
              <a:rPr lang="en-US" sz="2000" dirty="0"/>
              <a:t>, and when ready, retrieve the messages. The thread includes all user and agent messages plus any other data that was generated (e.g. files created by tools)</a:t>
            </a:r>
          </a:p>
          <a:p>
            <a:pPr marL="457200" indent="-457200" algn="l">
              <a:buFont typeface="+mj-lt"/>
              <a:buAutoNum type="arabicPeriod"/>
            </a:pPr>
            <a:r>
              <a:rPr lang="en-US" sz="2000" dirty="0"/>
              <a:t>Repeat…</a:t>
            </a:r>
          </a:p>
          <a:p>
            <a:pPr marL="457200" indent="-457200" algn="l">
              <a:buFont typeface="+mj-lt"/>
              <a:buAutoNum type="arabicPeriod"/>
            </a:pPr>
            <a:r>
              <a:rPr lang="en-US" sz="2000" dirty="0"/>
              <a:t>When finished, delete the agent and the thread</a:t>
            </a:r>
          </a:p>
          <a:p>
            <a:pPr marL="457200" indent="-457200" algn="l">
              <a:buFont typeface="+mj-lt"/>
              <a:buAutoNum type="arabicPeriod"/>
            </a:pPr>
            <a:endParaRPr lang="en-US" sz="2000" dirty="0"/>
          </a:p>
          <a:p>
            <a:pPr marL="457200" indent="-457200" algn="l">
              <a:buFont typeface="+mj-lt"/>
              <a:buAutoNum type="arabicPeriod"/>
            </a:pPr>
            <a:endParaRPr lang="en-US" sz="2000" dirty="0"/>
          </a:p>
        </p:txBody>
      </p:sp>
      <p:grpSp>
        <p:nvGrpSpPr>
          <p:cNvPr id="18" name="Group 17">
            <a:extLst>
              <a:ext uri="{FF2B5EF4-FFF2-40B4-BE49-F238E27FC236}">
                <a16:creationId xmlns:a16="http://schemas.microsoft.com/office/drawing/2014/main" id="{99A5F9FB-3E1B-B7D3-C891-69285D9DD748}"/>
              </a:ext>
              <a:ext uri="{C183D7F6-B498-43B3-948B-1728B52AA6E4}">
                <adec:decorative xmlns:adec="http://schemas.microsoft.com/office/drawing/2017/decorative" val="1"/>
              </a:ext>
            </a:extLst>
          </p:cNvPr>
          <p:cNvGrpSpPr/>
          <p:nvPr/>
        </p:nvGrpSpPr>
        <p:grpSpPr>
          <a:xfrm>
            <a:off x="7421880" y="1447800"/>
            <a:ext cx="4671060" cy="4824984"/>
            <a:chOff x="7421880" y="1447800"/>
            <a:chExt cx="4671060" cy="4824984"/>
          </a:xfrm>
        </p:grpSpPr>
        <p:sp>
          <p:nvSpPr>
            <p:cNvPr id="16" name="Rectangle 15">
              <a:extLst>
                <a:ext uri="{FF2B5EF4-FFF2-40B4-BE49-F238E27FC236}">
                  <a16:creationId xmlns:a16="http://schemas.microsoft.com/office/drawing/2014/main" id="{9235AF60-6058-C835-4FBF-9C7F397032A1}"/>
                </a:ext>
              </a:extLst>
            </p:cNvPr>
            <p:cNvSpPr/>
            <p:nvPr/>
          </p:nvSpPr>
          <p:spPr bwMode="auto">
            <a:xfrm>
              <a:off x="7421880" y="1447800"/>
              <a:ext cx="4671060" cy="4824984"/>
            </a:xfrm>
            <a:prstGeom prst="rect">
              <a:avLst/>
            </a:prstGeom>
            <a:solidFill>
              <a:schemeClr val="bg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8" name="Group 7">
              <a:extLst>
                <a:ext uri="{FF2B5EF4-FFF2-40B4-BE49-F238E27FC236}">
                  <a16:creationId xmlns:a16="http://schemas.microsoft.com/office/drawing/2014/main" id="{B8A8646F-3415-06D5-631F-0231AC6D061E}"/>
                </a:ext>
                <a:ext uri="{C183D7F6-B498-43B3-948B-1728B52AA6E4}">
                  <adec:decorative xmlns:adec="http://schemas.microsoft.com/office/drawing/2017/decorative" val="1"/>
                </a:ext>
              </a:extLst>
            </p:cNvPr>
            <p:cNvGrpSpPr/>
            <p:nvPr/>
          </p:nvGrpSpPr>
          <p:grpSpPr>
            <a:xfrm>
              <a:off x="7581900" y="1553775"/>
              <a:ext cx="4340670" cy="4567591"/>
              <a:chOff x="7581900" y="1553775"/>
              <a:chExt cx="4340670" cy="4567591"/>
            </a:xfrm>
          </p:grpSpPr>
          <p:sp>
            <p:nvSpPr>
              <p:cNvPr id="13" name="Rectangle 12">
                <a:extLst>
                  <a:ext uri="{FF2B5EF4-FFF2-40B4-BE49-F238E27FC236}">
                    <a16:creationId xmlns:a16="http://schemas.microsoft.com/office/drawing/2014/main" id="{8D028780-602D-E822-D2C0-8D46831AC72F}"/>
                  </a:ext>
                </a:extLst>
              </p:cNvPr>
              <p:cNvSpPr/>
              <p:nvPr/>
            </p:nvSpPr>
            <p:spPr bwMode="auto">
              <a:xfrm>
                <a:off x="7581900" y="2387566"/>
                <a:ext cx="4312920" cy="3733800"/>
              </a:xfrm>
              <a:prstGeom prst="rect">
                <a:avLst/>
              </a:prstGeom>
              <a:solidFill>
                <a:schemeClr val="bg1">
                  <a:lumMod val="95000"/>
                </a:schemeClr>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urple and blue hexagon with stars&#10;&#10;AI-generated content may be incorrect.">
                <a:extLst>
                  <a:ext uri="{FF2B5EF4-FFF2-40B4-BE49-F238E27FC236}">
                    <a16:creationId xmlns:a16="http://schemas.microsoft.com/office/drawing/2014/main" id="{8963286C-9054-5785-1277-F1F825BF2611}"/>
                  </a:ext>
                </a:extLst>
              </p:cNvPr>
              <p:cNvPicPr>
                <a:picLocks noChangeAspect="1"/>
              </p:cNvPicPr>
              <p:nvPr/>
            </p:nvPicPr>
            <p:blipFill>
              <a:blip r:embed="rId3"/>
              <a:stretch>
                <a:fillRect/>
              </a:stretch>
            </p:blipFill>
            <p:spPr>
              <a:xfrm>
                <a:off x="8259277" y="3040883"/>
                <a:ext cx="675147" cy="675147"/>
              </a:xfrm>
              <a:prstGeom prst="rect">
                <a:avLst/>
              </a:prstGeom>
            </p:spPr>
          </p:pic>
          <p:pic>
            <p:nvPicPr>
              <p:cNvPr id="6" name="Graphic 5">
                <a:extLst>
                  <a:ext uri="{FF2B5EF4-FFF2-40B4-BE49-F238E27FC236}">
                    <a16:creationId xmlns:a16="http://schemas.microsoft.com/office/drawing/2014/main" id="{C695224E-C194-5C7C-B149-97EE2C0D09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90497" y="1553775"/>
                <a:ext cx="472642" cy="472642"/>
              </a:xfrm>
              <a:prstGeom prst="rect">
                <a:avLst/>
              </a:prstGeom>
            </p:spPr>
          </p:pic>
          <p:cxnSp>
            <p:nvCxnSpPr>
              <p:cNvPr id="15" name="Straight Arrow Connector 14">
                <a:extLst>
                  <a:ext uri="{FF2B5EF4-FFF2-40B4-BE49-F238E27FC236}">
                    <a16:creationId xmlns:a16="http://schemas.microsoft.com/office/drawing/2014/main" id="{CE3695E9-9503-7985-5034-7446A02E48FB}"/>
                  </a:ext>
                </a:extLst>
              </p:cNvPr>
              <p:cNvCxnSpPr>
                <a:cxnSpLocks/>
                <a:stCxn id="5" idx="0"/>
              </p:cNvCxnSpPr>
              <p:nvPr/>
            </p:nvCxnSpPr>
            <p:spPr>
              <a:xfrm flipV="1">
                <a:off x="8596851" y="1943985"/>
                <a:ext cx="1" cy="1096898"/>
              </a:xfrm>
              <a:prstGeom prst="straightConnector1">
                <a:avLst/>
              </a:prstGeom>
              <a:ln w="127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Employee badge outline">
                <a:extLst>
                  <a:ext uri="{FF2B5EF4-FFF2-40B4-BE49-F238E27FC236}">
                    <a16:creationId xmlns:a16="http://schemas.microsoft.com/office/drawing/2014/main" id="{588BF54B-92ED-7789-9659-D1E4925FDEF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19712" y="2247900"/>
                <a:ext cx="381000" cy="381000"/>
              </a:xfrm>
              <a:prstGeom prst="rect">
                <a:avLst/>
              </a:prstGeom>
            </p:spPr>
          </p:pic>
          <p:pic>
            <p:nvPicPr>
              <p:cNvPr id="23" name="Graphic 22" descr="Badge with solid fill">
                <a:extLst>
                  <a:ext uri="{FF2B5EF4-FFF2-40B4-BE49-F238E27FC236}">
                    <a16:creationId xmlns:a16="http://schemas.microsoft.com/office/drawing/2014/main" id="{8E8B4AD7-6F8C-C4C9-927A-32014C0C54E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34579" y="2980255"/>
                <a:ext cx="403929" cy="403929"/>
              </a:xfrm>
              <a:prstGeom prst="rect">
                <a:avLst/>
              </a:prstGeom>
            </p:spPr>
          </p:pic>
          <p:pic>
            <p:nvPicPr>
              <p:cNvPr id="25" name="Graphic 24" descr="Badge 3 with solid fill">
                <a:extLst>
                  <a:ext uri="{FF2B5EF4-FFF2-40B4-BE49-F238E27FC236}">
                    <a16:creationId xmlns:a16="http://schemas.microsoft.com/office/drawing/2014/main" id="{3D8D7C7F-FD8D-5F8B-EAC2-17553E8E84E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43490" y="4023379"/>
                <a:ext cx="403929" cy="403929"/>
              </a:xfrm>
              <a:prstGeom prst="rect">
                <a:avLst/>
              </a:prstGeom>
            </p:spPr>
          </p:pic>
          <p:pic>
            <p:nvPicPr>
              <p:cNvPr id="31" name="Graphic 30" descr="Badge 1 with solid fill">
                <a:extLst>
                  <a:ext uri="{FF2B5EF4-FFF2-40B4-BE49-F238E27FC236}">
                    <a16:creationId xmlns:a16="http://schemas.microsoft.com/office/drawing/2014/main" id="{D2BDE65B-A604-72B2-BB17-94319D24E7F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15783" y="2148707"/>
                <a:ext cx="403929" cy="403929"/>
              </a:xfrm>
              <a:prstGeom prst="rect">
                <a:avLst/>
              </a:prstGeom>
            </p:spPr>
          </p:pic>
          <p:pic>
            <p:nvPicPr>
              <p:cNvPr id="33" name="Graphic 32" descr="Badge 7 with solid fill">
                <a:extLst>
                  <a:ext uri="{FF2B5EF4-FFF2-40B4-BE49-F238E27FC236}">
                    <a16:creationId xmlns:a16="http://schemas.microsoft.com/office/drawing/2014/main" id="{FFD15791-779B-F075-1483-624126E40AE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49853" y="4836294"/>
                <a:ext cx="403929" cy="403929"/>
              </a:xfrm>
              <a:prstGeom prst="rect">
                <a:avLst/>
              </a:prstGeom>
            </p:spPr>
          </p:pic>
          <p:sp>
            <p:nvSpPr>
              <p:cNvPr id="43" name="Arrow: Pentagon 42">
                <a:extLst>
                  <a:ext uri="{FF2B5EF4-FFF2-40B4-BE49-F238E27FC236}">
                    <a16:creationId xmlns:a16="http://schemas.microsoft.com/office/drawing/2014/main" id="{1D797956-0A49-E83A-630A-03AF57E71E48}"/>
                  </a:ext>
                </a:extLst>
              </p:cNvPr>
              <p:cNvSpPr/>
              <p:nvPr/>
            </p:nvSpPr>
            <p:spPr bwMode="auto">
              <a:xfrm flipH="1">
                <a:off x="8883546" y="2984802"/>
                <a:ext cx="2216679" cy="888396"/>
              </a:xfrm>
              <a:prstGeom prst="homePlate">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DeveloperTools_EC7A" title="Icon of a wrench and a screwdriver">
                <a:extLst>
                  <a:ext uri="{FF2B5EF4-FFF2-40B4-BE49-F238E27FC236}">
                    <a16:creationId xmlns:a16="http://schemas.microsoft.com/office/drawing/2014/main" id="{235751E0-B5C9-4002-675A-C6AF3656F39B}"/>
                  </a:ext>
                </a:extLst>
              </p:cNvPr>
              <p:cNvSpPr>
                <a:spLocks noChangeAspect="1" noEditPoints="1"/>
              </p:cNvSpPr>
              <p:nvPr/>
            </p:nvSpPr>
            <p:spPr bwMode="auto">
              <a:xfrm>
                <a:off x="10579097" y="3193790"/>
                <a:ext cx="234397" cy="369331"/>
              </a:xfrm>
              <a:custGeom>
                <a:avLst/>
                <a:gdLst>
                  <a:gd name="T0" fmla="*/ 765 w 2384"/>
                  <a:gd name="T1" fmla="*/ 958 h 3756"/>
                  <a:gd name="T2" fmla="*/ 765 w 2384"/>
                  <a:gd name="T3" fmla="*/ 3500 h 3756"/>
                  <a:gd name="T4" fmla="*/ 509 w 2384"/>
                  <a:gd name="T5" fmla="*/ 3756 h 3756"/>
                  <a:gd name="T6" fmla="*/ 509 w 2384"/>
                  <a:gd name="T7" fmla="*/ 3756 h 3756"/>
                  <a:gd name="T8" fmla="*/ 253 w 2384"/>
                  <a:gd name="T9" fmla="*/ 3500 h 3756"/>
                  <a:gd name="T10" fmla="*/ 253 w 2384"/>
                  <a:gd name="T11" fmla="*/ 958 h 3756"/>
                  <a:gd name="T12" fmla="*/ 0 w 2384"/>
                  <a:gd name="T13" fmla="*/ 518 h 3756"/>
                  <a:gd name="T14" fmla="*/ 509 w 2384"/>
                  <a:gd name="T15" fmla="*/ 9 h 3756"/>
                  <a:gd name="T16" fmla="*/ 1018 w 2384"/>
                  <a:gd name="T17" fmla="*/ 518 h 3756"/>
                  <a:gd name="T18" fmla="*/ 765 w 2384"/>
                  <a:gd name="T19" fmla="*/ 958 h 3756"/>
                  <a:gd name="T20" fmla="*/ 1503 w 2384"/>
                  <a:gd name="T21" fmla="*/ 2012 h 3756"/>
                  <a:gd name="T22" fmla="*/ 1503 w 2384"/>
                  <a:gd name="T23" fmla="*/ 3500 h 3756"/>
                  <a:gd name="T24" fmla="*/ 1759 w 2384"/>
                  <a:gd name="T25" fmla="*/ 3756 h 3756"/>
                  <a:gd name="T26" fmla="*/ 1759 w 2384"/>
                  <a:gd name="T27" fmla="*/ 3756 h 3756"/>
                  <a:gd name="T28" fmla="*/ 2015 w 2384"/>
                  <a:gd name="T29" fmla="*/ 3500 h 3756"/>
                  <a:gd name="T30" fmla="*/ 2015 w 2384"/>
                  <a:gd name="T31" fmla="*/ 2012 h 3756"/>
                  <a:gd name="T32" fmla="*/ 509 w 2384"/>
                  <a:gd name="T33" fmla="*/ 0 h 3756"/>
                  <a:gd name="T34" fmla="*/ 509 w 2384"/>
                  <a:gd name="T35" fmla="*/ 509 h 3756"/>
                  <a:gd name="T36" fmla="*/ 1134 w 2384"/>
                  <a:gd name="T37" fmla="*/ 2012 h 3756"/>
                  <a:gd name="T38" fmla="*/ 2384 w 2384"/>
                  <a:gd name="T39" fmla="*/ 2012 h 3756"/>
                  <a:gd name="T40" fmla="*/ 1759 w 2384"/>
                  <a:gd name="T41" fmla="*/ 2012 h 3756"/>
                  <a:gd name="T42" fmla="*/ 1759 w 2384"/>
                  <a:gd name="T43" fmla="*/ 711 h 3756"/>
                  <a:gd name="T44" fmla="*/ 2015 w 2384"/>
                  <a:gd name="T45" fmla="*/ 9 h 3756"/>
                  <a:gd name="T46" fmla="*/ 1503 w 2384"/>
                  <a:gd name="T47" fmla="*/ 9 h 3756"/>
                  <a:gd name="T48" fmla="*/ 1503 w 2384"/>
                  <a:gd name="T49" fmla="*/ 510 h 3756"/>
                  <a:gd name="T50" fmla="*/ 1759 w 2384"/>
                  <a:gd name="T51" fmla="*/ 756 h 3756"/>
                  <a:gd name="T52" fmla="*/ 2015 w 2384"/>
                  <a:gd name="T53" fmla="*/ 510 h 3756"/>
                  <a:gd name="T54" fmla="*/ 2015 w 2384"/>
                  <a:gd name="T55" fmla="*/ 9 h 3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84" h="3756">
                    <a:moveTo>
                      <a:pt x="765" y="958"/>
                    </a:moveTo>
                    <a:cubicBezTo>
                      <a:pt x="765" y="3500"/>
                      <a:pt x="765" y="3500"/>
                      <a:pt x="765" y="3500"/>
                    </a:cubicBezTo>
                    <a:cubicBezTo>
                      <a:pt x="765" y="3641"/>
                      <a:pt x="650" y="3756"/>
                      <a:pt x="509" y="3756"/>
                    </a:cubicBezTo>
                    <a:cubicBezTo>
                      <a:pt x="509" y="3756"/>
                      <a:pt x="509" y="3756"/>
                      <a:pt x="509" y="3756"/>
                    </a:cubicBezTo>
                    <a:cubicBezTo>
                      <a:pt x="368" y="3756"/>
                      <a:pt x="253" y="3641"/>
                      <a:pt x="253" y="3500"/>
                    </a:cubicBezTo>
                    <a:cubicBezTo>
                      <a:pt x="253" y="958"/>
                      <a:pt x="253" y="958"/>
                      <a:pt x="253" y="958"/>
                    </a:cubicBezTo>
                    <a:cubicBezTo>
                      <a:pt x="102" y="869"/>
                      <a:pt x="0" y="706"/>
                      <a:pt x="0" y="518"/>
                    </a:cubicBezTo>
                    <a:cubicBezTo>
                      <a:pt x="0" y="237"/>
                      <a:pt x="228" y="9"/>
                      <a:pt x="509" y="9"/>
                    </a:cubicBezTo>
                    <a:cubicBezTo>
                      <a:pt x="790" y="9"/>
                      <a:pt x="1018" y="237"/>
                      <a:pt x="1018" y="518"/>
                    </a:cubicBezTo>
                    <a:cubicBezTo>
                      <a:pt x="1018" y="706"/>
                      <a:pt x="916" y="869"/>
                      <a:pt x="765" y="958"/>
                    </a:cubicBezTo>
                    <a:close/>
                    <a:moveTo>
                      <a:pt x="1503" y="2012"/>
                    </a:moveTo>
                    <a:cubicBezTo>
                      <a:pt x="1503" y="3500"/>
                      <a:pt x="1503" y="3500"/>
                      <a:pt x="1503" y="3500"/>
                    </a:cubicBezTo>
                    <a:cubicBezTo>
                      <a:pt x="1503" y="3641"/>
                      <a:pt x="1618" y="3756"/>
                      <a:pt x="1759" y="3756"/>
                    </a:cubicBezTo>
                    <a:cubicBezTo>
                      <a:pt x="1759" y="3756"/>
                      <a:pt x="1759" y="3756"/>
                      <a:pt x="1759" y="3756"/>
                    </a:cubicBezTo>
                    <a:cubicBezTo>
                      <a:pt x="1900" y="3756"/>
                      <a:pt x="2015" y="3641"/>
                      <a:pt x="2015" y="3500"/>
                    </a:cubicBezTo>
                    <a:cubicBezTo>
                      <a:pt x="2015" y="2012"/>
                      <a:pt x="2015" y="2012"/>
                      <a:pt x="2015" y="2012"/>
                    </a:cubicBezTo>
                    <a:moveTo>
                      <a:pt x="509" y="0"/>
                    </a:moveTo>
                    <a:cubicBezTo>
                      <a:pt x="509" y="509"/>
                      <a:pt x="509" y="509"/>
                      <a:pt x="509" y="509"/>
                    </a:cubicBezTo>
                    <a:moveTo>
                      <a:pt x="1134" y="2012"/>
                    </a:moveTo>
                    <a:cubicBezTo>
                      <a:pt x="2384" y="2012"/>
                      <a:pt x="2384" y="2012"/>
                      <a:pt x="2384" y="2012"/>
                    </a:cubicBezTo>
                    <a:moveTo>
                      <a:pt x="1759" y="2012"/>
                    </a:moveTo>
                    <a:cubicBezTo>
                      <a:pt x="1759" y="711"/>
                      <a:pt x="1759" y="711"/>
                      <a:pt x="1759" y="711"/>
                    </a:cubicBezTo>
                    <a:moveTo>
                      <a:pt x="2015" y="9"/>
                    </a:moveTo>
                    <a:cubicBezTo>
                      <a:pt x="1503" y="9"/>
                      <a:pt x="1503" y="9"/>
                      <a:pt x="1503" y="9"/>
                    </a:cubicBezTo>
                    <a:cubicBezTo>
                      <a:pt x="1503" y="510"/>
                      <a:pt x="1503" y="510"/>
                      <a:pt x="1503" y="510"/>
                    </a:cubicBezTo>
                    <a:cubicBezTo>
                      <a:pt x="1759" y="756"/>
                      <a:pt x="1759" y="756"/>
                      <a:pt x="1759" y="756"/>
                    </a:cubicBezTo>
                    <a:cubicBezTo>
                      <a:pt x="2015" y="510"/>
                      <a:pt x="2015" y="510"/>
                      <a:pt x="2015" y="510"/>
                    </a:cubicBezTo>
                    <a:lnTo>
                      <a:pt x="2015" y="9"/>
                    </a:lnTo>
                    <a:close/>
                  </a:path>
                </a:pathLst>
              </a:custGeom>
              <a:noFill/>
              <a:ln w="9525" cap="flat">
                <a:solidFill>
                  <a:srgbClr val="0078D4"/>
                </a:solidFill>
                <a:prstDash val="solid"/>
                <a:miter lim="800000"/>
                <a:headEnd/>
                <a:tailEnd/>
              </a:ln>
            </p:spPr>
            <p:txBody>
              <a:bodyPr vert="horz" wrap="square" lIns="91440" tIns="45720" rIns="91440" bIns="45720"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endParaRPr lang="en-US"/>
              </a:p>
            </p:txBody>
          </p:sp>
          <p:pic>
            <p:nvPicPr>
              <p:cNvPr id="42" name="Graphic 41" descr="Scroll outline">
                <a:extLst>
                  <a:ext uri="{FF2B5EF4-FFF2-40B4-BE49-F238E27FC236}">
                    <a16:creationId xmlns:a16="http://schemas.microsoft.com/office/drawing/2014/main" id="{A89232F7-551E-4F8A-DB73-A9AEA1DDFA6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897047" y="3180687"/>
                <a:ext cx="453178" cy="453178"/>
              </a:xfrm>
              <a:prstGeom prst="rect">
                <a:avLst/>
              </a:prstGeom>
            </p:spPr>
          </p:pic>
          <p:grpSp>
            <p:nvGrpSpPr>
              <p:cNvPr id="44" name="Group 43">
                <a:extLst>
                  <a:ext uri="{FF2B5EF4-FFF2-40B4-BE49-F238E27FC236}">
                    <a16:creationId xmlns:a16="http://schemas.microsoft.com/office/drawing/2014/main" id="{971E9D9E-619D-97C6-9DD9-0245FF3E30CE}"/>
                  </a:ext>
                </a:extLst>
              </p:cNvPr>
              <p:cNvGrpSpPr/>
              <p:nvPr/>
            </p:nvGrpSpPr>
            <p:grpSpPr>
              <a:xfrm>
                <a:off x="9318218" y="3198282"/>
                <a:ext cx="468181" cy="416533"/>
                <a:chOff x="7442581" y="636204"/>
                <a:chExt cx="1736940" cy="1545326"/>
              </a:xfrm>
              <a:noFill/>
            </p:grpSpPr>
            <p:sp>
              <p:nvSpPr>
                <p:cNvPr id="45" name="Cube 44">
                  <a:extLst>
                    <a:ext uri="{FF2B5EF4-FFF2-40B4-BE49-F238E27FC236}">
                      <a16:creationId xmlns:a16="http://schemas.microsoft.com/office/drawing/2014/main" id="{0C95AF65-F0E1-A799-0D4E-D84947303F20}"/>
                    </a:ext>
                  </a:extLst>
                </p:cNvPr>
                <p:cNvSpPr/>
                <p:nvPr/>
              </p:nvSpPr>
              <p:spPr>
                <a:xfrm>
                  <a:off x="7583332" y="1318167"/>
                  <a:ext cx="845648" cy="813141"/>
                </a:xfrm>
                <a:prstGeom prst="cube">
                  <a:avLst>
                    <a:gd name="adj" fmla="val 29228"/>
                  </a:avLst>
                </a:prstGeom>
                <a:grp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solidFill>
                      <a:schemeClr val="tx2">
                        <a:lumMod val="50000"/>
                        <a:lumOff val="50000"/>
                      </a:schemeClr>
                    </a:solidFill>
                  </a:endParaRPr>
                </a:p>
              </p:txBody>
            </p:sp>
            <p:sp>
              <p:nvSpPr>
                <p:cNvPr id="46" name="TextBox 45">
                  <a:extLst>
                    <a:ext uri="{FF2B5EF4-FFF2-40B4-BE49-F238E27FC236}">
                      <a16:creationId xmlns:a16="http://schemas.microsoft.com/office/drawing/2014/main" id="{D351CD51-5E0A-B049-40F6-0FFE80B122A4}"/>
                    </a:ext>
                  </a:extLst>
                </p:cNvPr>
                <p:cNvSpPr txBox="1"/>
                <p:nvPr/>
              </p:nvSpPr>
              <p:spPr>
                <a:xfrm>
                  <a:off x="7442581" y="1413020"/>
                  <a:ext cx="826549" cy="768510"/>
                </a:xfrm>
                <a:prstGeom prst="rect">
                  <a:avLst/>
                </a:prstGeom>
                <a:grpFill/>
              </p:spPr>
              <p:txBody>
                <a:bodyPr wrap="none" rtlCol="0">
                  <a:spAutoFit/>
                </a:bodyPr>
                <a:lstStyle/>
                <a:p>
                  <a:r>
                    <a:rPr lang="en-US" sz="1000" dirty="0">
                      <a:solidFill>
                        <a:schemeClr val="tx2">
                          <a:lumMod val="50000"/>
                          <a:lumOff val="50000"/>
                        </a:schemeClr>
                      </a:solidFill>
                      <a:latin typeface="Comic Sans MS" panose="030F0702030302020204" pitchFamily="66" charset="0"/>
                    </a:rPr>
                    <a:t>B</a:t>
                  </a:r>
                </a:p>
              </p:txBody>
            </p:sp>
            <p:sp>
              <p:nvSpPr>
                <p:cNvPr id="47" name="Cube 46">
                  <a:extLst>
                    <a:ext uri="{FF2B5EF4-FFF2-40B4-BE49-F238E27FC236}">
                      <a16:creationId xmlns:a16="http://schemas.microsoft.com/office/drawing/2014/main" id="{7063F673-5604-7F66-0780-B2C11E885C06}"/>
                    </a:ext>
                  </a:extLst>
                </p:cNvPr>
                <p:cNvSpPr/>
                <p:nvPr/>
              </p:nvSpPr>
              <p:spPr>
                <a:xfrm>
                  <a:off x="8333873" y="1335162"/>
                  <a:ext cx="845648" cy="813141"/>
                </a:xfrm>
                <a:prstGeom prst="cube">
                  <a:avLst>
                    <a:gd name="adj" fmla="val 29228"/>
                  </a:avLst>
                </a:prstGeom>
                <a:grp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solidFill>
                      <a:schemeClr val="tx2">
                        <a:lumMod val="50000"/>
                        <a:lumOff val="50000"/>
                      </a:schemeClr>
                    </a:solidFill>
                  </a:endParaRPr>
                </a:p>
              </p:txBody>
            </p:sp>
            <p:sp>
              <p:nvSpPr>
                <p:cNvPr id="48" name="TextBox 47">
                  <a:extLst>
                    <a:ext uri="{FF2B5EF4-FFF2-40B4-BE49-F238E27FC236}">
                      <a16:creationId xmlns:a16="http://schemas.microsoft.com/office/drawing/2014/main" id="{B4C11667-0F83-28AE-C29F-3D9B2C82B878}"/>
                    </a:ext>
                  </a:extLst>
                </p:cNvPr>
                <p:cNvSpPr txBox="1"/>
                <p:nvPr/>
              </p:nvSpPr>
              <p:spPr>
                <a:xfrm>
                  <a:off x="8175732" y="1389462"/>
                  <a:ext cx="816540" cy="768510"/>
                </a:xfrm>
                <a:prstGeom prst="rect">
                  <a:avLst/>
                </a:prstGeom>
                <a:grpFill/>
              </p:spPr>
              <p:txBody>
                <a:bodyPr wrap="none" rtlCol="0">
                  <a:spAutoFit/>
                </a:bodyPr>
                <a:lstStyle/>
                <a:p>
                  <a:r>
                    <a:rPr lang="en-US" sz="1000" dirty="0">
                      <a:solidFill>
                        <a:schemeClr val="tx2">
                          <a:lumMod val="50000"/>
                          <a:lumOff val="50000"/>
                        </a:schemeClr>
                      </a:solidFill>
                      <a:latin typeface="Comic Sans MS" panose="030F0702030302020204" pitchFamily="66" charset="0"/>
                    </a:rPr>
                    <a:t>C</a:t>
                  </a:r>
                </a:p>
              </p:txBody>
            </p:sp>
            <p:sp>
              <p:nvSpPr>
                <p:cNvPr id="49" name="Cube 48">
                  <a:extLst>
                    <a:ext uri="{FF2B5EF4-FFF2-40B4-BE49-F238E27FC236}">
                      <a16:creationId xmlns:a16="http://schemas.microsoft.com/office/drawing/2014/main" id="{1A251399-1CCD-8503-197A-E5B5D0555F0E}"/>
                    </a:ext>
                  </a:extLst>
                </p:cNvPr>
                <p:cNvSpPr/>
                <p:nvPr/>
              </p:nvSpPr>
              <p:spPr>
                <a:xfrm>
                  <a:off x="7958603" y="636204"/>
                  <a:ext cx="845648" cy="813141"/>
                </a:xfrm>
                <a:prstGeom prst="cube">
                  <a:avLst>
                    <a:gd name="adj" fmla="val 29228"/>
                  </a:avLst>
                </a:prstGeom>
                <a:grp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solidFill>
                      <a:schemeClr val="tx2">
                        <a:lumMod val="50000"/>
                        <a:lumOff val="50000"/>
                      </a:schemeClr>
                    </a:solidFill>
                  </a:endParaRPr>
                </a:p>
              </p:txBody>
            </p:sp>
            <p:sp>
              <p:nvSpPr>
                <p:cNvPr id="50" name="TextBox 49">
                  <a:extLst>
                    <a:ext uri="{FF2B5EF4-FFF2-40B4-BE49-F238E27FC236}">
                      <a16:creationId xmlns:a16="http://schemas.microsoft.com/office/drawing/2014/main" id="{7269E385-8C44-D533-34C8-5FBB6BB6F28A}"/>
                    </a:ext>
                  </a:extLst>
                </p:cNvPr>
                <p:cNvSpPr txBox="1"/>
                <p:nvPr/>
              </p:nvSpPr>
              <p:spPr>
                <a:xfrm>
                  <a:off x="7738752" y="644514"/>
                  <a:ext cx="871581" cy="768510"/>
                </a:xfrm>
                <a:prstGeom prst="rect">
                  <a:avLst/>
                </a:prstGeom>
                <a:grpFill/>
              </p:spPr>
              <p:txBody>
                <a:bodyPr wrap="none" rtlCol="0">
                  <a:spAutoFit/>
                </a:bodyPr>
                <a:lstStyle/>
                <a:p>
                  <a:r>
                    <a:rPr lang="en-US" sz="1000" dirty="0">
                      <a:solidFill>
                        <a:schemeClr val="tx2">
                          <a:lumMod val="50000"/>
                          <a:lumOff val="50000"/>
                        </a:schemeClr>
                      </a:solidFill>
                      <a:latin typeface="Comic Sans MS" panose="030F0702030302020204" pitchFamily="66" charset="0"/>
                    </a:rPr>
                    <a:t>A</a:t>
                  </a:r>
                </a:p>
              </p:txBody>
            </p:sp>
          </p:grpSp>
          <p:sp>
            <p:nvSpPr>
              <p:cNvPr id="55" name="Freeform: Shape 54">
                <a:extLst>
                  <a:ext uri="{FF2B5EF4-FFF2-40B4-BE49-F238E27FC236}">
                    <a16:creationId xmlns:a16="http://schemas.microsoft.com/office/drawing/2014/main" id="{B1245B58-F89A-9D48-2E9A-C84457D20AB2}"/>
                  </a:ext>
                </a:extLst>
              </p:cNvPr>
              <p:cNvSpPr/>
              <p:nvPr/>
            </p:nvSpPr>
            <p:spPr bwMode="auto">
              <a:xfrm rot="16473755">
                <a:off x="8903599" y="3606825"/>
                <a:ext cx="290127" cy="1442161"/>
              </a:xfrm>
              <a:custGeom>
                <a:avLst/>
                <a:gdLst>
                  <a:gd name="connsiteX0" fmla="*/ 68632 w 274372"/>
                  <a:gd name="connsiteY0" fmla="*/ 0 h 1548949"/>
                  <a:gd name="connsiteX1" fmla="*/ 213412 w 274372"/>
                  <a:gd name="connsiteY1" fmla="*/ 289560 h 1548949"/>
                  <a:gd name="connsiteX2" fmla="*/ 52 w 274372"/>
                  <a:gd name="connsiteY2" fmla="*/ 548640 h 1548949"/>
                  <a:gd name="connsiteX3" fmla="*/ 236272 w 274372"/>
                  <a:gd name="connsiteY3" fmla="*/ 906780 h 1548949"/>
                  <a:gd name="connsiteX4" fmla="*/ 53392 w 274372"/>
                  <a:gd name="connsiteY4" fmla="*/ 1257300 h 1548949"/>
                  <a:gd name="connsiteX5" fmla="*/ 251512 w 274372"/>
                  <a:gd name="connsiteY5" fmla="*/ 1524000 h 1548949"/>
                  <a:gd name="connsiteX6" fmla="*/ 251512 w 274372"/>
                  <a:gd name="connsiteY6" fmla="*/ 1539240 h 1548949"/>
                  <a:gd name="connsiteX7" fmla="*/ 274372 w 274372"/>
                  <a:gd name="connsiteY7" fmla="*/ 1539240 h 1548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372" h="1548949">
                    <a:moveTo>
                      <a:pt x="68632" y="0"/>
                    </a:moveTo>
                    <a:cubicBezTo>
                      <a:pt x="146737" y="99060"/>
                      <a:pt x="224842" y="198120"/>
                      <a:pt x="213412" y="289560"/>
                    </a:cubicBezTo>
                    <a:cubicBezTo>
                      <a:pt x="201982" y="381000"/>
                      <a:pt x="-3758" y="445770"/>
                      <a:pt x="52" y="548640"/>
                    </a:cubicBezTo>
                    <a:cubicBezTo>
                      <a:pt x="3862" y="651510"/>
                      <a:pt x="227382" y="788670"/>
                      <a:pt x="236272" y="906780"/>
                    </a:cubicBezTo>
                    <a:cubicBezTo>
                      <a:pt x="245162" y="1024890"/>
                      <a:pt x="50852" y="1154430"/>
                      <a:pt x="53392" y="1257300"/>
                    </a:cubicBezTo>
                    <a:cubicBezTo>
                      <a:pt x="55932" y="1360170"/>
                      <a:pt x="251512" y="1524000"/>
                      <a:pt x="251512" y="1524000"/>
                    </a:cubicBezTo>
                    <a:cubicBezTo>
                      <a:pt x="284532" y="1570990"/>
                      <a:pt x="247702" y="1536700"/>
                      <a:pt x="251512" y="1539240"/>
                    </a:cubicBezTo>
                    <a:cubicBezTo>
                      <a:pt x="255322" y="1541780"/>
                      <a:pt x="264847" y="1540510"/>
                      <a:pt x="274372" y="1539240"/>
                    </a:cubicBezTo>
                  </a:path>
                </a:pathLst>
              </a:cu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2AF1D56B-A16B-3BF0-4299-9F58EF814A5C}"/>
                  </a:ext>
                </a:extLst>
              </p:cNvPr>
              <p:cNvCxnSpPr>
                <a:cxnSpLocks/>
                <a:stCxn id="5" idx="2"/>
                <a:endCxn id="55" idx="1"/>
              </p:cNvCxnSpPr>
              <p:nvPr/>
            </p:nvCxnSpPr>
            <p:spPr>
              <a:xfrm>
                <a:off x="8596851" y="3716030"/>
                <a:ext cx="8171" cy="495613"/>
              </a:xfrm>
              <a:prstGeom prst="line">
                <a:avLst/>
              </a:prstGeom>
              <a:ln w="9525">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59" name="Graphic 58" descr="Chat with solid fill">
                <a:extLst>
                  <a:ext uri="{FF2B5EF4-FFF2-40B4-BE49-F238E27FC236}">
                    <a16:creationId xmlns:a16="http://schemas.microsoft.com/office/drawing/2014/main" id="{8481CD97-5DCB-BF7B-43E6-078D5FBCD27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072327" y="4859971"/>
                <a:ext cx="651443" cy="651443"/>
              </a:xfrm>
              <a:prstGeom prst="rect">
                <a:avLst/>
              </a:prstGeom>
            </p:spPr>
          </p:pic>
          <p:pic>
            <p:nvPicPr>
              <p:cNvPr id="61" name="Graphic 60" descr="Speech with solid fill">
                <a:extLst>
                  <a:ext uri="{FF2B5EF4-FFF2-40B4-BE49-F238E27FC236}">
                    <a16:creationId xmlns:a16="http://schemas.microsoft.com/office/drawing/2014/main" id="{27CC1004-600B-9506-0B39-5F607B47B86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flipH="1">
                <a:off x="8259277" y="4822651"/>
                <a:ext cx="651444" cy="651444"/>
              </a:xfrm>
              <a:prstGeom prst="rect">
                <a:avLst/>
              </a:prstGeom>
            </p:spPr>
          </p:pic>
          <p:cxnSp>
            <p:nvCxnSpPr>
              <p:cNvPr id="62" name="Straight Connector 61">
                <a:extLst>
                  <a:ext uri="{FF2B5EF4-FFF2-40B4-BE49-F238E27FC236}">
                    <a16:creationId xmlns:a16="http://schemas.microsoft.com/office/drawing/2014/main" id="{160D2DA6-3404-B7D2-8555-4D163843D62A}"/>
                  </a:ext>
                </a:extLst>
              </p:cNvPr>
              <p:cNvCxnSpPr>
                <a:cxnSpLocks/>
                <a:stCxn id="55" idx="1"/>
              </p:cNvCxnSpPr>
              <p:nvPr/>
            </p:nvCxnSpPr>
            <p:spPr>
              <a:xfrm flipH="1">
                <a:off x="8596851" y="4211643"/>
                <a:ext cx="8171" cy="675147"/>
              </a:xfrm>
              <a:prstGeom prst="line">
                <a:avLst/>
              </a:prstGeom>
              <a:ln w="9525">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CDBD437-D463-24BB-54DD-92F47D046191}"/>
                  </a:ext>
                </a:extLst>
              </p:cNvPr>
              <p:cNvCxnSpPr>
                <a:cxnSpLocks/>
                <a:endCxn id="55" idx="4"/>
              </p:cNvCxnSpPr>
              <p:nvPr/>
            </p:nvCxnSpPr>
            <p:spPr>
              <a:xfrm flipH="1" flipV="1">
                <a:off x="9489728" y="4451990"/>
                <a:ext cx="7980" cy="623802"/>
              </a:xfrm>
              <a:prstGeom prst="line">
                <a:avLst/>
              </a:prstGeom>
              <a:ln w="9525">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73" name="Graphic 72" descr="Badge 5 with solid fill">
                <a:extLst>
                  <a:ext uri="{FF2B5EF4-FFF2-40B4-BE49-F238E27FC236}">
                    <a16:creationId xmlns:a16="http://schemas.microsoft.com/office/drawing/2014/main" id="{DD0F9995-5583-D043-BD54-787C533BBE2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093779" y="4585176"/>
                <a:ext cx="403929" cy="403929"/>
              </a:xfrm>
              <a:prstGeom prst="rect">
                <a:avLst/>
              </a:prstGeom>
            </p:spPr>
          </p:pic>
          <p:cxnSp>
            <p:nvCxnSpPr>
              <p:cNvPr id="75" name="Connector: Elbow 74">
                <a:extLst>
                  <a:ext uri="{FF2B5EF4-FFF2-40B4-BE49-F238E27FC236}">
                    <a16:creationId xmlns:a16="http://schemas.microsoft.com/office/drawing/2014/main" id="{587102FC-3C87-CE91-F3C8-366F754C3069}"/>
                  </a:ext>
                </a:extLst>
              </p:cNvPr>
              <p:cNvCxnSpPr>
                <a:cxnSpLocks/>
                <a:stCxn id="59" idx="3"/>
              </p:cNvCxnSpPr>
              <p:nvPr/>
            </p:nvCxnSpPr>
            <p:spPr>
              <a:xfrm flipH="1">
                <a:off x="8438508" y="5185693"/>
                <a:ext cx="1285262" cy="288402"/>
              </a:xfrm>
              <a:prstGeom prst="bentConnector5">
                <a:avLst>
                  <a:gd name="adj1" fmla="val -17786"/>
                  <a:gd name="adj2" fmla="val 192205"/>
                  <a:gd name="adj3" fmla="val 100244"/>
                </a:avLst>
              </a:prstGeom>
              <a:ln w="127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79" name="Graphic 78" descr="Badge 6 with solid fill">
                <a:extLst>
                  <a:ext uri="{FF2B5EF4-FFF2-40B4-BE49-F238E27FC236}">
                    <a16:creationId xmlns:a16="http://schemas.microsoft.com/office/drawing/2014/main" id="{31921C64-D144-45B2-26C3-7E7B7158547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817186" y="5433207"/>
                <a:ext cx="403929" cy="403929"/>
              </a:xfrm>
              <a:prstGeom prst="rect">
                <a:avLst/>
              </a:prstGeom>
            </p:spPr>
          </p:pic>
          <p:sp>
            <p:nvSpPr>
              <p:cNvPr id="80" name="Hexagon 79">
                <a:extLst>
                  <a:ext uri="{FF2B5EF4-FFF2-40B4-BE49-F238E27FC236}">
                    <a16:creationId xmlns:a16="http://schemas.microsoft.com/office/drawing/2014/main" id="{4665F1B8-FE9D-F603-EE7A-B0608B0AFAE0}"/>
                  </a:ext>
                </a:extLst>
              </p:cNvPr>
              <p:cNvSpPr/>
              <p:nvPr/>
            </p:nvSpPr>
            <p:spPr bwMode="auto">
              <a:xfrm>
                <a:off x="10433447" y="5296495"/>
                <a:ext cx="228872" cy="197303"/>
              </a:xfrm>
              <a:prstGeom prst="hexagon">
                <a:avLst/>
              </a:prstGeom>
              <a:noFill/>
              <a:ln w="28575">
                <a:solidFill>
                  <a:srgbClr val="D59ED7"/>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1" name="Freeform: Shape 80">
                <a:extLst>
                  <a:ext uri="{FF2B5EF4-FFF2-40B4-BE49-F238E27FC236}">
                    <a16:creationId xmlns:a16="http://schemas.microsoft.com/office/drawing/2014/main" id="{0A48706C-CE54-6E37-BC0C-EE0BB708D128}"/>
                  </a:ext>
                </a:extLst>
              </p:cNvPr>
              <p:cNvSpPr/>
              <p:nvPr/>
            </p:nvSpPr>
            <p:spPr bwMode="auto">
              <a:xfrm>
                <a:off x="10397921" y="5633464"/>
                <a:ext cx="327660" cy="99073"/>
              </a:xfrm>
              <a:custGeom>
                <a:avLst/>
                <a:gdLst>
                  <a:gd name="connsiteX0" fmla="*/ 0 w 327660"/>
                  <a:gd name="connsiteY0" fmla="*/ 60960 h 99073"/>
                  <a:gd name="connsiteX1" fmla="*/ 91440 w 327660"/>
                  <a:gd name="connsiteY1" fmla="*/ 7620 h 99073"/>
                  <a:gd name="connsiteX2" fmla="*/ 213360 w 327660"/>
                  <a:gd name="connsiteY2" fmla="*/ 99060 h 99073"/>
                  <a:gd name="connsiteX3" fmla="*/ 327660 w 327660"/>
                  <a:gd name="connsiteY3" fmla="*/ 0 h 99073"/>
                </a:gdLst>
                <a:ahLst/>
                <a:cxnLst>
                  <a:cxn ang="0">
                    <a:pos x="connsiteX0" y="connsiteY0"/>
                  </a:cxn>
                  <a:cxn ang="0">
                    <a:pos x="connsiteX1" y="connsiteY1"/>
                  </a:cxn>
                  <a:cxn ang="0">
                    <a:pos x="connsiteX2" y="connsiteY2"/>
                  </a:cxn>
                  <a:cxn ang="0">
                    <a:pos x="connsiteX3" y="connsiteY3"/>
                  </a:cxn>
                </a:cxnLst>
                <a:rect l="l" t="t" r="r" b="b"/>
                <a:pathLst>
                  <a:path w="327660" h="99073">
                    <a:moveTo>
                      <a:pt x="0" y="60960"/>
                    </a:moveTo>
                    <a:cubicBezTo>
                      <a:pt x="27940" y="31115"/>
                      <a:pt x="55880" y="1270"/>
                      <a:pt x="91440" y="7620"/>
                    </a:cubicBezTo>
                    <a:cubicBezTo>
                      <a:pt x="127000" y="13970"/>
                      <a:pt x="173990" y="100330"/>
                      <a:pt x="213360" y="99060"/>
                    </a:cubicBezTo>
                    <a:cubicBezTo>
                      <a:pt x="252730" y="97790"/>
                      <a:pt x="290195" y="48895"/>
                      <a:pt x="327660" y="0"/>
                    </a:cubicBezTo>
                  </a:path>
                </a:pathLst>
              </a:custGeom>
              <a:noFill/>
              <a:ln w="28575">
                <a:solidFill>
                  <a:srgbClr val="D59ED7"/>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pic>
            <p:nvPicPr>
              <p:cNvPr id="21" name="Graphic 20" descr="Badge 4 with solid fill">
                <a:extLst>
                  <a:ext uri="{FF2B5EF4-FFF2-40B4-BE49-F238E27FC236}">
                    <a16:creationId xmlns:a16="http://schemas.microsoft.com/office/drawing/2014/main" id="{FAA0C7F6-840D-937E-22A8-9C05C69F8F8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127731" y="4671863"/>
                <a:ext cx="403929" cy="403929"/>
              </a:xfrm>
              <a:prstGeom prst="rect">
                <a:avLst/>
              </a:prstGeom>
            </p:spPr>
          </p:pic>
          <p:sp>
            <p:nvSpPr>
              <p:cNvPr id="84" name="Right Brace 83">
                <a:extLst>
                  <a:ext uri="{FF2B5EF4-FFF2-40B4-BE49-F238E27FC236}">
                    <a16:creationId xmlns:a16="http://schemas.microsoft.com/office/drawing/2014/main" id="{901DA3F9-CC14-459E-D7D0-07E45BA2D57C}"/>
                  </a:ext>
                </a:extLst>
              </p:cNvPr>
              <p:cNvSpPr/>
              <p:nvPr/>
            </p:nvSpPr>
            <p:spPr>
              <a:xfrm>
                <a:off x="10113360" y="5183105"/>
                <a:ext cx="228871" cy="539515"/>
              </a:xfrm>
              <a:prstGeom prst="rightBrace">
                <a:avLst/>
              </a:prstGeom>
              <a:ln w="12700">
                <a:solidFill>
                  <a:schemeClr val="tx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F45C1BB7-10B4-9F6A-A57A-E59548E80A15}"/>
                  </a:ext>
                </a:extLst>
              </p:cNvPr>
              <p:cNvSpPr txBox="1"/>
              <p:nvPr/>
            </p:nvSpPr>
            <p:spPr>
              <a:xfrm>
                <a:off x="7735526" y="2717977"/>
                <a:ext cx="4187044" cy="184666"/>
              </a:xfrm>
              <a:prstGeom prst="rect">
                <a:avLst/>
              </a:prstGeom>
              <a:solidFill>
                <a:schemeClr val="bg1">
                  <a:lumMod val="95000"/>
                </a:schemeClr>
              </a:solidFill>
            </p:spPr>
            <p:txBody>
              <a:bodyPr wrap="none" lIns="0" tIns="0" rIns="0" bIns="0" rtlCol="0">
                <a:spAutoFit/>
              </a:bodyPr>
              <a:lstStyle/>
              <a:p>
                <a:r>
                  <a:rPr lang="en-US" sz="1200" dirty="0"/>
                  <a:t>&lt;name&gt;.services.ai.azure.com/</a:t>
                </a:r>
                <a:r>
                  <a:rPr lang="en-US" sz="1200" dirty="0" err="1"/>
                  <a:t>api</a:t>
                </a:r>
                <a:r>
                  <a:rPr lang="en-US" sz="1200" dirty="0"/>
                  <a:t>/projects/&lt;</a:t>
                </a:r>
                <a:r>
                  <a:rPr lang="en-US" sz="1200" dirty="0" err="1"/>
                  <a:t>project_name</a:t>
                </a:r>
                <a:r>
                  <a:rPr lang="en-US" sz="1200" dirty="0"/>
                  <a:t>&gt;…</a:t>
                </a:r>
              </a:p>
            </p:txBody>
          </p:sp>
        </p:grpSp>
      </p:grpSp>
      <p:sp>
        <p:nvSpPr>
          <p:cNvPr id="3" name="Footer Placeholder 2">
            <a:extLst>
              <a:ext uri="{FF2B5EF4-FFF2-40B4-BE49-F238E27FC236}">
                <a16:creationId xmlns:a16="http://schemas.microsoft.com/office/drawing/2014/main" id="{361B3510-03B3-ECDF-86B3-EE552C94607D}"/>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9" name="TextBox 8">
            <a:extLst>
              <a:ext uri="{FF2B5EF4-FFF2-40B4-BE49-F238E27FC236}">
                <a16:creationId xmlns:a16="http://schemas.microsoft.com/office/drawing/2014/main" id="{CF52C455-8F54-B694-D23D-9B028EDFB77F}"/>
              </a:ext>
              <a:ext uri="{C183D7F6-B498-43B3-948B-1728B52AA6E4}">
                <adec:decorative xmlns:adec="http://schemas.microsoft.com/office/drawing/2017/decorative" val="1"/>
              </a:ext>
            </a:extLst>
          </p:cNvPr>
          <p:cNvSpPr txBox="1"/>
          <p:nvPr/>
        </p:nvSpPr>
        <p:spPr>
          <a:xfrm>
            <a:off x="8763637" y="1645406"/>
            <a:ext cx="869341" cy="246221"/>
          </a:xfrm>
          <a:prstGeom prst="rect">
            <a:avLst/>
          </a:prstGeom>
          <a:noFill/>
        </p:spPr>
        <p:txBody>
          <a:bodyPr wrap="none" lIns="0" tIns="0" rIns="0" bIns="0" rtlCol="0">
            <a:spAutoFit/>
          </a:bodyPr>
          <a:lstStyle/>
          <a:p>
            <a:pPr algn="l"/>
            <a:r>
              <a:rPr lang="en-US" sz="1600" dirty="0"/>
              <a:t>AI Project</a:t>
            </a:r>
          </a:p>
        </p:txBody>
      </p:sp>
    </p:spTree>
    <p:extLst>
      <p:ext uri="{BB962C8B-B14F-4D97-AF65-F5344CB8AC3E}">
        <p14:creationId xmlns:p14="http://schemas.microsoft.com/office/powerpoint/2010/main" val="338566590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54A29-F396-87E2-FE3C-106516B1CAAE}"/>
              </a:ext>
            </a:extLst>
          </p:cNvPr>
          <p:cNvSpPr>
            <a:spLocks noGrp="1"/>
          </p:cNvSpPr>
          <p:nvPr>
            <p:ph type="title"/>
          </p:nvPr>
        </p:nvSpPr>
        <p:spPr>
          <a:xfrm>
            <a:off x="588262" y="585216"/>
            <a:ext cx="8193024" cy="492443"/>
          </a:xfrm>
        </p:spPr>
        <p:txBody>
          <a:bodyPr/>
          <a:lstStyle/>
          <a:p>
            <a:r>
              <a:rPr lang="en-US" sz="3200" dirty="0"/>
              <a:t>Using tools with your agent</a:t>
            </a:r>
          </a:p>
        </p:txBody>
      </p:sp>
      <p:sp>
        <p:nvSpPr>
          <p:cNvPr id="4" name="Rectangle 3">
            <a:extLst>
              <a:ext uri="{FF2B5EF4-FFF2-40B4-BE49-F238E27FC236}">
                <a16:creationId xmlns:a16="http://schemas.microsoft.com/office/drawing/2014/main" id="{39E984EC-C282-AE61-5B38-CD03957AA06A}"/>
              </a:ext>
              <a:ext uri="{C183D7F6-B498-43B3-948B-1728B52AA6E4}">
                <adec:decorative xmlns:adec="http://schemas.microsoft.com/office/drawing/2017/decorative" val="1"/>
              </a:ext>
            </a:extLst>
          </p:cNvPr>
          <p:cNvSpPr/>
          <p:nvPr/>
        </p:nvSpPr>
        <p:spPr bwMode="auto">
          <a:xfrm>
            <a:off x="830580" y="1737360"/>
            <a:ext cx="4907280" cy="41605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a:extLst>
              <a:ext uri="{FF2B5EF4-FFF2-40B4-BE49-F238E27FC236}">
                <a16:creationId xmlns:a16="http://schemas.microsoft.com/office/drawing/2014/main" id="{BFDA6BB6-BCE4-701F-A2A5-1BD5DB75AD80}"/>
              </a:ext>
              <a:ext uri="{C183D7F6-B498-43B3-948B-1728B52AA6E4}">
                <adec:decorative xmlns:adec="http://schemas.microsoft.com/office/drawing/2017/decorative" val="1"/>
              </a:ext>
            </a:extLst>
          </p:cNvPr>
          <p:cNvSpPr/>
          <p:nvPr/>
        </p:nvSpPr>
        <p:spPr bwMode="auto">
          <a:xfrm>
            <a:off x="6454142" y="1737360"/>
            <a:ext cx="4907280" cy="41605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 name="Graphic 6">
            <a:extLst>
              <a:ext uri="{FF2B5EF4-FFF2-40B4-BE49-F238E27FC236}">
                <a16:creationId xmlns:a16="http://schemas.microsoft.com/office/drawing/2014/main" id="{8592320B-2763-43F8-3ACB-98A545A93FA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54142" y="1737360"/>
            <a:ext cx="914400" cy="914400"/>
          </a:xfrm>
          <a:prstGeom prst="rect">
            <a:avLst/>
          </a:prstGeom>
        </p:spPr>
      </p:pic>
      <p:pic>
        <p:nvPicPr>
          <p:cNvPr id="9" name="Graphic 8">
            <a:extLst>
              <a:ext uri="{FF2B5EF4-FFF2-40B4-BE49-F238E27FC236}">
                <a16:creationId xmlns:a16="http://schemas.microsoft.com/office/drawing/2014/main" id="{482AD570-4744-5640-44E2-5DD3BAD3399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0578" y="1674000"/>
            <a:ext cx="914400" cy="914400"/>
          </a:xfrm>
          <a:prstGeom prst="rect">
            <a:avLst/>
          </a:prstGeom>
        </p:spPr>
      </p:pic>
      <p:sp>
        <p:nvSpPr>
          <p:cNvPr id="10" name="TextBox 9">
            <a:extLst>
              <a:ext uri="{FF2B5EF4-FFF2-40B4-BE49-F238E27FC236}">
                <a16:creationId xmlns:a16="http://schemas.microsoft.com/office/drawing/2014/main" id="{AE312B10-AD19-F6E8-FD8D-E7E00520B528}"/>
              </a:ext>
            </a:extLst>
          </p:cNvPr>
          <p:cNvSpPr txBox="1"/>
          <p:nvPr/>
        </p:nvSpPr>
        <p:spPr>
          <a:xfrm>
            <a:off x="1836420" y="1917561"/>
            <a:ext cx="1949380" cy="307777"/>
          </a:xfrm>
          <a:prstGeom prst="rect">
            <a:avLst/>
          </a:prstGeom>
          <a:noFill/>
        </p:spPr>
        <p:txBody>
          <a:bodyPr wrap="none" lIns="0" tIns="0" rIns="0" bIns="0" rtlCol="0">
            <a:spAutoFit/>
          </a:bodyPr>
          <a:lstStyle/>
          <a:p>
            <a:pPr algn="l"/>
            <a:r>
              <a:rPr lang="en-US" sz="2000" dirty="0">
                <a:latin typeface="+mj-lt"/>
              </a:rPr>
              <a:t>Knowledge tools</a:t>
            </a:r>
          </a:p>
        </p:txBody>
      </p:sp>
      <p:sp>
        <p:nvSpPr>
          <p:cNvPr id="12" name="TextBox 11">
            <a:extLst>
              <a:ext uri="{FF2B5EF4-FFF2-40B4-BE49-F238E27FC236}">
                <a16:creationId xmlns:a16="http://schemas.microsoft.com/office/drawing/2014/main" id="{07A259B5-DFEC-483D-5E38-11CF4440C9E8}"/>
              </a:ext>
            </a:extLst>
          </p:cNvPr>
          <p:cNvSpPr txBox="1"/>
          <p:nvPr/>
        </p:nvSpPr>
        <p:spPr>
          <a:xfrm>
            <a:off x="998220" y="2737687"/>
            <a:ext cx="4579620" cy="3339376"/>
          </a:xfrm>
          <a:prstGeom prst="rect">
            <a:avLst/>
          </a:prstGeom>
          <a:noFill/>
        </p:spPr>
        <p:txBody>
          <a:bodyPr wrap="square" lIns="0" tIns="0" rIns="0" bIns="0" rtlCol="0">
            <a:spAutoFit/>
          </a:bodyPr>
          <a:lstStyle/>
          <a:p>
            <a:pPr marL="174625" indent="-174625" algn="l">
              <a:spcBef>
                <a:spcPts val="600"/>
              </a:spcBef>
              <a:buFont typeface="Arial" panose="020B0604020202020204" pitchFamily="34" charset="0"/>
              <a:buChar char="•"/>
            </a:pPr>
            <a:r>
              <a:rPr lang="en-US" sz="1600" b="1" dirty="0"/>
              <a:t>Bing Search</a:t>
            </a:r>
            <a:r>
              <a:rPr lang="en-US" sz="1600" dirty="0"/>
              <a:t>: Uses Bing search results to ground prompts with real-time live data from the web</a:t>
            </a:r>
          </a:p>
          <a:p>
            <a:pPr marL="174625" indent="-174625" algn="l">
              <a:spcBef>
                <a:spcPts val="600"/>
              </a:spcBef>
              <a:buFont typeface="Arial" panose="020B0604020202020204" pitchFamily="34" charset="0"/>
              <a:buChar char="•"/>
            </a:pPr>
            <a:r>
              <a:rPr lang="en-US" sz="1600" b="1" dirty="0"/>
              <a:t>File search</a:t>
            </a:r>
            <a:r>
              <a:rPr lang="en-US" sz="1600" dirty="0"/>
              <a:t>: Grounds prompts with data from files in a vector store</a:t>
            </a:r>
          </a:p>
          <a:p>
            <a:pPr marL="174625" indent="-174625" algn="l">
              <a:spcBef>
                <a:spcPts val="600"/>
              </a:spcBef>
              <a:buFont typeface="Arial" panose="020B0604020202020204" pitchFamily="34" charset="0"/>
              <a:buChar char="•"/>
            </a:pPr>
            <a:r>
              <a:rPr lang="en-US" sz="1600" b="1" dirty="0"/>
              <a:t>Azure AI Search</a:t>
            </a:r>
            <a:r>
              <a:rPr lang="en-US" sz="1600" dirty="0"/>
              <a:t>: Grounds prompts with data from Azure AI Search query results</a:t>
            </a:r>
          </a:p>
          <a:p>
            <a:pPr marL="174625" indent="-174625" algn="l">
              <a:spcBef>
                <a:spcPts val="600"/>
              </a:spcBef>
              <a:buFont typeface="Arial" panose="020B0604020202020204" pitchFamily="34" charset="0"/>
              <a:buChar char="•"/>
            </a:pPr>
            <a:r>
              <a:rPr lang="en-US" sz="1600" b="1" dirty="0"/>
              <a:t>Microsoft Fabric</a:t>
            </a:r>
            <a:r>
              <a:rPr lang="en-US" sz="1600" dirty="0"/>
              <a:t>: Uses the Fabric Data Agent to ground prompts with data from your Fabric data stores</a:t>
            </a:r>
          </a:p>
          <a:p>
            <a:pPr marL="174625" indent="-174625">
              <a:spcBef>
                <a:spcPts val="600"/>
              </a:spcBef>
              <a:buFont typeface="Arial" panose="020B0604020202020204" pitchFamily="34" charset="0"/>
              <a:buChar char="•"/>
            </a:pPr>
            <a:r>
              <a:rPr lang="en-US" sz="1600" b="1" dirty="0"/>
              <a:t>Licensed data</a:t>
            </a:r>
            <a:r>
              <a:rPr lang="en-US" sz="1600" dirty="0"/>
              <a:t>: Integrate third-party licensed data by using the </a:t>
            </a:r>
            <a:r>
              <a:rPr lang="en-US" sz="1600" dirty="0" err="1"/>
              <a:t>OpenAPI</a:t>
            </a:r>
            <a:r>
              <a:rPr lang="en-US" sz="1600" dirty="0"/>
              <a:t> Spec action tool</a:t>
            </a:r>
            <a:endParaRPr lang="en-US" sz="1600" b="1" dirty="0"/>
          </a:p>
          <a:p>
            <a:pPr algn="l">
              <a:spcBef>
                <a:spcPts val="600"/>
              </a:spcBef>
            </a:pPr>
            <a:endParaRPr lang="en-US" sz="1600" dirty="0"/>
          </a:p>
        </p:txBody>
      </p:sp>
      <p:sp>
        <p:nvSpPr>
          <p:cNvPr id="11" name="TextBox 10">
            <a:extLst>
              <a:ext uri="{FF2B5EF4-FFF2-40B4-BE49-F238E27FC236}">
                <a16:creationId xmlns:a16="http://schemas.microsoft.com/office/drawing/2014/main" id="{49BE9BCA-7BF4-ED66-D9B7-3B92ABAE120F}"/>
              </a:ext>
            </a:extLst>
          </p:cNvPr>
          <p:cNvSpPr txBox="1"/>
          <p:nvPr/>
        </p:nvSpPr>
        <p:spPr>
          <a:xfrm>
            <a:off x="7365470" y="1917561"/>
            <a:ext cx="1402756" cy="307777"/>
          </a:xfrm>
          <a:prstGeom prst="rect">
            <a:avLst/>
          </a:prstGeom>
          <a:noFill/>
        </p:spPr>
        <p:txBody>
          <a:bodyPr wrap="none" lIns="0" tIns="0" rIns="0" bIns="0" rtlCol="0">
            <a:spAutoFit/>
          </a:bodyPr>
          <a:lstStyle/>
          <a:p>
            <a:pPr algn="l"/>
            <a:r>
              <a:rPr lang="en-US" sz="2000" dirty="0">
                <a:latin typeface="+mj-lt"/>
              </a:rPr>
              <a:t>Action tools</a:t>
            </a:r>
          </a:p>
        </p:txBody>
      </p:sp>
      <p:sp>
        <p:nvSpPr>
          <p:cNvPr id="13" name="TextBox 12">
            <a:extLst>
              <a:ext uri="{FF2B5EF4-FFF2-40B4-BE49-F238E27FC236}">
                <a16:creationId xmlns:a16="http://schemas.microsoft.com/office/drawing/2014/main" id="{636142FC-3F58-04E7-6934-E58B6CC78DC5}"/>
              </a:ext>
            </a:extLst>
          </p:cNvPr>
          <p:cNvSpPr txBox="1"/>
          <p:nvPr/>
        </p:nvSpPr>
        <p:spPr>
          <a:xfrm>
            <a:off x="6617972" y="2737687"/>
            <a:ext cx="4579620" cy="2693045"/>
          </a:xfrm>
          <a:prstGeom prst="rect">
            <a:avLst/>
          </a:prstGeom>
          <a:noFill/>
        </p:spPr>
        <p:txBody>
          <a:bodyPr wrap="square" lIns="0" tIns="0" rIns="0" bIns="0" rtlCol="0">
            <a:spAutoFit/>
          </a:bodyPr>
          <a:lstStyle/>
          <a:p>
            <a:pPr marL="174625" indent="-174625" algn="l">
              <a:spcBef>
                <a:spcPts val="600"/>
              </a:spcBef>
              <a:buFont typeface="Arial" panose="020B0604020202020204" pitchFamily="34" charset="0"/>
              <a:buChar char="•"/>
            </a:pPr>
            <a:r>
              <a:rPr lang="en-US" sz="1600" b="1" dirty="0"/>
              <a:t>Code Interpreter</a:t>
            </a:r>
            <a:r>
              <a:rPr lang="en-US" sz="1600" dirty="0"/>
              <a:t>: Sandbox for model-generated Python code that can access and process uploaded files</a:t>
            </a:r>
          </a:p>
          <a:p>
            <a:pPr marL="174625" indent="-174625" algn="l">
              <a:spcBef>
                <a:spcPts val="600"/>
              </a:spcBef>
              <a:buFont typeface="Arial" panose="020B0604020202020204" pitchFamily="34" charset="0"/>
              <a:buChar char="•"/>
            </a:pPr>
            <a:r>
              <a:rPr lang="en-US" sz="1600" b="1" dirty="0"/>
              <a:t>Function</a:t>
            </a:r>
            <a:r>
              <a:rPr lang="en-US" sz="1600" dirty="0"/>
              <a:t>: Calls your custom function code – you must provide function definitions and implementations</a:t>
            </a:r>
          </a:p>
          <a:p>
            <a:pPr marL="174625" indent="-174625" algn="l">
              <a:spcBef>
                <a:spcPts val="600"/>
              </a:spcBef>
              <a:buFont typeface="Arial" panose="020B0604020202020204" pitchFamily="34" charset="0"/>
              <a:buChar char="•"/>
            </a:pPr>
            <a:r>
              <a:rPr lang="en-US" sz="1600" b="1" dirty="0"/>
              <a:t>Azure Function</a:t>
            </a:r>
            <a:r>
              <a:rPr lang="en-US" sz="1600" dirty="0"/>
              <a:t>: Calls code in serverless Azure Functions</a:t>
            </a:r>
          </a:p>
          <a:p>
            <a:pPr marL="174625" indent="-174625" algn="l">
              <a:spcBef>
                <a:spcPts val="600"/>
              </a:spcBef>
              <a:buFont typeface="Arial" panose="020B0604020202020204" pitchFamily="34" charset="0"/>
              <a:buChar char="•"/>
            </a:pPr>
            <a:r>
              <a:rPr lang="en-US" sz="1600" b="1" dirty="0" err="1"/>
              <a:t>OpenAPI</a:t>
            </a:r>
            <a:r>
              <a:rPr lang="en-US" sz="1600" b="1" dirty="0"/>
              <a:t> Spec</a:t>
            </a:r>
            <a:r>
              <a:rPr lang="en-US" sz="1600" dirty="0"/>
              <a:t>: Calls external APIs based on the </a:t>
            </a:r>
            <a:r>
              <a:rPr lang="en-US" sz="1600" dirty="0" err="1"/>
              <a:t>OpenAPI</a:t>
            </a:r>
            <a:r>
              <a:rPr lang="en-US" sz="1600" dirty="0"/>
              <a:t> 3.0 spec</a:t>
            </a:r>
          </a:p>
        </p:txBody>
      </p:sp>
      <p:sp>
        <p:nvSpPr>
          <p:cNvPr id="3" name="Footer Placeholder 2">
            <a:extLst>
              <a:ext uri="{FF2B5EF4-FFF2-40B4-BE49-F238E27FC236}">
                <a16:creationId xmlns:a16="http://schemas.microsoft.com/office/drawing/2014/main" id="{D016F0B7-1BF8-9287-F66A-68E98B9E2209}"/>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341036444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36B54-D302-123E-B2BB-29AAD733B2C3}"/>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DDCBB5F-CDEE-783C-34F6-C726B808C73D}"/>
              </a:ext>
              <a:ext uri="{C183D7F6-B498-43B3-948B-1728B52AA6E4}">
                <adec:decorative xmlns:adec="http://schemas.microsoft.com/office/drawing/2017/decorative" val="1"/>
              </a:ext>
            </a:extLst>
          </p:cNvPr>
          <p:cNvSpPr>
            <a:spLocks noGrp="1"/>
          </p:cNvSpPr>
          <p:nvPr>
            <p:ph type="pic" sz="quarter" idx="20"/>
          </p:nvPr>
        </p:nvSpPr>
        <p:spPr/>
        <p:txBody>
          <a:bodyPr/>
          <a:lstStyle/>
          <a:p>
            <a:endParaRPr lang="en-US"/>
          </a:p>
        </p:txBody>
      </p:sp>
      <p:sp>
        <p:nvSpPr>
          <p:cNvPr id="5" name="Title 4">
            <a:extLst>
              <a:ext uri="{FF2B5EF4-FFF2-40B4-BE49-F238E27FC236}">
                <a16:creationId xmlns:a16="http://schemas.microsoft.com/office/drawing/2014/main" id="{71EE0FB2-8EAB-5536-98AF-0AF7D0619602}"/>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028F1D29-0819-AB1D-272A-B75377E74716}"/>
              </a:ext>
            </a:extLst>
          </p:cNvPr>
          <p:cNvSpPr>
            <a:spLocks noGrp="1"/>
          </p:cNvSpPr>
          <p:nvPr>
            <p:ph type="body" sz="quarter" idx="16"/>
          </p:nvPr>
        </p:nvSpPr>
        <p:spPr>
          <a:xfrm>
            <a:off x="584199" y="1594155"/>
            <a:ext cx="5654573" cy="307777"/>
          </a:xfrm>
        </p:spPr>
        <p:txBody>
          <a:bodyPr/>
          <a:lstStyle/>
          <a:p>
            <a:r>
              <a:rPr lang="en-US" sz="2000" dirty="0"/>
              <a:t>Develop an AI agent</a:t>
            </a:r>
          </a:p>
        </p:txBody>
      </p:sp>
      <p:sp>
        <p:nvSpPr>
          <p:cNvPr id="6" name="Text Placeholder 5">
            <a:extLst>
              <a:ext uri="{FF2B5EF4-FFF2-40B4-BE49-F238E27FC236}">
                <a16:creationId xmlns:a16="http://schemas.microsoft.com/office/drawing/2014/main" id="{728404BA-2DF0-008B-EDDC-05EDF2C8897D}"/>
              </a:ext>
            </a:extLst>
          </p:cNvPr>
          <p:cNvSpPr>
            <a:spLocks noGrp="1"/>
          </p:cNvSpPr>
          <p:nvPr>
            <p:ph type="body" sz="quarter" idx="15"/>
          </p:nvPr>
        </p:nvSpPr>
        <p:spPr>
          <a:xfrm>
            <a:off x="586389" y="2085764"/>
            <a:ext cx="5652201" cy="984885"/>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the </a:t>
            </a:r>
            <a:r>
              <a:rPr lang="en-US" dirty="0">
                <a:solidFill>
                  <a:srgbClr val="000000"/>
                </a:solidFill>
                <a:latin typeface="Segoe UI"/>
                <a:cs typeface="+mn-cs"/>
              </a:rPr>
              <a:t>Foundry </a:t>
            </a:r>
            <a:r>
              <a:rPr kumimoji="0" lang="en-US" sz="1600" b="0" i="0" u="none" strike="noStrike" kern="1200" cap="none" spc="0" normalizeH="0" baseline="0" noProof="0" dirty="0">
                <a:ln>
                  <a:noFill/>
                </a:ln>
                <a:solidFill>
                  <a:srgbClr val="000000"/>
                </a:solidFill>
                <a:effectLst/>
                <a:uLnTx/>
                <a:uFillTx/>
                <a:latin typeface="Segoe UI"/>
                <a:ea typeface="+mn-ea"/>
                <a:cs typeface="+mn-cs"/>
              </a:rPr>
              <a:t>Agent SDK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an agent that uses a code completion tool</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Invoke a chat session with the agent</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Retrieve chat messages and output files</a:t>
            </a:r>
          </a:p>
        </p:txBody>
      </p:sp>
      <p:sp>
        <p:nvSpPr>
          <p:cNvPr id="10" name="TextBox 9">
            <a:extLst>
              <a:ext uri="{FF2B5EF4-FFF2-40B4-BE49-F238E27FC236}">
                <a16:creationId xmlns:a16="http://schemas.microsoft.com/office/drawing/2014/main" id="{58C376FB-B6A9-B02A-3A29-20FD8FCF44BE}"/>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https://go.microsoft.com/fwlink/?linkid=2305092</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pic>
        <p:nvPicPr>
          <p:cNvPr id="4" name="Picture 3">
            <a:extLst>
              <a:ext uri="{FF2B5EF4-FFF2-40B4-BE49-F238E27FC236}">
                <a16:creationId xmlns:a16="http://schemas.microsoft.com/office/drawing/2014/main" id="{E5AEA309-A33B-28DD-D880-24571032785D}"/>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01915" y="2003144"/>
            <a:ext cx="4582327" cy="3389999"/>
          </a:xfrm>
          <a:prstGeom prst="rect">
            <a:avLst/>
          </a:prstGeom>
        </p:spPr>
      </p:pic>
      <p:sp>
        <p:nvSpPr>
          <p:cNvPr id="11" name="Flowchart: Off-page Connector 44">
            <a:extLst>
              <a:ext uri="{FF2B5EF4-FFF2-40B4-BE49-F238E27FC236}">
                <a16:creationId xmlns:a16="http://schemas.microsoft.com/office/drawing/2014/main" id="{DD762FA1-20CF-13D3-5E19-91A63937461E}"/>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lang="en-US" sz="1400" kern="0" dirty="0">
                <a:solidFill>
                  <a:srgbClr val="FFFFFF"/>
                </a:solidFill>
                <a:latin typeface="Segoe UI"/>
                <a:ea typeface="Segoe UI" pitchFamily="34" charset="0"/>
                <a:cs typeface="Segoe UI" pitchFamily="34" charset="0"/>
              </a:rPr>
              <a:t>(then remove this arrow)</a:t>
            </a:r>
            <a:endPar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3" name="Footer Placeholder 2">
            <a:extLst>
              <a:ext uri="{FF2B5EF4-FFF2-40B4-BE49-F238E27FC236}">
                <a16:creationId xmlns:a16="http://schemas.microsoft.com/office/drawing/2014/main" id="{E929AF02-50A9-3470-8653-2A63CE3EDDA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31155301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D745-49FB-A2FA-36F2-B0E7C2A85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F1404-C0BB-00D4-2728-2581A1793BFA}"/>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4DBBE026-1788-9D1E-AE6E-FDECC1BB577D}"/>
              </a:ext>
            </a:extLst>
          </p:cNvPr>
          <p:cNvSpPr>
            <a:spLocks noGrp="1"/>
          </p:cNvSpPr>
          <p:nvPr>
            <p:ph type="body" sz="quarter" idx="17"/>
          </p:nvPr>
        </p:nvSpPr>
        <p:spPr>
          <a:xfrm>
            <a:off x="1235075" y="1687706"/>
            <a:ext cx="8778782" cy="215444"/>
          </a:xfrm>
        </p:spPr>
        <p:txBody>
          <a:bodyPr/>
          <a:lstStyle/>
          <a:p>
            <a:pPr>
              <a:buNone/>
            </a:pPr>
            <a:r>
              <a:rPr lang="en-US" noProof="0" dirty="0"/>
              <a:t>What is the first step in setting up Azure AI Foundry Agent Service?</a:t>
            </a:r>
          </a:p>
        </p:txBody>
      </p:sp>
      <p:sp>
        <p:nvSpPr>
          <p:cNvPr id="9" name="Text Placeholder 8">
            <a:extLst>
              <a:ext uri="{FF2B5EF4-FFF2-40B4-BE49-F238E27FC236}">
                <a16:creationId xmlns:a16="http://schemas.microsoft.com/office/drawing/2014/main" id="{0035A5E7-5A39-CEE4-E9FB-548710A94684}"/>
              </a:ext>
            </a:extLst>
          </p:cNvPr>
          <p:cNvSpPr>
            <a:spLocks noGrp="1"/>
          </p:cNvSpPr>
          <p:nvPr>
            <p:ph type="body" sz="quarter" idx="15"/>
          </p:nvPr>
        </p:nvSpPr>
        <p:spPr>
          <a:xfrm>
            <a:off x="1235075" y="2012919"/>
            <a:ext cx="8775098" cy="732508"/>
          </a:xfrm>
          <a:noFill/>
        </p:spPr>
        <p:txBody>
          <a:bodyPr/>
          <a:lstStyle/>
          <a:p>
            <a:r>
              <a:rPr lang="en-US" noProof="0" dirty="0"/>
              <a:t>Deploy a compatible model</a:t>
            </a:r>
            <a:endParaRPr lang="en-US" noProof="0" dirty="0">
              <a:solidFill>
                <a:srgbClr val="000000"/>
              </a:solidFill>
            </a:endParaRPr>
          </a:p>
          <a:p>
            <a:r>
              <a:rPr lang="en-US" noProof="0" dirty="0"/>
              <a:t>Create a project</a:t>
            </a:r>
          </a:p>
          <a:p>
            <a:r>
              <a:rPr lang="en-US" noProof="0" dirty="0"/>
              <a:t>Make API calls using SDKs</a:t>
            </a:r>
          </a:p>
        </p:txBody>
      </p:sp>
      <p:sp>
        <p:nvSpPr>
          <p:cNvPr id="18" name="Text Placeholder 17">
            <a:extLst>
              <a:ext uri="{FF2B5EF4-FFF2-40B4-BE49-F238E27FC236}">
                <a16:creationId xmlns:a16="http://schemas.microsoft.com/office/drawing/2014/main" id="{4BCF3956-E0CD-0420-B765-FEE46853439B}"/>
              </a:ext>
            </a:extLst>
          </p:cNvPr>
          <p:cNvSpPr>
            <a:spLocks noGrp="1"/>
          </p:cNvSpPr>
          <p:nvPr>
            <p:ph type="body" sz="quarter" idx="22"/>
          </p:nvPr>
        </p:nvSpPr>
        <p:spPr>
          <a:xfrm>
            <a:off x="1235075" y="3153050"/>
            <a:ext cx="8778782" cy="215444"/>
          </a:xfrm>
        </p:spPr>
        <p:txBody>
          <a:bodyPr/>
          <a:lstStyle/>
          <a:p>
            <a:r>
              <a:rPr lang="en-US" noProof="0" dirty="0"/>
              <a:t>Which element of an agent definition is used to specify its behavior and restrictions?</a:t>
            </a:r>
            <a:endParaRPr lang="en-US" b="1" noProof="0" dirty="0"/>
          </a:p>
        </p:txBody>
      </p:sp>
      <p:sp>
        <p:nvSpPr>
          <p:cNvPr id="19" name="Text Placeholder 18">
            <a:extLst>
              <a:ext uri="{FF2B5EF4-FFF2-40B4-BE49-F238E27FC236}">
                <a16:creationId xmlns:a16="http://schemas.microsoft.com/office/drawing/2014/main" id="{64C44F6E-21A7-6DFA-69EF-D09A5E324A8D}"/>
              </a:ext>
            </a:extLst>
          </p:cNvPr>
          <p:cNvSpPr>
            <a:spLocks noGrp="1"/>
          </p:cNvSpPr>
          <p:nvPr>
            <p:ph type="body" sz="quarter" idx="23"/>
          </p:nvPr>
        </p:nvSpPr>
        <p:spPr>
          <a:xfrm>
            <a:off x="1237265" y="3463791"/>
            <a:ext cx="8775098" cy="732508"/>
          </a:xfrm>
        </p:spPr>
        <p:txBody>
          <a:bodyPr/>
          <a:lstStyle/>
          <a:p>
            <a:r>
              <a:rPr lang="en-US" noProof="0" dirty="0"/>
              <a:t>Model</a:t>
            </a:r>
          </a:p>
          <a:p>
            <a:r>
              <a:rPr lang="en-US" noProof="0" dirty="0"/>
              <a:t>Instructions</a:t>
            </a:r>
          </a:p>
          <a:p>
            <a:r>
              <a:rPr lang="en-US" noProof="0" dirty="0"/>
              <a:t>Tools</a:t>
            </a:r>
          </a:p>
        </p:txBody>
      </p:sp>
      <p:sp>
        <p:nvSpPr>
          <p:cNvPr id="15" name="Text Placeholder 14">
            <a:extLst>
              <a:ext uri="{FF2B5EF4-FFF2-40B4-BE49-F238E27FC236}">
                <a16:creationId xmlns:a16="http://schemas.microsoft.com/office/drawing/2014/main" id="{1280B53D-69FC-80BF-BD39-90761325913B}"/>
              </a:ext>
            </a:extLst>
          </p:cNvPr>
          <p:cNvSpPr>
            <a:spLocks noGrp="1"/>
          </p:cNvSpPr>
          <p:nvPr>
            <p:ph type="body" sz="quarter" idx="20"/>
          </p:nvPr>
        </p:nvSpPr>
        <p:spPr>
          <a:xfrm>
            <a:off x="1235074" y="4588103"/>
            <a:ext cx="8957333" cy="430887"/>
          </a:xfrm>
        </p:spPr>
        <p:txBody>
          <a:bodyPr/>
          <a:lstStyle/>
          <a:p>
            <a:r>
              <a:rPr lang="en-US" b="1" noProof="0" dirty="0"/>
              <a:t>Which tool should you use to enable an agent to dynamically generate code to perform tasks or access data in files?</a:t>
            </a:r>
          </a:p>
        </p:txBody>
      </p:sp>
      <p:sp>
        <p:nvSpPr>
          <p:cNvPr id="17" name="Text Placeholder 16">
            <a:extLst>
              <a:ext uri="{FF2B5EF4-FFF2-40B4-BE49-F238E27FC236}">
                <a16:creationId xmlns:a16="http://schemas.microsoft.com/office/drawing/2014/main" id="{0BBF2EDC-8984-9987-6AB2-7410A1546E9A}"/>
              </a:ext>
            </a:extLst>
          </p:cNvPr>
          <p:cNvSpPr>
            <a:spLocks noGrp="1"/>
          </p:cNvSpPr>
          <p:nvPr>
            <p:ph type="body" sz="quarter" idx="21"/>
          </p:nvPr>
        </p:nvSpPr>
        <p:spPr>
          <a:xfrm>
            <a:off x="1235075" y="5052793"/>
            <a:ext cx="8775098" cy="732508"/>
          </a:xfrm>
        </p:spPr>
        <p:txBody>
          <a:bodyPr/>
          <a:lstStyle/>
          <a:p>
            <a:r>
              <a:rPr lang="en-US" noProof="0" dirty="0"/>
              <a:t>Code Interpreter</a:t>
            </a:r>
          </a:p>
          <a:p>
            <a:r>
              <a:rPr lang="en-US" noProof="0" dirty="0"/>
              <a:t>Azure Functions</a:t>
            </a:r>
          </a:p>
          <a:p>
            <a:r>
              <a:rPr lang="en-US" noProof="0" dirty="0"/>
              <a:t>Azure AI Search</a:t>
            </a:r>
          </a:p>
        </p:txBody>
      </p:sp>
      <p:sp>
        <p:nvSpPr>
          <p:cNvPr id="76" name="Oval 75">
            <a:extLst>
              <a:ext uri="{FF2B5EF4-FFF2-40B4-BE49-F238E27FC236}">
                <a16:creationId xmlns:a16="http://schemas.microsoft.com/office/drawing/2014/main" id="{501EB06A-E992-6BB1-1097-2DA02D4E8A9A}"/>
              </a:ext>
              <a:ext uri="{C183D7F6-B498-43B3-948B-1728B52AA6E4}">
                <adec:decorative xmlns:adec="http://schemas.microsoft.com/office/drawing/2017/decorative" val="1"/>
              </a:ext>
            </a:extLst>
          </p:cNvPr>
          <p:cNvSpPr>
            <a:spLocks/>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0530C770-EDC3-E2D5-4778-B05A5241A4ED}"/>
              </a:ext>
              <a:ext uri="{C183D7F6-B498-43B3-948B-1728B52AA6E4}">
                <adec:decorative xmlns:adec="http://schemas.microsoft.com/office/drawing/2017/decorative" val="1"/>
              </a:ext>
            </a:extLst>
          </p:cNvPr>
          <p:cNvSpPr>
            <a:spLocks/>
          </p:cNvSpPr>
          <p:nvPr/>
        </p:nvSpPr>
        <p:spPr bwMode="auto">
          <a:xfrm>
            <a:off x="722582" y="30468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16C671E8-0084-04FF-C523-A0478251B3BE}"/>
              </a:ext>
              <a:ext uri="{C183D7F6-B498-43B3-948B-1728B52AA6E4}">
                <adec:decorative xmlns:adec="http://schemas.microsoft.com/office/drawing/2017/decorative" val="1"/>
              </a:ext>
            </a:extLst>
          </p:cNvPr>
          <p:cNvSpPr>
            <a:spLocks/>
          </p:cNvSpPr>
          <p:nvPr/>
        </p:nvSpPr>
        <p:spPr>
          <a:xfrm>
            <a:off x="1263852" y="377611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78" name="Oval 77">
            <a:extLst>
              <a:ext uri="{FF2B5EF4-FFF2-40B4-BE49-F238E27FC236}">
                <a16:creationId xmlns:a16="http://schemas.microsoft.com/office/drawing/2014/main" id="{6833D2F8-79DE-5205-60D7-326FBC84C5D8}"/>
              </a:ext>
              <a:ext uri="{C183D7F6-B498-43B3-948B-1728B52AA6E4}">
                <adec:decorative xmlns:adec="http://schemas.microsoft.com/office/drawing/2017/decorative" val="1"/>
              </a:ext>
            </a:extLst>
          </p:cNvPr>
          <p:cNvSpPr>
            <a:spLocks/>
          </p:cNvSpPr>
          <p:nvPr/>
        </p:nvSpPr>
        <p:spPr bwMode="auto">
          <a:xfrm>
            <a:off x="722582" y="449622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p>
        </p:txBody>
      </p:sp>
      <p:sp>
        <p:nvSpPr>
          <p:cNvPr id="81" name="Graphic 26">
            <a:extLst>
              <a:ext uri="{FF2B5EF4-FFF2-40B4-BE49-F238E27FC236}">
                <a16:creationId xmlns:a16="http://schemas.microsoft.com/office/drawing/2014/main" id="{1029CE79-571B-6E8C-79A4-F8F6CC30E73F}"/>
              </a:ext>
              <a:ext uri="{C183D7F6-B498-43B3-948B-1728B52AA6E4}">
                <adec:decorative xmlns:adec="http://schemas.microsoft.com/office/drawing/2017/decorative" val="1"/>
              </a:ext>
            </a:extLst>
          </p:cNvPr>
          <p:cNvSpPr>
            <a:spLocks/>
          </p:cNvSpPr>
          <p:nvPr/>
        </p:nvSpPr>
        <p:spPr>
          <a:xfrm>
            <a:off x="1263852" y="509507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1FF61170-D15F-AF8F-3B91-B628A6A6249F}"/>
              </a:ext>
              <a:ext uri="{C183D7F6-B498-43B3-948B-1728B52AA6E4}">
                <adec:decorative xmlns:adec="http://schemas.microsoft.com/office/drawing/2017/decorative" val="1"/>
              </a:ext>
            </a:extLst>
          </p:cNvPr>
          <p:cNvSpPr>
            <a:spLocks/>
          </p:cNvSpPr>
          <p:nvPr/>
        </p:nvSpPr>
        <p:spPr>
          <a:xfrm>
            <a:off x="1263852" y="2294954"/>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959779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008CB-CE9F-2B72-DF31-7FAB911DF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FCC04-9B76-E93C-972A-A2B467854D5E}"/>
              </a:ext>
            </a:extLst>
          </p:cNvPr>
          <p:cNvSpPr>
            <a:spLocks noGrp="1"/>
          </p:cNvSpPr>
          <p:nvPr>
            <p:ph type="title"/>
          </p:nvPr>
        </p:nvSpPr>
        <p:spPr>
          <a:xfrm>
            <a:off x="569911" y="2769057"/>
            <a:ext cx="6345239" cy="1231106"/>
          </a:xfrm>
        </p:spPr>
        <p:txBody>
          <a:bodyPr/>
          <a:lstStyle/>
          <a:p>
            <a:r>
              <a:rPr lang="en-US" noProof="0" dirty="0"/>
              <a:t>Integrate custom tools into your agent</a:t>
            </a:r>
          </a:p>
        </p:txBody>
      </p:sp>
      <p:sp>
        <p:nvSpPr>
          <p:cNvPr id="4" name="TextBox 3">
            <a:extLst>
              <a:ext uri="{FF2B5EF4-FFF2-40B4-BE49-F238E27FC236}">
                <a16:creationId xmlns:a16="http://schemas.microsoft.com/office/drawing/2014/main" id="{4A0F28DD-5ED5-9426-BAAE-FF438B122EBF}"/>
              </a:ext>
            </a:extLst>
          </p:cNvPr>
          <p:cNvSpPr txBox="1"/>
          <p:nvPr/>
        </p:nvSpPr>
        <p:spPr>
          <a:xfrm>
            <a:off x="480060" y="4038263"/>
            <a:ext cx="6096000" cy="363946"/>
          </a:xfrm>
          <a:prstGeom prst="rect">
            <a:avLst/>
          </a:prstGeom>
          <a:noFill/>
        </p:spPr>
        <p:txBody>
          <a:bodyPr wrap="square">
            <a:spAutoFit/>
          </a:bodyPr>
          <a:lstStyle/>
          <a:p>
            <a:r>
              <a:rPr lang="en-US" dirty="0">
                <a:solidFill>
                  <a:schemeClr val="accent2"/>
                </a:solidFill>
              </a:rPr>
              <a:t>https://aka.ms/mslearn-ai-agent-tools</a:t>
            </a:r>
          </a:p>
        </p:txBody>
      </p:sp>
    </p:spTree>
    <p:extLst>
      <p:ext uri="{BB962C8B-B14F-4D97-AF65-F5344CB8AC3E}">
        <p14:creationId xmlns:p14="http://schemas.microsoft.com/office/powerpoint/2010/main" val="3179650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81">
            <a:extLst>
              <a:ext uri="{FF2B5EF4-FFF2-40B4-BE49-F238E27FC236}">
                <a16:creationId xmlns:a16="http://schemas.microsoft.com/office/drawing/2014/main" id="{FEF40E0B-E110-EC84-45D8-9CC507884EFD}"/>
              </a:ext>
              <a:ext uri="{C183D7F6-B498-43B3-948B-1728B52AA6E4}">
                <adec:decorative xmlns:adec="http://schemas.microsoft.com/office/drawing/2017/decorative" val="1"/>
              </a:ext>
            </a:extLst>
          </p:cNvPr>
          <p:cNvSpPr/>
          <p:nvPr/>
        </p:nvSpPr>
        <p:spPr bwMode="auto">
          <a:xfrm>
            <a:off x="678180" y="4046220"/>
            <a:ext cx="10965180" cy="2226564"/>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32CDCC5E-FD33-A5CE-6139-6A43789F1AA0}"/>
              </a:ext>
            </a:extLst>
          </p:cNvPr>
          <p:cNvSpPr>
            <a:spLocks noGrp="1"/>
          </p:cNvSpPr>
          <p:nvPr>
            <p:ph type="title"/>
          </p:nvPr>
        </p:nvSpPr>
        <p:spPr>
          <a:xfrm>
            <a:off x="588262" y="585216"/>
            <a:ext cx="8193024" cy="492443"/>
          </a:xfrm>
        </p:spPr>
        <p:txBody>
          <a:bodyPr/>
          <a:lstStyle/>
          <a:p>
            <a:r>
              <a:rPr lang="en-US" sz="3200" dirty="0"/>
              <a:t>Why use custom tools?</a:t>
            </a:r>
          </a:p>
        </p:txBody>
      </p:sp>
      <p:sp>
        <p:nvSpPr>
          <p:cNvPr id="85" name="Oval 84">
            <a:extLst>
              <a:ext uri="{FF2B5EF4-FFF2-40B4-BE49-F238E27FC236}">
                <a16:creationId xmlns:a16="http://schemas.microsoft.com/office/drawing/2014/main" id="{82951288-4054-314E-DEC5-5913E2EEEE81}"/>
              </a:ext>
              <a:ext uri="{C183D7F6-B498-43B3-948B-1728B52AA6E4}">
                <adec:decorative xmlns:adec="http://schemas.microsoft.com/office/drawing/2017/decorative" val="1"/>
              </a:ext>
            </a:extLst>
          </p:cNvPr>
          <p:cNvSpPr/>
          <p:nvPr/>
        </p:nvSpPr>
        <p:spPr bwMode="auto">
          <a:xfrm>
            <a:off x="1619479" y="1557514"/>
            <a:ext cx="987902" cy="987902"/>
          </a:xfrm>
          <a:prstGeom prst="ellipse">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Oval 30">
            <a:extLst>
              <a:ext uri="{FF2B5EF4-FFF2-40B4-BE49-F238E27FC236}">
                <a16:creationId xmlns:a16="http://schemas.microsoft.com/office/drawing/2014/main" id="{34E7ADBF-9349-9C3F-9270-5C20627BFD1D}"/>
              </a:ext>
              <a:ext uri="{C183D7F6-B498-43B3-948B-1728B52AA6E4}">
                <adec:decorative xmlns:adec="http://schemas.microsoft.com/office/drawing/2017/decorative" val="1"/>
              </a:ext>
            </a:extLst>
          </p:cNvPr>
          <p:cNvSpPr/>
          <p:nvPr/>
        </p:nvSpPr>
        <p:spPr bwMode="auto">
          <a:xfrm>
            <a:off x="5200382" y="1557514"/>
            <a:ext cx="987902" cy="987902"/>
          </a:xfrm>
          <a:prstGeom prst="ellipse">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Oval 31">
            <a:extLst>
              <a:ext uri="{FF2B5EF4-FFF2-40B4-BE49-F238E27FC236}">
                <a16:creationId xmlns:a16="http://schemas.microsoft.com/office/drawing/2014/main" id="{1BDB70A0-3396-A202-6F1D-EE4489041B2B}"/>
              </a:ext>
              <a:ext uri="{C183D7F6-B498-43B3-948B-1728B52AA6E4}">
                <adec:decorative xmlns:adec="http://schemas.microsoft.com/office/drawing/2017/decorative" val="1"/>
              </a:ext>
            </a:extLst>
          </p:cNvPr>
          <p:cNvSpPr/>
          <p:nvPr/>
        </p:nvSpPr>
        <p:spPr bwMode="auto">
          <a:xfrm>
            <a:off x="8781286" y="1557514"/>
            <a:ext cx="987902" cy="987902"/>
          </a:xfrm>
          <a:prstGeom prst="ellipse">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 name="Graphic 8">
            <a:extLst>
              <a:ext uri="{FF2B5EF4-FFF2-40B4-BE49-F238E27FC236}">
                <a16:creationId xmlns:a16="http://schemas.microsoft.com/office/drawing/2014/main" id="{18309BF5-EEA5-BC4B-6CA7-0D274FE2180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15121" y="1776109"/>
            <a:ext cx="558107" cy="558107"/>
          </a:xfrm>
          <a:prstGeom prst="rect">
            <a:avLst/>
          </a:prstGeom>
        </p:spPr>
      </p:pic>
      <p:pic>
        <p:nvPicPr>
          <p:cNvPr id="13" name="Graphic 12">
            <a:extLst>
              <a:ext uri="{FF2B5EF4-FFF2-40B4-BE49-F238E27FC236}">
                <a16:creationId xmlns:a16="http://schemas.microsoft.com/office/drawing/2014/main" id="{8FD948D8-4076-02A0-9282-94FFB1ED582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365637" y="1722769"/>
            <a:ext cx="657392" cy="657392"/>
          </a:xfrm>
          <a:prstGeom prst="rect">
            <a:avLst/>
          </a:prstGeom>
        </p:spPr>
      </p:pic>
      <p:grpSp>
        <p:nvGrpSpPr>
          <p:cNvPr id="18" name="Group 17">
            <a:extLst>
              <a:ext uri="{FF2B5EF4-FFF2-40B4-BE49-F238E27FC236}">
                <a16:creationId xmlns:a16="http://schemas.microsoft.com/office/drawing/2014/main" id="{3634D9EB-F7FB-9ACD-46C3-9F348ADAEB0B}"/>
              </a:ext>
              <a:ext uri="{C183D7F6-B498-43B3-948B-1728B52AA6E4}">
                <adec:decorative xmlns:adec="http://schemas.microsoft.com/office/drawing/2017/decorative" val="1"/>
              </a:ext>
            </a:extLst>
          </p:cNvPr>
          <p:cNvGrpSpPr/>
          <p:nvPr/>
        </p:nvGrpSpPr>
        <p:grpSpPr>
          <a:xfrm>
            <a:off x="1689371" y="1722769"/>
            <a:ext cx="848118" cy="657392"/>
            <a:chOff x="3221280" y="3769920"/>
            <a:chExt cx="1179690" cy="914400"/>
          </a:xfrm>
        </p:grpSpPr>
        <p:pic>
          <p:nvPicPr>
            <p:cNvPr id="15" name="Graphic 14" descr="Upward trend outline">
              <a:extLst>
                <a:ext uri="{FF2B5EF4-FFF2-40B4-BE49-F238E27FC236}">
                  <a16:creationId xmlns:a16="http://schemas.microsoft.com/office/drawing/2014/main" id="{15B8171F-7243-622E-2092-F47F80A84F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70390" y="3769920"/>
              <a:ext cx="530580" cy="530580"/>
            </a:xfrm>
            <a:prstGeom prst="rect">
              <a:avLst/>
            </a:prstGeom>
          </p:spPr>
        </p:pic>
        <p:pic>
          <p:nvPicPr>
            <p:cNvPr id="17" name="Graphic 16" descr="Office worker female with solid fill">
              <a:extLst>
                <a:ext uri="{FF2B5EF4-FFF2-40B4-BE49-F238E27FC236}">
                  <a16:creationId xmlns:a16="http://schemas.microsoft.com/office/drawing/2014/main" id="{C8F23907-C540-A855-0E96-C3C2D0CA090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21280" y="3769920"/>
              <a:ext cx="914400" cy="914400"/>
            </a:xfrm>
            <a:prstGeom prst="rect">
              <a:avLst/>
            </a:prstGeom>
          </p:spPr>
        </p:pic>
      </p:grpSp>
      <p:sp>
        <p:nvSpPr>
          <p:cNvPr id="33" name="Text Placeholder 2">
            <a:extLst>
              <a:ext uri="{FF2B5EF4-FFF2-40B4-BE49-F238E27FC236}">
                <a16:creationId xmlns:a16="http://schemas.microsoft.com/office/drawing/2014/main" id="{BF1FA96D-3182-73C6-AA91-FF4819871957}"/>
              </a:ext>
            </a:extLst>
          </p:cNvPr>
          <p:cNvSpPr txBox="1">
            <a:spLocks/>
          </p:cNvSpPr>
          <p:nvPr/>
        </p:nvSpPr>
        <p:spPr>
          <a:xfrm>
            <a:off x="830158" y="2616918"/>
            <a:ext cx="2651760" cy="307777"/>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dirty="0">
                <a:latin typeface="+mj-lt"/>
              </a:rPr>
              <a:t>Enhance productivity</a:t>
            </a:r>
          </a:p>
        </p:txBody>
      </p:sp>
      <p:sp>
        <p:nvSpPr>
          <p:cNvPr id="38" name="Text Placeholder 51">
            <a:extLst>
              <a:ext uri="{FF2B5EF4-FFF2-40B4-BE49-F238E27FC236}">
                <a16:creationId xmlns:a16="http://schemas.microsoft.com/office/drawing/2014/main" id="{A6490C02-C561-F0B1-80B9-9B84C3D48E59}"/>
              </a:ext>
              <a:ext uri="{C183D7F6-B498-43B3-948B-1728B52AA6E4}">
                <adec:decorative xmlns:adec="http://schemas.microsoft.com/office/drawing/2017/decorative" val="0"/>
              </a:ext>
            </a:extLst>
          </p:cNvPr>
          <p:cNvSpPr txBox="1">
            <a:spLocks/>
          </p:cNvSpPr>
          <p:nvPr/>
        </p:nvSpPr>
        <p:spPr>
          <a:xfrm>
            <a:off x="906430" y="3166917"/>
            <a:ext cx="2651760" cy="492443"/>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0" i="0" dirty="0">
                <a:solidFill>
                  <a:srgbClr val="161616"/>
                </a:solidFill>
                <a:effectLst/>
                <a:latin typeface="Segoe UI" panose="020B0502040204020203" pitchFamily="34" charset="0"/>
              </a:rPr>
              <a:t>Automate repetitive tasks and streamline workflows</a:t>
            </a:r>
            <a:endParaRPr lang="LID4096" dirty="0"/>
          </a:p>
        </p:txBody>
      </p:sp>
      <p:sp>
        <p:nvSpPr>
          <p:cNvPr id="34" name="Text Placeholder 3">
            <a:extLst>
              <a:ext uri="{FF2B5EF4-FFF2-40B4-BE49-F238E27FC236}">
                <a16:creationId xmlns:a16="http://schemas.microsoft.com/office/drawing/2014/main" id="{C8FEF2FB-F17E-3311-5526-064B04721050}"/>
              </a:ext>
            </a:extLst>
          </p:cNvPr>
          <p:cNvSpPr txBox="1">
            <a:spLocks/>
          </p:cNvSpPr>
          <p:nvPr/>
        </p:nvSpPr>
        <p:spPr>
          <a:xfrm>
            <a:off x="4368453" y="2610835"/>
            <a:ext cx="2651760" cy="307777"/>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dirty="0">
                <a:latin typeface="+mj-lt"/>
              </a:rPr>
              <a:t>Improve accuracy</a:t>
            </a:r>
          </a:p>
        </p:txBody>
      </p:sp>
      <p:sp>
        <p:nvSpPr>
          <p:cNvPr id="35" name="Text Placeholder 15">
            <a:extLst>
              <a:ext uri="{FF2B5EF4-FFF2-40B4-BE49-F238E27FC236}">
                <a16:creationId xmlns:a16="http://schemas.microsoft.com/office/drawing/2014/main" id="{A39EBEE1-45E6-6B13-C6CF-929703E33828}"/>
              </a:ext>
            </a:extLst>
          </p:cNvPr>
          <p:cNvSpPr txBox="1">
            <a:spLocks/>
          </p:cNvSpPr>
          <p:nvPr/>
        </p:nvSpPr>
        <p:spPr>
          <a:xfrm>
            <a:off x="4368453" y="3160834"/>
            <a:ext cx="2789153" cy="492443"/>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0" i="0" dirty="0">
                <a:solidFill>
                  <a:srgbClr val="161616"/>
                </a:solidFill>
                <a:effectLst/>
                <a:latin typeface="Segoe UI" panose="020B0502040204020203" pitchFamily="34" charset="0"/>
              </a:rPr>
              <a:t>Provide precise and consistent outputs with explicit code</a:t>
            </a:r>
            <a:endParaRPr lang="LID4096" b="1" dirty="0"/>
          </a:p>
        </p:txBody>
      </p:sp>
      <p:sp>
        <p:nvSpPr>
          <p:cNvPr id="36" name="Text Placeholder 5">
            <a:extLst>
              <a:ext uri="{FF2B5EF4-FFF2-40B4-BE49-F238E27FC236}">
                <a16:creationId xmlns:a16="http://schemas.microsoft.com/office/drawing/2014/main" id="{766D9A64-78F5-9DA0-43D2-D21CA28B3D3E}"/>
              </a:ext>
            </a:extLst>
          </p:cNvPr>
          <p:cNvSpPr txBox="1">
            <a:spLocks/>
          </p:cNvSpPr>
          <p:nvPr/>
        </p:nvSpPr>
        <p:spPr>
          <a:xfrm>
            <a:off x="7983686" y="2618607"/>
            <a:ext cx="2867194" cy="307777"/>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dirty="0">
                <a:latin typeface="+mj-lt"/>
              </a:rPr>
              <a:t>Create tailored solutions</a:t>
            </a:r>
          </a:p>
        </p:txBody>
      </p:sp>
      <p:sp>
        <p:nvSpPr>
          <p:cNvPr id="37" name="Text Placeholder 18">
            <a:extLst>
              <a:ext uri="{FF2B5EF4-FFF2-40B4-BE49-F238E27FC236}">
                <a16:creationId xmlns:a16="http://schemas.microsoft.com/office/drawing/2014/main" id="{41B9EE1F-5DD4-A5BD-F02C-A1473D4F449D}"/>
              </a:ext>
              <a:ext uri="{C183D7F6-B498-43B3-948B-1728B52AA6E4}">
                <adec:decorative xmlns:adec="http://schemas.microsoft.com/office/drawing/2017/decorative" val="0"/>
              </a:ext>
            </a:extLst>
          </p:cNvPr>
          <p:cNvSpPr txBox="1">
            <a:spLocks/>
          </p:cNvSpPr>
          <p:nvPr/>
        </p:nvSpPr>
        <p:spPr>
          <a:xfrm>
            <a:off x="8262506" y="3160833"/>
            <a:ext cx="2789152" cy="492443"/>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0" i="0" dirty="0">
                <a:solidFill>
                  <a:srgbClr val="161616"/>
                </a:solidFill>
                <a:effectLst/>
                <a:latin typeface="Segoe UI" panose="020B0502040204020203" pitchFamily="34" charset="0"/>
              </a:rPr>
              <a:t>Address specific business needs and optimize processes</a:t>
            </a:r>
            <a:endParaRPr lang="LID4096" dirty="0"/>
          </a:p>
        </p:txBody>
      </p:sp>
      <p:sp>
        <p:nvSpPr>
          <p:cNvPr id="86" name="TextBox 85">
            <a:extLst>
              <a:ext uri="{FF2B5EF4-FFF2-40B4-BE49-F238E27FC236}">
                <a16:creationId xmlns:a16="http://schemas.microsoft.com/office/drawing/2014/main" id="{14D03B5D-3B58-D1FD-4EC2-A44743C3AE5B}"/>
              </a:ext>
            </a:extLst>
          </p:cNvPr>
          <p:cNvSpPr txBox="1"/>
          <p:nvPr/>
        </p:nvSpPr>
        <p:spPr>
          <a:xfrm>
            <a:off x="841817" y="4130841"/>
            <a:ext cx="884858" cy="276999"/>
          </a:xfrm>
          <a:prstGeom prst="rect">
            <a:avLst/>
          </a:prstGeom>
          <a:noFill/>
        </p:spPr>
        <p:txBody>
          <a:bodyPr wrap="none" lIns="0" tIns="0" rIns="0" bIns="0" rtlCol="0">
            <a:spAutoFit/>
          </a:bodyPr>
          <a:lstStyle/>
          <a:p>
            <a:pPr algn="l"/>
            <a:r>
              <a:rPr lang="en-US" sz="1800" dirty="0">
                <a:latin typeface="+mj-lt"/>
              </a:rPr>
              <a:t>Example</a:t>
            </a:r>
          </a:p>
        </p:txBody>
      </p:sp>
      <p:sp>
        <p:nvSpPr>
          <p:cNvPr id="87" name="TextBox 86">
            <a:extLst>
              <a:ext uri="{FF2B5EF4-FFF2-40B4-BE49-F238E27FC236}">
                <a16:creationId xmlns:a16="http://schemas.microsoft.com/office/drawing/2014/main" id="{304464FA-E71E-A2F0-7D94-9C8D3A2BD246}"/>
              </a:ext>
            </a:extLst>
          </p:cNvPr>
          <p:cNvSpPr txBox="1"/>
          <p:nvPr/>
        </p:nvSpPr>
        <p:spPr>
          <a:xfrm>
            <a:off x="960504" y="4464990"/>
            <a:ext cx="4792421" cy="1692771"/>
          </a:xfrm>
          <a:prstGeom prst="rect">
            <a:avLst/>
          </a:prstGeom>
          <a:noFill/>
        </p:spPr>
        <p:txBody>
          <a:bodyPr wrap="square" lIns="0" tIns="0" rIns="0" bIns="0" rtlCol="0">
            <a:spAutoFit/>
          </a:bodyPr>
          <a:lstStyle/>
          <a:p>
            <a:pPr marL="342900" indent="-342900" algn="l">
              <a:spcAft>
                <a:spcPts val="300"/>
              </a:spcAft>
              <a:buClr>
                <a:schemeClr val="accent4">
                  <a:lumMod val="75000"/>
                </a:schemeClr>
              </a:buClr>
              <a:buFont typeface="+mj-lt"/>
              <a:buAutoNum type="arabicPeriod"/>
            </a:pPr>
            <a:r>
              <a:rPr lang="en-US" sz="1500" dirty="0"/>
              <a:t>A user asks an agent about the weather conditions in a ski resort</a:t>
            </a:r>
          </a:p>
          <a:p>
            <a:pPr marL="342900" indent="-342900" algn="l">
              <a:spcAft>
                <a:spcPts val="300"/>
              </a:spcAft>
              <a:buClr>
                <a:schemeClr val="accent4">
                  <a:lumMod val="75000"/>
                </a:schemeClr>
              </a:buClr>
              <a:buFont typeface="+mj-lt"/>
              <a:buAutoNum type="arabicPeriod"/>
            </a:pPr>
            <a:r>
              <a:rPr lang="en-US" sz="1500" dirty="0"/>
              <a:t>The agent determines that is has access to a tool that can use an API to get meteorological information, and calls it</a:t>
            </a:r>
          </a:p>
          <a:p>
            <a:pPr marL="342900" indent="-342900" algn="l">
              <a:spcAft>
                <a:spcPts val="300"/>
              </a:spcAft>
              <a:buClr>
                <a:schemeClr val="accent4">
                  <a:lumMod val="75000"/>
                </a:schemeClr>
              </a:buClr>
              <a:buFont typeface="+mj-lt"/>
              <a:buAutoNum type="arabicPeriod"/>
            </a:pPr>
            <a:r>
              <a:rPr lang="en-US" sz="1500" dirty="0"/>
              <a:t>The tool returns the weather report, and the agent informs the user</a:t>
            </a:r>
          </a:p>
        </p:txBody>
      </p:sp>
      <p:grpSp>
        <p:nvGrpSpPr>
          <p:cNvPr id="7" name="Group 6">
            <a:extLst>
              <a:ext uri="{FF2B5EF4-FFF2-40B4-BE49-F238E27FC236}">
                <a16:creationId xmlns:a16="http://schemas.microsoft.com/office/drawing/2014/main" id="{67AED8C0-FA66-AEB6-8BC9-95159C8BCB9A}"/>
              </a:ext>
              <a:ext uri="{C183D7F6-B498-43B3-948B-1728B52AA6E4}">
                <adec:decorative xmlns:adec="http://schemas.microsoft.com/office/drawing/2017/decorative" val="1"/>
              </a:ext>
            </a:extLst>
          </p:cNvPr>
          <p:cNvGrpSpPr/>
          <p:nvPr/>
        </p:nvGrpSpPr>
        <p:grpSpPr>
          <a:xfrm>
            <a:off x="5910099" y="4259580"/>
            <a:ext cx="4940781" cy="1784352"/>
            <a:chOff x="5910099" y="4259580"/>
            <a:chExt cx="4940781" cy="1784352"/>
          </a:xfrm>
        </p:grpSpPr>
        <p:sp>
          <p:nvSpPr>
            <p:cNvPr id="6" name="Rectangle 5">
              <a:extLst>
                <a:ext uri="{FF2B5EF4-FFF2-40B4-BE49-F238E27FC236}">
                  <a16:creationId xmlns:a16="http://schemas.microsoft.com/office/drawing/2014/main" id="{03805BDA-0481-7A19-C8F7-FEC6C91001D2}"/>
                </a:ext>
              </a:extLst>
            </p:cNvPr>
            <p:cNvSpPr/>
            <p:nvPr/>
          </p:nvSpPr>
          <p:spPr bwMode="auto">
            <a:xfrm>
              <a:off x="5910099" y="4259580"/>
              <a:ext cx="4940781" cy="178435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 name="Group 1">
              <a:extLst>
                <a:ext uri="{FF2B5EF4-FFF2-40B4-BE49-F238E27FC236}">
                  <a16:creationId xmlns:a16="http://schemas.microsoft.com/office/drawing/2014/main" id="{2BCCE8B9-65FD-6D8A-2886-79B9D20075C9}"/>
                </a:ext>
                <a:ext uri="{C183D7F6-B498-43B3-948B-1728B52AA6E4}">
                  <adec:decorative xmlns:adec="http://schemas.microsoft.com/office/drawing/2017/decorative" val="1"/>
                </a:ext>
              </a:extLst>
            </p:cNvPr>
            <p:cNvGrpSpPr/>
            <p:nvPr/>
          </p:nvGrpSpPr>
          <p:grpSpPr>
            <a:xfrm>
              <a:off x="5910099" y="4344518"/>
              <a:ext cx="4834354" cy="1699414"/>
              <a:chOff x="5910099" y="4344518"/>
              <a:chExt cx="4834354" cy="1699414"/>
            </a:xfrm>
          </p:grpSpPr>
          <p:grpSp>
            <p:nvGrpSpPr>
              <p:cNvPr id="81" name="Group 80">
                <a:extLst>
                  <a:ext uri="{FF2B5EF4-FFF2-40B4-BE49-F238E27FC236}">
                    <a16:creationId xmlns:a16="http://schemas.microsoft.com/office/drawing/2014/main" id="{F710683C-69C9-2A6F-BC4E-220BBD3AB9E1}"/>
                  </a:ext>
                </a:extLst>
              </p:cNvPr>
              <p:cNvGrpSpPr/>
              <p:nvPr/>
            </p:nvGrpSpPr>
            <p:grpSpPr>
              <a:xfrm>
                <a:off x="5910099" y="4344518"/>
                <a:ext cx="4834354" cy="1699414"/>
                <a:chOff x="3760132" y="4128468"/>
                <a:chExt cx="4834354" cy="1699414"/>
              </a:xfrm>
            </p:grpSpPr>
            <p:pic>
              <p:nvPicPr>
                <p:cNvPr id="44" name="Graphic 43" descr="Single gear with solid fill">
                  <a:extLst>
                    <a:ext uri="{FF2B5EF4-FFF2-40B4-BE49-F238E27FC236}">
                      <a16:creationId xmlns:a16="http://schemas.microsoft.com/office/drawing/2014/main" id="{97345BD0-10C4-43DC-5094-9651A9199E4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38060" y="4720172"/>
                  <a:ext cx="496761" cy="496761"/>
                </a:xfrm>
                <a:prstGeom prst="rect">
                  <a:avLst/>
                </a:prstGeom>
              </p:spPr>
            </p:pic>
            <p:grpSp>
              <p:nvGrpSpPr>
                <p:cNvPr id="51" name="Group 50">
                  <a:extLst>
                    <a:ext uri="{FF2B5EF4-FFF2-40B4-BE49-F238E27FC236}">
                      <a16:creationId xmlns:a16="http://schemas.microsoft.com/office/drawing/2014/main" id="{D936EA7C-7651-1973-924E-01578658FB31}"/>
                    </a:ext>
                  </a:extLst>
                </p:cNvPr>
                <p:cNvGrpSpPr/>
                <p:nvPr/>
              </p:nvGrpSpPr>
              <p:grpSpPr>
                <a:xfrm>
                  <a:off x="7372886" y="4128468"/>
                  <a:ext cx="1221600" cy="1304763"/>
                  <a:chOff x="7498106" y="4272894"/>
                  <a:chExt cx="1221600" cy="1304763"/>
                </a:xfrm>
              </p:grpSpPr>
              <p:pic>
                <p:nvPicPr>
                  <p:cNvPr id="46" name="Graphic 45" descr="Mountains with solid fill">
                    <a:extLst>
                      <a:ext uri="{FF2B5EF4-FFF2-40B4-BE49-F238E27FC236}">
                        <a16:creationId xmlns:a16="http://schemas.microsoft.com/office/drawing/2014/main" id="{0E9425FA-9F23-913D-3E58-72E2FB1AB09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8106" y="4663257"/>
                    <a:ext cx="914400" cy="914400"/>
                  </a:xfrm>
                  <a:prstGeom prst="rect">
                    <a:avLst/>
                  </a:prstGeom>
                </p:spPr>
              </p:pic>
              <p:pic>
                <p:nvPicPr>
                  <p:cNvPr id="48" name="Graphic 47" descr="Snow outline">
                    <a:extLst>
                      <a:ext uri="{FF2B5EF4-FFF2-40B4-BE49-F238E27FC236}">
                        <a16:creationId xmlns:a16="http://schemas.microsoft.com/office/drawing/2014/main" id="{8B09C72D-2D31-FC3E-F553-1BEF5B1A67A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805306" y="4272894"/>
                    <a:ext cx="914400" cy="914400"/>
                  </a:xfrm>
                  <a:prstGeom prst="rect">
                    <a:avLst/>
                  </a:prstGeom>
                </p:spPr>
              </p:pic>
            </p:grpSp>
            <p:grpSp>
              <p:nvGrpSpPr>
                <p:cNvPr id="52" name="Group 51">
                  <a:extLst>
                    <a:ext uri="{FF2B5EF4-FFF2-40B4-BE49-F238E27FC236}">
                      <a16:creationId xmlns:a16="http://schemas.microsoft.com/office/drawing/2014/main" id="{BC61F14E-90D8-A224-671F-386FE82C153D}"/>
                    </a:ext>
                  </a:extLst>
                </p:cNvPr>
                <p:cNvGrpSpPr/>
                <p:nvPr/>
              </p:nvGrpSpPr>
              <p:grpSpPr>
                <a:xfrm>
                  <a:off x="5149659" y="4358926"/>
                  <a:ext cx="1025578" cy="1025578"/>
                  <a:chOff x="5638799" y="2971799"/>
                  <a:chExt cx="1505919" cy="1505919"/>
                </a:xfrm>
              </p:grpSpPr>
              <p:pic>
                <p:nvPicPr>
                  <p:cNvPr id="53" name="Graphic 52" descr="Robot outline">
                    <a:extLst>
                      <a:ext uri="{FF2B5EF4-FFF2-40B4-BE49-F238E27FC236}">
                        <a16:creationId xmlns:a16="http://schemas.microsoft.com/office/drawing/2014/main" id="{C08F5282-A6A5-D18A-74E0-34332FDD3E3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638799" y="2971799"/>
                    <a:ext cx="1505919" cy="1505919"/>
                  </a:xfrm>
                  <a:prstGeom prst="rect">
                    <a:avLst/>
                  </a:prstGeom>
                </p:spPr>
              </p:pic>
              <p:sp>
                <p:nvSpPr>
                  <p:cNvPr id="54" name="Rectangle 53">
                    <a:extLst>
                      <a:ext uri="{FF2B5EF4-FFF2-40B4-BE49-F238E27FC236}">
                        <a16:creationId xmlns:a16="http://schemas.microsoft.com/office/drawing/2014/main" id="{410E712D-4974-59A7-CD1A-07BD26FD5C03}"/>
                      </a:ext>
                    </a:extLst>
                  </p:cNvPr>
                  <p:cNvSpPr/>
                  <p:nvPr/>
                </p:nvSpPr>
                <p:spPr bwMode="auto">
                  <a:xfrm>
                    <a:off x="6160575" y="3680847"/>
                    <a:ext cx="464949" cy="41070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5" name="Picture 54" descr="A purple and blue hexagon with stars&#10;&#10;AI-generated content may be incorrect.">
                    <a:extLst>
                      <a:ext uri="{FF2B5EF4-FFF2-40B4-BE49-F238E27FC236}">
                        <a16:creationId xmlns:a16="http://schemas.microsoft.com/office/drawing/2014/main" id="{29A2AFE8-DFBF-9E8E-E42C-031E35FC27A6}"/>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6152000" y="3616156"/>
                    <a:ext cx="472014" cy="472014"/>
                  </a:xfrm>
                  <a:prstGeom prst="rect">
                    <a:avLst/>
                  </a:prstGeom>
                </p:spPr>
              </p:pic>
            </p:grpSp>
            <p:grpSp>
              <p:nvGrpSpPr>
                <p:cNvPr id="61" name="Group 60">
                  <a:extLst>
                    <a:ext uri="{FF2B5EF4-FFF2-40B4-BE49-F238E27FC236}">
                      <a16:creationId xmlns:a16="http://schemas.microsoft.com/office/drawing/2014/main" id="{7668E521-1B76-83EE-C4EE-86F8C7CCA01D}"/>
                    </a:ext>
                  </a:extLst>
                </p:cNvPr>
                <p:cNvGrpSpPr/>
                <p:nvPr/>
              </p:nvGrpSpPr>
              <p:grpSpPr>
                <a:xfrm>
                  <a:off x="4554278" y="4913482"/>
                  <a:ext cx="914400" cy="914400"/>
                  <a:chOff x="4659630" y="5359560"/>
                  <a:chExt cx="914400" cy="914400"/>
                </a:xfrm>
              </p:grpSpPr>
              <p:pic>
                <p:nvPicPr>
                  <p:cNvPr id="58" name="Graphic 57" descr="Speech outline">
                    <a:extLst>
                      <a:ext uri="{FF2B5EF4-FFF2-40B4-BE49-F238E27FC236}">
                        <a16:creationId xmlns:a16="http://schemas.microsoft.com/office/drawing/2014/main" id="{073B38CC-6356-E0B9-B3D3-D036D4EAD23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flipV="1">
                    <a:off x="4659630" y="5359560"/>
                    <a:ext cx="914400" cy="914400"/>
                  </a:xfrm>
                  <a:prstGeom prst="rect">
                    <a:avLst/>
                  </a:prstGeom>
                </p:spPr>
              </p:pic>
              <p:pic>
                <p:nvPicPr>
                  <p:cNvPr id="60" name="Graphic 59" descr="Snowflake outline">
                    <a:extLst>
                      <a:ext uri="{FF2B5EF4-FFF2-40B4-BE49-F238E27FC236}">
                        <a16:creationId xmlns:a16="http://schemas.microsoft.com/office/drawing/2014/main" id="{3DF338AD-F017-A6A3-CE7E-DA0EFE1503B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899729" y="5679612"/>
                    <a:ext cx="411271" cy="411271"/>
                  </a:xfrm>
                  <a:prstGeom prst="rect">
                    <a:avLst/>
                  </a:prstGeom>
                </p:spPr>
              </p:pic>
            </p:grpSp>
            <p:grpSp>
              <p:nvGrpSpPr>
                <p:cNvPr id="65" name="Group 64">
                  <a:extLst>
                    <a:ext uri="{FF2B5EF4-FFF2-40B4-BE49-F238E27FC236}">
                      <a16:creationId xmlns:a16="http://schemas.microsoft.com/office/drawing/2014/main" id="{9FF8DC88-CA76-9CA5-E9CA-451B5EF0C23F}"/>
                    </a:ext>
                  </a:extLst>
                </p:cNvPr>
                <p:cNvGrpSpPr/>
                <p:nvPr/>
              </p:nvGrpSpPr>
              <p:grpSpPr>
                <a:xfrm>
                  <a:off x="4271411" y="4233067"/>
                  <a:ext cx="914400" cy="914400"/>
                  <a:chOff x="4201514" y="4094038"/>
                  <a:chExt cx="914400" cy="914400"/>
                </a:xfrm>
              </p:grpSpPr>
              <p:pic>
                <p:nvPicPr>
                  <p:cNvPr id="40" name="Graphic 39" descr="Cross country skiing with solid fill">
                    <a:extLst>
                      <a:ext uri="{FF2B5EF4-FFF2-40B4-BE49-F238E27FC236}">
                        <a16:creationId xmlns:a16="http://schemas.microsoft.com/office/drawing/2014/main" id="{A53DD19A-2A48-0410-DD86-1789B265F6D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356822" y="4295394"/>
                    <a:ext cx="377495" cy="377495"/>
                  </a:xfrm>
                  <a:prstGeom prst="rect">
                    <a:avLst/>
                  </a:prstGeom>
                </p:spPr>
              </p:pic>
              <p:pic>
                <p:nvPicPr>
                  <p:cNvPr id="57" name="Graphic 56" descr="Speech outline">
                    <a:extLst>
                      <a:ext uri="{FF2B5EF4-FFF2-40B4-BE49-F238E27FC236}">
                        <a16:creationId xmlns:a16="http://schemas.microsoft.com/office/drawing/2014/main" id="{1C96CA84-F939-72B7-6610-4888304AFA2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flipH="1">
                    <a:off x="4201514" y="4094038"/>
                    <a:ext cx="914400" cy="914400"/>
                  </a:xfrm>
                  <a:prstGeom prst="rect">
                    <a:avLst/>
                  </a:prstGeom>
                </p:spPr>
              </p:pic>
              <p:sp>
                <p:nvSpPr>
                  <p:cNvPr id="64" name="TextBox 63">
                    <a:extLst>
                      <a:ext uri="{FF2B5EF4-FFF2-40B4-BE49-F238E27FC236}">
                        <a16:creationId xmlns:a16="http://schemas.microsoft.com/office/drawing/2014/main" id="{FC4A1F02-64BC-B08C-B075-84C7BA08F1AA}"/>
                      </a:ext>
                    </a:extLst>
                  </p:cNvPr>
                  <p:cNvSpPr txBox="1"/>
                  <p:nvPr/>
                </p:nvSpPr>
                <p:spPr>
                  <a:xfrm>
                    <a:off x="4750859" y="4304420"/>
                    <a:ext cx="115416" cy="307777"/>
                  </a:xfrm>
                  <a:prstGeom prst="rect">
                    <a:avLst/>
                  </a:prstGeom>
                  <a:noFill/>
                </p:spPr>
                <p:txBody>
                  <a:bodyPr wrap="none" lIns="0" tIns="0" rIns="0" bIns="0" rtlCol="0">
                    <a:spAutoFit/>
                  </a:bodyPr>
                  <a:lstStyle/>
                  <a:p>
                    <a:pPr algn="l"/>
                    <a:r>
                      <a:rPr lang="en-US" sz="2000" dirty="0"/>
                      <a:t>?</a:t>
                    </a:r>
                  </a:p>
                </p:txBody>
              </p:sp>
            </p:grpSp>
            <p:pic>
              <p:nvPicPr>
                <p:cNvPr id="67" name="Graphic 66" descr="Male profile with solid fill">
                  <a:extLst>
                    <a:ext uri="{FF2B5EF4-FFF2-40B4-BE49-F238E27FC236}">
                      <a16:creationId xmlns:a16="http://schemas.microsoft.com/office/drawing/2014/main" id="{775B6693-F089-0776-F58A-0F1F825501C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760132" y="4663786"/>
                  <a:ext cx="914400" cy="914400"/>
                </a:xfrm>
                <a:prstGeom prst="rect">
                  <a:avLst/>
                </a:prstGeom>
              </p:spPr>
            </p:pic>
            <p:cxnSp>
              <p:nvCxnSpPr>
                <p:cNvPr id="72" name="Straight Arrow Connector 71">
                  <a:extLst>
                    <a:ext uri="{FF2B5EF4-FFF2-40B4-BE49-F238E27FC236}">
                      <a16:creationId xmlns:a16="http://schemas.microsoft.com/office/drawing/2014/main" id="{E223BD2F-E56E-D248-F2B8-8909F70C7497}"/>
                    </a:ext>
                  </a:extLst>
                </p:cNvPr>
                <p:cNvCxnSpPr>
                  <a:stCxn id="55" idx="3"/>
                  <a:endCxn id="44" idx="1"/>
                </p:cNvCxnSpPr>
                <p:nvPr/>
              </p:nvCxnSpPr>
              <p:spPr>
                <a:xfrm>
                  <a:off x="5820621" y="4958481"/>
                  <a:ext cx="317439" cy="10072"/>
                </a:xfrm>
                <a:prstGeom prst="straightConnector1">
                  <a:avLst/>
                </a:prstGeom>
                <a:ln w="38100">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CF0FA41-69BB-79AD-B141-ABFA33FB9C7C}"/>
                    </a:ext>
                  </a:extLst>
                </p:cNvPr>
                <p:cNvCxnSpPr>
                  <a:cxnSpLocks/>
                </p:cNvCxnSpPr>
                <p:nvPr/>
              </p:nvCxnSpPr>
              <p:spPr>
                <a:xfrm>
                  <a:off x="6634821" y="4960933"/>
                  <a:ext cx="738065" cy="7478"/>
                </a:xfrm>
                <a:prstGeom prst="straightConnector1">
                  <a:avLst/>
                </a:prstGeom>
                <a:ln w="38100">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89" name="Graphic 88" descr="Badge with solid fill">
                <a:extLst>
                  <a:ext uri="{FF2B5EF4-FFF2-40B4-BE49-F238E27FC236}">
                    <a16:creationId xmlns:a16="http://schemas.microsoft.com/office/drawing/2014/main" id="{3D7C6A30-6BA4-F12F-2C15-6FE7891F895B}"/>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403598" y="4643651"/>
                <a:ext cx="391138" cy="391138"/>
              </a:xfrm>
              <a:prstGeom prst="rect">
                <a:avLst/>
              </a:prstGeom>
            </p:spPr>
          </p:pic>
          <p:pic>
            <p:nvPicPr>
              <p:cNvPr id="91" name="Graphic 90" descr="Badge 3 with solid fill">
                <a:extLst>
                  <a:ext uri="{FF2B5EF4-FFF2-40B4-BE49-F238E27FC236}">
                    <a16:creationId xmlns:a16="http://schemas.microsoft.com/office/drawing/2014/main" id="{B5A758AB-D0B6-100C-F070-B27F5D24781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465386" y="5582315"/>
                <a:ext cx="391138" cy="391138"/>
              </a:xfrm>
              <a:prstGeom prst="rect">
                <a:avLst/>
              </a:prstGeom>
            </p:spPr>
          </p:pic>
          <p:pic>
            <p:nvPicPr>
              <p:cNvPr id="93" name="Graphic 92" descr="Badge 1 with solid fill">
                <a:extLst>
                  <a:ext uri="{FF2B5EF4-FFF2-40B4-BE49-F238E27FC236}">
                    <a16:creationId xmlns:a16="http://schemas.microsoft.com/office/drawing/2014/main" id="{0EEA539F-472D-0A65-0564-629D9C71BF3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077566" y="4464990"/>
                <a:ext cx="391138" cy="391138"/>
              </a:xfrm>
              <a:prstGeom prst="rect">
                <a:avLst/>
              </a:prstGeom>
            </p:spPr>
          </p:pic>
        </p:grpSp>
      </p:grpSp>
      <p:sp>
        <p:nvSpPr>
          <p:cNvPr id="3" name="Footer Placeholder 2">
            <a:extLst>
              <a:ext uri="{FF2B5EF4-FFF2-40B4-BE49-F238E27FC236}">
                <a16:creationId xmlns:a16="http://schemas.microsoft.com/office/drawing/2014/main" id="{91F7F9E8-CC27-F623-2389-ED78A1C35272}"/>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402119263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F32703E-42D7-CB95-1230-7A8E674653D6}"/>
              </a:ext>
              <a:ext uri="{C183D7F6-B498-43B3-948B-1728B52AA6E4}">
                <adec:decorative xmlns:adec="http://schemas.microsoft.com/office/drawing/2017/decorative" val="1"/>
              </a:ext>
            </a:extLst>
          </p:cNvPr>
          <p:cNvSpPr/>
          <p:nvPr/>
        </p:nvSpPr>
        <p:spPr bwMode="auto">
          <a:xfrm>
            <a:off x="579438" y="2125980"/>
            <a:ext cx="3450590" cy="394716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C2843B74-D09D-CE21-8762-1CF42D89BD65}"/>
              </a:ext>
              <a:ext uri="{C183D7F6-B498-43B3-948B-1728B52AA6E4}">
                <adec:decorative xmlns:adec="http://schemas.microsoft.com/office/drawing/2017/decorative" val="1"/>
              </a:ext>
            </a:extLst>
          </p:cNvPr>
          <p:cNvSpPr/>
          <p:nvPr/>
        </p:nvSpPr>
        <p:spPr bwMode="auto">
          <a:xfrm>
            <a:off x="4425950" y="2125980"/>
            <a:ext cx="3450590" cy="394716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5" name="Rectangle 24">
            <a:extLst>
              <a:ext uri="{FF2B5EF4-FFF2-40B4-BE49-F238E27FC236}">
                <a16:creationId xmlns:a16="http://schemas.microsoft.com/office/drawing/2014/main" id="{B9A2933C-CBAE-1DB6-D6F3-31480078DB1C}"/>
              </a:ext>
              <a:ext uri="{C183D7F6-B498-43B3-948B-1728B52AA6E4}">
                <adec:decorative xmlns:adec="http://schemas.microsoft.com/office/drawing/2017/decorative" val="1"/>
              </a:ext>
            </a:extLst>
          </p:cNvPr>
          <p:cNvSpPr/>
          <p:nvPr/>
        </p:nvSpPr>
        <p:spPr bwMode="auto">
          <a:xfrm>
            <a:off x="8272462" y="2125980"/>
            <a:ext cx="3450590" cy="394716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Title 9">
            <a:extLst>
              <a:ext uri="{FF2B5EF4-FFF2-40B4-BE49-F238E27FC236}">
                <a16:creationId xmlns:a16="http://schemas.microsoft.com/office/drawing/2014/main" id="{E52BAD30-8027-FA13-6B51-F91741D8358D}"/>
              </a:ext>
            </a:extLst>
          </p:cNvPr>
          <p:cNvSpPr>
            <a:spLocks noGrp="1"/>
          </p:cNvSpPr>
          <p:nvPr>
            <p:ph type="title"/>
          </p:nvPr>
        </p:nvSpPr>
        <p:spPr>
          <a:xfrm>
            <a:off x="588262" y="585216"/>
            <a:ext cx="9873998" cy="492443"/>
          </a:xfrm>
        </p:spPr>
        <p:txBody>
          <a:bodyPr/>
          <a:lstStyle/>
          <a:p>
            <a:r>
              <a:rPr lang="en-US" sz="3200" dirty="0"/>
              <a:t>Options for integrating custom tool functionality</a:t>
            </a:r>
          </a:p>
        </p:txBody>
      </p:sp>
      <p:pic>
        <p:nvPicPr>
          <p:cNvPr id="12" name="Graphic 11">
            <a:extLst>
              <a:ext uri="{FF2B5EF4-FFF2-40B4-BE49-F238E27FC236}">
                <a16:creationId xmlns:a16="http://schemas.microsoft.com/office/drawing/2014/main" id="{707ECC9A-65EB-EDAE-EC10-652802EE42D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31055" y="2251272"/>
            <a:ext cx="551612" cy="551612"/>
          </a:xfrm>
          <a:prstGeom prst="rect">
            <a:avLst/>
          </a:prstGeom>
        </p:spPr>
      </p:pic>
      <p:pic>
        <p:nvPicPr>
          <p:cNvPr id="14" name="Graphic 13">
            <a:extLst>
              <a:ext uri="{FF2B5EF4-FFF2-40B4-BE49-F238E27FC236}">
                <a16:creationId xmlns:a16="http://schemas.microsoft.com/office/drawing/2014/main" id="{27051B10-E836-F977-C3FF-5AFE29CDCB1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04223" y="2155515"/>
            <a:ext cx="647369" cy="647369"/>
          </a:xfrm>
          <a:prstGeom prst="rect">
            <a:avLst/>
          </a:prstGeom>
        </p:spPr>
      </p:pic>
      <p:grpSp>
        <p:nvGrpSpPr>
          <p:cNvPr id="22" name="Group 21">
            <a:extLst>
              <a:ext uri="{FF2B5EF4-FFF2-40B4-BE49-F238E27FC236}">
                <a16:creationId xmlns:a16="http://schemas.microsoft.com/office/drawing/2014/main" id="{7BCF5B10-606D-1E67-84C2-82C0962CB362}"/>
              </a:ext>
              <a:ext uri="{C183D7F6-B498-43B3-948B-1728B52AA6E4}">
                <adec:decorative xmlns:adec="http://schemas.microsoft.com/office/drawing/2017/decorative" val="1"/>
              </a:ext>
            </a:extLst>
          </p:cNvPr>
          <p:cNvGrpSpPr/>
          <p:nvPr/>
        </p:nvGrpSpPr>
        <p:grpSpPr>
          <a:xfrm>
            <a:off x="654050" y="2276355"/>
            <a:ext cx="647369" cy="647369"/>
            <a:chOff x="3968750" y="3429000"/>
            <a:chExt cx="914400" cy="914400"/>
          </a:xfrm>
        </p:grpSpPr>
        <p:pic>
          <p:nvPicPr>
            <p:cNvPr id="18" name="Graphic 17" descr="Paper with solid fill">
              <a:extLst>
                <a:ext uri="{FF2B5EF4-FFF2-40B4-BE49-F238E27FC236}">
                  <a16:creationId xmlns:a16="http://schemas.microsoft.com/office/drawing/2014/main" id="{478F3A0D-CA16-041E-5E90-4052090D46F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968750" y="3429000"/>
              <a:ext cx="914400" cy="914400"/>
            </a:xfrm>
            <a:prstGeom prst="rect">
              <a:avLst/>
            </a:prstGeom>
          </p:spPr>
        </p:pic>
        <p:sp>
          <p:nvSpPr>
            <p:cNvPr id="21" name="TextBox 20">
              <a:extLst>
                <a:ext uri="{FF2B5EF4-FFF2-40B4-BE49-F238E27FC236}">
                  <a16:creationId xmlns:a16="http://schemas.microsoft.com/office/drawing/2014/main" id="{D8869CBE-AD73-0853-6B10-127082601AEA}"/>
                </a:ext>
              </a:extLst>
            </p:cNvPr>
            <p:cNvSpPr txBox="1"/>
            <p:nvPr/>
          </p:nvSpPr>
          <p:spPr>
            <a:xfrm>
              <a:off x="4244812" y="3783143"/>
              <a:ext cx="362275" cy="260838"/>
            </a:xfrm>
            <a:prstGeom prst="rect">
              <a:avLst/>
            </a:prstGeom>
            <a:noFill/>
          </p:spPr>
          <p:txBody>
            <a:bodyPr wrap="none" lIns="0" tIns="0" rIns="0" bIns="0" rtlCol="0">
              <a:spAutoFit/>
            </a:bodyPr>
            <a:lstStyle/>
            <a:p>
              <a:pPr algn="l"/>
              <a:r>
                <a:rPr lang="en-US" sz="1200" dirty="0">
                  <a:latin typeface="+mj-lt"/>
                </a:rPr>
                <a:t>&lt; &gt;</a:t>
              </a:r>
            </a:p>
          </p:txBody>
        </p:sp>
      </p:grpSp>
      <p:sp>
        <p:nvSpPr>
          <p:cNvPr id="26" name="TextBox 25">
            <a:extLst>
              <a:ext uri="{FF2B5EF4-FFF2-40B4-BE49-F238E27FC236}">
                <a16:creationId xmlns:a16="http://schemas.microsoft.com/office/drawing/2014/main" id="{DE7C5173-B9DB-CD8C-D925-1EF83FCBA0EB}"/>
              </a:ext>
            </a:extLst>
          </p:cNvPr>
          <p:cNvSpPr txBox="1"/>
          <p:nvPr/>
        </p:nvSpPr>
        <p:spPr>
          <a:xfrm>
            <a:off x="1376031" y="2461539"/>
            <a:ext cx="1660711" cy="276999"/>
          </a:xfrm>
          <a:prstGeom prst="rect">
            <a:avLst/>
          </a:prstGeom>
          <a:noFill/>
        </p:spPr>
        <p:txBody>
          <a:bodyPr wrap="none" lIns="0" tIns="0" rIns="0" bIns="0" rtlCol="0">
            <a:spAutoFit/>
          </a:bodyPr>
          <a:lstStyle/>
          <a:p>
            <a:pPr algn="l"/>
            <a:r>
              <a:rPr lang="en-US" sz="1800" dirty="0">
                <a:latin typeface="+mj-lt"/>
              </a:rPr>
              <a:t>Function calling</a:t>
            </a:r>
          </a:p>
        </p:txBody>
      </p:sp>
      <p:sp>
        <p:nvSpPr>
          <p:cNvPr id="29" name="TextBox 28">
            <a:extLst>
              <a:ext uri="{FF2B5EF4-FFF2-40B4-BE49-F238E27FC236}">
                <a16:creationId xmlns:a16="http://schemas.microsoft.com/office/drawing/2014/main" id="{49962992-7595-0B11-3578-85C1DBF4F928}"/>
              </a:ext>
            </a:extLst>
          </p:cNvPr>
          <p:cNvSpPr txBox="1"/>
          <p:nvPr/>
        </p:nvSpPr>
        <p:spPr>
          <a:xfrm>
            <a:off x="790578" y="3059687"/>
            <a:ext cx="2831615" cy="2708434"/>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600" dirty="0"/>
              <a:t>Provide a set of callable functions in your agent code (multiple languages supported)</a:t>
            </a:r>
          </a:p>
          <a:p>
            <a:pPr marL="285750" indent="-285750">
              <a:buFont typeface="Arial" panose="020B0604020202020204" pitchFamily="34" charset="0"/>
              <a:buChar char="•"/>
            </a:pPr>
            <a:r>
              <a:rPr lang="en-US" sz="1600" dirty="0"/>
              <a:t>The agent dynamically identifies appropriate functions based on their definitions</a:t>
            </a:r>
          </a:p>
          <a:p>
            <a:pPr marL="285750" indent="-285750">
              <a:buFont typeface="Arial" panose="020B0604020202020204" pitchFamily="34" charset="0"/>
              <a:buChar char="•"/>
            </a:pPr>
            <a:r>
              <a:rPr lang="en-US" sz="1600" dirty="0"/>
              <a:t>Useful for integrating custom logic and workflows into AI agents</a:t>
            </a:r>
          </a:p>
        </p:txBody>
      </p:sp>
      <p:sp>
        <p:nvSpPr>
          <p:cNvPr id="27" name="TextBox 26">
            <a:extLst>
              <a:ext uri="{FF2B5EF4-FFF2-40B4-BE49-F238E27FC236}">
                <a16:creationId xmlns:a16="http://schemas.microsoft.com/office/drawing/2014/main" id="{975A8C90-62FB-0924-EBE7-8DC39F22CD68}"/>
              </a:ext>
            </a:extLst>
          </p:cNvPr>
          <p:cNvSpPr txBox="1"/>
          <p:nvPr/>
        </p:nvSpPr>
        <p:spPr>
          <a:xfrm>
            <a:off x="5323694" y="2434745"/>
            <a:ext cx="1677895" cy="276999"/>
          </a:xfrm>
          <a:prstGeom prst="rect">
            <a:avLst/>
          </a:prstGeom>
          <a:noFill/>
        </p:spPr>
        <p:txBody>
          <a:bodyPr wrap="none" lIns="0" tIns="0" rIns="0" bIns="0" rtlCol="0">
            <a:spAutoFit/>
          </a:bodyPr>
          <a:lstStyle/>
          <a:p>
            <a:pPr algn="l"/>
            <a:r>
              <a:rPr lang="en-US" sz="1800" dirty="0">
                <a:latin typeface="+mj-lt"/>
              </a:rPr>
              <a:t>Azure Functions</a:t>
            </a:r>
          </a:p>
        </p:txBody>
      </p:sp>
      <p:sp>
        <p:nvSpPr>
          <p:cNvPr id="30" name="TextBox 29">
            <a:extLst>
              <a:ext uri="{FF2B5EF4-FFF2-40B4-BE49-F238E27FC236}">
                <a16:creationId xmlns:a16="http://schemas.microsoft.com/office/drawing/2014/main" id="{595EEC08-44FB-C323-301A-CB077EB6468B}"/>
              </a:ext>
            </a:extLst>
          </p:cNvPr>
          <p:cNvSpPr txBox="1"/>
          <p:nvPr/>
        </p:nvSpPr>
        <p:spPr>
          <a:xfrm>
            <a:off x="4631055" y="3059687"/>
            <a:ext cx="2668905" cy="2215991"/>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600" dirty="0"/>
              <a:t>Provide trigger and binding details for Azure functions you want the agent to call</a:t>
            </a:r>
          </a:p>
          <a:p>
            <a:pPr marL="285750" indent="-285750" algn="l">
              <a:buFont typeface="Arial" panose="020B0604020202020204" pitchFamily="34" charset="0"/>
              <a:buChar char="•"/>
            </a:pPr>
            <a:r>
              <a:rPr lang="en-US" sz="1600" dirty="0"/>
              <a:t>Useful for integrating scalable, event-driven serverless application logic into an agent solution</a:t>
            </a:r>
            <a:endParaRPr lang="en-US" sz="1400" dirty="0"/>
          </a:p>
        </p:txBody>
      </p:sp>
      <p:sp>
        <p:nvSpPr>
          <p:cNvPr id="28" name="TextBox 27">
            <a:extLst>
              <a:ext uri="{FF2B5EF4-FFF2-40B4-BE49-F238E27FC236}">
                <a16:creationId xmlns:a16="http://schemas.microsoft.com/office/drawing/2014/main" id="{38BB0F56-0474-28B1-CD8E-1A2B04D71AFD}"/>
              </a:ext>
            </a:extLst>
          </p:cNvPr>
          <p:cNvSpPr txBox="1"/>
          <p:nvPr/>
        </p:nvSpPr>
        <p:spPr>
          <a:xfrm>
            <a:off x="9271357" y="2407951"/>
            <a:ext cx="1490793" cy="276999"/>
          </a:xfrm>
          <a:prstGeom prst="rect">
            <a:avLst/>
          </a:prstGeom>
          <a:noFill/>
        </p:spPr>
        <p:txBody>
          <a:bodyPr wrap="none" lIns="0" tIns="0" rIns="0" bIns="0" rtlCol="0">
            <a:spAutoFit/>
          </a:bodyPr>
          <a:lstStyle/>
          <a:p>
            <a:pPr algn="l"/>
            <a:r>
              <a:rPr lang="en-US" sz="1800" dirty="0" err="1">
                <a:latin typeface="+mj-lt"/>
              </a:rPr>
              <a:t>OpenAPI</a:t>
            </a:r>
            <a:r>
              <a:rPr lang="en-US" sz="1800" dirty="0">
                <a:latin typeface="+mj-lt"/>
              </a:rPr>
              <a:t> Spec</a:t>
            </a:r>
          </a:p>
        </p:txBody>
      </p:sp>
      <p:sp>
        <p:nvSpPr>
          <p:cNvPr id="31" name="TextBox 30">
            <a:extLst>
              <a:ext uri="{FF2B5EF4-FFF2-40B4-BE49-F238E27FC236}">
                <a16:creationId xmlns:a16="http://schemas.microsoft.com/office/drawing/2014/main" id="{C92D8864-A35B-07F4-5746-229F86D40E2E}"/>
              </a:ext>
            </a:extLst>
          </p:cNvPr>
          <p:cNvSpPr txBox="1"/>
          <p:nvPr/>
        </p:nvSpPr>
        <p:spPr>
          <a:xfrm>
            <a:off x="8509635" y="3054705"/>
            <a:ext cx="2668905" cy="1723549"/>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600" dirty="0"/>
              <a:t>Connect to an external function using the </a:t>
            </a:r>
            <a:r>
              <a:rPr lang="en-US" sz="1600" dirty="0" err="1"/>
              <a:t>OpenAPI</a:t>
            </a:r>
            <a:r>
              <a:rPr lang="en-US" sz="1600" dirty="0"/>
              <a:t> 3.0 standard</a:t>
            </a:r>
          </a:p>
          <a:p>
            <a:pPr marL="285750" indent="-285750" algn="l">
              <a:buFont typeface="Arial" panose="020B0604020202020204" pitchFamily="34" charset="0"/>
              <a:buChar char="•"/>
            </a:pPr>
            <a:r>
              <a:rPr lang="en-US" sz="1600" dirty="0"/>
              <a:t>Useful for integrating custom or third-party services into an agent solution</a:t>
            </a:r>
            <a:endParaRPr lang="en-US" sz="1400" dirty="0"/>
          </a:p>
        </p:txBody>
      </p:sp>
      <p:sp>
        <p:nvSpPr>
          <p:cNvPr id="9" name="Footer Placeholder 8">
            <a:extLst>
              <a:ext uri="{FF2B5EF4-FFF2-40B4-BE49-F238E27FC236}">
                <a16:creationId xmlns:a16="http://schemas.microsoft.com/office/drawing/2014/main" id="{4E96058F-3C7E-0E58-2FB2-4053B658E435}"/>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416628628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2A2E3-8F08-05B7-C714-FE0FA0E71325}"/>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115BAFD-FC9F-22EB-5643-9AAF9806EF5A}"/>
              </a:ext>
              <a:ext uri="{C183D7F6-B498-43B3-948B-1728B52AA6E4}">
                <adec:decorative xmlns:adec="http://schemas.microsoft.com/office/drawing/2017/decorative" val="1"/>
              </a:ext>
            </a:extLst>
          </p:cNvPr>
          <p:cNvSpPr>
            <a:spLocks noGrp="1"/>
          </p:cNvSpPr>
          <p:nvPr>
            <p:ph type="pic" sz="quarter" idx="20"/>
          </p:nvPr>
        </p:nvSpPr>
        <p:spPr/>
        <p:txBody>
          <a:bodyPr/>
          <a:lstStyle/>
          <a:p>
            <a:endParaRPr lang="en-US"/>
          </a:p>
        </p:txBody>
      </p:sp>
      <p:sp>
        <p:nvSpPr>
          <p:cNvPr id="5" name="Title 4">
            <a:extLst>
              <a:ext uri="{FF2B5EF4-FFF2-40B4-BE49-F238E27FC236}">
                <a16:creationId xmlns:a16="http://schemas.microsoft.com/office/drawing/2014/main" id="{1A4DEF1D-78B1-47D4-5D36-22387497FA4D}"/>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D77BFDC6-8FFC-0AC7-E80C-622A83A80B6C}"/>
              </a:ext>
            </a:extLst>
          </p:cNvPr>
          <p:cNvSpPr>
            <a:spLocks noGrp="1"/>
          </p:cNvSpPr>
          <p:nvPr>
            <p:ph type="body" sz="quarter" idx="16"/>
          </p:nvPr>
        </p:nvSpPr>
        <p:spPr>
          <a:xfrm>
            <a:off x="584199" y="1594155"/>
            <a:ext cx="5654573" cy="307777"/>
          </a:xfrm>
        </p:spPr>
        <p:txBody>
          <a:bodyPr/>
          <a:lstStyle/>
          <a:p>
            <a:r>
              <a:rPr lang="en-US" sz="2000" dirty="0"/>
              <a:t>Use a custom function in an AI agent</a:t>
            </a:r>
          </a:p>
        </p:txBody>
      </p:sp>
      <p:sp>
        <p:nvSpPr>
          <p:cNvPr id="6" name="Text Placeholder 5">
            <a:extLst>
              <a:ext uri="{FF2B5EF4-FFF2-40B4-BE49-F238E27FC236}">
                <a16:creationId xmlns:a16="http://schemas.microsoft.com/office/drawing/2014/main" id="{24A84B2A-F3B6-584F-7724-341E74E64E85}"/>
              </a:ext>
            </a:extLst>
          </p:cNvPr>
          <p:cNvSpPr>
            <a:spLocks noGrp="1"/>
          </p:cNvSpPr>
          <p:nvPr>
            <p:ph type="body" sz="quarter" idx="15"/>
          </p:nvPr>
        </p:nvSpPr>
        <p:spPr>
          <a:xfrm>
            <a:off x="586389" y="2085764"/>
            <a:ext cx="5652201" cy="984885"/>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the Foundry Agent SDK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 custom function for an agent to use</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an agent that uses the custom function</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Invoke a chat session with the agent</a:t>
            </a:r>
          </a:p>
        </p:txBody>
      </p:sp>
      <p:sp>
        <p:nvSpPr>
          <p:cNvPr id="10" name="TextBox 9">
            <a:extLst>
              <a:ext uri="{FF2B5EF4-FFF2-40B4-BE49-F238E27FC236}">
                <a16:creationId xmlns:a16="http://schemas.microsoft.com/office/drawing/2014/main" id="{CBA7045D-20BA-C01A-5926-942713BAF3EB}"/>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https://go.microsoft.com/fwlink/?linkid=2309805</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FF2366E7-1A8B-28EE-B92A-129F250102BF}"/>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 name="Picture 8">
            <a:extLst>
              <a:ext uri="{FF2B5EF4-FFF2-40B4-BE49-F238E27FC236}">
                <a16:creationId xmlns:a16="http://schemas.microsoft.com/office/drawing/2014/main" id="{942605AE-688A-BB0B-A977-45D81DE00B93}"/>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09535" y="2026286"/>
            <a:ext cx="4554307" cy="3366857"/>
          </a:xfrm>
          <a:prstGeom prst="rect">
            <a:avLst/>
          </a:prstGeom>
        </p:spPr>
      </p:pic>
      <p:sp>
        <p:nvSpPr>
          <p:cNvPr id="11" name="Flowchart: Off-page Connector 44">
            <a:extLst>
              <a:ext uri="{FF2B5EF4-FFF2-40B4-BE49-F238E27FC236}">
                <a16:creationId xmlns:a16="http://schemas.microsoft.com/office/drawing/2014/main" id="{111404A1-F1ED-B479-1BC2-23F7452A3F97}"/>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lang="en-US" sz="1400" kern="0" dirty="0">
                <a:solidFill>
                  <a:srgbClr val="FFFFFF"/>
                </a:solidFill>
                <a:latin typeface="Segoe UI"/>
                <a:ea typeface="Segoe UI" pitchFamily="34" charset="0"/>
                <a:cs typeface="Segoe UI" pitchFamily="34" charset="0"/>
              </a:rPr>
              <a:t>(then remove this arrow)</a:t>
            </a:r>
            <a:endPar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05021533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E012C-07D4-0D83-D55A-7DFA5F6B6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BFA38-B7E9-4D9A-C0F2-7C7D67616FC9}"/>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2E22E931-ADCF-D293-85A5-045214B913DB}"/>
              </a:ext>
            </a:extLst>
          </p:cNvPr>
          <p:cNvSpPr>
            <a:spLocks noGrp="1"/>
          </p:cNvSpPr>
          <p:nvPr>
            <p:ph type="body" sz="quarter" idx="17"/>
          </p:nvPr>
        </p:nvSpPr>
        <p:spPr>
          <a:xfrm>
            <a:off x="1235075" y="1687706"/>
            <a:ext cx="8778782" cy="215444"/>
          </a:xfrm>
        </p:spPr>
        <p:txBody>
          <a:bodyPr/>
          <a:lstStyle/>
          <a:p>
            <a:pPr>
              <a:buNone/>
            </a:pPr>
            <a:r>
              <a:rPr lang="en-US" noProof="0" dirty="0"/>
              <a:t>What are custom tools, and how can they help you develop effective agents with Foundry Agent Service?</a:t>
            </a:r>
          </a:p>
        </p:txBody>
      </p:sp>
      <p:sp>
        <p:nvSpPr>
          <p:cNvPr id="9" name="Text Placeholder 8">
            <a:extLst>
              <a:ext uri="{FF2B5EF4-FFF2-40B4-BE49-F238E27FC236}">
                <a16:creationId xmlns:a16="http://schemas.microsoft.com/office/drawing/2014/main" id="{5D5CDB8F-1104-3F7F-80DB-2FDF07D18129}"/>
              </a:ext>
            </a:extLst>
          </p:cNvPr>
          <p:cNvSpPr>
            <a:spLocks noGrp="1"/>
          </p:cNvSpPr>
          <p:nvPr>
            <p:ph type="body" sz="quarter" idx="15"/>
          </p:nvPr>
        </p:nvSpPr>
        <p:spPr>
          <a:xfrm>
            <a:off x="1235075" y="2012919"/>
            <a:ext cx="8775098" cy="732508"/>
          </a:xfrm>
          <a:noFill/>
        </p:spPr>
        <p:txBody>
          <a:bodyPr/>
          <a:lstStyle/>
          <a:p>
            <a:r>
              <a:rPr lang="en-US" noProof="0" dirty="0">
                <a:solidFill>
                  <a:srgbClr val="000000"/>
                </a:solidFill>
              </a:rPr>
              <a:t>Callable functions that an agent can use to extend its capabilities</a:t>
            </a:r>
          </a:p>
          <a:p>
            <a:r>
              <a:rPr lang="en-US" noProof="0" dirty="0"/>
              <a:t>Extensions for Visual Studio Code that make it easier to create and deploy agents</a:t>
            </a:r>
          </a:p>
          <a:p>
            <a:r>
              <a:rPr lang="en-US" noProof="0" dirty="0"/>
              <a:t>Fine-tuned models that the agent can use to generate custom output</a:t>
            </a:r>
          </a:p>
        </p:txBody>
      </p:sp>
      <p:sp>
        <p:nvSpPr>
          <p:cNvPr id="18" name="Text Placeholder 17">
            <a:extLst>
              <a:ext uri="{FF2B5EF4-FFF2-40B4-BE49-F238E27FC236}">
                <a16:creationId xmlns:a16="http://schemas.microsoft.com/office/drawing/2014/main" id="{B291C371-BDEE-6CB4-510F-6061DF35779B}"/>
              </a:ext>
            </a:extLst>
          </p:cNvPr>
          <p:cNvSpPr>
            <a:spLocks noGrp="1"/>
          </p:cNvSpPr>
          <p:nvPr>
            <p:ph type="body" sz="quarter" idx="22"/>
          </p:nvPr>
        </p:nvSpPr>
        <p:spPr>
          <a:xfrm>
            <a:off x="1235074" y="3153050"/>
            <a:ext cx="9082405" cy="430887"/>
          </a:xfrm>
        </p:spPr>
        <p:txBody>
          <a:bodyPr/>
          <a:lstStyle/>
          <a:p>
            <a:r>
              <a:rPr lang="en-US" noProof="0" dirty="0"/>
              <a:t>You need to integrate functionality from an </a:t>
            </a:r>
            <a:r>
              <a:rPr lang="en-US" noProof="0" dirty="0" err="1"/>
              <a:t>OpenAPI</a:t>
            </a:r>
            <a:r>
              <a:rPr lang="en-US" noProof="0" dirty="0"/>
              <a:t> 3.0-based web service into an agent solution. What should you do?</a:t>
            </a:r>
            <a:endParaRPr lang="en-US" b="1" noProof="0" dirty="0"/>
          </a:p>
        </p:txBody>
      </p:sp>
      <p:sp>
        <p:nvSpPr>
          <p:cNvPr id="19" name="Text Placeholder 18">
            <a:extLst>
              <a:ext uri="{FF2B5EF4-FFF2-40B4-BE49-F238E27FC236}">
                <a16:creationId xmlns:a16="http://schemas.microsoft.com/office/drawing/2014/main" id="{47A27292-88E8-1863-1174-69EE9912DA28}"/>
              </a:ext>
            </a:extLst>
          </p:cNvPr>
          <p:cNvSpPr>
            <a:spLocks noGrp="1"/>
          </p:cNvSpPr>
          <p:nvPr>
            <p:ph type="body" sz="quarter" idx="23"/>
          </p:nvPr>
        </p:nvSpPr>
        <p:spPr>
          <a:xfrm>
            <a:off x="1237265" y="3631431"/>
            <a:ext cx="8775098" cy="732508"/>
          </a:xfrm>
        </p:spPr>
        <p:txBody>
          <a:bodyPr/>
          <a:lstStyle/>
          <a:p>
            <a:r>
              <a:rPr lang="en-US" noProof="0" dirty="0"/>
              <a:t>Add the JSON schema of the web service to the agent's instructions</a:t>
            </a:r>
          </a:p>
          <a:p>
            <a:r>
              <a:rPr lang="en-US" noProof="0" dirty="0"/>
              <a:t>Rewrite the web service as a Python function and hard-code it in your agent app</a:t>
            </a:r>
          </a:p>
          <a:p>
            <a:r>
              <a:rPr lang="en-US" noProof="0" dirty="0"/>
              <a:t>Add the web service as an </a:t>
            </a:r>
            <a:r>
              <a:rPr lang="en-US" noProof="0" dirty="0" err="1"/>
              <a:t>OpenAPI</a:t>
            </a:r>
            <a:r>
              <a:rPr lang="en-US" noProof="0" dirty="0"/>
              <a:t> specification tool to the agent definition</a:t>
            </a:r>
          </a:p>
        </p:txBody>
      </p:sp>
      <p:sp>
        <p:nvSpPr>
          <p:cNvPr id="15" name="Text Placeholder 14">
            <a:extLst>
              <a:ext uri="{FF2B5EF4-FFF2-40B4-BE49-F238E27FC236}">
                <a16:creationId xmlns:a16="http://schemas.microsoft.com/office/drawing/2014/main" id="{55D08846-7242-9940-E1C9-452FF1883CBF}"/>
              </a:ext>
            </a:extLst>
          </p:cNvPr>
          <p:cNvSpPr>
            <a:spLocks noGrp="1"/>
          </p:cNvSpPr>
          <p:nvPr>
            <p:ph type="body" sz="quarter" idx="20"/>
          </p:nvPr>
        </p:nvSpPr>
        <p:spPr>
          <a:xfrm>
            <a:off x="1235074" y="4588103"/>
            <a:ext cx="8957333" cy="430887"/>
          </a:xfrm>
        </p:spPr>
        <p:txBody>
          <a:bodyPr/>
          <a:lstStyle/>
          <a:p>
            <a:r>
              <a:rPr lang="en-US" b="1" noProof="0" dirty="0"/>
              <a:t>Your agent application code includes a local function that you want the agent to call. What kind of tool should you add to the agent's definition?</a:t>
            </a:r>
          </a:p>
        </p:txBody>
      </p:sp>
      <p:sp>
        <p:nvSpPr>
          <p:cNvPr id="17" name="Text Placeholder 16">
            <a:extLst>
              <a:ext uri="{FF2B5EF4-FFF2-40B4-BE49-F238E27FC236}">
                <a16:creationId xmlns:a16="http://schemas.microsoft.com/office/drawing/2014/main" id="{3F4566EA-B0F2-9042-4A0A-48ED05101998}"/>
              </a:ext>
            </a:extLst>
          </p:cNvPr>
          <p:cNvSpPr>
            <a:spLocks noGrp="1"/>
          </p:cNvSpPr>
          <p:nvPr>
            <p:ph type="body" sz="quarter" idx="21"/>
          </p:nvPr>
        </p:nvSpPr>
        <p:spPr>
          <a:xfrm>
            <a:off x="1235075" y="5068865"/>
            <a:ext cx="8775098" cy="732508"/>
          </a:xfrm>
        </p:spPr>
        <p:txBody>
          <a:bodyPr/>
          <a:lstStyle/>
          <a:p>
            <a:r>
              <a:rPr lang="en-US" noProof="0" dirty="0"/>
              <a:t>Function calling</a:t>
            </a:r>
          </a:p>
          <a:p>
            <a:r>
              <a:rPr lang="en-US" noProof="0" dirty="0"/>
              <a:t>Code interpreter</a:t>
            </a:r>
          </a:p>
          <a:p>
            <a:r>
              <a:rPr lang="en-US" noProof="0" dirty="0"/>
              <a:t>Azure Functions</a:t>
            </a:r>
          </a:p>
        </p:txBody>
      </p:sp>
      <p:sp>
        <p:nvSpPr>
          <p:cNvPr id="76" name="Oval 75">
            <a:extLst>
              <a:ext uri="{FF2B5EF4-FFF2-40B4-BE49-F238E27FC236}">
                <a16:creationId xmlns:a16="http://schemas.microsoft.com/office/drawing/2014/main" id="{E4FD53F9-F5D8-1031-FAD5-1428C1C5C97F}"/>
              </a:ext>
              <a:ext uri="{C183D7F6-B498-43B3-948B-1728B52AA6E4}">
                <adec:decorative xmlns:adec="http://schemas.microsoft.com/office/drawing/2017/decorative" val="1"/>
              </a:ext>
            </a:extLst>
          </p:cNvPr>
          <p:cNvSpPr>
            <a:spLocks/>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015755E4-2A30-4E17-1B2F-8E4B896D2E38}"/>
              </a:ext>
              <a:ext uri="{C183D7F6-B498-43B3-948B-1728B52AA6E4}">
                <adec:decorative xmlns:adec="http://schemas.microsoft.com/office/drawing/2017/decorative" val="1"/>
              </a:ext>
            </a:extLst>
          </p:cNvPr>
          <p:cNvSpPr>
            <a:spLocks/>
          </p:cNvSpPr>
          <p:nvPr/>
        </p:nvSpPr>
        <p:spPr bwMode="auto">
          <a:xfrm>
            <a:off x="722582" y="30468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C81E4B6D-B057-2C49-26E4-EB1388F18708}"/>
              </a:ext>
              <a:ext uri="{C183D7F6-B498-43B3-948B-1728B52AA6E4}">
                <adec:decorative xmlns:adec="http://schemas.microsoft.com/office/drawing/2017/decorative" val="1"/>
              </a:ext>
            </a:extLst>
          </p:cNvPr>
          <p:cNvSpPr>
            <a:spLocks/>
          </p:cNvSpPr>
          <p:nvPr/>
        </p:nvSpPr>
        <p:spPr>
          <a:xfrm>
            <a:off x="1256418" y="420053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78" name="Oval 77">
            <a:extLst>
              <a:ext uri="{FF2B5EF4-FFF2-40B4-BE49-F238E27FC236}">
                <a16:creationId xmlns:a16="http://schemas.microsoft.com/office/drawing/2014/main" id="{9BFE2E5A-76A7-BD90-5A60-BCCBCF2B29AE}"/>
              </a:ext>
              <a:ext uri="{C183D7F6-B498-43B3-948B-1728B52AA6E4}">
                <adec:decorative xmlns:adec="http://schemas.microsoft.com/office/drawing/2017/decorative" val="1"/>
              </a:ext>
            </a:extLst>
          </p:cNvPr>
          <p:cNvSpPr>
            <a:spLocks/>
          </p:cNvSpPr>
          <p:nvPr/>
        </p:nvSpPr>
        <p:spPr bwMode="auto">
          <a:xfrm>
            <a:off x="722582" y="449622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p>
        </p:txBody>
      </p:sp>
      <p:sp>
        <p:nvSpPr>
          <p:cNvPr id="81" name="Graphic 26">
            <a:extLst>
              <a:ext uri="{FF2B5EF4-FFF2-40B4-BE49-F238E27FC236}">
                <a16:creationId xmlns:a16="http://schemas.microsoft.com/office/drawing/2014/main" id="{8A691273-27D0-57F6-2BBC-8E6130AD9AC8}"/>
              </a:ext>
              <a:ext uri="{C183D7F6-B498-43B3-948B-1728B52AA6E4}">
                <adec:decorative xmlns:adec="http://schemas.microsoft.com/office/drawing/2017/decorative" val="1"/>
              </a:ext>
            </a:extLst>
          </p:cNvPr>
          <p:cNvSpPr>
            <a:spLocks/>
          </p:cNvSpPr>
          <p:nvPr/>
        </p:nvSpPr>
        <p:spPr>
          <a:xfrm>
            <a:off x="1262840" y="5127603"/>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A5A2C85C-AB03-1DCB-04C6-82486F56F000}"/>
              </a:ext>
              <a:ext uri="{C183D7F6-B498-43B3-948B-1728B52AA6E4}">
                <adec:decorative xmlns:adec="http://schemas.microsoft.com/office/drawing/2017/decorative" val="1"/>
              </a:ext>
            </a:extLst>
          </p:cNvPr>
          <p:cNvSpPr>
            <a:spLocks/>
          </p:cNvSpPr>
          <p:nvPr/>
        </p:nvSpPr>
        <p:spPr>
          <a:xfrm>
            <a:off x="1256418" y="206857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487267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008CB-CE9F-2B72-DF31-7FAB911DF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FCC04-9B76-E93C-972A-A2B467854D5E}"/>
              </a:ext>
            </a:extLst>
          </p:cNvPr>
          <p:cNvSpPr>
            <a:spLocks noGrp="1"/>
          </p:cNvSpPr>
          <p:nvPr>
            <p:ph type="title"/>
          </p:nvPr>
        </p:nvSpPr>
        <p:spPr>
          <a:xfrm>
            <a:off x="569911" y="2769057"/>
            <a:ext cx="6345239" cy="1231106"/>
          </a:xfrm>
        </p:spPr>
        <p:txBody>
          <a:bodyPr/>
          <a:lstStyle/>
          <a:p>
            <a:r>
              <a:rPr lang="en-US" noProof="0" dirty="0"/>
              <a:t>Develop an AI agent with the Semantic Kernel SDK</a:t>
            </a:r>
          </a:p>
        </p:txBody>
      </p:sp>
      <p:sp>
        <p:nvSpPr>
          <p:cNvPr id="4" name="TextBox 3">
            <a:extLst>
              <a:ext uri="{FF2B5EF4-FFF2-40B4-BE49-F238E27FC236}">
                <a16:creationId xmlns:a16="http://schemas.microsoft.com/office/drawing/2014/main" id="{30E4B732-854A-95B8-D528-B3828E1C37D4}"/>
              </a:ext>
            </a:extLst>
          </p:cNvPr>
          <p:cNvSpPr txBox="1"/>
          <p:nvPr/>
        </p:nvSpPr>
        <p:spPr>
          <a:xfrm>
            <a:off x="502920" y="4000163"/>
            <a:ext cx="6096000" cy="363946"/>
          </a:xfrm>
          <a:prstGeom prst="rect">
            <a:avLst/>
          </a:prstGeom>
          <a:noFill/>
        </p:spPr>
        <p:txBody>
          <a:bodyPr wrap="square">
            <a:spAutoFit/>
          </a:bodyPr>
          <a:lstStyle/>
          <a:p>
            <a:r>
              <a:rPr lang="en-US" dirty="0">
                <a:solidFill>
                  <a:schemeClr val="accent2"/>
                </a:solidFill>
              </a:rPr>
              <a:t>https://aka.ms/mslearn-ai-semantic-kernel-agent</a:t>
            </a:r>
          </a:p>
        </p:txBody>
      </p:sp>
    </p:spTree>
    <p:extLst>
      <p:ext uri="{BB962C8B-B14F-4D97-AF65-F5344CB8AC3E}">
        <p14:creationId xmlns:p14="http://schemas.microsoft.com/office/powerpoint/2010/main" val="3621743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BAF811-C332-7887-18AE-C16B81212E57}"/>
              </a:ext>
            </a:extLst>
          </p:cNvPr>
          <p:cNvSpPr>
            <a:spLocks noGrp="1"/>
          </p:cNvSpPr>
          <p:nvPr>
            <p:ph type="title"/>
          </p:nvPr>
        </p:nvSpPr>
        <p:spPr>
          <a:xfrm>
            <a:off x="588262" y="585216"/>
            <a:ext cx="8193024" cy="492443"/>
          </a:xfrm>
        </p:spPr>
        <p:txBody>
          <a:bodyPr/>
          <a:lstStyle/>
          <a:p>
            <a:r>
              <a:rPr lang="en-US" sz="3200" dirty="0"/>
              <a:t>What is Semantic Kernel?</a:t>
            </a:r>
          </a:p>
        </p:txBody>
      </p:sp>
      <p:sp>
        <p:nvSpPr>
          <p:cNvPr id="6" name="TextBox 5">
            <a:extLst>
              <a:ext uri="{FF2B5EF4-FFF2-40B4-BE49-F238E27FC236}">
                <a16:creationId xmlns:a16="http://schemas.microsoft.com/office/drawing/2014/main" id="{5F4B7071-B7E7-7D74-C4B8-3F40FF9F0988}"/>
              </a:ext>
            </a:extLst>
          </p:cNvPr>
          <p:cNvSpPr txBox="1"/>
          <p:nvPr/>
        </p:nvSpPr>
        <p:spPr>
          <a:xfrm>
            <a:off x="944880" y="1371600"/>
            <a:ext cx="10401300" cy="2662267"/>
          </a:xfrm>
          <a:prstGeom prst="rect">
            <a:avLst/>
          </a:prstGeom>
          <a:noFill/>
        </p:spPr>
        <p:txBody>
          <a:bodyPr wrap="square" lIns="0" tIns="0" rIns="0" bIns="0" rtlCol="0">
            <a:spAutoFit/>
          </a:bodyPr>
          <a:lstStyle/>
          <a:p>
            <a:pPr algn="l">
              <a:spcBef>
                <a:spcPts val="600"/>
              </a:spcBef>
            </a:pPr>
            <a:r>
              <a:rPr lang="en-US" sz="2000" dirty="0"/>
              <a:t>A platform for generative AI development that includes:</a:t>
            </a:r>
          </a:p>
          <a:p>
            <a:pPr marL="285750" indent="-285750" algn="l">
              <a:spcBef>
                <a:spcPts val="600"/>
              </a:spcBef>
              <a:buFont typeface="Arial" panose="020B0604020202020204" pitchFamily="34" charset="0"/>
              <a:buChar char="•"/>
            </a:pPr>
            <a:r>
              <a:rPr lang="en-US" sz="1600" b="1" i="0" dirty="0">
                <a:solidFill>
                  <a:srgbClr val="161616"/>
                </a:solidFill>
                <a:effectLst/>
                <a:latin typeface="Segoe UI" panose="020B0502040204020203" pitchFamily="34" charset="0"/>
              </a:rPr>
              <a:t>AI service connectors</a:t>
            </a:r>
            <a:r>
              <a:rPr lang="en-US" sz="1600" b="0" i="0" dirty="0">
                <a:solidFill>
                  <a:srgbClr val="161616"/>
                </a:solidFill>
                <a:effectLst/>
                <a:latin typeface="Segoe UI" panose="020B0502040204020203" pitchFamily="34" charset="0"/>
              </a:rPr>
              <a:t> - connect the code to AI services from different providers under a common interface. Supported services include Chat Completion, Text Generation, and more.</a:t>
            </a:r>
          </a:p>
          <a:p>
            <a:pPr marL="285750" indent="-285750" algn="l">
              <a:spcBef>
                <a:spcPts val="600"/>
              </a:spcBef>
              <a:buFont typeface="Arial" panose="020B0604020202020204" pitchFamily="34" charset="0"/>
              <a:buChar char="•"/>
            </a:pPr>
            <a:r>
              <a:rPr lang="en-US" sz="1600" b="1" i="0" dirty="0">
                <a:solidFill>
                  <a:srgbClr val="161616"/>
                </a:solidFill>
                <a:effectLst/>
                <a:latin typeface="Segoe UI" panose="020B0502040204020203" pitchFamily="34" charset="0"/>
              </a:rPr>
              <a:t>Memory connectors</a:t>
            </a:r>
            <a:r>
              <a:rPr lang="en-US" sz="1600" b="0" i="0" dirty="0">
                <a:solidFill>
                  <a:srgbClr val="161616"/>
                </a:solidFill>
                <a:effectLst/>
                <a:latin typeface="Segoe UI" panose="020B0502040204020203" pitchFamily="34" charset="0"/>
              </a:rPr>
              <a:t> - expose vector stores from other providers under a common interface.</a:t>
            </a:r>
          </a:p>
          <a:p>
            <a:pPr marL="285750" indent="-285750">
              <a:spcBef>
                <a:spcPts val="600"/>
              </a:spcBef>
              <a:buFont typeface="Arial" panose="020B0604020202020204" pitchFamily="34" charset="0"/>
              <a:buChar char="•"/>
            </a:pPr>
            <a:r>
              <a:rPr lang="en-US" sz="1600" b="1" dirty="0">
                <a:solidFill>
                  <a:srgbClr val="161616"/>
                </a:solidFill>
                <a:latin typeface="Segoe UI" panose="020B0502040204020203" pitchFamily="34" charset="0"/>
              </a:rPr>
              <a:t>Prompt templates</a:t>
            </a:r>
            <a:r>
              <a:rPr lang="en-US" sz="1600" dirty="0">
                <a:solidFill>
                  <a:srgbClr val="161616"/>
                </a:solidFill>
                <a:latin typeface="Segoe UI" panose="020B0502040204020203" pitchFamily="34" charset="0"/>
              </a:rPr>
              <a:t> - combine instructions, user input, and function outputs into a reusable format. Prompt templates allow AI models to execute predefined steps dynamically.</a:t>
            </a:r>
          </a:p>
          <a:p>
            <a:pPr marL="285750" indent="-285750" algn="l">
              <a:spcBef>
                <a:spcPts val="600"/>
              </a:spcBef>
              <a:buFont typeface="Arial" panose="020B0604020202020204" pitchFamily="34" charset="0"/>
              <a:buChar char="•"/>
            </a:pPr>
            <a:r>
              <a:rPr lang="en-US" sz="1600" b="1" i="0" dirty="0">
                <a:solidFill>
                  <a:srgbClr val="161616"/>
                </a:solidFill>
                <a:effectLst/>
                <a:latin typeface="Segoe UI" panose="020B0502040204020203" pitchFamily="34" charset="0"/>
              </a:rPr>
              <a:t>Functions and plugins</a:t>
            </a:r>
            <a:r>
              <a:rPr lang="en-US" sz="1600" b="0" i="0" dirty="0">
                <a:solidFill>
                  <a:srgbClr val="161616"/>
                </a:solidFill>
                <a:effectLst/>
                <a:latin typeface="Segoe UI" panose="020B0502040204020203" pitchFamily="34" charset="0"/>
              </a:rPr>
              <a:t> - containers for functions that are registered with the kernel. Once registered, functions can be invoked by the AI or through prompt templates.</a:t>
            </a:r>
          </a:p>
          <a:p>
            <a:pPr marL="285750" indent="-285750" algn="l">
              <a:spcBef>
                <a:spcPts val="600"/>
              </a:spcBef>
              <a:buFont typeface="Arial" panose="020B0604020202020204" pitchFamily="34" charset="0"/>
              <a:buChar char="•"/>
            </a:pPr>
            <a:r>
              <a:rPr lang="en-US" sz="1600" b="1" i="0" dirty="0">
                <a:solidFill>
                  <a:srgbClr val="161616"/>
                </a:solidFill>
                <a:effectLst/>
                <a:latin typeface="Segoe UI" panose="020B0502040204020203" pitchFamily="34" charset="0"/>
              </a:rPr>
              <a:t>Filters</a:t>
            </a:r>
            <a:r>
              <a:rPr lang="en-US" sz="1600" b="0" i="0" dirty="0">
                <a:solidFill>
                  <a:srgbClr val="161616"/>
                </a:solidFill>
                <a:effectLst/>
                <a:latin typeface="Segoe UI" panose="020B0502040204020203" pitchFamily="34" charset="0"/>
              </a:rPr>
              <a:t> - allow custom actions to be performed before and after a function or prompt is invoked. </a:t>
            </a:r>
          </a:p>
        </p:txBody>
      </p:sp>
      <p:sp>
        <p:nvSpPr>
          <p:cNvPr id="7" name="TextBox 6">
            <a:extLst>
              <a:ext uri="{FF2B5EF4-FFF2-40B4-BE49-F238E27FC236}">
                <a16:creationId xmlns:a16="http://schemas.microsoft.com/office/drawing/2014/main" id="{C3E410F1-05B1-7E6A-30B9-42D55541B605}"/>
              </a:ext>
            </a:extLst>
          </p:cNvPr>
          <p:cNvSpPr txBox="1"/>
          <p:nvPr/>
        </p:nvSpPr>
        <p:spPr>
          <a:xfrm>
            <a:off x="944880" y="4335780"/>
            <a:ext cx="9715499" cy="2077492"/>
          </a:xfrm>
          <a:prstGeom prst="rect">
            <a:avLst/>
          </a:prstGeom>
          <a:noFill/>
        </p:spPr>
        <p:txBody>
          <a:bodyPr wrap="square" lIns="0" tIns="0" rIns="0" bIns="0" rtlCol="0">
            <a:spAutoFit/>
          </a:bodyPr>
          <a:lstStyle/>
          <a:p>
            <a:pPr algn="l">
              <a:spcBef>
                <a:spcPts val="600"/>
              </a:spcBef>
            </a:pPr>
            <a:r>
              <a:rPr lang="en-US" sz="2000" dirty="0">
                <a:latin typeface="+mj-lt"/>
              </a:rPr>
              <a:t>Semantic Kernel Agent Framework</a:t>
            </a:r>
            <a:r>
              <a:rPr lang="en-US" sz="2000" dirty="0"/>
              <a:t>:</a:t>
            </a:r>
          </a:p>
          <a:p>
            <a:pPr algn="l">
              <a:spcBef>
                <a:spcPts val="600"/>
              </a:spcBef>
            </a:pPr>
            <a:r>
              <a:rPr lang="en-US" sz="1800" dirty="0"/>
              <a:t>An extension to the core Semantic Kernel platform with support for multiple kinds of agent:</a:t>
            </a:r>
          </a:p>
          <a:p>
            <a:pPr marL="285750" indent="-285750" algn="l">
              <a:spcBef>
                <a:spcPts val="600"/>
              </a:spcBef>
              <a:buFont typeface="Arial" panose="020B0604020202020204" pitchFamily="34" charset="0"/>
              <a:buChar char="•"/>
            </a:pPr>
            <a:r>
              <a:rPr lang="en-US" sz="1800" dirty="0"/>
              <a:t>Chat Completion Agent</a:t>
            </a:r>
          </a:p>
          <a:p>
            <a:pPr marL="285750" indent="-285750" algn="l">
              <a:spcBef>
                <a:spcPts val="600"/>
              </a:spcBef>
              <a:buFont typeface="Arial" panose="020B0604020202020204" pitchFamily="34" charset="0"/>
              <a:buChar char="•"/>
            </a:pPr>
            <a:r>
              <a:rPr lang="en-US" sz="1800" dirty="0"/>
              <a:t>OpenAI Assistant Agent</a:t>
            </a:r>
          </a:p>
          <a:p>
            <a:pPr marL="285750" indent="-285750" algn="l">
              <a:spcBef>
                <a:spcPts val="600"/>
              </a:spcBef>
              <a:buFont typeface="Arial" panose="020B0604020202020204" pitchFamily="34" charset="0"/>
              <a:buChar char="•"/>
            </a:pPr>
            <a:r>
              <a:rPr lang="en-US" sz="1800" dirty="0"/>
              <a:t>Azure AI Foundry Agent</a:t>
            </a:r>
          </a:p>
          <a:p>
            <a:pPr algn="l">
              <a:spcBef>
                <a:spcPts val="600"/>
              </a:spcBef>
            </a:pPr>
            <a:endParaRPr lang="en-US" sz="1800" dirty="0"/>
          </a:p>
        </p:txBody>
      </p:sp>
      <p:grpSp>
        <p:nvGrpSpPr>
          <p:cNvPr id="10" name="Group 9">
            <a:extLst>
              <a:ext uri="{FF2B5EF4-FFF2-40B4-BE49-F238E27FC236}">
                <a16:creationId xmlns:a16="http://schemas.microsoft.com/office/drawing/2014/main" id="{697ABEE0-5F94-635A-560F-8915E1F9404C}"/>
              </a:ext>
              <a:ext uri="{C183D7F6-B498-43B3-948B-1728B52AA6E4}">
                <adec:decorative xmlns:adec="http://schemas.microsoft.com/office/drawing/2017/decorative" val="1"/>
              </a:ext>
            </a:extLst>
          </p:cNvPr>
          <p:cNvGrpSpPr/>
          <p:nvPr/>
        </p:nvGrpSpPr>
        <p:grpSpPr>
          <a:xfrm>
            <a:off x="1179095" y="5730240"/>
            <a:ext cx="4067195" cy="381000"/>
            <a:chOff x="308861" y="5730240"/>
            <a:chExt cx="4095211" cy="381000"/>
          </a:xfrm>
        </p:grpSpPr>
        <p:sp>
          <p:nvSpPr>
            <p:cNvPr id="8" name="Rectangle 7">
              <a:extLst>
                <a:ext uri="{FF2B5EF4-FFF2-40B4-BE49-F238E27FC236}">
                  <a16:creationId xmlns:a16="http://schemas.microsoft.com/office/drawing/2014/main" id="{A81B9649-264A-2F1B-16BF-C385EF53C38C}"/>
                </a:ext>
              </a:extLst>
            </p:cNvPr>
            <p:cNvSpPr/>
            <p:nvPr/>
          </p:nvSpPr>
          <p:spPr bwMode="auto">
            <a:xfrm>
              <a:off x="308861" y="5730240"/>
              <a:ext cx="2541020" cy="381000"/>
            </a:xfrm>
            <a:prstGeom prst="rect">
              <a:avLst/>
            </a:prstGeom>
            <a:noFill/>
            <a:ln w="285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Box 8">
              <a:extLst>
                <a:ext uri="{FF2B5EF4-FFF2-40B4-BE49-F238E27FC236}">
                  <a16:creationId xmlns:a16="http://schemas.microsoft.com/office/drawing/2014/main" id="{F0D8BEE9-E919-1401-004C-765535AE3E8D}"/>
                </a:ext>
              </a:extLst>
            </p:cNvPr>
            <p:cNvSpPr txBox="1"/>
            <p:nvPr/>
          </p:nvSpPr>
          <p:spPr>
            <a:xfrm>
              <a:off x="2956560" y="5797629"/>
              <a:ext cx="1447512" cy="246221"/>
            </a:xfrm>
            <a:prstGeom prst="rect">
              <a:avLst/>
            </a:prstGeom>
            <a:noFill/>
          </p:spPr>
          <p:txBody>
            <a:bodyPr wrap="none" lIns="0" tIns="0" rIns="0" bIns="0" rtlCol="0">
              <a:spAutoFit/>
            </a:bodyPr>
            <a:lstStyle/>
            <a:p>
              <a:pPr algn="l"/>
              <a:r>
                <a:rPr lang="en-US" sz="1600" dirty="0">
                  <a:solidFill>
                    <a:schemeClr val="accent2"/>
                  </a:solidFill>
                </a:rPr>
                <a:t>Our focus today</a:t>
              </a:r>
            </a:p>
          </p:txBody>
        </p:sp>
      </p:grpSp>
      <p:sp>
        <p:nvSpPr>
          <p:cNvPr id="3" name="Footer Placeholder 2">
            <a:extLst>
              <a:ext uri="{FF2B5EF4-FFF2-40B4-BE49-F238E27FC236}">
                <a16:creationId xmlns:a16="http://schemas.microsoft.com/office/drawing/2014/main" id="{573CF344-6DB1-4D97-5A23-EF8C13120525}"/>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31579995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399AE-B9A5-EC47-A051-941E19F0C19C}"/>
              </a:ext>
            </a:extLst>
          </p:cNvPr>
          <p:cNvSpPr>
            <a:spLocks noGrp="1"/>
          </p:cNvSpPr>
          <p:nvPr>
            <p:ph type="title"/>
          </p:nvPr>
        </p:nvSpPr>
        <p:spPr>
          <a:xfrm>
            <a:off x="588262" y="585216"/>
            <a:ext cx="10856978" cy="492443"/>
          </a:xfrm>
        </p:spPr>
        <p:txBody>
          <a:bodyPr/>
          <a:lstStyle/>
          <a:p>
            <a:r>
              <a:rPr lang="en-US" sz="3200" dirty="0"/>
              <a:t>Why use Semantic Kernel with Foundry Agent Service?</a:t>
            </a:r>
          </a:p>
        </p:txBody>
      </p:sp>
      <p:sp>
        <p:nvSpPr>
          <p:cNvPr id="4" name="TextBox 3">
            <a:extLst>
              <a:ext uri="{FF2B5EF4-FFF2-40B4-BE49-F238E27FC236}">
                <a16:creationId xmlns:a16="http://schemas.microsoft.com/office/drawing/2014/main" id="{6E397EB3-3044-FB58-DCFD-14C82F4D07E9}"/>
              </a:ext>
            </a:extLst>
          </p:cNvPr>
          <p:cNvSpPr txBox="1"/>
          <p:nvPr/>
        </p:nvSpPr>
        <p:spPr>
          <a:xfrm>
            <a:off x="946683" y="2211452"/>
            <a:ext cx="6187440" cy="2539157"/>
          </a:xfrm>
          <a:prstGeom prst="rect">
            <a:avLst/>
          </a:prstGeom>
          <a:noFill/>
        </p:spPr>
        <p:txBody>
          <a:bodyPr wrap="square" lIns="0" tIns="0" rIns="0" bIns="0" rtlCol="0">
            <a:spAutoFit/>
          </a:bodyPr>
          <a:lstStyle/>
          <a:p>
            <a:pPr algn="l"/>
            <a:r>
              <a:rPr lang="en-US" sz="2000" dirty="0"/>
              <a:t>Azure AI Agent Service provides a comprehensive platform for agent development. So why use Semantic Kernel?</a:t>
            </a:r>
          </a:p>
          <a:p>
            <a:pPr marL="342900" indent="-342900" algn="l">
              <a:spcBef>
                <a:spcPts val="600"/>
              </a:spcBef>
              <a:buFont typeface="Arial" panose="020B0604020202020204" pitchFamily="34" charset="0"/>
              <a:buChar char="•"/>
            </a:pPr>
            <a:r>
              <a:rPr lang="en-US" sz="1800" dirty="0"/>
              <a:t>Extend existing investments in Semantic Kernel development to Azure AI agents</a:t>
            </a:r>
          </a:p>
          <a:p>
            <a:pPr marL="342900" indent="-342900" algn="l">
              <a:spcBef>
                <a:spcPts val="600"/>
              </a:spcBef>
              <a:buFont typeface="Arial" panose="020B0604020202020204" pitchFamily="34" charset="0"/>
              <a:buChar char="•"/>
            </a:pPr>
            <a:r>
              <a:rPr lang="en-US" sz="1800" dirty="0"/>
              <a:t>Build solutions that leverage strengths of different kinds of agent with a consistent code base</a:t>
            </a:r>
          </a:p>
          <a:p>
            <a:pPr marL="342900" indent="-342900" algn="l">
              <a:spcBef>
                <a:spcPts val="600"/>
              </a:spcBef>
              <a:buFont typeface="Arial" panose="020B0604020202020204" pitchFamily="34" charset="0"/>
              <a:buChar char="•"/>
            </a:pPr>
            <a:r>
              <a:rPr lang="en-US" sz="1800" dirty="0"/>
              <a:t>Integrate Azure AI agents into multi-agent solutions</a:t>
            </a:r>
          </a:p>
        </p:txBody>
      </p:sp>
      <p:sp>
        <p:nvSpPr>
          <p:cNvPr id="3" name="Footer Placeholder 2">
            <a:extLst>
              <a:ext uri="{FF2B5EF4-FFF2-40B4-BE49-F238E27FC236}">
                <a16:creationId xmlns:a16="http://schemas.microsoft.com/office/drawing/2014/main" id="{1F74F31A-D247-FEBA-DD9A-E6AE11F9DFE0}"/>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10" name="Group 9">
            <a:extLst>
              <a:ext uri="{FF2B5EF4-FFF2-40B4-BE49-F238E27FC236}">
                <a16:creationId xmlns:a16="http://schemas.microsoft.com/office/drawing/2014/main" id="{6BB0EDFE-67AA-7682-6E3B-FF0362CC2B60}"/>
              </a:ext>
              <a:ext uri="{C183D7F6-B498-43B3-948B-1728B52AA6E4}">
                <adec:decorative xmlns:adec="http://schemas.microsoft.com/office/drawing/2017/decorative" val="1"/>
              </a:ext>
            </a:extLst>
          </p:cNvPr>
          <p:cNvGrpSpPr/>
          <p:nvPr/>
        </p:nvGrpSpPr>
        <p:grpSpPr>
          <a:xfrm>
            <a:off x="7627620" y="2171700"/>
            <a:ext cx="3718560" cy="2668697"/>
            <a:chOff x="7627620" y="2171700"/>
            <a:chExt cx="3718560" cy="2668697"/>
          </a:xfrm>
        </p:grpSpPr>
        <p:sp>
          <p:nvSpPr>
            <p:cNvPr id="9" name="Rectangle 8">
              <a:extLst>
                <a:ext uri="{FF2B5EF4-FFF2-40B4-BE49-F238E27FC236}">
                  <a16:creationId xmlns:a16="http://schemas.microsoft.com/office/drawing/2014/main" id="{B386B5CB-6FEB-7A8E-4343-11D7066C93E2}"/>
                </a:ext>
              </a:extLst>
            </p:cNvPr>
            <p:cNvSpPr/>
            <p:nvPr/>
          </p:nvSpPr>
          <p:spPr bwMode="auto">
            <a:xfrm>
              <a:off x="7627620" y="2171700"/>
              <a:ext cx="3718560" cy="266869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purple and blue hexagon with stars&#10;&#10;AI-generated content may be incorrect.">
              <a:extLst>
                <a:ext uri="{FF2B5EF4-FFF2-40B4-BE49-F238E27FC236}">
                  <a16:creationId xmlns:a16="http://schemas.microsoft.com/office/drawing/2014/main" id="{C2F16FBE-A6D2-303A-5FCF-7326FC7A9693}"/>
                </a:ext>
              </a:extLst>
            </p:cNvPr>
            <p:cNvPicPr>
              <a:picLocks noChangeAspect="1"/>
            </p:cNvPicPr>
            <p:nvPr/>
          </p:nvPicPr>
          <p:blipFill>
            <a:blip r:embed="rId3"/>
            <a:stretch>
              <a:fillRect/>
            </a:stretch>
          </p:blipFill>
          <p:spPr>
            <a:xfrm>
              <a:off x="8614614" y="3125496"/>
              <a:ext cx="711070" cy="711070"/>
            </a:xfrm>
            <a:prstGeom prst="rect">
              <a:avLst/>
            </a:prstGeom>
          </p:spPr>
        </p:pic>
        <p:pic>
          <p:nvPicPr>
            <p:cNvPr id="6" name="Picture 4">
              <a:extLst>
                <a:ext uri="{FF2B5EF4-FFF2-40B4-BE49-F238E27FC236}">
                  <a16:creationId xmlns:a16="http://schemas.microsoft.com/office/drawing/2014/main" id="{0965A091-82A3-75BA-4C2C-9FB1C77E9331}"/>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911146" y="3184192"/>
              <a:ext cx="637134" cy="63713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3FCFB59-BD25-70C8-23B1-489F9A6B4AB1}"/>
                </a:ext>
              </a:extLst>
            </p:cNvPr>
            <p:cNvSpPr txBox="1"/>
            <p:nvPr/>
          </p:nvSpPr>
          <p:spPr>
            <a:xfrm>
              <a:off x="9457400" y="3275543"/>
              <a:ext cx="290144" cy="492443"/>
            </a:xfrm>
            <a:prstGeom prst="rect">
              <a:avLst/>
            </a:prstGeom>
            <a:noFill/>
          </p:spPr>
          <p:txBody>
            <a:bodyPr wrap="none" lIns="0" tIns="0" rIns="0" bIns="0" rtlCol="0">
              <a:spAutoFit/>
            </a:bodyPr>
            <a:lstStyle/>
            <a:p>
              <a:pPr algn="l"/>
              <a:r>
                <a:rPr lang="en-US" sz="3200" b="1" dirty="0"/>
                <a:t>+</a:t>
              </a:r>
            </a:p>
          </p:txBody>
        </p:sp>
      </p:grpSp>
    </p:spTree>
    <p:extLst>
      <p:ext uri="{BB962C8B-B14F-4D97-AF65-F5344CB8AC3E}">
        <p14:creationId xmlns:p14="http://schemas.microsoft.com/office/powerpoint/2010/main" val="103300589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7CE5E-AD07-7429-9962-55C9FCA29ACD}"/>
              </a:ext>
            </a:extLst>
          </p:cNvPr>
          <p:cNvSpPr>
            <a:spLocks noGrp="1"/>
          </p:cNvSpPr>
          <p:nvPr>
            <p:ph type="title"/>
          </p:nvPr>
        </p:nvSpPr>
        <p:spPr>
          <a:xfrm>
            <a:off x="588262" y="585216"/>
            <a:ext cx="10689338" cy="984885"/>
          </a:xfrm>
        </p:spPr>
        <p:txBody>
          <a:bodyPr/>
          <a:lstStyle/>
          <a:p>
            <a:r>
              <a:rPr lang="en-US" sz="3200" dirty="0"/>
              <a:t>Creating an Azure AI agent with Semantic Kernel</a:t>
            </a:r>
          </a:p>
        </p:txBody>
      </p:sp>
      <p:sp>
        <p:nvSpPr>
          <p:cNvPr id="27" name="TextBox 26">
            <a:extLst>
              <a:ext uri="{FF2B5EF4-FFF2-40B4-BE49-F238E27FC236}">
                <a16:creationId xmlns:a16="http://schemas.microsoft.com/office/drawing/2014/main" id="{66A30A52-4723-3A5B-E9AF-054F61A75091}"/>
              </a:ext>
            </a:extLst>
          </p:cNvPr>
          <p:cNvSpPr txBox="1"/>
          <p:nvPr/>
        </p:nvSpPr>
        <p:spPr>
          <a:xfrm>
            <a:off x="6506582" y="1937242"/>
            <a:ext cx="4435738" cy="3631763"/>
          </a:xfrm>
          <a:prstGeom prst="rect">
            <a:avLst/>
          </a:prstGeom>
          <a:noFill/>
        </p:spPr>
        <p:txBody>
          <a:bodyPr wrap="square" lIns="0" tIns="0" rIns="0" bIns="0" rtlCol="0">
            <a:spAutoFit/>
          </a:bodyPr>
          <a:lstStyle/>
          <a:p>
            <a:pPr marL="342900" indent="-342900" algn="l">
              <a:spcAft>
                <a:spcPts val="600"/>
              </a:spcAft>
              <a:buClr>
                <a:schemeClr val="accent2">
                  <a:lumMod val="50000"/>
                </a:schemeClr>
              </a:buClr>
              <a:buAutoNum type="arabicPeriod"/>
            </a:pPr>
            <a:r>
              <a:rPr lang="en-US" sz="1800" dirty="0"/>
              <a:t>Use </a:t>
            </a:r>
            <a:r>
              <a:rPr lang="en-US" sz="1800" i="1" dirty="0" err="1"/>
              <a:t>AzureAIAgentSettings</a:t>
            </a:r>
            <a:r>
              <a:rPr lang="en-US" sz="1800" i="1" dirty="0"/>
              <a:t> </a:t>
            </a:r>
            <a:r>
              <a:rPr lang="en-US" sz="1800" dirty="0"/>
              <a:t>to connect to your Azure AI Foundry project and create a </a:t>
            </a:r>
            <a:r>
              <a:rPr lang="en-US" sz="1800" i="1" dirty="0"/>
              <a:t>client</a:t>
            </a:r>
          </a:p>
          <a:p>
            <a:pPr marL="342900" indent="-342900" algn="l">
              <a:spcAft>
                <a:spcPts val="600"/>
              </a:spcAft>
              <a:buClr>
                <a:schemeClr val="accent2">
                  <a:lumMod val="50000"/>
                </a:schemeClr>
              </a:buClr>
              <a:buAutoNum type="arabicPeriod"/>
            </a:pPr>
            <a:r>
              <a:rPr lang="en-US" sz="1800" dirty="0"/>
              <a:t>Use the client to create an Azure AI </a:t>
            </a:r>
            <a:r>
              <a:rPr lang="en-US" sz="1800" i="1" dirty="0"/>
              <a:t>agent</a:t>
            </a:r>
            <a:r>
              <a:rPr lang="en-US" sz="1800" dirty="0"/>
              <a:t> definition, specifying:</a:t>
            </a:r>
          </a:p>
          <a:p>
            <a:pPr marL="800083" lvl="1" indent="-342900">
              <a:buFont typeface="Arial" panose="020B0604020202020204" pitchFamily="34" charset="0"/>
              <a:buChar char="•"/>
            </a:pPr>
            <a:r>
              <a:rPr lang="en-US" sz="1800" dirty="0"/>
              <a:t>Model</a:t>
            </a:r>
          </a:p>
          <a:p>
            <a:pPr marL="800083" lvl="1" indent="-342900">
              <a:buFont typeface="Arial" panose="020B0604020202020204" pitchFamily="34" charset="0"/>
              <a:buChar char="•"/>
            </a:pPr>
            <a:r>
              <a:rPr lang="en-US" sz="1800" dirty="0"/>
              <a:t>Instructions</a:t>
            </a:r>
          </a:p>
          <a:p>
            <a:pPr marL="800083" lvl="1" indent="-342900">
              <a:spcAft>
                <a:spcPts val="600"/>
              </a:spcAft>
              <a:buFont typeface="Arial" panose="020B0604020202020204" pitchFamily="34" charset="0"/>
              <a:buChar char="•"/>
            </a:pPr>
            <a:r>
              <a:rPr lang="en-US" sz="1800" dirty="0"/>
              <a:t>Tools</a:t>
            </a:r>
          </a:p>
          <a:p>
            <a:pPr marL="342900" indent="-342900">
              <a:spcAft>
                <a:spcPts val="600"/>
              </a:spcAft>
              <a:buClr>
                <a:schemeClr val="accent2">
                  <a:lumMod val="50000"/>
                </a:schemeClr>
              </a:buClr>
              <a:buAutoNum type="arabicPeriod"/>
            </a:pPr>
            <a:r>
              <a:rPr lang="en-US" sz="1800" dirty="0"/>
              <a:t>Create a Semantic Kernel </a:t>
            </a:r>
            <a:r>
              <a:rPr lang="en-US" sz="1800" i="1" dirty="0" err="1"/>
              <a:t>AzureAIAgent</a:t>
            </a:r>
            <a:r>
              <a:rPr lang="en-US" sz="1800" i="1" dirty="0"/>
              <a:t> </a:t>
            </a:r>
            <a:r>
              <a:rPr lang="en-US" sz="1800" dirty="0"/>
              <a:t>based on the agent definition</a:t>
            </a:r>
          </a:p>
          <a:p>
            <a:pPr marL="342900" indent="-342900" algn="l">
              <a:spcAft>
                <a:spcPts val="600"/>
              </a:spcAft>
              <a:buClr>
                <a:schemeClr val="accent2">
                  <a:lumMod val="50000"/>
                </a:schemeClr>
              </a:buClr>
              <a:buAutoNum type="arabicPeriod"/>
            </a:pPr>
            <a:r>
              <a:rPr lang="en-US" sz="1800" dirty="0"/>
              <a:t>Invoke the agent on an </a:t>
            </a:r>
            <a:r>
              <a:rPr lang="en-US" sz="1800" i="1" dirty="0" err="1"/>
              <a:t>AzureAIAgentThread</a:t>
            </a:r>
            <a:r>
              <a:rPr lang="en-US" sz="1800" i="1" dirty="0"/>
              <a:t> </a:t>
            </a:r>
          </a:p>
        </p:txBody>
      </p:sp>
      <p:sp>
        <p:nvSpPr>
          <p:cNvPr id="3" name="Footer Placeholder 2">
            <a:extLst>
              <a:ext uri="{FF2B5EF4-FFF2-40B4-BE49-F238E27FC236}">
                <a16:creationId xmlns:a16="http://schemas.microsoft.com/office/drawing/2014/main" id="{3635E343-1074-F527-02E4-A3ADC07A473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44" name="Group 43">
            <a:extLst>
              <a:ext uri="{FF2B5EF4-FFF2-40B4-BE49-F238E27FC236}">
                <a16:creationId xmlns:a16="http://schemas.microsoft.com/office/drawing/2014/main" id="{2620A0B9-0540-4146-0990-CCBDD43B8166}"/>
              </a:ext>
              <a:ext uri="{C183D7F6-B498-43B3-948B-1728B52AA6E4}">
                <adec:decorative xmlns:adec="http://schemas.microsoft.com/office/drawing/2017/decorative" val="1"/>
              </a:ext>
            </a:extLst>
          </p:cNvPr>
          <p:cNvGrpSpPr/>
          <p:nvPr/>
        </p:nvGrpSpPr>
        <p:grpSpPr>
          <a:xfrm>
            <a:off x="754937" y="1500435"/>
            <a:ext cx="5117373" cy="4414021"/>
            <a:chOff x="754937" y="1500435"/>
            <a:chExt cx="5117373" cy="4414021"/>
          </a:xfrm>
        </p:grpSpPr>
        <p:grpSp>
          <p:nvGrpSpPr>
            <p:cNvPr id="7" name="Group 6">
              <a:extLst>
                <a:ext uri="{FF2B5EF4-FFF2-40B4-BE49-F238E27FC236}">
                  <a16:creationId xmlns:a16="http://schemas.microsoft.com/office/drawing/2014/main" id="{31C16F74-49DA-076A-C9E8-98E76487D41B}"/>
                </a:ext>
                <a:ext uri="{C183D7F6-B498-43B3-948B-1728B52AA6E4}">
                  <adec:decorative xmlns:adec="http://schemas.microsoft.com/office/drawing/2017/decorative" val="1"/>
                </a:ext>
              </a:extLst>
            </p:cNvPr>
            <p:cNvGrpSpPr/>
            <p:nvPr/>
          </p:nvGrpSpPr>
          <p:grpSpPr>
            <a:xfrm>
              <a:off x="1310640" y="1500435"/>
              <a:ext cx="4561670" cy="4172792"/>
              <a:chOff x="1432560" y="1957635"/>
              <a:chExt cx="4561670" cy="4172792"/>
            </a:xfrm>
          </p:grpSpPr>
          <p:pic>
            <p:nvPicPr>
              <p:cNvPr id="4" name="Picture 3" descr="A purple and blue hexagon with stars&#10;&#10;AI-generated content may be incorrect.">
                <a:extLst>
                  <a:ext uri="{FF2B5EF4-FFF2-40B4-BE49-F238E27FC236}">
                    <a16:creationId xmlns:a16="http://schemas.microsoft.com/office/drawing/2014/main" id="{65684BA4-0FC4-92A5-B39A-22ED738EFA06}"/>
                  </a:ext>
                </a:extLst>
              </p:cNvPr>
              <p:cNvPicPr>
                <a:picLocks noChangeAspect="1"/>
              </p:cNvPicPr>
              <p:nvPr/>
            </p:nvPicPr>
            <p:blipFill>
              <a:blip r:embed="rId3"/>
              <a:stretch>
                <a:fillRect/>
              </a:stretch>
            </p:blipFill>
            <p:spPr>
              <a:xfrm>
                <a:off x="2119400" y="4390052"/>
                <a:ext cx="675147" cy="675147"/>
              </a:xfrm>
              <a:prstGeom prst="rect">
                <a:avLst/>
              </a:prstGeom>
            </p:spPr>
          </p:pic>
          <p:pic>
            <p:nvPicPr>
              <p:cNvPr id="6" name="Graphic 5">
                <a:extLst>
                  <a:ext uri="{FF2B5EF4-FFF2-40B4-BE49-F238E27FC236}">
                    <a16:creationId xmlns:a16="http://schemas.microsoft.com/office/drawing/2014/main" id="{7FF0ADCD-BD58-A3E1-C263-1A6C7BB881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55218" y="1957635"/>
                <a:ext cx="495502" cy="495502"/>
              </a:xfrm>
              <a:prstGeom prst="rect">
                <a:avLst/>
              </a:prstGeom>
            </p:spPr>
          </p:pic>
          <p:pic>
            <p:nvPicPr>
              <p:cNvPr id="8" name="Graphic 7" descr="Single gear with solid fill">
                <a:extLst>
                  <a:ext uri="{FF2B5EF4-FFF2-40B4-BE49-F238E27FC236}">
                    <a16:creationId xmlns:a16="http://schemas.microsoft.com/office/drawing/2014/main" id="{75A4D848-CE65-7E40-E669-96A4F4DCB05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32560" y="3013054"/>
                <a:ext cx="541020" cy="541020"/>
              </a:xfrm>
              <a:prstGeom prst="rect">
                <a:avLst/>
              </a:prstGeom>
            </p:spPr>
          </p:pic>
          <p:sp>
            <p:nvSpPr>
              <p:cNvPr id="9" name="TextBox 8">
                <a:extLst>
                  <a:ext uri="{FF2B5EF4-FFF2-40B4-BE49-F238E27FC236}">
                    <a16:creationId xmlns:a16="http://schemas.microsoft.com/office/drawing/2014/main" id="{9ADE9948-C54A-C0E4-1DE2-B4D444225EE7}"/>
                  </a:ext>
                </a:extLst>
              </p:cNvPr>
              <p:cNvSpPr txBox="1"/>
              <p:nvPr/>
            </p:nvSpPr>
            <p:spPr>
              <a:xfrm>
                <a:off x="2074132" y="2107150"/>
                <a:ext cx="1977336" cy="215444"/>
              </a:xfrm>
              <a:prstGeom prst="rect">
                <a:avLst/>
              </a:prstGeom>
              <a:noFill/>
            </p:spPr>
            <p:txBody>
              <a:bodyPr wrap="none" lIns="0" tIns="0" rIns="0" bIns="0" rtlCol="0">
                <a:spAutoFit/>
              </a:bodyPr>
              <a:lstStyle/>
              <a:p>
                <a:pPr algn="l"/>
                <a:r>
                  <a:rPr lang="en-US" sz="1400" dirty="0"/>
                  <a:t>Azure AI Foundry project</a:t>
                </a:r>
              </a:p>
            </p:txBody>
          </p:sp>
          <p:sp>
            <p:nvSpPr>
              <p:cNvPr id="10" name="TextBox 9">
                <a:extLst>
                  <a:ext uri="{FF2B5EF4-FFF2-40B4-BE49-F238E27FC236}">
                    <a16:creationId xmlns:a16="http://schemas.microsoft.com/office/drawing/2014/main" id="{9A624B1A-D5B8-3D38-4BB9-7BB39FBE82CE}"/>
                  </a:ext>
                </a:extLst>
              </p:cNvPr>
              <p:cNvSpPr txBox="1"/>
              <p:nvPr/>
            </p:nvSpPr>
            <p:spPr>
              <a:xfrm>
                <a:off x="1996238" y="3176703"/>
                <a:ext cx="1678536" cy="215444"/>
              </a:xfrm>
              <a:prstGeom prst="rect">
                <a:avLst/>
              </a:prstGeom>
              <a:noFill/>
            </p:spPr>
            <p:txBody>
              <a:bodyPr wrap="none" lIns="0" tIns="0" rIns="0" bIns="0" rtlCol="0">
                <a:spAutoFit/>
              </a:bodyPr>
              <a:lstStyle/>
              <a:p>
                <a:pPr algn="l"/>
                <a:r>
                  <a:rPr lang="en-US" sz="1400" i="1" dirty="0" err="1"/>
                  <a:t>AzureAIAgentSettings</a:t>
                </a:r>
                <a:endParaRPr lang="en-US" sz="1400" i="1" dirty="0"/>
              </a:p>
            </p:txBody>
          </p:sp>
          <p:cxnSp>
            <p:nvCxnSpPr>
              <p:cNvPr id="12" name="Straight Arrow Connector 11">
                <a:extLst>
                  <a:ext uri="{FF2B5EF4-FFF2-40B4-BE49-F238E27FC236}">
                    <a16:creationId xmlns:a16="http://schemas.microsoft.com/office/drawing/2014/main" id="{B33F0245-03DA-26B8-DA98-ADCA15CA0579}"/>
                  </a:ext>
                </a:extLst>
              </p:cNvPr>
              <p:cNvCxnSpPr>
                <a:stCxn id="8" idx="0"/>
                <a:endCxn id="6" idx="2"/>
              </p:cNvCxnSpPr>
              <p:nvPr/>
            </p:nvCxnSpPr>
            <p:spPr>
              <a:xfrm flipH="1" flipV="1">
                <a:off x="1702969" y="2453137"/>
                <a:ext cx="101" cy="559917"/>
              </a:xfrm>
              <a:prstGeom prst="straightConnector1">
                <a:avLst/>
              </a:prstGeom>
              <a:ln w="19050">
                <a:solidFill>
                  <a:srgbClr val="0078D4"/>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15" name="Graphic 14" descr="Connected with solid fill">
                <a:extLst>
                  <a:ext uri="{FF2B5EF4-FFF2-40B4-BE49-F238E27FC236}">
                    <a16:creationId xmlns:a16="http://schemas.microsoft.com/office/drawing/2014/main" id="{143E4C6D-B539-7B5E-D2AF-1E285507AA4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78381" y="3843537"/>
                <a:ext cx="456998" cy="456998"/>
              </a:xfrm>
              <a:prstGeom prst="rect">
                <a:avLst/>
              </a:prstGeom>
            </p:spPr>
          </p:pic>
          <p:sp>
            <p:nvSpPr>
              <p:cNvPr id="16" name="TextBox 15">
                <a:extLst>
                  <a:ext uri="{FF2B5EF4-FFF2-40B4-BE49-F238E27FC236}">
                    <a16:creationId xmlns:a16="http://schemas.microsoft.com/office/drawing/2014/main" id="{A0F287BD-C892-6A4D-9C45-064F2766EDB4}"/>
                  </a:ext>
                </a:extLst>
              </p:cNvPr>
              <p:cNvSpPr txBox="1"/>
              <p:nvPr/>
            </p:nvSpPr>
            <p:spPr>
              <a:xfrm>
                <a:off x="1950518" y="3965491"/>
                <a:ext cx="1666354" cy="215444"/>
              </a:xfrm>
              <a:prstGeom prst="rect">
                <a:avLst/>
              </a:prstGeom>
              <a:noFill/>
            </p:spPr>
            <p:txBody>
              <a:bodyPr wrap="none" lIns="0" tIns="0" rIns="0" bIns="0" rtlCol="0">
                <a:spAutoFit/>
              </a:bodyPr>
              <a:lstStyle/>
              <a:p>
                <a:pPr algn="l"/>
                <a:r>
                  <a:rPr lang="en-US" sz="1400" dirty="0"/>
                  <a:t>Azure AI Agent c</a:t>
                </a:r>
                <a:r>
                  <a:rPr lang="en-US" sz="1400" i="1" dirty="0"/>
                  <a:t>lient</a:t>
                </a:r>
              </a:p>
            </p:txBody>
          </p:sp>
          <p:sp>
            <p:nvSpPr>
              <p:cNvPr id="17" name="TextBox 16">
                <a:extLst>
                  <a:ext uri="{FF2B5EF4-FFF2-40B4-BE49-F238E27FC236}">
                    <a16:creationId xmlns:a16="http://schemas.microsoft.com/office/drawing/2014/main" id="{5478058B-DD53-A624-B9D0-D47789CBF5DC}"/>
                  </a:ext>
                </a:extLst>
              </p:cNvPr>
              <p:cNvSpPr txBox="1"/>
              <p:nvPr/>
            </p:nvSpPr>
            <p:spPr>
              <a:xfrm>
                <a:off x="2805339" y="4625690"/>
                <a:ext cx="1962910" cy="215444"/>
              </a:xfrm>
              <a:prstGeom prst="rect">
                <a:avLst/>
              </a:prstGeom>
              <a:noFill/>
            </p:spPr>
            <p:txBody>
              <a:bodyPr wrap="none" lIns="0" tIns="0" rIns="0" bIns="0" rtlCol="0">
                <a:spAutoFit/>
              </a:bodyPr>
              <a:lstStyle/>
              <a:p>
                <a:pPr algn="l"/>
                <a:r>
                  <a:rPr lang="en-US" sz="1400" dirty="0"/>
                  <a:t>Azure AI </a:t>
                </a:r>
                <a:r>
                  <a:rPr lang="en-US" sz="1400" i="1" dirty="0"/>
                  <a:t>agent</a:t>
                </a:r>
                <a:r>
                  <a:rPr lang="en-US" sz="1400" dirty="0"/>
                  <a:t> definition</a:t>
                </a:r>
              </a:p>
            </p:txBody>
          </p:sp>
          <p:cxnSp>
            <p:nvCxnSpPr>
              <p:cNvPr id="19" name="Straight Arrow Connector 18">
                <a:extLst>
                  <a:ext uri="{FF2B5EF4-FFF2-40B4-BE49-F238E27FC236}">
                    <a16:creationId xmlns:a16="http://schemas.microsoft.com/office/drawing/2014/main" id="{1C08BAEB-5CF5-99EA-389F-A5D49CA97872}"/>
                  </a:ext>
                </a:extLst>
              </p:cNvPr>
              <p:cNvCxnSpPr>
                <a:cxnSpLocks/>
                <a:stCxn id="15" idx="0"/>
                <a:endCxn id="8" idx="2"/>
              </p:cNvCxnSpPr>
              <p:nvPr/>
            </p:nvCxnSpPr>
            <p:spPr>
              <a:xfrm flipH="1" flipV="1">
                <a:off x="1703070" y="3554074"/>
                <a:ext cx="3810" cy="289463"/>
              </a:xfrm>
              <a:prstGeom prst="straightConnector1">
                <a:avLst/>
              </a:prstGeom>
              <a:ln w="19050">
                <a:solidFill>
                  <a:srgbClr val="0078D4"/>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CE48DD4-A5EA-B32C-98BF-9B74BA1340EA}"/>
                  </a:ext>
                </a:extLst>
              </p:cNvPr>
              <p:cNvCxnSpPr>
                <a:endCxn id="4" idx="1"/>
              </p:cNvCxnSpPr>
              <p:nvPr/>
            </p:nvCxnSpPr>
            <p:spPr>
              <a:xfrm rot="16200000" flipH="1">
                <a:off x="1697639" y="4305864"/>
                <a:ext cx="427091" cy="416431"/>
              </a:xfrm>
              <a:prstGeom prst="bentConnector2">
                <a:avLst/>
              </a:prstGeom>
              <a:ln w="19050">
                <a:solidFill>
                  <a:srgbClr val="0078D4"/>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8934131-D258-5E29-1DA0-8996EFA5B56C}"/>
                  </a:ext>
                </a:extLst>
              </p:cNvPr>
              <p:cNvSpPr txBox="1"/>
              <p:nvPr/>
            </p:nvSpPr>
            <p:spPr>
              <a:xfrm>
                <a:off x="3003459" y="5285506"/>
                <a:ext cx="2663934" cy="215444"/>
              </a:xfrm>
              <a:prstGeom prst="rect">
                <a:avLst/>
              </a:prstGeom>
              <a:solidFill>
                <a:schemeClr val="bg1"/>
              </a:solidFill>
            </p:spPr>
            <p:txBody>
              <a:bodyPr wrap="none" lIns="0" tIns="0" rIns="0" bIns="0" rtlCol="0">
                <a:spAutoFit/>
              </a:bodyPr>
              <a:lstStyle/>
              <a:p>
                <a:pPr algn="l"/>
                <a:r>
                  <a:rPr lang="en-US" sz="1400" dirty="0"/>
                  <a:t>     Semantic Kernel </a:t>
                </a:r>
                <a:r>
                  <a:rPr lang="en-US" sz="1400" i="1" dirty="0" err="1"/>
                  <a:t>AzureAIAgent</a:t>
                </a:r>
                <a:endParaRPr lang="en-US" sz="1400" i="1" dirty="0"/>
              </a:p>
            </p:txBody>
          </p:sp>
          <p:pic>
            <p:nvPicPr>
              <p:cNvPr id="5" name="Picture 4">
                <a:extLst>
                  <a:ext uri="{FF2B5EF4-FFF2-40B4-BE49-F238E27FC236}">
                    <a16:creationId xmlns:a16="http://schemas.microsoft.com/office/drawing/2014/main" id="{752381E4-3A55-58C9-9772-02C2D154493C}"/>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714491" y="5123579"/>
                <a:ext cx="544505" cy="544505"/>
              </a:xfrm>
              <a:prstGeom prst="rect">
                <a:avLst/>
              </a:prstGeom>
              <a:noFill/>
              <a:extLst>
                <a:ext uri="{909E8E84-426E-40DD-AFC4-6F175D3DCCD1}">
                  <a14:hiddenFill xmlns:a14="http://schemas.microsoft.com/office/drawing/2010/main">
                    <a:solidFill>
                      <a:srgbClr val="FFFFFF"/>
                    </a:solidFill>
                  </a14:hiddenFill>
                </a:ext>
              </a:extLst>
            </p:spPr>
          </p:pic>
          <p:cxnSp>
            <p:nvCxnSpPr>
              <p:cNvPr id="45" name="Straight Arrow Connector 22">
                <a:extLst>
                  <a:ext uri="{FF2B5EF4-FFF2-40B4-BE49-F238E27FC236}">
                    <a16:creationId xmlns:a16="http://schemas.microsoft.com/office/drawing/2014/main" id="{F72F5355-114F-6B92-2F7D-65E09C9B2897}"/>
                  </a:ext>
                </a:extLst>
              </p:cNvPr>
              <p:cNvCxnSpPr/>
              <p:nvPr/>
            </p:nvCxnSpPr>
            <p:spPr>
              <a:xfrm rot="16200000" flipH="1">
                <a:off x="2380278" y="5019439"/>
                <a:ext cx="427091" cy="416431"/>
              </a:xfrm>
              <a:prstGeom prst="bentConnector2">
                <a:avLst/>
              </a:prstGeom>
              <a:ln w="19050">
                <a:solidFill>
                  <a:srgbClr val="0078D4"/>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95258A79-DE91-6E0B-5600-A17D4DEE9455}"/>
                  </a:ext>
                </a:extLst>
              </p:cNvPr>
              <p:cNvSpPr txBox="1"/>
              <p:nvPr/>
            </p:nvSpPr>
            <p:spPr>
              <a:xfrm>
                <a:off x="4352690" y="5914983"/>
                <a:ext cx="1641540" cy="215444"/>
              </a:xfrm>
              <a:prstGeom prst="rect">
                <a:avLst/>
              </a:prstGeom>
              <a:noFill/>
            </p:spPr>
            <p:txBody>
              <a:bodyPr wrap="none" lIns="0" tIns="0" rIns="0" bIns="0" rtlCol="0">
                <a:spAutoFit/>
              </a:bodyPr>
              <a:lstStyle/>
              <a:p>
                <a:pPr algn="l"/>
                <a:r>
                  <a:rPr lang="en-US" sz="1400" i="1" dirty="0" err="1"/>
                  <a:t>AzureAIAgentThread</a:t>
                </a:r>
                <a:endParaRPr lang="en-US" sz="1400" i="1" dirty="0"/>
              </a:p>
            </p:txBody>
          </p:sp>
        </p:grpSp>
        <p:sp>
          <p:nvSpPr>
            <p:cNvPr id="11" name="Freeform: Shape 10">
              <a:extLst>
                <a:ext uri="{FF2B5EF4-FFF2-40B4-BE49-F238E27FC236}">
                  <a16:creationId xmlns:a16="http://schemas.microsoft.com/office/drawing/2014/main" id="{14D167E4-4E0C-D3B6-06F1-0CC077ADE8B1}"/>
                </a:ext>
              </a:extLst>
            </p:cNvPr>
            <p:cNvSpPr/>
            <p:nvPr/>
          </p:nvSpPr>
          <p:spPr bwMode="auto">
            <a:xfrm rot="16473755">
              <a:off x="3564181" y="4815171"/>
              <a:ext cx="289459" cy="1909112"/>
            </a:xfrm>
            <a:custGeom>
              <a:avLst/>
              <a:gdLst>
                <a:gd name="connsiteX0" fmla="*/ 68632 w 274372"/>
                <a:gd name="connsiteY0" fmla="*/ 0 h 1548949"/>
                <a:gd name="connsiteX1" fmla="*/ 213412 w 274372"/>
                <a:gd name="connsiteY1" fmla="*/ 289560 h 1548949"/>
                <a:gd name="connsiteX2" fmla="*/ 52 w 274372"/>
                <a:gd name="connsiteY2" fmla="*/ 548640 h 1548949"/>
                <a:gd name="connsiteX3" fmla="*/ 236272 w 274372"/>
                <a:gd name="connsiteY3" fmla="*/ 906780 h 1548949"/>
                <a:gd name="connsiteX4" fmla="*/ 53392 w 274372"/>
                <a:gd name="connsiteY4" fmla="*/ 1257300 h 1548949"/>
                <a:gd name="connsiteX5" fmla="*/ 251512 w 274372"/>
                <a:gd name="connsiteY5" fmla="*/ 1524000 h 1548949"/>
                <a:gd name="connsiteX6" fmla="*/ 251512 w 274372"/>
                <a:gd name="connsiteY6" fmla="*/ 1539240 h 1548949"/>
                <a:gd name="connsiteX7" fmla="*/ 274372 w 274372"/>
                <a:gd name="connsiteY7" fmla="*/ 1539240 h 1548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372" h="1548949">
                  <a:moveTo>
                    <a:pt x="68632" y="0"/>
                  </a:moveTo>
                  <a:cubicBezTo>
                    <a:pt x="146737" y="99060"/>
                    <a:pt x="224842" y="198120"/>
                    <a:pt x="213412" y="289560"/>
                  </a:cubicBezTo>
                  <a:cubicBezTo>
                    <a:pt x="201982" y="381000"/>
                    <a:pt x="-3758" y="445770"/>
                    <a:pt x="52" y="548640"/>
                  </a:cubicBezTo>
                  <a:cubicBezTo>
                    <a:pt x="3862" y="651510"/>
                    <a:pt x="227382" y="788670"/>
                    <a:pt x="236272" y="906780"/>
                  </a:cubicBezTo>
                  <a:cubicBezTo>
                    <a:pt x="245162" y="1024890"/>
                    <a:pt x="50852" y="1154430"/>
                    <a:pt x="53392" y="1257300"/>
                  </a:cubicBezTo>
                  <a:cubicBezTo>
                    <a:pt x="55932" y="1360170"/>
                    <a:pt x="251512" y="1524000"/>
                    <a:pt x="251512" y="1524000"/>
                  </a:cubicBezTo>
                  <a:cubicBezTo>
                    <a:pt x="284532" y="1570990"/>
                    <a:pt x="247702" y="1536700"/>
                    <a:pt x="251512" y="1539240"/>
                  </a:cubicBezTo>
                  <a:cubicBezTo>
                    <a:pt x="255322" y="1541780"/>
                    <a:pt x="264847" y="1540510"/>
                    <a:pt x="274372" y="1539240"/>
                  </a:cubicBezTo>
                </a:path>
              </a:pathLst>
            </a:cu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379F5518-EC4C-82E3-6ADA-ADDE1019491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084148" y="5120410"/>
              <a:ext cx="735423" cy="735423"/>
            </a:xfrm>
            <a:prstGeom prst="rect">
              <a:avLst/>
            </a:prstGeom>
          </p:spPr>
        </p:pic>
        <p:cxnSp>
          <p:nvCxnSpPr>
            <p:cNvPr id="14" name="Straight Arrow Connector 13">
              <a:extLst>
                <a:ext uri="{FF2B5EF4-FFF2-40B4-BE49-F238E27FC236}">
                  <a16:creationId xmlns:a16="http://schemas.microsoft.com/office/drawing/2014/main" id="{0F21858D-B92A-79C2-4F14-B6369FF1099E}"/>
                </a:ext>
              </a:extLst>
            </p:cNvPr>
            <p:cNvCxnSpPr>
              <a:cxnSpLocks/>
              <a:stCxn id="5" idx="2"/>
            </p:cNvCxnSpPr>
            <p:nvPr/>
          </p:nvCxnSpPr>
          <p:spPr>
            <a:xfrm>
              <a:off x="2864824" y="5210884"/>
              <a:ext cx="0" cy="383249"/>
            </a:xfrm>
            <a:prstGeom prst="straightConnector1">
              <a:avLst/>
            </a:prstGeom>
            <a:ln w="19050">
              <a:solidFill>
                <a:srgbClr val="0078D4"/>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32" name="Graphic 31" descr="Badge 4 with solid fill">
              <a:extLst>
                <a:ext uri="{FF2B5EF4-FFF2-40B4-BE49-F238E27FC236}">
                  <a16:creationId xmlns:a16="http://schemas.microsoft.com/office/drawing/2014/main" id="{BDF9B101-676D-5324-EA03-4790E7541E6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64072" y="5334608"/>
              <a:ext cx="456998" cy="456998"/>
            </a:xfrm>
            <a:prstGeom prst="rect">
              <a:avLst/>
            </a:prstGeom>
          </p:spPr>
        </p:pic>
        <p:pic>
          <p:nvPicPr>
            <p:cNvPr id="34" name="Graphic 33" descr="Badge with solid fill">
              <a:extLst>
                <a:ext uri="{FF2B5EF4-FFF2-40B4-BE49-F238E27FC236}">
                  <a16:creationId xmlns:a16="http://schemas.microsoft.com/office/drawing/2014/main" id="{3DE78A66-0669-2ACD-5BDB-6A8A6F5BD2F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255692" y="4073481"/>
              <a:ext cx="456998" cy="456998"/>
            </a:xfrm>
            <a:prstGeom prst="rect">
              <a:avLst/>
            </a:prstGeom>
          </p:spPr>
        </p:pic>
        <p:pic>
          <p:nvPicPr>
            <p:cNvPr id="42" name="Graphic 41" descr="Badge 1 with solid fill">
              <a:extLst>
                <a:ext uri="{FF2B5EF4-FFF2-40B4-BE49-F238E27FC236}">
                  <a16:creationId xmlns:a16="http://schemas.microsoft.com/office/drawing/2014/main" id="{D85E4865-09AD-B11B-8E42-34A69EBDBBA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54937" y="2591409"/>
              <a:ext cx="456998" cy="456998"/>
            </a:xfrm>
            <a:prstGeom prst="rect">
              <a:avLst/>
            </a:prstGeom>
          </p:spPr>
        </p:pic>
        <p:sp>
          <p:nvSpPr>
            <p:cNvPr id="43" name="Left Brace 42">
              <a:extLst>
                <a:ext uri="{FF2B5EF4-FFF2-40B4-BE49-F238E27FC236}">
                  <a16:creationId xmlns:a16="http://schemas.microsoft.com/office/drawing/2014/main" id="{7C4D19F2-2B51-B1BF-8CCB-33096F2477DF}"/>
                </a:ext>
              </a:extLst>
            </p:cNvPr>
            <p:cNvSpPr/>
            <p:nvPr/>
          </p:nvSpPr>
          <p:spPr>
            <a:xfrm>
              <a:off x="1211935" y="2141220"/>
              <a:ext cx="129387" cy="1333023"/>
            </a:xfrm>
            <a:prstGeom prst="leftBrace">
              <a:avLst/>
            </a:prstGeom>
            <a:ln w="19050">
              <a:solidFill>
                <a:schemeClr val="accent2">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37" name="Graphic 36" descr="Badge 3 with solid fill">
              <a:extLst>
                <a:ext uri="{FF2B5EF4-FFF2-40B4-BE49-F238E27FC236}">
                  <a16:creationId xmlns:a16="http://schemas.microsoft.com/office/drawing/2014/main" id="{4F24D60E-5B7B-B27E-E814-10B125FD40D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15834" y="4790284"/>
              <a:ext cx="456998" cy="456998"/>
            </a:xfrm>
            <a:prstGeom prst="rect">
              <a:avLst/>
            </a:prstGeom>
          </p:spPr>
        </p:pic>
      </p:grpSp>
    </p:spTree>
    <p:extLst>
      <p:ext uri="{BB962C8B-B14F-4D97-AF65-F5344CB8AC3E}">
        <p14:creationId xmlns:p14="http://schemas.microsoft.com/office/powerpoint/2010/main" val="23568299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1BEBB-9819-7469-8DAE-DEBF29B61520}"/>
              </a:ext>
            </a:extLst>
          </p:cNvPr>
          <p:cNvSpPr>
            <a:spLocks noGrp="1"/>
          </p:cNvSpPr>
          <p:nvPr>
            <p:ph type="title"/>
          </p:nvPr>
        </p:nvSpPr>
        <p:spPr>
          <a:xfrm>
            <a:off x="588262" y="585216"/>
            <a:ext cx="8193024" cy="492443"/>
          </a:xfrm>
        </p:spPr>
        <p:txBody>
          <a:bodyPr/>
          <a:lstStyle/>
          <a:p>
            <a:r>
              <a:rPr lang="en-US" sz="3200" dirty="0"/>
              <a:t>Using plugins</a:t>
            </a:r>
          </a:p>
        </p:txBody>
      </p:sp>
      <p:sp>
        <p:nvSpPr>
          <p:cNvPr id="4" name="TextBox 3">
            <a:extLst>
              <a:ext uri="{FF2B5EF4-FFF2-40B4-BE49-F238E27FC236}">
                <a16:creationId xmlns:a16="http://schemas.microsoft.com/office/drawing/2014/main" id="{0B9E3ED0-881F-F5D3-0B5B-BCA2BDFD9982}"/>
              </a:ext>
            </a:extLst>
          </p:cNvPr>
          <p:cNvSpPr txBox="1"/>
          <p:nvPr/>
        </p:nvSpPr>
        <p:spPr>
          <a:xfrm>
            <a:off x="686118" y="1778527"/>
            <a:ext cx="10547270" cy="615553"/>
          </a:xfrm>
          <a:prstGeom prst="rect">
            <a:avLst/>
          </a:prstGeom>
          <a:noFill/>
        </p:spPr>
        <p:txBody>
          <a:bodyPr wrap="square" lIns="0" tIns="0" rIns="0" bIns="0" rtlCol="0">
            <a:spAutoFit/>
          </a:bodyPr>
          <a:lstStyle/>
          <a:p>
            <a:pPr algn="l"/>
            <a:r>
              <a:rPr lang="en-US" sz="2000" dirty="0"/>
              <a:t>In Semantic Kernel, plugins are functions that play a similar role to custom tool functions in Azure AI Agent Service</a:t>
            </a:r>
          </a:p>
        </p:txBody>
      </p:sp>
      <p:sp>
        <p:nvSpPr>
          <p:cNvPr id="9" name="TextBox 8">
            <a:extLst>
              <a:ext uri="{FF2B5EF4-FFF2-40B4-BE49-F238E27FC236}">
                <a16:creationId xmlns:a16="http://schemas.microsoft.com/office/drawing/2014/main" id="{BED8785F-4360-A237-7802-F71920275B2B}"/>
              </a:ext>
            </a:extLst>
          </p:cNvPr>
          <p:cNvSpPr txBox="1"/>
          <p:nvPr/>
        </p:nvSpPr>
        <p:spPr>
          <a:xfrm>
            <a:off x="686118" y="3094948"/>
            <a:ext cx="5614790" cy="1184940"/>
          </a:xfrm>
          <a:prstGeom prst="rect">
            <a:avLst/>
          </a:prstGeom>
          <a:noFill/>
        </p:spPr>
        <p:txBody>
          <a:bodyPr wrap="square" lIns="0" tIns="0" rIns="0" bIns="0" rtlCol="0">
            <a:spAutoFit/>
          </a:bodyPr>
          <a:lstStyle/>
          <a:p>
            <a:pPr marL="342900" indent="-342900" algn="l">
              <a:spcAft>
                <a:spcPts val="600"/>
              </a:spcAft>
              <a:buFont typeface="+mj-lt"/>
              <a:buAutoNum type="arabicPeriod"/>
            </a:pPr>
            <a:r>
              <a:rPr lang="en-US" sz="1800" dirty="0"/>
              <a:t>Define a plugin class, containing method functions annotated using the </a:t>
            </a:r>
            <a:r>
              <a:rPr lang="en-US" sz="1800" i="1" dirty="0" err="1"/>
              <a:t>kernel_function</a:t>
            </a:r>
            <a:r>
              <a:rPr lang="en-US" sz="1800" i="1" dirty="0"/>
              <a:t> </a:t>
            </a:r>
            <a:r>
              <a:rPr lang="en-US" sz="1800" dirty="0"/>
              <a:t>decorator</a:t>
            </a:r>
            <a:endParaRPr lang="en-US" sz="1800" i="1" dirty="0"/>
          </a:p>
          <a:p>
            <a:pPr marL="342900" indent="-342900" algn="l">
              <a:spcAft>
                <a:spcPts val="600"/>
              </a:spcAft>
              <a:buFont typeface="+mj-lt"/>
              <a:buAutoNum type="arabicPeriod"/>
            </a:pPr>
            <a:r>
              <a:rPr lang="en-US" sz="1800" dirty="0"/>
              <a:t>Add the plugin to the agent’s </a:t>
            </a:r>
            <a:r>
              <a:rPr lang="en-US" sz="1800" i="1" dirty="0"/>
              <a:t>plugins</a:t>
            </a:r>
            <a:r>
              <a:rPr lang="en-US" sz="1800" dirty="0"/>
              <a:t> property, so it can identify and call functions as needed</a:t>
            </a:r>
          </a:p>
        </p:txBody>
      </p:sp>
      <p:grpSp>
        <p:nvGrpSpPr>
          <p:cNvPr id="18" name="Group 17">
            <a:extLst>
              <a:ext uri="{FF2B5EF4-FFF2-40B4-BE49-F238E27FC236}">
                <a16:creationId xmlns:a16="http://schemas.microsoft.com/office/drawing/2014/main" id="{A1963CFF-4B2B-9F36-F511-B00AF4AEAA16}"/>
              </a:ext>
              <a:ext uri="{C183D7F6-B498-43B3-948B-1728B52AA6E4}">
                <adec:decorative xmlns:adec="http://schemas.microsoft.com/office/drawing/2017/decorative" val="1"/>
              </a:ext>
            </a:extLst>
          </p:cNvPr>
          <p:cNvGrpSpPr/>
          <p:nvPr/>
        </p:nvGrpSpPr>
        <p:grpSpPr>
          <a:xfrm>
            <a:off x="7422147" y="2776786"/>
            <a:ext cx="2718277" cy="2057160"/>
            <a:chOff x="8646409" y="3785720"/>
            <a:chExt cx="2718277" cy="2057160"/>
          </a:xfrm>
        </p:grpSpPr>
        <p:pic>
          <p:nvPicPr>
            <p:cNvPr id="5" name="Picture 4">
              <a:extLst>
                <a:ext uri="{FF2B5EF4-FFF2-40B4-BE49-F238E27FC236}">
                  <a16:creationId xmlns:a16="http://schemas.microsoft.com/office/drawing/2014/main" id="{0060338D-F64E-D247-1915-A5C7B434F4D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646409" y="3785720"/>
              <a:ext cx="653952" cy="653952"/>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3DA4953-BE23-CFDC-B758-0511ACEFDD7D}"/>
                </a:ext>
              </a:extLst>
            </p:cNvPr>
            <p:cNvGrpSpPr/>
            <p:nvPr/>
          </p:nvGrpSpPr>
          <p:grpSpPr>
            <a:xfrm>
              <a:off x="10126209" y="4873145"/>
              <a:ext cx="914400" cy="914400"/>
              <a:chOff x="8800942" y="5589384"/>
              <a:chExt cx="914400" cy="914400"/>
            </a:xfrm>
          </p:grpSpPr>
          <p:pic>
            <p:nvPicPr>
              <p:cNvPr id="13" name="Graphic 12" descr="Paper with solid fill">
                <a:extLst>
                  <a:ext uri="{FF2B5EF4-FFF2-40B4-BE49-F238E27FC236}">
                    <a16:creationId xmlns:a16="http://schemas.microsoft.com/office/drawing/2014/main" id="{08853B2B-9FCB-8217-808E-AD3D1E2BD8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00942" y="5589384"/>
                <a:ext cx="914400" cy="914400"/>
              </a:xfrm>
              <a:prstGeom prst="rect">
                <a:avLst/>
              </a:prstGeom>
            </p:spPr>
          </p:pic>
          <p:pic>
            <p:nvPicPr>
              <p:cNvPr id="7" name="Graphic 6" descr="Single gear with solid fill">
                <a:extLst>
                  <a:ext uri="{FF2B5EF4-FFF2-40B4-BE49-F238E27FC236}">
                    <a16:creationId xmlns:a16="http://schemas.microsoft.com/office/drawing/2014/main" id="{2B54A4F6-2B3F-6419-B4BF-2FF3C326412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56948" y="5818696"/>
                <a:ext cx="602387" cy="602387"/>
              </a:xfrm>
              <a:prstGeom prst="rect">
                <a:avLst/>
              </a:prstGeom>
            </p:spPr>
          </p:pic>
        </p:grpSp>
        <p:sp>
          <p:nvSpPr>
            <p:cNvPr id="17" name="Rectangle 16">
              <a:extLst>
                <a:ext uri="{FF2B5EF4-FFF2-40B4-BE49-F238E27FC236}">
                  <a16:creationId xmlns:a16="http://schemas.microsoft.com/office/drawing/2014/main" id="{2E197CD5-063F-7C7E-AC5C-B8E9C48B4FB6}"/>
                </a:ext>
              </a:extLst>
            </p:cNvPr>
            <p:cNvSpPr/>
            <p:nvPr/>
          </p:nvSpPr>
          <p:spPr bwMode="auto">
            <a:xfrm>
              <a:off x="9843247" y="4706790"/>
              <a:ext cx="1521439" cy="1136090"/>
            </a:xfrm>
            <a:prstGeom prst="rect">
              <a:avLst/>
            </a:prstGeom>
            <a:noFill/>
            <a:ln w="38100">
              <a:solidFill>
                <a:schemeClr val="tx2">
                  <a:lumMod val="50000"/>
                  <a:lumOff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5" name="Graphic 14" descr="Plugged Unplugged with solid fill">
              <a:extLst>
                <a:ext uri="{FF2B5EF4-FFF2-40B4-BE49-F238E27FC236}">
                  <a16:creationId xmlns:a16="http://schemas.microsoft.com/office/drawing/2014/main" id="{3B756793-55F3-62BF-3181-9CED2CE8BE4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00361" y="4147837"/>
              <a:ext cx="914400" cy="914400"/>
            </a:xfrm>
            <a:prstGeom prst="rect">
              <a:avLst/>
            </a:prstGeom>
          </p:spPr>
        </p:pic>
      </p:grpSp>
      <p:sp>
        <p:nvSpPr>
          <p:cNvPr id="3" name="Footer Placeholder 2">
            <a:extLst>
              <a:ext uri="{FF2B5EF4-FFF2-40B4-BE49-F238E27FC236}">
                <a16:creationId xmlns:a16="http://schemas.microsoft.com/office/drawing/2014/main" id="{6749EC0E-FCAC-AC8A-722F-0C12B487C6D6}"/>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04604117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F9303-3628-1EB4-BC15-16BF9BDA2975}"/>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241F47A-DC0A-CF6D-B291-753049616C96}"/>
              </a:ext>
              <a:ext uri="{C183D7F6-B498-43B3-948B-1728B52AA6E4}">
                <adec:decorative xmlns:adec="http://schemas.microsoft.com/office/drawing/2017/decorative" val="1"/>
              </a:ext>
            </a:extLst>
          </p:cNvPr>
          <p:cNvSpPr>
            <a:spLocks noGrp="1"/>
          </p:cNvSpPr>
          <p:nvPr>
            <p:ph type="pic" sz="quarter" idx="20"/>
          </p:nvPr>
        </p:nvSpPr>
        <p:spPr/>
        <p:txBody>
          <a:bodyPr/>
          <a:lstStyle/>
          <a:p>
            <a:endParaRPr lang="en-US"/>
          </a:p>
        </p:txBody>
      </p:sp>
      <p:sp>
        <p:nvSpPr>
          <p:cNvPr id="5" name="Title 4">
            <a:extLst>
              <a:ext uri="{FF2B5EF4-FFF2-40B4-BE49-F238E27FC236}">
                <a16:creationId xmlns:a16="http://schemas.microsoft.com/office/drawing/2014/main" id="{A310E826-05DE-CAAF-50E8-05F242CE95CD}"/>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54022E4C-A7C9-8D98-7770-B5ACBDC12907}"/>
              </a:ext>
            </a:extLst>
          </p:cNvPr>
          <p:cNvSpPr>
            <a:spLocks noGrp="1"/>
          </p:cNvSpPr>
          <p:nvPr>
            <p:ph type="body" sz="quarter" idx="16"/>
          </p:nvPr>
        </p:nvSpPr>
        <p:spPr>
          <a:xfrm>
            <a:off x="584199" y="1594155"/>
            <a:ext cx="5654573" cy="615553"/>
          </a:xfrm>
        </p:spPr>
        <p:txBody>
          <a:bodyPr/>
          <a:lstStyle/>
          <a:p>
            <a:r>
              <a:rPr lang="en-US" sz="2000" dirty="0"/>
              <a:t>Develop an Azure AI agent with the Semantic Kernel SDK</a:t>
            </a:r>
          </a:p>
        </p:txBody>
      </p:sp>
      <p:sp>
        <p:nvSpPr>
          <p:cNvPr id="6" name="Text Placeholder 5">
            <a:extLst>
              <a:ext uri="{FF2B5EF4-FFF2-40B4-BE49-F238E27FC236}">
                <a16:creationId xmlns:a16="http://schemas.microsoft.com/office/drawing/2014/main" id="{A61BC78B-A9CD-6418-B74A-78D938349CEC}"/>
              </a:ext>
            </a:extLst>
          </p:cNvPr>
          <p:cNvSpPr>
            <a:spLocks noGrp="1"/>
          </p:cNvSpPr>
          <p:nvPr>
            <p:ph type="body" sz="quarter" idx="15"/>
          </p:nvPr>
        </p:nvSpPr>
        <p:spPr>
          <a:xfrm>
            <a:off x="588262" y="2323985"/>
            <a:ext cx="5652201" cy="738664"/>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the </a:t>
            </a:r>
            <a:r>
              <a:rPr lang="en-US" dirty="0">
                <a:solidFill>
                  <a:srgbClr val="000000"/>
                </a:solidFill>
                <a:latin typeface="Segoe UI"/>
                <a:cs typeface="+mn-cs"/>
              </a:rPr>
              <a:t>Semantic Kernel </a:t>
            </a:r>
            <a:r>
              <a:rPr kumimoji="0" lang="en-US" sz="1600" b="0" i="0" u="none" strike="noStrike" kern="1200" cap="none" spc="0" normalizeH="0" baseline="0" noProof="0" dirty="0">
                <a:ln>
                  <a:noFill/>
                </a:ln>
                <a:solidFill>
                  <a:srgbClr val="000000"/>
                </a:solidFill>
                <a:effectLst/>
                <a:uLnTx/>
                <a:uFillTx/>
                <a:latin typeface="Segoe UI"/>
                <a:ea typeface="+mn-ea"/>
                <a:cs typeface="+mn-cs"/>
              </a:rPr>
              <a:t>SDK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an Azure AI Agent</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Use a plugin</a:t>
            </a:r>
          </a:p>
        </p:txBody>
      </p:sp>
      <p:sp>
        <p:nvSpPr>
          <p:cNvPr id="10" name="TextBox 9">
            <a:extLst>
              <a:ext uri="{FF2B5EF4-FFF2-40B4-BE49-F238E27FC236}">
                <a16:creationId xmlns:a16="http://schemas.microsoft.com/office/drawing/2014/main" id="{CEB385D9-6BDB-F76C-2007-390288CD8DC1}"/>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https://go.microsoft.com/fwlink/?linkid=2313222</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pic>
        <p:nvPicPr>
          <p:cNvPr id="4" name="Picture 3">
            <a:extLst>
              <a:ext uri="{FF2B5EF4-FFF2-40B4-BE49-F238E27FC236}">
                <a16:creationId xmlns:a16="http://schemas.microsoft.com/office/drawing/2014/main" id="{86981DCC-C0CE-D211-3A43-D6B3EFFE48B8}"/>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09535" y="2026286"/>
            <a:ext cx="4535805" cy="3358518"/>
          </a:xfrm>
          <a:prstGeom prst="rect">
            <a:avLst/>
          </a:prstGeom>
        </p:spPr>
      </p:pic>
      <p:sp>
        <p:nvSpPr>
          <p:cNvPr id="11" name="Flowchart: Off-page Connector 44">
            <a:extLst>
              <a:ext uri="{FF2B5EF4-FFF2-40B4-BE49-F238E27FC236}">
                <a16:creationId xmlns:a16="http://schemas.microsoft.com/office/drawing/2014/main" id="{0C59DE63-64DD-1412-E0DD-2B3D9B461261}"/>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lang="en-US" sz="1400" kern="0" dirty="0">
                <a:solidFill>
                  <a:srgbClr val="FFFFFF"/>
                </a:solidFill>
                <a:latin typeface="Segoe UI"/>
                <a:ea typeface="Segoe UI" pitchFamily="34" charset="0"/>
                <a:cs typeface="Segoe UI" pitchFamily="34" charset="0"/>
              </a:rPr>
              <a:t>(then remove this arrow)</a:t>
            </a:r>
            <a:endPar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3" name="Footer Placeholder 2">
            <a:extLst>
              <a:ext uri="{FF2B5EF4-FFF2-40B4-BE49-F238E27FC236}">
                <a16:creationId xmlns:a16="http://schemas.microsoft.com/office/drawing/2014/main" id="{F9EB15D2-3D72-BDA5-E6E4-DF96DB80555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3502163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5244D-454C-41B6-6642-57D72E16B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5C8A5-2536-4B13-99E3-03CC6CA40BDD}"/>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67DB6717-A400-E353-BF05-9FC0AE629108}"/>
              </a:ext>
            </a:extLst>
          </p:cNvPr>
          <p:cNvSpPr>
            <a:spLocks noGrp="1"/>
          </p:cNvSpPr>
          <p:nvPr>
            <p:ph type="body" sz="quarter" idx="17"/>
          </p:nvPr>
        </p:nvSpPr>
        <p:spPr>
          <a:xfrm>
            <a:off x="1235075" y="1687706"/>
            <a:ext cx="8778782" cy="215444"/>
          </a:xfrm>
        </p:spPr>
        <p:txBody>
          <a:bodyPr/>
          <a:lstStyle/>
          <a:p>
            <a:pPr>
              <a:buNone/>
            </a:pPr>
            <a:r>
              <a:rPr lang="en-US" noProof="0" dirty="0"/>
              <a:t>What is the main purpose of the </a:t>
            </a:r>
            <a:r>
              <a:rPr lang="en-US" noProof="0" dirty="0" err="1"/>
              <a:t>AzureAIAgent</a:t>
            </a:r>
            <a:r>
              <a:rPr lang="en-US" noProof="0" dirty="0"/>
              <a:t> class in Semantic Kernel?</a:t>
            </a:r>
          </a:p>
        </p:txBody>
      </p:sp>
      <p:sp>
        <p:nvSpPr>
          <p:cNvPr id="9" name="Text Placeholder 8">
            <a:extLst>
              <a:ext uri="{FF2B5EF4-FFF2-40B4-BE49-F238E27FC236}">
                <a16:creationId xmlns:a16="http://schemas.microsoft.com/office/drawing/2014/main" id="{55FAB5EF-3D51-2BE3-2A3B-D617179BCFF3}"/>
              </a:ext>
            </a:extLst>
          </p:cNvPr>
          <p:cNvSpPr>
            <a:spLocks noGrp="1"/>
          </p:cNvSpPr>
          <p:nvPr>
            <p:ph type="body" sz="quarter" idx="15"/>
          </p:nvPr>
        </p:nvSpPr>
        <p:spPr>
          <a:xfrm>
            <a:off x="1235075" y="2012919"/>
            <a:ext cx="8775098" cy="732508"/>
          </a:xfrm>
          <a:noFill/>
        </p:spPr>
        <p:txBody>
          <a:bodyPr/>
          <a:lstStyle/>
          <a:p>
            <a:r>
              <a:rPr lang="en-US" noProof="0" dirty="0"/>
              <a:t>To provide a low-level interface for directly managing AI models</a:t>
            </a:r>
            <a:endParaRPr lang="en-US" noProof="0" dirty="0">
              <a:solidFill>
                <a:srgbClr val="000000"/>
              </a:solidFill>
            </a:endParaRPr>
          </a:p>
          <a:p>
            <a:r>
              <a:rPr lang="en-US" noProof="0" dirty="0"/>
              <a:t>To simplify the use of Azure AI Agent Service by abstracting complex operations </a:t>
            </a:r>
          </a:p>
          <a:p>
            <a:r>
              <a:rPr lang="en-US" noProof="0" dirty="0"/>
              <a:t>To replace the need for prompt templates in AI workflows</a:t>
            </a:r>
          </a:p>
        </p:txBody>
      </p:sp>
      <p:sp>
        <p:nvSpPr>
          <p:cNvPr id="18" name="Text Placeholder 17">
            <a:extLst>
              <a:ext uri="{FF2B5EF4-FFF2-40B4-BE49-F238E27FC236}">
                <a16:creationId xmlns:a16="http://schemas.microsoft.com/office/drawing/2014/main" id="{20001DA2-FCAC-AC67-C186-6A9BBB033A7E}"/>
              </a:ext>
            </a:extLst>
          </p:cNvPr>
          <p:cNvSpPr>
            <a:spLocks noGrp="1"/>
          </p:cNvSpPr>
          <p:nvPr>
            <p:ph type="body" sz="quarter" idx="22"/>
          </p:nvPr>
        </p:nvSpPr>
        <p:spPr>
          <a:xfrm>
            <a:off x="1235075" y="3153050"/>
            <a:ext cx="8778782" cy="215444"/>
          </a:xfrm>
        </p:spPr>
        <p:txBody>
          <a:bodyPr/>
          <a:lstStyle/>
          <a:p>
            <a:r>
              <a:rPr lang="en-US" noProof="0" dirty="0"/>
              <a:t>Which component in the Agent Framework manages conversation state and stores messages?</a:t>
            </a:r>
            <a:endParaRPr lang="en-US" b="1" noProof="0" dirty="0"/>
          </a:p>
        </p:txBody>
      </p:sp>
      <p:sp>
        <p:nvSpPr>
          <p:cNvPr id="19" name="Text Placeholder 18">
            <a:extLst>
              <a:ext uri="{FF2B5EF4-FFF2-40B4-BE49-F238E27FC236}">
                <a16:creationId xmlns:a16="http://schemas.microsoft.com/office/drawing/2014/main" id="{040C8BB3-5A79-F21C-576F-C57F54E84521}"/>
              </a:ext>
            </a:extLst>
          </p:cNvPr>
          <p:cNvSpPr>
            <a:spLocks noGrp="1"/>
          </p:cNvSpPr>
          <p:nvPr>
            <p:ph type="body" sz="quarter" idx="23"/>
          </p:nvPr>
        </p:nvSpPr>
        <p:spPr>
          <a:xfrm>
            <a:off x="1237265" y="3463791"/>
            <a:ext cx="8775098" cy="732508"/>
          </a:xfrm>
        </p:spPr>
        <p:txBody>
          <a:bodyPr/>
          <a:lstStyle/>
          <a:p>
            <a:r>
              <a:rPr lang="en-US" noProof="0" dirty="0"/>
              <a:t>Agent threads</a:t>
            </a:r>
          </a:p>
          <a:p>
            <a:r>
              <a:rPr lang="en-US" noProof="0" dirty="0"/>
              <a:t>Agent chat </a:t>
            </a:r>
          </a:p>
          <a:p>
            <a:r>
              <a:rPr lang="en-US" noProof="0" dirty="0"/>
              <a:t>AI service connectors</a:t>
            </a:r>
          </a:p>
        </p:txBody>
      </p:sp>
      <p:sp>
        <p:nvSpPr>
          <p:cNvPr id="15" name="Text Placeholder 14">
            <a:extLst>
              <a:ext uri="{FF2B5EF4-FFF2-40B4-BE49-F238E27FC236}">
                <a16:creationId xmlns:a16="http://schemas.microsoft.com/office/drawing/2014/main" id="{9F818F2E-CE51-2320-B527-FF4B379DF1D8}"/>
              </a:ext>
            </a:extLst>
          </p:cNvPr>
          <p:cNvSpPr>
            <a:spLocks noGrp="1"/>
          </p:cNvSpPr>
          <p:nvPr>
            <p:ph type="body" sz="quarter" idx="20"/>
          </p:nvPr>
        </p:nvSpPr>
        <p:spPr>
          <a:xfrm>
            <a:off x="1235074" y="4588103"/>
            <a:ext cx="8957333" cy="215444"/>
          </a:xfrm>
        </p:spPr>
        <p:txBody>
          <a:bodyPr/>
          <a:lstStyle/>
          <a:p>
            <a:r>
              <a:rPr lang="en-US" b="1" noProof="0" dirty="0"/>
              <a:t>Which step is necessary to enable an </a:t>
            </a:r>
            <a:r>
              <a:rPr lang="en-US" b="1" noProof="0" dirty="0" err="1"/>
              <a:t>AzureAIAgent</a:t>
            </a:r>
            <a:r>
              <a:rPr lang="en-US" b="1" noProof="0" dirty="0"/>
              <a:t> to use a plugin?</a:t>
            </a:r>
          </a:p>
        </p:txBody>
      </p:sp>
      <p:sp>
        <p:nvSpPr>
          <p:cNvPr id="17" name="Text Placeholder 16">
            <a:extLst>
              <a:ext uri="{FF2B5EF4-FFF2-40B4-BE49-F238E27FC236}">
                <a16:creationId xmlns:a16="http://schemas.microsoft.com/office/drawing/2014/main" id="{B52BF0E9-BD01-AF99-57AB-908AF7CE8E94}"/>
              </a:ext>
            </a:extLst>
          </p:cNvPr>
          <p:cNvSpPr>
            <a:spLocks noGrp="1"/>
          </p:cNvSpPr>
          <p:nvPr>
            <p:ph type="body" sz="quarter" idx="21"/>
          </p:nvPr>
        </p:nvSpPr>
        <p:spPr>
          <a:xfrm>
            <a:off x="1235075" y="4968973"/>
            <a:ext cx="8775098" cy="732508"/>
          </a:xfrm>
        </p:spPr>
        <p:txBody>
          <a:bodyPr/>
          <a:lstStyle/>
          <a:p>
            <a:r>
              <a:rPr lang="en-US" noProof="0" dirty="0"/>
              <a:t>Modify the AI model's architecture to integrate the plugin </a:t>
            </a:r>
          </a:p>
          <a:p>
            <a:r>
              <a:rPr lang="en-US" noProof="0" dirty="0"/>
              <a:t>Configure the plugin in Azure portal before using it in Semantic Kernel</a:t>
            </a:r>
          </a:p>
          <a:p>
            <a:r>
              <a:rPr lang="en-US" noProof="0" dirty="0"/>
              <a:t>Define a class with methods annotated using the </a:t>
            </a:r>
            <a:r>
              <a:rPr lang="en-US" i="1" noProof="0" dirty="0" err="1"/>
              <a:t>kernel_function</a:t>
            </a:r>
            <a:r>
              <a:rPr lang="en-US" i="1" noProof="0" dirty="0"/>
              <a:t> </a:t>
            </a:r>
            <a:r>
              <a:rPr lang="en-US" noProof="0" dirty="0"/>
              <a:t>decorator</a:t>
            </a:r>
          </a:p>
        </p:txBody>
      </p:sp>
      <p:sp>
        <p:nvSpPr>
          <p:cNvPr id="76" name="Oval 75">
            <a:extLst>
              <a:ext uri="{FF2B5EF4-FFF2-40B4-BE49-F238E27FC236}">
                <a16:creationId xmlns:a16="http://schemas.microsoft.com/office/drawing/2014/main" id="{D877653C-56BE-EB47-96FA-F32DAEF2F11E}"/>
              </a:ext>
              <a:ext uri="{C183D7F6-B498-43B3-948B-1728B52AA6E4}">
                <adec:decorative xmlns:adec="http://schemas.microsoft.com/office/drawing/2017/decorative" val="1"/>
              </a:ext>
            </a:extLst>
          </p:cNvPr>
          <p:cNvSpPr>
            <a:spLocks/>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D084DF04-9F98-3B31-9CD1-9CC18A0D677F}"/>
              </a:ext>
              <a:ext uri="{C183D7F6-B498-43B3-948B-1728B52AA6E4}">
                <adec:decorative xmlns:adec="http://schemas.microsoft.com/office/drawing/2017/decorative" val="1"/>
              </a:ext>
            </a:extLst>
          </p:cNvPr>
          <p:cNvSpPr>
            <a:spLocks/>
          </p:cNvSpPr>
          <p:nvPr/>
        </p:nvSpPr>
        <p:spPr bwMode="auto">
          <a:xfrm>
            <a:off x="722582" y="30468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3FD87624-49BA-5B43-E418-B5A31BE5B92C}"/>
              </a:ext>
              <a:ext uri="{C183D7F6-B498-43B3-948B-1728B52AA6E4}">
                <adec:decorative xmlns:adec="http://schemas.microsoft.com/office/drawing/2017/decorative" val="1"/>
              </a:ext>
            </a:extLst>
          </p:cNvPr>
          <p:cNvSpPr>
            <a:spLocks/>
          </p:cNvSpPr>
          <p:nvPr/>
        </p:nvSpPr>
        <p:spPr>
          <a:xfrm>
            <a:off x="1263852" y="352301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78" name="Oval 77">
            <a:extLst>
              <a:ext uri="{FF2B5EF4-FFF2-40B4-BE49-F238E27FC236}">
                <a16:creationId xmlns:a16="http://schemas.microsoft.com/office/drawing/2014/main" id="{35675737-A156-033E-A139-B31348D70D9F}"/>
              </a:ext>
              <a:ext uri="{C183D7F6-B498-43B3-948B-1728B52AA6E4}">
                <adec:decorative xmlns:adec="http://schemas.microsoft.com/office/drawing/2017/decorative" val="1"/>
              </a:ext>
            </a:extLst>
          </p:cNvPr>
          <p:cNvSpPr>
            <a:spLocks/>
          </p:cNvSpPr>
          <p:nvPr/>
        </p:nvSpPr>
        <p:spPr bwMode="auto">
          <a:xfrm>
            <a:off x="722582" y="449622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p>
        </p:txBody>
      </p:sp>
      <p:sp>
        <p:nvSpPr>
          <p:cNvPr id="81" name="Graphic 26">
            <a:extLst>
              <a:ext uri="{FF2B5EF4-FFF2-40B4-BE49-F238E27FC236}">
                <a16:creationId xmlns:a16="http://schemas.microsoft.com/office/drawing/2014/main" id="{3783C1F4-C46C-93C0-8847-9C5A2B527960}"/>
              </a:ext>
              <a:ext uri="{C183D7F6-B498-43B3-948B-1728B52AA6E4}">
                <adec:decorative xmlns:adec="http://schemas.microsoft.com/office/drawing/2017/decorative" val="1"/>
              </a:ext>
            </a:extLst>
          </p:cNvPr>
          <p:cNvSpPr>
            <a:spLocks/>
          </p:cNvSpPr>
          <p:nvPr/>
        </p:nvSpPr>
        <p:spPr>
          <a:xfrm>
            <a:off x="1263852" y="551375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D290A56D-6D9A-AFC6-C787-CDA702E1F4E6}"/>
              </a:ext>
              <a:ext uri="{C183D7F6-B498-43B3-948B-1728B52AA6E4}">
                <adec:decorative xmlns:adec="http://schemas.microsoft.com/office/drawing/2017/decorative" val="1"/>
              </a:ext>
            </a:extLst>
          </p:cNvPr>
          <p:cNvSpPr>
            <a:spLocks/>
          </p:cNvSpPr>
          <p:nvPr/>
        </p:nvSpPr>
        <p:spPr>
          <a:xfrm>
            <a:off x="1256418" y="230340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247613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008CB-CE9F-2B72-DF31-7FAB911DF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FCC04-9B76-E93C-972A-A2B467854D5E}"/>
              </a:ext>
            </a:extLst>
          </p:cNvPr>
          <p:cNvSpPr>
            <a:spLocks noGrp="1"/>
          </p:cNvSpPr>
          <p:nvPr>
            <p:ph type="title"/>
          </p:nvPr>
        </p:nvSpPr>
        <p:spPr>
          <a:xfrm>
            <a:off x="569911" y="2153504"/>
            <a:ext cx="6737669" cy="1846659"/>
          </a:xfrm>
        </p:spPr>
        <p:txBody>
          <a:bodyPr/>
          <a:lstStyle/>
          <a:p>
            <a:r>
              <a:rPr lang="en-US" noProof="0" dirty="0"/>
              <a:t>Orchestrate a multi-agent solution using Semantic Kernel</a:t>
            </a:r>
          </a:p>
        </p:txBody>
      </p:sp>
      <p:sp>
        <p:nvSpPr>
          <p:cNvPr id="4" name="TextBox 3">
            <a:extLst>
              <a:ext uri="{FF2B5EF4-FFF2-40B4-BE49-F238E27FC236}">
                <a16:creationId xmlns:a16="http://schemas.microsoft.com/office/drawing/2014/main" id="{3FA8109B-8A88-0A91-A78B-DD790C3EA0AA}"/>
              </a:ext>
            </a:extLst>
          </p:cNvPr>
          <p:cNvSpPr txBox="1"/>
          <p:nvPr/>
        </p:nvSpPr>
        <p:spPr>
          <a:xfrm>
            <a:off x="495300" y="4000163"/>
            <a:ext cx="6096000" cy="363946"/>
          </a:xfrm>
          <a:prstGeom prst="rect">
            <a:avLst/>
          </a:prstGeom>
          <a:noFill/>
        </p:spPr>
        <p:txBody>
          <a:bodyPr wrap="square">
            <a:spAutoFit/>
          </a:bodyPr>
          <a:lstStyle/>
          <a:p>
            <a:r>
              <a:rPr lang="en-US" dirty="0">
                <a:solidFill>
                  <a:schemeClr val="accent2"/>
                </a:solidFill>
              </a:rPr>
              <a:t>https://aka.ms/mslearn-ai-multi-agent</a:t>
            </a:r>
          </a:p>
        </p:txBody>
      </p:sp>
    </p:spTree>
    <p:extLst>
      <p:ext uri="{BB962C8B-B14F-4D97-AF65-F5344CB8AC3E}">
        <p14:creationId xmlns:p14="http://schemas.microsoft.com/office/powerpoint/2010/main" val="2968384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644EFA-D468-C0F1-A9A7-E3B57B68976F}"/>
              </a:ext>
            </a:extLst>
          </p:cNvPr>
          <p:cNvSpPr>
            <a:spLocks noGrp="1"/>
          </p:cNvSpPr>
          <p:nvPr>
            <p:ph type="title"/>
          </p:nvPr>
        </p:nvSpPr>
        <p:spPr>
          <a:xfrm>
            <a:off x="588262" y="585216"/>
            <a:ext cx="8193024" cy="492443"/>
          </a:xfrm>
        </p:spPr>
        <p:txBody>
          <a:bodyPr/>
          <a:lstStyle/>
          <a:p>
            <a:r>
              <a:rPr lang="en-US" sz="3200" dirty="0"/>
              <a:t>What is a multi-agent solution?</a:t>
            </a:r>
          </a:p>
        </p:txBody>
      </p:sp>
      <p:sp>
        <p:nvSpPr>
          <p:cNvPr id="7" name="TextBox 6">
            <a:extLst>
              <a:ext uri="{FF2B5EF4-FFF2-40B4-BE49-F238E27FC236}">
                <a16:creationId xmlns:a16="http://schemas.microsoft.com/office/drawing/2014/main" id="{AA7F16D9-5EA3-E781-D513-1E5C2AA40E89}"/>
              </a:ext>
            </a:extLst>
          </p:cNvPr>
          <p:cNvSpPr txBox="1"/>
          <p:nvPr/>
        </p:nvSpPr>
        <p:spPr>
          <a:xfrm>
            <a:off x="3809548" y="1675763"/>
            <a:ext cx="8263553" cy="4000326"/>
          </a:xfrm>
          <a:prstGeom prst="rect">
            <a:avLst/>
          </a:prstGeom>
          <a:noFill/>
        </p:spPr>
        <p:txBody>
          <a:bodyPr wrap="square">
            <a:spAutoFit/>
          </a:bodyPr>
          <a:lstStyle/>
          <a:p>
            <a:pPr algn="l">
              <a:buNone/>
            </a:pPr>
            <a:r>
              <a:rPr lang="en-US" b="0" i="0" dirty="0">
                <a:solidFill>
                  <a:srgbClr val="161616"/>
                </a:solidFill>
                <a:effectLst/>
                <a:latin typeface="Segoe UI" panose="020B0502040204020203" pitchFamily="34" charset="0"/>
              </a:rPr>
              <a:t>A multi-agent solution allows agents to collaborate within the same conversation</a:t>
            </a:r>
          </a:p>
          <a:p>
            <a:pPr algn="l">
              <a:buNone/>
            </a:pPr>
            <a:endParaRPr lang="en-US" b="0" i="0" dirty="0">
              <a:solidFill>
                <a:srgbClr val="161616"/>
              </a:solidFill>
              <a:effectLst/>
              <a:latin typeface="Segoe UI" panose="020B0502040204020203" pitchFamily="34" charset="0"/>
            </a:endParaRPr>
          </a:p>
          <a:p>
            <a:pPr algn="l">
              <a:spcAft>
                <a:spcPts val="1200"/>
              </a:spcAft>
              <a:buNone/>
            </a:pPr>
            <a:r>
              <a:rPr lang="en-US" dirty="0">
                <a:solidFill>
                  <a:srgbClr val="161616"/>
                </a:solidFill>
                <a:latin typeface="Segoe UI" panose="020B0502040204020203" pitchFamily="34" charset="0"/>
              </a:rPr>
              <a:t>For e</a:t>
            </a:r>
            <a:r>
              <a:rPr lang="en-US" b="0" i="0" dirty="0">
                <a:solidFill>
                  <a:srgbClr val="161616"/>
                </a:solidFill>
                <a:effectLst/>
                <a:latin typeface="Segoe UI" panose="020B0502040204020203" pitchFamily="34" charset="0"/>
              </a:rPr>
              <a:t>xample, consider a DevOps monitoring and issue resolution solution</a:t>
            </a:r>
          </a:p>
          <a:p>
            <a:pPr marL="342900" indent="-342900" algn="l">
              <a:spcAft>
                <a:spcPts val="600"/>
              </a:spcAft>
              <a:buClr>
                <a:schemeClr val="accent1"/>
              </a:buClr>
              <a:buFont typeface="+mj-lt"/>
              <a:buAutoNum type="arabicPeriod"/>
            </a:pPr>
            <a:r>
              <a:rPr lang="en-US" sz="1600" b="0" i="0" dirty="0">
                <a:solidFill>
                  <a:srgbClr val="161616"/>
                </a:solidFill>
                <a:effectLst/>
                <a:latin typeface="Segoe UI" panose="020B0502040204020203" pitchFamily="34" charset="0"/>
              </a:rPr>
              <a:t>A </a:t>
            </a:r>
            <a:r>
              <a:rPr lang="en-US" sz="1600" b="0" i="1" dirty="0">
                <a:solidFill>
                  <a:srgbClr val="161616"/>
                </a:solidFill>
                <a:effectLst/>
                <a:latin typeface="Segoe UI" panose="020B0502040204020203" pitchFamily="34" charset="0"/>
              </a:rPr>
              <a:t>monitoring</a:t>
            </a:r>
            <a:r>
              <a:rPr lang="en-US" sz="1600" b="0" i="0" dirty="0">
                <a:solidFill>
                  <a:srgbClr val="161616"/>
                </a:solidFill>
                <a:effectLst/>
                <a:latin typeface="Segoe UI" panose="020B0502040204020203" pitchFamily="34" charset="0"/>
              </a:rPr>
              <a:t> </a:t>
            </a:r>
            <a:r>
              <a:rPr lang="en-US" sz="1600" b="0" i="1" dirty="0">
                <a:solidFill>
                  <a:srgbClr val="161616"/>
                </a:solidFill>
                <a:effectLst/>
                <a:latin typeface="Segoe UI" panose="020B0502040204020203" pitchFamily="34" charset="0"/>
              </a:rPr>
              <a:t>agent</a:t>
            </a:r>
            <a:r>
              <a:rPr lang="en-US" sz="1600" b="0" i="0" dirty="0">
                <a:solidFill>
                  <a:srgbClr val="161616"/>
                </a:solidFill>
                <a:effectLst/>
                <a:latin typeface="Segoe UI" panose="020B0502040204020203" pitchFamily="34" charset="0"/>
              </a:rPr>
              <a:t> continuously ingests logs and metrics, detects anomalies using natural language processing (NLP), and triggers alerts when issues arise.</a:t>
            </a:r>
          </a:p>
          <a:p>
            <a:pPr marL="342900" indent="-342900" algn="l">
              <a:spcAft>
                <a:spcPts val="600"/>
              </a:spcAft>
              <a:buClr>
                <a:schemeClr val="accent1"/>
              </a:buClr>
              <a:buFont typeface="+mj-lt"/>
              <a:buAutoNum type="arabicPeriod"/>
            </a:pPr>
            <a:r>
              <a:rPr lang="en-US" sz="1600" b="0" i="0" dirty="0">
                <a:solidFill>
                  <a:srgbClr val="161616"/>
                </a:solidFill>
                <a:effectLst/>
                <a:latin typeface="Segoe UI" panose="020B0502040204020203" pitchFamily="34" charset="0"/>
              </a:rPr>
              <a:t>A </a:t>
            </a:r>
            <a:r>
              <a:rPr lang="en-US" sz="1600" b="0" i="1" dirty="0">
                <a:solidFill>
                  <a:srgbClr val="161616"/>
                </a:solidFill>
                <a:effectLst/>
                <a:latin typeface="Segoe UI" panose="020B0502040204020203" pitchFamily="34" charset="0"/>
              </a:rPr>
              <a:t>root cause analysis agent</a:t>
            </a:r>
            <a:r>
              <a:rPr lang="en-US" sz="1600" b="0" i="0" dirty="0">
                <a:solidFill>
                  <a:srgbClr val="161616"/>
                </a:solidFill>
                <a:effectLst/>
                <a:latin typeface="Segoe UI" panose="020B0502040204020203" pitchFamily="34" charset="0"/>
              </a:rPr>
              <a:t> then correlates these anomalies with recent system changes, using machine learning models or predefined rules to pinpoint the root cause of the problem.</a:t>
            </a:r>
          </a:p>
          <a:p>
            <a:pPr marL="342900" indent="-342900" algn="l">
              <a:spcAft>
                <a:spcPts val="600"/>
              </a:spcAft>
              <a:buClr>
                <a:schemeClr val="accent1"/>
              </a:buClr>
              <a:buFont typeface="+mj-lt"/>
              <a:buAutoNum type="arabicPeriod"/>
            </a:pPr>
            <a:r>
              <a:rPr lang="en-US" sz="1600" b="0" i="0" dirty="0">
                <a:solidFill>
                  <a:srgbClr val="161616"/>
                </a:solidFill>
                <a:effectLst/>
                <a:latin typeface="Segoe UI" panose="020B0502040204020203" pitchFamily="34" charset="0"/>
              </a:rPr>
              <a:t>Once the root cause is identified, an </a:t>
            </a:r>
            <a:r>
              <a:rPr lang="en-US" sz="1600" b="0" i="1" dirty="0">
                <a:solidFill>
                  <a:srgbClr val="161616"/>
                </a:solidFill>
                <a:effectLst/>
                <a:latin typeface="Segoe UI" panose="020B0502040204020203" pitchFamily="34" charset="0"/>
              </a:rPr>
              <a:t>automated deployment agent</a:t>
            </a:r>
            <a:r>
              <a:rPr lang="en-US" sz="1600" b="0" i="0" dirty="0">
                <a:solidFill>
                  <a:srgbClr val="161616"/>
                </a:solidFill>
                <a:effectLst/>
                <a:latin typeface="Segoe UI" panose="020B0502040204020203" pitchFamily="34" charset="0"/>
              </a:rPr>
              <a:t> takes over to implement fixes or roll back problematic changes by interacting with CI/CD pipelines and executing deployment scripts.</a:t>
            </a:r>
          </a:p>
          <a:p>
            <a:pPr marL="342900" indent="-342900" algn="l">
              <a:spcAft>
                <a:spcPts val="600"/>
              </a:spcAft>
              <a:buClr>
                <a:schemeClr val="accent1"/>
              </a:buClr>
              <a:buFont typeface="+mj-lt"/>
              <a:buAutoNum type="arabicPeriod"/>
            </a:pPr>
            <a:r>
              <a:rPr lang="en-US" sz="1600" b="0" i="0" dirty="0">
                <a:solidFill>
                  <a:srgbClr val="161616"/>
                </a:solidFill>
                <a:effectLst/>
                <a:latin typeface="Segoe UI" panose="020B0502040204020203" pitchFamily="34" charset="0"/>
              </a:rPr>
              <a:t>Finally, a </a:t>
            </a:r>
            <a:r>
              <a:rPr lang="en-US" sz="1600" b="0" i="1" dirty="0">
                <a:solidFill>
                  <a:srgbClr val="161616"/>
                </a:solidFill>
                <a:effectLst/>
                <a:latin typeface="Segoe UI" panose="020B0502040204020203" pitchFamily="34" charset="0"/>
              </a:rPr>
              <a:t>reporting</a:t>
            </a:r>
            <a:r>
              <a:rPr lang="en-US" sz="1600" b="0" i="0" dirty="0">
                <a:solidFill>
                  <a:srgbClr val="161616"/>
                </a:solidFill>
                <a:effectLst/>
                <a:latin typeface="Segoe UI" panose="020B0502040204020203" pitchFamily="34" charset="0"/>
              </a:rPr>
              <a:t> </a:t>
            </a:r>
            <a:r>
              <a:rPr lang="en-US" sz="1600" b="0" i="1" dirty="0">
                <a:solidFill>
                  <a:srgbClr val="161616"/>
                </a:solidFill>
                <a:effectLst/>
                <a:latin typeface="Segoe UI" panose="020B0502040204020203" pitchFamily="34" charset="0"/>
              </a:rPr>
              <a:t>agent</a:t>
            </a:r>
            <a:r>
              <a:rPr lang="en-US" sz="1600" b="0" i="0" dirty="0">
                <a:solidFill>
                  <a:srgbClr val="161616"/>
                </a:solidFill>
                <a:effectLst/>
                <a:latin typeface="Segoe UI" panose="020B0502040204020203" pitchFamily="34" charset="0"/>
              </a:rPr>
              <a:t> generates detailed reports summarizing the anomalies, root causes, and resolutions, and notifies stakeholders via email or other communication channels.</a:t>
            </a:r>
          </a:p>
        </p:txBody>
      </p:sp>
      <p:sp>
        <p:nvSpPr>
          <p:cNvPr id="3" name="Footer Placeholder 2">
            <a:extLst>
              <a:ext uri="{FF2B5EF4-FFF2-40B4-BE49-F238E27FC236}">
                <a16:creationId xmlns:a16="http://schemas.microsoft.com/office/drawing/2014/main" id="{3F39ABD6-210D-502B-681C-C2D8B7FA5CE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2" name="Group 1">
            <a:extLst>
              <a:ext uri="{FF2B5EF4-FFF2-40B4-BE49-F238E27FC236}">
                <a16:creationId xmlns:a16="http://schemas.microsoft.com/office/drawing/2014/main" id="{885B1BBA-E8DB-6E4A-DA55-E83633CDCE2C}"/>
              </a:ext>
              <a:ext uri="{C183D7F6-B498-43B3-948B-1728B52AA6E4}">
                <adec:decorative xmlns:adec="http://schemas.microsoft.com/office/drawing/2017/decorative" val="1"/>
              </a:ext>
            </a:extLst>
          </p:cNvPr>
          <p:cNvGrpSpPr/>
          <p:nvPr/>
        </p:nvGrpSpPr>
        <p:grpSpPr>
          <a:xfrm>
            <a:off x="627468" y="1571683"/>
            <a:ext cx="3026465" cy="4069644"/>
            <a:chOff x="627468" y="1571683"/>
            <a:chExt cx="3026465" cy="4069644"/>
          </a:xfrm>
        </p:grpSpPr>
        <p:pic>
          <p:nvPicPr>
            <p:cNvPr id="11" name="Graphic 10" descr="List outline">
              <a:extLst>
                <a:ext uri="{FF2B5EF4-FFF2-40B4-BE49-F238E27FC236}">
                  <a16:creationId xmlns:a16="http://schemas.microsoft.com/office/drawing/2014/main" id="{978D0389-B742-A375-6340-0C25DD6180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8726" y="1642780"/>
              <a:ext cx="588835" cy="588835"/>
            </a:xfrm>
            <a:prstGeom prst="rect">
              <a:avLst/>
            </a:prstGeom>
          </p:spPr>
        </p:pic>
        <p:pic>
          <p:nvPicPr>
            <p:cNvPr id="20" name="Graphic 19" descr="Wrench outline">
              <a:extLst>
                <a:ext uri="{FF2B5EF4-FFF2-40B4-BE49-F238E27FC236}">
                  <a16:creationId xmlns:a16="http://schemas.microsoft.com/office/drawing/2014/main" id="{BE88A085-E437-6038-102B-6BD47A21E33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rot="18362480">
              <a:off x="3196733" y="3539577"/>
              <a:ext cx="457200" cy="457200"/>
            </a:xfrm>
            <a:prstGeom prst="rect">
              <a:avLst/>
            </a:prstGeom>
          </p:spPr>
        </p:pic>
        <p:pic>
          <p:nvPicPr>
            <p:cNvPr id="22" name="Graphic 21" descr="Email outline">
              <a:extLst>
                <a:ext uri="{FF2B5EF4-FFF2-40B4-BE49-F238E27FC236}">
                  <a16:creationId xmlns:a16="http://schemas.microsoft.com/office/drawing/2014/main" id="{4AD7EE0A-31A0-4E3D-08A8-B5AAEB79BD4E}"/>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534362" y="5086698"/>
              <a:ext cx="457324" cy="457324"/>
            </a:xfrm>
            <a:prstGeom prst="rect">
              <a:avLst/>
            </a:prstGeom>
          </p:spPr>
        </p:pic>
        <p:grpSp>
          <p:nvGrpSpPr>
            <p:cNvPr id="44" name="Group 43">
              <a:extLst>
                <a:ext uri="{FF2B5EF4-FFF2-40B4-BE49-F238E27FC236}">
                  <a16:creationId xmlns:a16="http://schemas.microsoft.com/office/drawing/2014/main" id="{D23AC768-DD3F-9F52-1C79-893D061D4252}"/>
                </a:ext>
              </a:extLst>
            </p:cNvPr>
            <p:cNvGrpSpPr/>
            <p:nvPr/>
          </p:nvGrpSpPr>
          <p:grpSpPr>
            <a:xfrm>
              <a:off x="1310534" y="2952777"/>
              <a:ext cx="671774" cy="560381"/>
              <a:chOff x="1447107" y="2769206"/>
              <a:chExt cx="671774" cy="560381"/>
            </a:xfrm>
          </p:grpSpPr>
          <p:pic>
            <p:nvPicPr>
              <p:cNvPr id="9" name="Graphic 8" descr="Single gear with solid fill">
                <a:extLst>
                  <a:ext uri="{FF2B5EF4-FFF2-40B4-BE49-F238E27FC236}">
                    <a16:creationId xmlns:a16="http://schemas.microsoft.com/office/drawing/2014/main" id="{55070AEE-0514-CCC6-C99D-34CA2A677DE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63653" y="2832558"/>
                <a:ext cx="455228" cy="455228"/>
              </a:xfrm>
              <a:prstGeom prst="rect">
                <a:avLst/>
              </a:prstGeom>
            </p:spPr>
          </p:pic>
          <p:pic>
            <p:nvPicPr>
              <p:cNvPr id="26" name="Graphic 25" descr="Magnifying glass outline">
                <a:extLst>
                  <a:ext uri="{FF2B5EF4-FFF2-40B4-BE49-F238E27FC236}">
                    <a16:creationId xmlns:a16="http://schemas.microsoft.com/office/drawing/2014/main" id="{62559418-8A67-B484-57FE-C95B5BA8181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flipH="1">
                <a:off x="1447107" y="2769206"/>
                <a:ext cx="560381" cy="560381"/>
              </a:xfrm>
              <a:prstGeom prst="rect">
                <a:avLst/>
              </a:prstGeom>
            </p:spPr>
          </p:pic>
        </p:grpSp>
        <p:grpSp>
          <p:nvGrpSpPr>
            <p:cNvPr id="31" name="Group 30">
              <a:extLst>
                <a:ext uri="{FF2B5EF4-FFF2-40B4-BE49-F238E27FC236}">
                  <a16:creationId xmlns:a16="http://schemas.microsoft.com/office/drawing/2014/main" id="{D12AC895-C541-E2BC-FB20-0487DC38D54C}"/>
                </a:ext>
              </a:extLst>
            </p:cNvPr>
            <p:cNvGrpSpPr/>
            <p:nvPr/>
          </p:nvGrpSpPr>
          <p:grpSpPr>
            <a:xfrm>
              <a:off x="1840625" y="1657933"/>
              <a:ext cx="914400" cy="914400"/>
              <a:chOff x="1496852" y="2367422"/>
              <a:chExt cx="914400" cy="914400"/>
            </a:xfrm>
          </p:grpSpPr>
          <p:pic>
            <p:nvPicPr>
              <p:cNvPr id="28" name="Graphic 27" descr="Robot outline">
                <a:extLst>
                  <a:ext uri="{FF2B5EF4-FFF2-40B4-BE49-F238E27FC236}">
                    <a16:creationId xmlns:a16="http://schemas.microsoft.com/office/drawing/2014/main" id="{F616D417-1358-77D5-2A11-BCD1032EFEA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1496852" y="2367422"/>
                <a:ext cx="914400" cy="914400"/>
              </a:xfrm>
              <a:prstGeom prst="rect">
                <a:avLst/>
              </a:prstGeom>
            </p:spPr>
          </p:pic>
          <p:sp>
            <p:nvSpPr>
              <p:cNvPr id="29" name="Rectangle 28">
                <a:extLst>
                  <a:ext uri="{FF2B5EF4-FFF2-40B4-BE49-F238E27FC236}">
                    <a16:creationId xmlns:a16="http://schemas.microsoft.com/office/drawing/2014/main" id="{0E64B70C-B42D-4755-65B8-79C16E10B2B7}"/>
                  </a:ext>
                </a:extLst>
              </p:cNvPr>
              <p:cNvSpPr/>
              <p:nvPr/>
            </p:nvSpPr>
            <p:spPr bwMode="auto">
              <a:xfrm>
                <a:off x="1813677" y="2797959"/>
                <a:ext cx="282319" cy="249382"/>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0" name="Picture 29" descr="A purple and blue hexagon with stars&#10;&#10;AI-generated content may be incorrect.">
                <a:extLst>
                  <a:ext uri="{FF2B5EF4-FFF2-40B4-BE49-F238E27FC236}">
                    <a16:creationId xmlns:a16="http://schemas.microsoft.com/office/drawing/2014/main" id="{83BAB456-88F7-D075-0CAA-8A9F40D70018}"/>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809388" y="2760733"/>
                <a:ext cx="286608" cy="286608"/>
              </a:xfrm>
              <a:prstGeom prst="rect">
                <a:avLst/>
              </a:prstGeom>
            </p:spPr>
          </p:pic>
        </p:grpSp>
        <p:grpSp>
          <p:nvGrpSpPr>
            <p:cNvPr id="32" name="Group 31">
              <a:extLst>
                <a:ext uri="{FF2B5EF4-FFF2-40B4-BE49-F238E27FC236}">
                  <a16:creationId xmlns:a16="http://schemas.microsoft.com/office/drawing/2014/main" id="{5C93F1F3-70A4-59CD-B6C0-2B7E438AF2CF}"/>
                </a:ext>
              </a:extLst>
            </p:cNvPr>
            <p:cNvGrpSpPr/>
            <p:nvPr/>
          </p:nvGrpSpPr>
          <p:grpSpPr>
            <a:xfrm>
              <a:off x="2650147" y="3422757"/>
              <a:ext cx="914400" cy="914400"/>
              <a:chOff x="1496852" y="2367422"/>
              <a:chExt cx="914400" cy="914400"/>
            </a:xfrm>
          </p:grpSpPr>
          <p:pic>
            <p:nvPicPr>
              <p:cNvPr id="33" name="Graphic 32" descr="Robot outline">
                <a:extLst>
                  <a:ext uri="{FF2B5EF4-FFF2-40B4-BE49-F238E27FC236}">
                    <a16:creationId xmlns:a16="http://schemas.microsoft.com/office/drawing/2014/main" id="{1A0C10C9-5141-9231-DCB7-BEDDAB9FEEC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H="1">
                <a:off x="1496852" y="2367422"/>
                <a:ext cx="914400" cy="914400"/>
              </a:xfrm>
              <a:prstGeom prst="rect">
                <a:avLst/>
              </a:prstGeom>
            </p:spPr>
          </p:pic>
          <p:sp>
            <p:nvSpPr>
              <p:cNvPr id="34" name="Rectangle 33">
                <a:extLst>
                  <a:ext uri="{FF2B5EF4-FFF2-40B4-BE49-F238E27FC236}">
                    <a16:creationId xmlns:a16="http://schemas.microsoft.com/office/drawing/2014/main" id="{0094EA42-AF6C-AA95-C4D4-BFEC5269C411}"/>
                  </a:ext>
                </a:extLst>
              </p:cNvPr>
              <p:cNvSpPr/>
              <p:nvPr/>
            </p:nvSpPr>
            <p:spPr bwMode="auto">
              <a:xfrm>
                <a:off x="1813677" y="2797959"/>
                <a:ext cx="282319" cy="249382"/>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5" name="Picture 34" descr="A purple and blue hexagon with stars&#10;&#10;AI-generated content may be incorrect.">
                <a:extLst>
                  <a:ext uri="{FF2B5EF4-FFF2-40B4-BE49-F238E27FC236}">
                    <a16:creationId xmlns:a16="http://schemas.microsoft.com/office/drawing/2014/main" id="{BC9CC8D3-8F7D-545F-E0EF-C4E013165544}"/>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809388" y="2760733"/>
                <a:ext cx="286608" cy="286608"/>
              </a:xfrm>
              <a:prstGeom prst="rect">
                <a:avLst/>
              </a:prstGeom>
            </p:spPr>
          </p:pic>
        </p:grpSp>
        <p:grpSp>
          <p:nvGrpSpPr>
            <p:cNvPr id="36" name="Group 35">
              <a:extLst>
                <a:ext uri="{FF2B5EF4-FFF2-40B4-BE49-F238E27FC236}">
                  <a16:creationId xmlns:a16="http://schemas.microsoft.com/office/drawing/2014/main" id="{EB1302A1-F433-B161-DAE1-3B13C85D52A2}"/>
                </a:ext>
              </a:extLst>
            </p:cNvPr>
            <p:cNvGrpSpPr/>
            <p:nvPr/>
          </p:nvGrpSpPr>
          <p:grpSpPr>
            <a:xfrm>
              <a:off x="627468" y="2795337"/>
              <a:ext cx="914400" cy="914400"/>
              <a:chOff x="1496852" y="2367422"/>
              <a:chExt cx="914400" cy="914400"/>
            </a:xfrm>
          </p:grpSpPr>
          <p:pic>
            <p:nvPicPr>
              <p:cNvPr id="37" name="Graphic 36" descr="Robot outline">
                <a:extLst>
                  <a:ext uri="{FF2B5EF4-FFF2-40B4-BE49-F238E27FC236}">
                    <a16:creationId xmlns:a16="http://schemas.microsoft.com/office/drawing/2014/main" id="{B3F37FFC-6811-E24E-8F4D-336D1C2B55E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496852" y="2367422"/>
                <a:ext cx="914400" cy="914400"/>
              </a:xfrm>
              <a:prstGeom prst="rect">
                <a:avLst/>
              </a:prstGeom>
            </p:spPr>
          </p:pic>
          <p:sp>
            <p:nvSpPr>
              <p:cNvPr id="38" name="Rectangle 37">
                <a:extLst>
                  <a:ext uri="{FF2B5EF4-FFF2-40B4-BE49-F238E27FC236}">
                    <a16:creationId xmlns:a16="http://schemas.microsoft.com/office/drawing/2014/main" id="{48072C89-5A59-DC1E-B651-C82294A1E4F7}"/>
                  </a:ext>
                </a:extLst>
              </p:cNvPr>
              <p:cNvSpPr/>
              <p:nvPr/>
            </p:nvSpPr>
            <p:spPr bwMode="auto">
              <a:xfrm>
                <a:off x="1813677" y="2797959"/>
                <a:ext cx="282319" cy="249382"/>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9" name="Picture 38" descr="A purple and blue hexagon with stars&#10;&#10;AI-generated content may be incorrect.">
                <a:extLst>
                  <a:ext uri="{FF2B5EF4-FFF2-40B4-BE49-F238E27FC236}">
                    <a16:creationId xmlns:a16="http://schemas.microsoft.com/office/drawing/2014/main" id="{402F0457-069D-3334-480D-C6D6B1F99974}"/>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809388" y="2760733"/>
                <a:ext cx="286608" cy="286608"/>
              </a:xfrm>
              <a:prstGeom prst="rect">
                <a:avLst/>
              </a:prstGeom>
            </p:spPr>
          </p:pic>
        </p:grpSp>
        <p:grpSp>
          <p:nvGrpSpPr>
            <p:cNvPr id="40" name="Group 39">
              <a:extLst>
                <a:ext uri="{FF2B5EF4-FFF2-40B4-BE49-F238E27FC236}">
                  <a16:creationId xmlns:a16="http://schemas.microsoft.com/office/drawing/2014/main" id="{D2A70298-0491-CE5C-18E3-06DA73B19208}"/>
                </a:ext>
              </a:extLst>
            </p:cNvPr>
            <p:cNvGrpSpPr/>
            <p:nvPr/>
          </p:nvGrpSpPr>
          <p:grpSpPr>
            <a:xfrm>
              <a:off x="832162" y="4726927"/>
              <a:ext cx="914400" cy="914400"/>
              <a:chOff x="1496852" y="2367422"/>
              <a:chExt cx="914400" cy="914400"/>
            </a:xfrm>
          </p:grpSpPr>
          <p:pic>
            <p:nvPicPr>
              <p:cNvPr id="41" name="Graphic 40" descr="Robot outline">
                <a:extLst>
                  <a:ext uri="{FF2B5EF4-FFF2-40B4-BE49-F238E27FC236}">
                    <a16:creationId xmlns:a16="http://schemas.microsoft.com/office/drawing/2014/main" id="{2B162E2C-361D-ABA6-5CA1-352A28F43DB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496852" y="2367422"/>
                <a:ext cx="914400" cy="914400"/>
              </a:xfrm>
              <a:prstGeom prst="rect">
                <a:avLst/>
              </a:prstGeom>
            </p:spPr>
          </p:pic>
          <p:sp>
            <p:nvSpPr>
              <p:cNvPr id="42" name="Rectangle 41">
                <a:extLst>
                  <a:ext uri="{FF2B5EF4-FFF2-40B4-BE49-F238E27FC236}">
                    <a16:creationId xmlns:a16="http://schemas.microsoft.com/office/drawing/2014/main" id="{258FF0D4-AFB3-B01F-1F71-9B911D5D8538}"/>
                  </a:ext>
                </a:extLst>
              </p:cNvPr>
              <p:cNvSpPr/>
              <p:nvPr/>
            </p:nvSpPr>
            <p:spPr bwMode="auto">
              <a:xfrm>
                <a:off x="1813677" y="2797959"/>
                <a:ext cx="282319" cy="249382"/>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3" name="Picture 42" descr="A purple and blue hexagon with stars&#10;&#10;AI-generated content may be incorrect.">
                <a:extLst>
                  <a:ext uri="{FF2B5EF4-FFF2-40B4-BE49-F238E27FC236}">
                    <a16:creationId xmlns:a16="http://schemas.microsoft.com/office/drawing/2014/main" id="{6FE53A4F-4471-23C3-EFD3-A602AC26B59D}"/>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809388" y="2760733"/>
                <a:ext cx="286608" cy="286608"/>
              </a:xfrm>
              <a:prstGeom prst="rect">
                <a:avLst/>
              </a:prstGeom>
            </p:spPr>
          </p:pic>
        </p:grpSp>
        <p:pic>
          <p:nvPicPr>
            <p:cNvPr id="46" name="Graphic 45" descr="Badge 4 with solid fill">
              <a:extLst>
                <a:ext uri="{FF2B5EF4-FFF2-40B4-BE49-F238E27FC236}">
                  <a16:creationId xmlns:a16="http://schemas.microsoft.com/office/drawing/2014/main" id="{302F2B78-1C59-456C-79B3-D797890AB01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424675" y="4708541"/>
              <a:ext cx="410336" cy="410336"/>
            </a:xfrm>
            <a:prstGeom prst="rect">
              <a:avLst/>
            </a:prstGeom>
          </p:spPr>
        </p:pic>
        <p:pic>
          <p:nvPicPr>
            <p:cNvPr id="48" name="Graphic 47" descr="Badge with solid fill">
              <a:extLst>
                <a:ext uri="{FF2B5EF4-FFF2-40B4-BE49-F238E27FC236}">
                  <a16:creationId xmlns:a16="http://schemas.microsoft.com/office/drawing/2014/main" id="{7DC3BC2E-EC84-929C-AB38-DBE9E3EE136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67284" y="2635653"/>
              <a:ext cx="410336" cy="410336"/>
            </a:xfrm>
            <a:prstGeom prst="rect">
              <a:avLst/>
            </a:prstGeom>
          </p:spPr>
        </p:pic>
        <p:pic>
          <p:nvPicPr>
            <p:cNvPr id="50" name="Graphic 49" descr="Badge 3 with solid fill">
              <a:extLst>
                <a:ext uri="{FF2B5EF4-FFF2-40B4-BE49-F238E27FC236}">
                  <a16:creationId xmlns:a16="http://schemas.microsoft.com/office/drawing/2014/main" id="{2A191A0A-8C41-B0FA-2DBF-2677B3853487}"/>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557353" y="3387119"/>
              <a:ext cx="410336" cy="410336"/>
            </a:xfrm>
            <a:prstGeom prst="rect">
              <a:avLst/>
            </a:prstGeom>
          </p:spPr>
        </p:pic>
        <p:pic>
          <p:nvPicPr>
            <p:cNvPr id="52" name="Graphic 51" descr="Badge 1 with solid fill">
              <a:extLst>
                <a:ext uri="{FF2B5EF4-FFF2-40B4-BE49-F238E27FC236}">
                  <a16:creationId xmlns:a16="http://schemas.microsoft.com/office/drawing/2014/main" id="{C9D10791-3EE3-B5ED-18E7-11AA96A6E7FD}"/>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742131" y="1571683"/>
              <a:ext cx="410336" cy="410336"/>
            </a:xfrm>
            <a:prstGeom prst="rect">
              <a:avLst/>
            </a:prstGeom>
          </p:spPr>
        </p:pic>
        <p:cxnSp>
          <p:nvCxnSpPr>
            <p:cNvPr id="54" name="Connector: Elbow 53">
              <a:extLst>
                <a:ext uri="{FF2B5EF4-FFF2-40B4-BE49-F238E27FC236}">
                  <a16:creationId xmlns:a16="http://schemas.microsoft.com/office/drawing/2014/main" id="{482EDA82-22AF-507E-12E2-4F15DD0A09BD}"/>
                </a:ext>
              </a:extLst>
            </p:cNvPr>
            <p:cNvCxnSpPr>
              <a:cxnSpLocks/>
              <a:endCxn id="37" idx="0"/>
            </p:cNvCxnSpPr>
            <p:nvPr/>
          </p:nvCxnSpPr>
          <p:spPr>
            <a:xfrm rot="10800000" flipV="1">
              <a:off x="1084668" y="2131589"/>
              <a:ext cx="907018" cy="663747"/>
            </a:xfrm>
            <a:prstGeom prst="bentConnector2">
              <a:avLst/>
            </a:prstGeom>
            <a:ln w="28575">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9ECAE8D2-9139-6C65-D756-AB59DF013EA6}"/>
                </a:ext>
              </a:extLst>
            </p:cNvPr>
            <p:cNvCxnSpPr>
              <a:cxnSpLocks/>
              <a:stCxn id="37" idx="2"/>
            </p:cNvCxnSpPr>
            <p:nvPr/>
          </p:nvCxnSpPr>
          <p:spPr>
            <a:xfrm rot="16200000" flipH="1">
              <a:off x="1828596" y="2965808"/>
              <a:ext cx="182503" cy="1670359"/>
            </a:xfrm>
            <a:prstGeom prst="bentConnector2">
              <a:avLst/>
            </a:prstGeom>
            <a:ln w="28575">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E189576C-F9D7-B7C8-BCF4-8B826C9F4069}"/>
                </a:ext>
              </a:extLst>
            </p:cNvPr>
            <p:cNvCxnSpPr>
              <a:cxnSpLocks/>
              <a:stCxn id="33" idx="2"/>
              <a:endCxn id="41" idx="0"/>
            </p:cNvCxnSpPr>
            <p:nvPr/>
          </p:nvCxnSpPr>
          <p:spPr>
            <a:xfrm rot="5400000">
              <a:off x="2003470" y="3623050"/>
              <a:ext cx="389770" cy="1817985"/>
            </a:xfrm>
            <a:prstGeom prst="bentConnector3">
              <a:avLst>
                <a:gd name="adj1" fmla="val 50000"/>
              </a:avLst>
            </a:prstGeom>
            <a:ln w="28575">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70882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2" y="585216"/>
            <a:ext cx="8193024" cy="492443"/>
          </a:xfrm>
        </p:spPr>
        <p:txBody>
          <a:bodyPr/>
          <a:lstStyle/>
          <a:p>
            <a:r>
              <a:rPr lang="en-US" sz="3200" dirty="0"/>
              <a:t>Agent selection strategy</a:t>
            </a:r>
          </a:p>
        </p:txBody>
      </p:sp>
      <p:sp>
        <p:nvSpPr>
          <p:cNvPr id="4" name="TextBox 3">
            <a:extLst>
              <a:ext uri="{FF2B5EF4-FFF2-40B4-BE49-F238E27FC236}">
                <a16:creationId xmlns:a16="http://schemas.microsoft.com/office/drawing/2014/main" id="{20800C53-82DF-6203-1FF3-8F0573F52240}"/>
              </a:ext>
            </a:extLst>
          </p:cNvPr>
          <p:cNvSpPr txBox="1"/>
          <p:nvPr/>
        </p:nvSpPr>
        <p:spPr>
          <a:xfrm>
            <a:off x="708660" y="1927860"/>
            <a:ext cx="9509078" cy="276999"/>
          </a:xfrm>
          <a:prstGeom prst="rect">
            <a:avLst/>
          </a:prstGeom>
          <a:noFill/>
        </p:spPr>
        <p:txBody>
          <a:bodyPr wrap="none" lIns="0" tIns="0" rIns="0" bIns="0" rtlCol="0">
            <a:spAutoFit/>
          </a:bodyPr>
          <a:lstStyle/>
          <a:p>
            <a:pPr algn="l"/>
            <a:r>
              <a:rPr lang="en-US" sz="1800" dirty="0"/>
              <a:t>In a multi-agent chat, how do we determine which agent should respond to a given message?</a:t>
            </a:r>
          </a:p>
        </p:txBody>
      </p:sp>
      <p:sp>
        <p:nvSpPr>
          <p:cNvPr id="5" name="TextBox 4">
            <a:extLst>
              <a:ext uri="{FF2B5EF4-FFF2-40B4-BE49-F238E27FC236}">
                <a16:creationId xmlns:a16="http://schemas.microsoft.com/office/drawing/2014/main" id="{F6D92A1A-DF02-B7A8-CAB8-1B92D53934FA}"/>
              </a:ext>
            </a:extLst>
          </p:cNvPr>
          <p:cNvSpPr txBox="1"/>
          <p:nvPr/>
        </p:nvSpPr>
        <p:spPr>
          <a:xfrm>
            <a:off x="807721" y="3010707"/>
            <a:ext cx="9715500" cy="1538883"/>
          </a:xfrm>
          <a:prstGeom prst="rect">
            <a:avLst/>
          </a:prstGeom>
          <a:noFill/>
        </p:spPr>
        <p:txBody>
          <a:bodyPr wrap="square" lIns="0" tIns="0" rIns="0" bIns="0" rtlCol="0">
            <a:spAutoFit/>
          </a:bodyPr>
          <a:lstStyle/>
          <a:p>
            <a:pPr marL="285750" indent="-285750" algn="l">
              <a:spcBef>
                <a:spcPts val="600"/>
              </a:spcBef>
              <a:buFont typeface="Arial" panose="020B0604020202020204" pitchFamily="34" charset="0"/>
              <a:buChar char="•"/>
            </a:pPr>
            <a:r>
              <a:rPr lang="en-US" sz="1800" b="1" dirty="0"/>
              <a:t>Sequential selection</a:t>
            </a:r>
            <a:r>
              <a:rPr lang="en-US" sz="1800" dirty="0"/>
              <a:t>: Default strategy based on the order in which agents join the chat</a:t>
            </a:r>
          </a:p>
          <a:p>
            <a:pPr marL="285750" indent="-285750" algn="l">
              <a:spcBef>
                <a:spcPts val="600"/>
              </a:spcBef>
              <a:buFont typeface="Arial" panose="020B0604020202020204" pitchFamily="34" charset="0"/>
              <a:buChar char="•"/>
            </a:pPr>
            <a:r>
              <a:rPr lang="en-US" sz="1800" b="1" dirty="0"/>
              <a:t>Custom selection function</a:t>
            </a:r>
            <a:r>
              <a:rPr lang="en-US" sz="1800" dirty="0"/>
              <a:t>: Derive a selection strategy class from a base class and implement your own logic</a:t>
            </a:r>
          </a:p>
          <a:p>
            <a:pPr marL="285750" indent="-285750" algn="l">
              <a:spcBef>
                <a:spcPts val="600"/>
              </a:spcBef>
              <a:buFont typeface="Arial" panose="020B0604020202020204" pitchFamily="34" charset="0"/>
              <a:buChar char="•"/>
            </a:pPr>
            <a:r>
              <a:rPr lang="en-US" sz="1800" b="1" dirty="0"/>
              <a:t>Kernel function from prompt</a:t>
            </a:r>
            <a:r>
              <a:rPr lang="en-US" sz="1800" dirty="0"/>
              <a:t>: Create a dynamic function based on a prompt that describes agent selection criteria</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313476544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65EA-C9F3-1677-C6D8-F15603D2A161}"/>
              </a:ext>
            </a:extLst>
          </p:cNvPr>
          <p:cNvSpPr>
            <a:spLocks noGrp="1"/>
          </p:cNvSpPr>
          <p:nvPr>
            <p:ph type="title"/>
          </p:nvPr>
        </p:nvSpPr>
        <p:spPr>
          <a:xfrm>
            <a:off x="588262" y="585216"/>
            <a:ext cx="8193024" cy="492443"/>
          </a:xfrm>
        </p:spPr>
        <p:txBody>
          <a:bodyPr/>
          <a:lstStyle/>
          <a:p>
            <a:r>
              <a:rPr lang="en-US" sz="3200" dirty="0"/>
              <a:t>Termination strategy</a:t>
            </a:r>
          </a:p>
        </p:txBody>
      </p:sp>
      <p:sp>
        <p:nvSpPr>
          <p:cNvPr id="4" name="TextBox 3">
            <a:extLst>
              <a:ext uri="{FF2B5EF4-FFF2-40B4-BE49-F238E27FC236}">
                <a16:creationId xmlns:a16="http://schemas.microsoft.com/office/drawing/2014/main" id="{20800C53-82DF-6203-1FF3-8F0573F52240}"/>
              </a:ext>
            </a:extLst>
          </p:cNvPr>
          <p:cNvSpPr txBox="1"/>
          <p:nvPr/>
        </p:nvSpPr>
        <p:spPr>
          <a:xfrm>
            <a:off x="708660" y="1927860"/>
            <a:ext cx="8234434" cy="276999"/>
          </a:xfrm>
          <a:prstGeom prst="rect">
            <a:avLst/>
          </a:prstGeom>
          <a:noFill/>
        </p:spPr>
        <p:txBody>
          <a:bodyPr wrap="none" lIns="0" tIns="0" rIns="0" bIns="0" rtlCol="0">
            <a:spAutoFit/>
          </a:bodyPr>
          <a:lstStyle/>
          <a:p>
            <a:pPr algn="l"/>
            <a:r>
              <a:rPr lang="en-US" sz="1800" dirty="0"/>
              <a:t>In a multi-agent chat, how do we determine when the chat should be concluded?</a:t>
            </a:r>
          </a:p>
        </p:txBody>
      </p:sp>
      <p:sp>
        <p:nvSpPr>
          <p:cNvPr id="5" name="TextBox 4">
            <a:extLst>
              <a:ext uri="{FF2B5EF4-FFF2-40B4-BE49-F238E27FC236}">
                <a16:creationId xmlns:a16="http://schemas.microsoft.com/office/drawing/2014/main" id="{F6D92A1A-DF02-B7A8-CAB8-1B92D53934FA}"/>
              </a:ext>
            </a:extLst>
          </p:cNvPr>
          <p:cNvSpPr txBox="1"/>
          <p:nvPr/>
        </p:nvSpPr>
        <p:spPr>
          <a:xfrm>
            <a:off x="807721" y="3010707"/>
            <a:ext cx="9715500" cy="1538883"/>
          </a:xfrm>
          <a:prstGeom prst="rect">
            <a:avLst/>
          </a:prstGeom>
          <a:noFill/>
        </p:spPr>
        <p:txBody>
          <a:bodyPr wrap="square" lIns="0" tIns="0" rIns="0" bIns="0" rtlCol="0">
            <a:spAutoFit/>
          </a:bodyPr>
          <a:lstStyle/>
          <a:p>
            <a:pPr marL="285750" indent="-285750" algn="l">
              <a:spcBef>
                <a:spcPts val="600"/>
              </a:spcBef>
              <a:buFont typeface="Arial" panose="020B0604020202020204" pitchFamily="34" charset="0"/>
              <a:buChar char="•"/>
            </a:pPr>
            <a:r>
              <a:rPr lang="en-US" sz="1800" b="1" dirty="0"/>
              <a:t>Default termination</a:t>
            </a:r>
            <a:r>
              <a:rPr lang="en-US" sz="1800" dirty="0"/>
              <a:t>: Default strategy that ends after a maximum number of iterations</a:t>
            </a:r>
          </a:p>
          <a:p>
            <a:pPr marL="285750" indent="-285750" algn="l">
              <a:spcBef>
                <a:spcPts val="600"/>
              </a:spcBef>
              <a:buFont typeface="Arial" panose="020B0604020202020204" pitchFamily="34" charset="0"/>
              <a:buChar char="•"/>
            </a:pPr>
            <a:r>
              <a:rPr lang="en-US" sz="1800" b="1" dirty="0"/>
              <a:t>Custom termination function</a:t>
            </a:r>
            <a:r>
              <a:rPr lang="en-US" sz="1800" dirty="0"/>
              <a:t>: Derive a termination strategy class from a base class and implement your own logic</a:t>
            </a:r>
          </a:p>
          <a:p>
            <a:pPr marL="285750" indent="-285750" algn="l">
              <a:spcBef>
                <a:spcPts val="600"/>
              </a:spcBef>
              <a:buFont typeface="Arial" panose="020B0604020202020204" pitchFamily="34" charset="0"/>
              <a:buChar char="•"/>
            </a:pPr>
            <a:r>
              <a:rPr lang="en-US" sz="1800" b="1" dirty="0"/>
              <a:t>Kernel function from prompt</a:t>
            </a:r>
            <a:r>
              <a:rPr lang="en-US" sz="1800" dirty="0"/>
              <a:t>: Create a dynamic function based on a prompt that describes termination criteria</a:t>
            </a:r>
          </a:p>
        </p:txBody>
      </p:sp>
      <p:sp>
        <p:nvSpPr>
          <p:cNvPr id="3" name="Footer Placeholder 2">
            <a:extLst>
              <a:ext uri="{FF2B5EF4-FFF2-40B4-BE49-F238E27FC236}">
                <a16:creationId xmlns:a16="http://schemas.microsoft.com/office/drawing/2014/main" id="{85FA934E-98F8-2E8D-13FE-5646B7B91B3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276977814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74FC-3315-6BBE-54B1-7B517765531B}"/>
              </a:ext>
            </a:extLst>
          </p:cNvPr>
          <p:cNvSpPr>
            <a:spLocks noGrp="1"/>
          </p:cNvSpPr>
          <p:nvPr>
            <p:ph type="title"/>
          </p:nvPr>
        </p:nvSpPr>
        <p:spPr>
          <a:xfrm>
            <a:off x="588262" y="585216"/>
            <a:ext cx="8193024" cy="492443"/>
          </a:xfrm>
        </p:spPr>
        <p:txBody>
          <a:bodyPr/>
          <a:lstStyle/>
          <a:p>
            <a:r>
              <a:rPr lang="en-US" sz="3200" dirty="0"/>
              <a:t>Creating a group chat</a:t>
            </a:r>
          </a:p>
        </p:txBody>
      </p:sp>
      <p:sp>
        <p:nvSpPr>
          <p:cNvPr id="4" name="TextBox 3">
            <a:extLst>
              <a:ext uri="{FF2B5EF4-FFF2-40B4-BE49-F238E27FC236}">
                <a16:creationId xmlns:a16="http://schemas.microsoft.com/office/drawing/2014/main" id="{669DB3DA-0DC9-02AA-71A2-0F281FC8F433}"/>
              </a:ext>
            </a:extLst>
          </p:cNvPr>
          <p:cNvSpPr txBox="1"/>
          <p:nvPr/>
        </p:nvSpPr>
        <p:spPr>
          <a:xfrm>
            <a:off x="916228" y="2473702"/>
            <a:ext cx="7329415" cy="2154436"/>
          </a:xfrm>
          <a:prstGeom prst="rect">
            <a:avLst/>
          </a:prstGeom>
          <a:noFill/>
        </p:spPr>
        <p:txBody>
          <a:bodyPr wrap="square" lIns="0" tIns="0" rIns="0" bIns="0" rtlCol="0">
            <a:spAutoFit/>
          </a:bodyPr>
          <a:lstStyle/>
          <a:p>
            <a:pPr marL="342900" indent="-342900" algn="l">
              <a:buFont typeface="+mj-lt"/>
              <a:buAutoNum type="arabicPeriod"/>
            </a:pPr>
            <a:r>
              <a:rPr lang="en-US" sz="2000" dirty="0"/>
              <a:t>Create the agents</a:t>
            </a:r>
          </a:p>
          <a:p>
            <a:pPr marL="342900" indent="-342900" algn="l">
              <a:buFont typeface="+mj-lt"/>
              <a:buAutoNum type="arabicPeriod"/>
            </a:pPr>
            <a:r>
              <a:rPr lang="en-US" sz="2000" dirty="0"/>
              <a:t>Create a group chat, specifying:</a:t>
            </a:r>
          </a:p>
          <a:p>
            <a:pPr marL="800083" lvl="1" indent="-342900">
              <a:buFont typeface="Arial" panose="020B0604020202020204" pitchFamily="34" charset="0"/>
              <a:buChar char="•"/>
            </a:pPr>
            <a:r>
              <a:rPr lang="en-US" sz="2000" dirty="0"/>
              <a:t>Agents who will participate</a:t>
            </a:r>
          </a:p>
          <a:p>
            <a:pPr marL="800083" lvl="1" indent="-342900">
              <a:buFont typeface="Arial" panose="020B0604020202020204" pitchFamily="34" charset="0"/>
              <a:buChar char="•"/>
            </a:pPr>
            <a:r>
              <a:rPr lang="en-US" sz="2000" dirty="0"/>
              <a:t>Selection strategy to choose the next agent to respond</a:t>
            </a:r>
          </a:p>
          <a:p>
            <a:pPr marL="800083" lvl="1" indent="-342900">
              <a:buFont typeface="Arial" panose="020B0604020202020204" pitchFamily="34" charset="0"/>
              <a:buChar char="•"/>
            </a:pPr>
            <a:r>
              <a:rPr lang="en-US" sz="2000" dirty="0"/>
              <a:t>Termination strategy to determine when to end the chat</a:t>
            </a:r>
          </a:p>
          <a:p>
            <a:pPr marL="342900" indent="-342900">
              <a:buFont typeface="+mj-lt"/>
              <a:buAutoNum type="arabicPeriod"/>
            </a:pPr>
            <a:r>
              <a:rPr lang="en-US" sz="2000" dirty="0"/>
              <a:t>Add a user message as an initial prompt</a:t>
            </a:r>
          </a:p>
          <a:p>
            <a:pPr marL="342900" indent="-342900">
              <a:buFont typeface="+mj-lt"/>
              <a:buAutoNum type="arabicPeriod"/>
            </a:pPr>
            <a:r>
              <a:rPr lang="en-US" sz="2000" dirty="0"/>
              <a:t>Invoke the chat and check the responses</a:t>
            </a:r>
          </a:p>
        </p:txBody>
      </p:sp>
      <p:sp>
        <p:nvSpPr>
          <p:cNvPr id="3" name="Footer Placeholder 2">
            <a:extLst>
              <a:ext uri="{FF2B5EF4-FFF2-40B4-BE49-F238E27FC236}">
                <a16:creationId xmlns:a16="http://schemas.microsoft.com/office/drawing/2014/main" id="{A9BE3689-9E51-0D4B-5EA5-05C945AE3862}"/>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pSp>
        <p:nvGrpSpPr>
          <p:cNvPr id="13" name="Group 12">
            <a:extLst>
              <a:ext uri="{FF2B5EF4-FFF2-40B4-BE49-F238E27FC236}">
                <a16:creationId xmlns:a16="http://schemas.microsoft.com/office/drawing/2014/main" id="{5F30E10B-349F-46B3-C879-3A3699DBC874}"/>
              </a:ext>
              <a:ext uri="{C183D7F6-B498-43B3-948B-1728B52AA6E4}">
                <adec:decorative xmlns:adec="http://schemas.microsoft.com/office/drawing/2017/decorative" val="1"/>
              </a:ext>
            </a:extLst>
          </p:cNvPr>
          <p:cNvGrpSpPr/>
          <p:nvPr/>
        </p:nvGrpSpPr>
        <p:grpSpPr>
          <a:xfrm>
            <a:off x="8442960" y="2453970"/>
            <a:ext cx="3360420" cy="2174168"/>
            <a:chOff x="8442960" y="2453970"/>
            <a:chExt cx="3360420" cy="2174168"/>
          </a:xfrm>
        </p:grpSpPr>
        <p:sp>
          <p:nvSpPr>
            <p:cNvPr id="21" name="Rectangle 20">
              <a:extLst>
                <a:ext uri="{FF2B5EF4-FFF2-40B4-BE49-F238E27FC236}">
                  <a16:creationId xmlns:a16="http://schemas.microsoft.com/office/drawing/2014/main" id="{F091B462-D8C0-8EF8-E498-26F8F6C470A8}"/>
                </a:ext>
                <a:ext uri="{C183D7F6-B498-43B3-948B-1728B52AA6E4}">
                  <adec:decorative xmlns:adec="http://schemas.microsoft.com/office/drawing/2017/decorative" val="1"/>
                </a:ext>
              </a:extLst>
            </p:cNvPr>
            <p:cNvSpPr/>
            <p:nvPr/>
          </p:nvSpPr>
          <p:spPr bwMode="auto">
            <a:xfrm>
              <a:off x="8442960" y="2473702"/>
              <a:ext cx="3360420" cy="215443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5" name="Group 4">
              <a:extLst>
                <a:ext uri="{FF2B5EF4-FFF2-40B4-BE49-F238E27FC236}">
                  <a16:creationId xmlns:a16="http://schemas.microsoft.com/office/drawing/2014/main" id="{4C300CEF-DC09-6DC7-E15E-A29CDE48922F}"/>
                </a:ext>
              </a:extLst>
            </p:cNvPr>
            <p:cNvGrpSpPr/>
            <p:nvPr/>
          </p:nvGrpSpPr>
          <p:grpSpPr>
            <a:xfrm>
              <a:off x="8690466" y="3045922"/>
              <a:ext cx="1256969" cy="1256969"/>
              <a:chOff x="1496852" y="2367422"/>
              <a:chExt cx="914400" cy="914400"/>
            </a:xfrm>
          </p:grpSpPr>
          <p:pic>
            <p:nvPicPr>
              <p:cNvPr id="6" name="Graphic 5">
                <a:extLst>
                  <a:ext uri="{FF2B5EF4-FFF2-40B4-BE49-F238E27FC236}">
                    <a16:creationId xmlns:a16="http://schemas.microsoft.com/office/drawing/2014/main" id="{E48AD184-3C41-94D2-1A2D-DD83424D816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496852" y="2367422"/>
                <a:ext cx="914400" cy="914400"/>
              </a:xfrm>
              <a:prstGeom prst="rect">
                <a:avLst/>
              </a:prstGeom>
            </p:spPr>
          </p:pic>
          <p:sp>
            <p:nvSpPr>
              <p:cNvPr id="7" name="Rectangle 6">
                <a:extLst>
                  <a:ext uri="{FF2B5EF4-FFF2-40B4-BE49-F238E27FC236}">
                    <a16:creationId xmlns:a16="http://schemas.microsoft.com/office/drawing/2014/main" id="{751BF4B5-7D93-DE67-02C8-629B431F5814}"/>
                  </a:ext>
                  <a:ext uri="{C183D7F6-B498-43B3-948B-1728B52AA6E4}">
                    <adec:decorative xmlns:adec="http://schemas.microsoft.com/office/drawing/2017/decorative" val="1"/>
                  </a:ext>
                </a:extLst>
              </p:cNvPr>
              <p:cNvSpPr/>
              <p:nvPr/>
            </p:nvSpPr>
            <p:spPr bwMode="auto">
              <a:xfrm>
                <a:off x="1813677" y="2797959"/>
                <a:ext cx="282319" cy="24938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a:extLst>
                  <a:ext uri="{FF2B5EF4-FFF2-40B4-BE49-F238E27FC236}">
                    <a16:creationId xmlns:a16="http://schemas.microsoft.com/office/drawing/2014/main" id="{7814C145-B4D0-9F62-DDA4-3A8701276CB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809388" y="2760733"/>
                <a:ext cx="286608" cy="286608"/>
              </a:xfrm>
              <a:prstGeom prst="rect">
                <a:avLst/>
              </a:prstGeom>
            </p:spPr>
          </p:pic>
        </p:grpSp>
        <p:grpSp>
          <p:nvGrpSpPr>
            <p:cNvPr id="9" name="Group 8">
              <a:extLst>
                <a:ext uri="{FF2B5EF4-FFF2-40B4-BE49-F238E27FC236}">
                  <a16:creationId xmlns:a16="http://schemas.microsoft.com/office/drawing/2014/main" id="{61CFE467-A403-F833-5AF0-AB126D8B5890}"/>
                </a:ext>
              </a:extLst>
            </p:cNvPr>
            <p:cNvGrpSpPr/>
            <p:nvPr/>
          </p:nvGrpSpPr>
          <p:grpSpPr>
            <a:xfrm>
              <a:off x="10439360" y="3045922"/>
              <a:ext cx="1256969" cy="1256969"/>
              <a:chOff x="1496852" y="2367422"/>
              <a:chExt cx="914400" cy="914400"/>
            </a:xfrm>
          </p:grpSpPr>
          <p:pic>
            <p:nvPicPr>
              <p:cNvPr id="10" name="Graphic 9">
                <a:extLst>
                  <a:ext uri="{FF2B5EF4-FFF2-40B4-BE49-F238E27FC236}">
                    <a16:creationId xmlns:a16="http://schemas.microsoft.com/office/drawing/2014/main" id="{40C9C309-EC23-32B1-1B46-27EDB22D40F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96852" y="2367422"/>
                <a:ext cx="914400" cy="914400"/>
              </a:xfrm>
              <a:prstGeom prst="rect">
                <a:avLst/>
              </a:prstGeom>
            </p:spPr>
          </p:pic>
          <p:sp>
            <p:nvSpPr>
              <p:cNvPr id="11" name="Rectangle 10">
                <a:extLst>
                  <a:ext uri="{FF2B5EF4-FFF2-40B4-BE49-F238E27FC236}">
                    <a16:creationId xmlns:a16="http://schemas.microsoft.com/office/drawing/2014/main" id="{DF36FDD4-D292-3E95-CFFC-CE9BB105972A}"/>
                  </a:ext>
                  <a:ext uri="{C183D7F6-B498-43B3-948B-1728B52AA6E4}">
                    <adec:decorative xmlns:adec="http://schemas.microsoft.com/office/drawing/2017/decorative" val="1"/>
                  </a:ext>
                </a:extLst>
              </p:cNvPr>
              <p:cNvSpPr/>
              <p:nvPr/>
            </p:nvSpPr>
            <p:spPr bwMode="auto">
              <a:xfrm>
                <a:off x="1813677" y="2797959"/>
                <a:ext cx="282319" cy="24938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166985CF-AFF2-1621-9946-138743F082A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816986" y="2766036"/>
                <a:ext cx="286608" cy="286608"/>
              </a:xfrm>
              <a:prstGeom prst="rect">
                <a:avLst/>
              </a:prstGeom>
            </p:spPr>
          </p:pic>
        </p:grpSp>
        <p:pic>
          <p:nvPicPr>
            <p:cNvPr id="14" name="Graphic 13">
              <a:extLst>
                <a:ext uri="{FF2B5EF4-FFF2-40B4-BE49-F238E27FC236}">
                  <a16:creationId xmlns:a16="http://schemas.microsoft.com/office/drawing/2014/main" id="{C69AAFA9-EDFE-E979-F2A1-60FCD195D64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64913" y="2453970"/>
              <a:ext cx="1256969" cy="1256969"/>
            </a:xfrm>
            <a:prstGeom prst="rect">
              <a:avLst/>
            </a:prstGeom>
          </p:spPr>
        </p:pic>
      </p:grpSp>
    </p:spTree>
    <p:extLst>
      <p:ext uri="{BB962C8B-B14F-4D97-AF65-F5344CB8AC3E}">
        <p14:creationId xmlns:p14="http://schemas.microsoft.com/office/powerpoint/2010/main" val="114339941"/>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F9303-3628-1EB4-BC15-16BF9BDA2975}"/>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241F47A-DC0A-CF6D-B291-753049616C96}"/>
              </a:ext>
              <a:ext uri="{C183D7F6-B498-43B3-948B-1728B52AA6E4}">
                <adec:decorative xmlns:adec="http://schemas.microsoft.com/office/drawing/2017/decorative" val="1"/>
              </a:ext>
            </a:extLst>
          </p:cNvPr>
          <p:cNvSpPr>
            <a:spLocks noGrp="1"/>
          </p:cNvSpPr>
          <p:nvPr>
            <p:ph type="pic" sz="quarter" idx="20"/>
          </p:nvPr>
        </p:nvSpPr>
        <p:spPr/>
        <p:txBody>
          <a:bodyPr/>
          <a:lstStyle/>
          <a:p>
            <a:endParaRPr lang="en-US"/>
          </a:p>
        </p:txBody>
      </p:sp>
      <p:sp>
        <p:nvSpPr>
          <p:cNvPr id="5" name="Title 4">
            <a:extLst>
              <a:ext uri="{FF2B5EF4-FFF2-40B4-BE49-F238E27FC236}">
                <a16:creationId xmlns:a16="http://schemas.microsoft.com/office/drawing/2014/main" id="{A310E826-05DE-CAAF-50E8-05F242CE95CD}"/>
              </a:ext>
            </a:extLst>
          </p:cNvPr>
          <p:cNvSpPr>
            <a:spLocks noGrp="1"/>
          </p:cNvSpPr>
          <p:nvPr>
            <p:ph type="title"/>
          </p:nvPr>
        </p:nvSpPr>
        <p:spPr>
          <a:xfrm>
            <a:off x="588262" y="585216"/>
            <a:ext cx="5652201" cy="492443"/>
          </a:xfrm>
        </p:spPr>
        <p:txBody>
          <a:bodyPr/>
          <a:lstStyle/>
          <a:p>
            <a:r>
              <a:rPr lang="en-US" sz="3200" dirty="0"/>
              <a:t>Exercise</a:t>
            </a:r>
          </a:p>
        </p:txBody>
      </p:sp>
      <p:sp>
        <p:nvSpPr>
          <p:cNvPr id="7" name="Text Placeholder 6">
            <a:extLst>
              <a:ext uri="{FF2B5EF4-FFF2-40B4-BE49-F238E27FC236}">
                <a16:creationId xmlns:a16="http://schemas.microsoft.com/office/drawing/2014/main" id="{54022E4C-A7C9-8D98-7770-B5ACBDC12907}"/>
              </a:ext>
            </a:extLst>
          </p:cNvPr>
          <p:cNvSpPr>
            <a:spLocks noGrp="1"/>
          </p:cNvSpPr>
          <p:nvPr>
            <p:ph type="body" sz="quarter" idx="16"/>
          </p:nvPr>
        </p:nvSpPr>
        <p:spPr>
          <a:xfrm>
            <a:off x="584199" y="1594155"/>
            <a:ext cx="5654573" cy="307777"/>
          </a:xfrm>
        </p:spPr>
        <p:txBody>
          <a:bodyPr/>
          <a:lstStyle/>
          <a:p>
            <a:r>
              <a:rPr lang="en-US" sz="2000" dirty="0"/>
              <a:t>Develop a multi-agent solution</a:t>
            </a:r>
          </a:p>
        </p:txBody>
      </p:sp>
      <p:sp>
        <p:nvSpPr>
          <p:cNvPr id="6" name="Text Placeholder 5">
            <a:extLst>
              <a:ext uri="{FF2B5EF4-FFF2-40B4-BE49-F238E27FC236}">
                <a16:creationId xmlns:a16="http://schemas.microsoft.com/office/drawing/2014/main" id="{A61BC78B-A9CD-6418-B74A-78D938349CEC}"/>
              </a:ext>
            </a:extLst>
          </p:cNvPr>
          <p:cNvSpPr>
            <a:spLocks noGrp="1"/>
          </p:cNvSpPr>
          <p:nvPr>
            <p:ph type="body" sz="quarter" idx="15"/>
          </p:nvPr>
        </p:nvSpPr>
        <p:spPr>
          <a:xfrm>
            <a:off x="588262" y="2054529"/>
            <a:ext cx="5652201" cy="984885"/>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In this exercise, you’ll use the </a:t>
            </a:r>
            <a:r>
              <a:rPr lang="en-US" dirty="0">
                <a:solidFill>
                  <a:srgbClr val="000000"/>
                </a:solidFill>
                <a:latin typeface="Segoe UI"/>
                <a:cs typeface="+mn-cs"/>
              </a:rPr>
              <a:t>Semantic Kernel </a:t>
            </a:r>
            <a:r>
              <a:rPr kumimoji="0" lang="en-US" sz="1600" b="0" i="0" u="none" strike="noStrike" kern="1200" cap="none" spc="0" normalizeH="0" baseline="0" noProof="0" dirty="0">
                <a:ln>
                  <a:noFill/>
                </a:ln>
                <a:solidFill>
                  <a:srgbClr val="000000"/>
                </a:solidFill>
                <a:effectLst/>
                <a:uLnTx/>
                <a:uFillTx/>
                <a:latin typeface="Segoe UI"/>
                <a:ea typeface="+mn-ea"/>
                <a:cs typeface="+mn-cs"/>
              </a:rPr>
              <a:t>SDK to:</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Create multiple Azure AI Agents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Define selection and termination strategies</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Segoe UI"/>
                <a:cs typeface="+mn-cs"/>
              </a:rPr>
              <a:t>Implement a multi-agent group chat</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CEB385D9-6BDB-F76C-2007-390288CD8DC1}"/>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Start the exercise at: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hlinkClick r:id="rId3"/>
              </a:rPr>
              <a:t>https://go.microsoft.com/fwlink/?linkid=2310729</a:t>
            </a:r>
            <a:r>
              <a:rPr kumimoji="0" lang="en-US" sz="1600" b="0" i="0" u="none" strike="noStrike" kern="1200" cap="none" spc="0" normalizeH="0" baseline="0" noProof="0" dirty="0">
                <a:ln>
                  <a:noFill/>
                </a:ln>
                <a:solidFill>
                  <a:srgbClr val="000000"/>
                </a:solidFill>
                <a:effectLst/>
                <a:uLnTx/>
                <a:uFillTx/>
                <a:latin typeface="Segoe UI"/>
                <a:ea typeface="+mn-ea"/>
                <a:cs typeface="+mn-cs"/>
              </a:rPr>
              <a:t>     </a:t>
            </a:r>
          </a:p>
        </p:txBody>
      </p:sp>
      <p:sp>
        <p:nvSpPr>
          <p:cNvPr id="3" name="Footer Placeholder 2">
            <a:extLst>
              <a:ext uri="{FF2B5EF4-FFF2-40B4-BE49-F238E27FC236}">
                <a16:creationId xmlns:a16="http://schemas.microsoft.com/office/drawing/2014/main" id="{F9EB15D2-3D72-BDA5-E6E4-DF96DB80555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 name="Picture 8">
            <a:extLst>
              <a:ext uri="{FF2B5EF4-FFF2-40B4-BE49-F238E27FC236}">
                <a16:creationId xmlns:a16="http://schemas.microsoft.com/office/drawing/2014/main" id="{BD11955E-A1FE-3780-5715-B5D159A0A7CD}"/>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13793" y="2026287"/>
            <a:ext cx="4467225" cy="3376294"/>
          </a:xfrm>
          <a:prstGeom prst="rect">
            <a:avLst/>
          </a:prstGeom>
        </p:spPr>
      </p:pic>
      <p:sp>
        <p:nvSpPr>
          <p:cNvPr id="11" name="Flowchart: Off-page Connector 44">
            <a:extLst>
              <a:ext uri="{FF2B5EF4-FFF2-40B4-BE49-F238E27FC236}">
                <a16:creationId xmlns:a16="http://schemas.microsoft.com/office/drawing/2014/main" id="{0C59DE63-64DD-1412-E0DD-2B3D9B461261}"/>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tabLst/>
              <a:defRPr/>
            </a:pPr>
            <a:r>
              <a:rPr lang="en-US" sz="1400" kern="0" dirty="0">
                <a:solidFill>
                  <a:srgbClr val="FFFFFF"/>
                </a:solidFill>
                <a:latin typeface="Segoe UI"/>
                <a:ea typeface="Segoe UI" pitchFamily="34" charset="0"/>
                <a:cs typeface="Segoe UI" pitchFamily="34" charset="0"/>
              </a:rPr>
              <a:t>(then remove this arrow)</a:t>
            </a:r>
            <a:endParaRPr kumimoji="0" lang="en-US" sz="14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972382491"/>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C37F4-7C45-5D9A-AF01-155D8FF6A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F4F27-854F-E1F4-267A-A60B885D39AA}"/>
              </a:ext>
            </a:extLst>
          </p:cNvPr>
          <p:cNvSpPr>
            <a:spLocks noGrp="1"/>
          </p:cNvSpPr>
          <p:nvPr>
            <p:ph type="title"/>
          </p:nvPr>
        </p:nvSpPr>
        <p:spPr/>
        <p:txBody>
          <a:bodyPr/>
          <a:lstStyle/>
          <a:p>
            <a:r>
              <a:rPr lang="en-US" sz="3200" noProof="0" dirty="0"/>
              <a:t>Knowledge check</a:t>
            </a:r>
          </a:p>
        </p:txBody>
      </p:sp>
      <p:sp>
        <p:nvSpPr>
          <p:cNvPr id="10" name="Text Placeholder 9">
            <a:extLst>
              <a:ext uri="{FF2B5EF4-FFF2-40B4-BE49-F238E27FC236}">
                <a16:creationId xmlns:a16="http://schemas.microsoft.com/office/drawing/2014/main" id="{C98BB81D-877C-A6E0-76D9-51E2E4ACA43F}"/>
              </a:ext>
            </a:extLst>
          </p:cNvPr>
          <p:cNvSpPr>
            <a:spLocks noGrp="1"/>
          </p:cNvSpPr>
          <p:nvPr>
            <p:ph type="body" sz="quarter" idx="17"/>
          </p:nvPr>
        </p:nvSpPr>
        <p:spPr>
          <a:xfrm>
            <a:off x="1235075" y="1687706"/>
            <a:ext cx="8778782" cy="215444"/>
          </a:xfrm>
        </p:spPr>
        <p:txBody>
          <a:bodyPr/>
          <a:lstStyle/>
          <a:p>
            <a:pPr>
              <a:buNone/>
            </a:pPr>
            <a:r>
              <a:rPr lang="en-US" noProof="0" dirty="0"/>
              <a:t>Which statement best describes </a:t>
            </a:r>
            <a:r>
              <a:rPr lang="en-US" noProof="0" dirty="0" err="1"/>
              <a:t>AgentGroupChat</a:t>
            </a:r>
            <a:r>
              <a:rPr lang="en-US" noProof="0" dirty="0"/>
              <a:t> in the Semantic Kernel </a:t>
            </a:r>
            <a:r>
              <a:rPr lang="en-US" noProof="0" dirty="0" err="1"/>
              <a:t>AgentChat</a:t>
            </a:r>
            <a:r>
              <a:rPr lang="en-US" noProof="0" dirty="0"/>
              <a:t> framework?</a:t>
            </a:r>
          </a:p>
        </p:txBody>
      </p:sp>
      <p:sp>
        <p:nvSpPr>
          <p:cNvPr id="9" name="Text Placeholder 8">
            <a:extLst>
              <a:ext uri="{FF2B5EF4-FFF2-40B4-BE49-F238E27FC236}">
                <a16:creationId xmlns:a16="http://schemas.microsoft.com/office/drawing/2014/main" id="{45197A9C-8E5A-E390-8A59-40EF85833CA2}"/>
              </a:ext>
            </a:extLst>
          </p:cNvPr>
          <p:cNvSpPr>
            <a:spLocks noGrp="1"/>
          </p:cNvSpPr>
          <p:nvPr>
            <p:ph type="body" sz="quarter" idx="15"/>
          </p:nvPr>
        </p:nvSpPr>
        <p:spPr>
          <a:xfrm>
            <a:off x="1235074" y="2012919"/>
            <a:ext cx="9250045" cy="947952"/>
          </a:xfrm>
          <a:noFill/>
        </p:spPr>
        <p:txBody>
          <a:bodyPr/>
          <a:lstStyle/>
          <a:p>
            <a:r>
              <a:rPr lang="en-US" noProof="0" dirty="0"/>
              <a:t>It only supports interactions between agents of the same type</a:t>
            </a:r>
            <a:endParaRPr lang="en-US" noProof="0" dirty="0">
              <a:solidFill>
                <a:srgbClr val="000000"/>
              </a:solidFill>
            </a:endParaRPr>
          </a:p>
          <a:p>
            <a:r>
              <a:rPr lang="en-US" noProof="0" dirty="0"/>
              <a:t>It is an abstract class that must be subclassed to enable multi-agent interactions</a:t>
            </a:r>
          </a:p>
          <a:p>
            <a:r>
              <a:rPr lang="en-US" noProof="0" dirty="0"/>
              <a:t>It enables interaction between multiple agents and uses strategy-based approaches to manage conversation dynamics</a:t>
            </a:r>
          </a:p>
        </p:txBody>
      </p:sp>
      <p:sp>
        <p:nvSpPr>
          <p:cNvPr id="18" name="Text Placeholder 17">
            <a:extLst>
              <a:ext uri="{FF2B5EF4-FFF2-40B4-BE49-F238E27FC236}">
                <a16:creationId xmlns:a16="http://schemas.microsoft.com/office/drawing/2014/main" id="{6CEBF33F-E289-B690-A76F-17F41DEDFD55}"/>
              </a:ext>
            </a:extLst>
          </p:cNvPr>
          <p:cNvSpPr>
            <a:spLocks noGrp="1"/>
          </p:cNvSpPr>
          <p:nvPr>
            <p:ph type="body" sz="quarter" idx="22"/>
          </p:nvPr>
        </p:nvSpPr>
        <p:spPr>
          <a:xfrm>
            <a:off x="1235075" y="3153050"/>
            <a:ext cx="8778782" cy="215444"/>
          </a:xfrm>
        </p:spPr>
        <p:txBody>
          <a:bodyPr/>
          <a:lstStyle/>
          <a:p>
            <a:r>
              <a:rPr lang="en-US" noProof="0" dirty="0"/>
              <a:t>In an agent group chat, how does the Semantic Kernel Agent Framework select the right agent for a task?</a:t>
            </a:r>
            <a:endParaRPr lang="en-US" b="1" noProof="0" dirty="0"/>
          </a:p>
        </p:txBody>
      </p:sp>
      <p:sp>
        <p:nvSpPr>
          <p:cNvPr id="19" name="Text Placeholder 18">
            <a:extLst>
              <a:ext uri="{FF2B5EF4-FFF2-40B4-BE49-F238E27FC236}">
                <a16:creationId xmlns:a16="http://schemas.microsoft.com/office/drawing/2014/main" id="{0789A4C7-552C-0A9A-92D5-F501CD51DDEC}"/>
              </a:ext>
            </a:extLst>
          </p:cNvPr>
          <p:cNvSpPr>
            <a:spLocks noGrp="1"/>
          </p:cNvSpPr>
          <p:nvPr>
            <p:ph type="body" sz="quarter" idx="23"/>
          </p:nvPr>
        </p:nvSpPr>
        <p:spPr>
          <a:xfrm>
            <a:off x="1237265" y="3463791"/>
            <a:ext cx="8775098" cy="732508"/>
          </a:xfrm>
        </p:spPr>
        <p:txBody>
          <a:bodyPr/>
          <a:lstStyle/>
          <a:p>
            <a:r>
              <a:rPr lang="en-US" noProof="0" dirty="0"/>
              <a:t>By random selection</a:t>
            </a:r>
          </a:p>
          <a:p>
            <a:r>
              <a:rPr lang="en-US" noProof="0" dirty="0"/>
              <a:t>Based on the user's intent and predefined rules </a:t>
            </a:r>
          </a:p>
          <a:p>
            <a:r>
              <a:rPr lang="en-US" noProof="0" dirty="0"/>
              <a:t>By the agent's physical location</a:t>
            </a:r>
          </a:p>
        </p:txBody>
      </p:sp>
      <p:sp>
        <p:nvSpPr>
          <p:cNvPr id="15" name="Text Placeholder 14">
            <a:extLst>
              <a:ext uri="{FF2B5EF4-FFF2-40B4-BE49-F238E27FC236}">
                <a16:creationId xmlns:a16="http://schemas.microsoft.com/office/drawing/2014/main" id="{EDAFA41C-D237-478A-411A-D8B08C907024}"/>
              </a:ext>
            </a:extLst>
          </p:cNvPr>
          <p:cNvSpPr>
            <a:spLocks noGrp="1"/>
          </p:cNvSpPr>
          <p:nvPr>
            <p:ph type="body" sz="quarter" idx="20"/>
          </p:nvPr>
        </p:nvSpPr>
        <p:spPr>
          <a:xfrm>
            <a:off x="1235074" y="4588103"/>
            <a:ext cx="8957333" cy="215444"/>
          </a:xfrm>
        </p:spPr>
        <p:txBody>
          <a:bodyPr/>
          <a:lstStyle/>
          <a:p>
            <a:r>
              <a:rPr lang="en-US" b="1" noProof="0" dirty="0"/>
              <a:t>What is the role of the Termination Strategy in the Semantic Kernel Agent Framework?</a:t>
            </a:r>
          </a:p>
        </p:txBody>
      </p:sp>
      <p:sp>
        <p:nvSpPr>
          <p:cNvPr id="17" name="Text Placeholder 16">
            <a:extLst>
              <a:ext uri="{FF2B5EF4-FFF2-40B4-BE49-F238E27FC236}">
                <a16:creationId xmlns:a16="http://schemas.microsoft.com/office/drawing/2014/main" id="{95539CCC-24B5-4937-76F5-801E57AE9102}"/>
              </a:ext>
            </a:extLst>
          </p:cNvPr>
          <p:cNvSpPr>
            <a:spLocks noGrp="1"/>
          </p:cNvSpPr>
          <p:nvPr>
            <p:ph type="body" sz="quarter" idx="21"/>
          </p:nvPr>
        </p:nvSpPr>
        <p:spPr>
          <a:xfrm>
            <a:off x="1235075" y="4968973"/>
            <a:ext cx="8775098" cy="732508"/>
          </a:xfrm>
        </p:spPr>
        <p:txBody>
          <a:bodyPr/>
          <a:lstStyle/>
          <a:p>
            <a:r>
              <a:rPr lang="en-US" noProof="0" dirty="0"/>
              <a:t>It determines when a conversation or task should end </a:t>
            </a:r>
          </a:p>
          <a:p>
            <a:r>
              <a:rPr lang="en-US" noProof="0" dirty="0"/>
              <a:t>It defines the flow of conversation</a:t>
            </a:r>
          </a:p>
          <a:p>
            <a:r>
              <a:rPr lang="en-US" noProof="0" dirty="0"/>
              <a:t>It decides which agent takes the next turn</a:t>
            </a:r>
          </a:p>
        </p:txBody>
      </p:sp>
      <p:sp>
        <p:nvSpPr>
          <p:cNvPr id="76" name="Oval 75">
            <a:extLst>
              <a:ext uri="{FF2B5EF4-FFF2-40B4-BE49-F238E27FC236}">
                <a16:creationId xmlns:a16="http://schemas.microsoft.com/office/drawing/2014/main" id="{665B2774-978B-DE44-CEDC-06759CD6E5D3}"/>
              </a:ext>
              <a:ext uri="{C183D7F6-B498-43B3-948B-1728B52AA6E4}">
                <adec:decorative xmlns:adec="http://schemas.microsoft.com/office/drawing/2017/decorative" val="1"/>
              </a:ext>
            </a:extLst>
          </p:cNvPr>
          <p:cNvSpPr>
            <a:spLocks/>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1</a:t>
            </a:r>
          </a:p>
        </p:txBody>
      </p:sp>
      <p:sp>
        <p:nvSpPr>
          <p:cNvPr id="77" name="Oval 76">
            <a:extLst>
              <a:ext uri="{FF2B5EF4-FFF2-40B4-BE49-F238E27FC236}">
                <a16:creationId xmlns:a16="http://schemas.microsoft.com/office/drawing/2014/main" id="{8DEC3CE7-D7EC-4F25-3347-960C6F4F39AD}"/>
              </a:ext>
              <a:ext uri="{C183D7F6-B498-43B3-948B-1728B52AA6E4}">
                <adec:decorative xmlns:adec="http://schemas.microsoft.com/office/drawing/2017/decorative" val="1"/>
              </a:ext>
            </a:extLst>
          </p:cNvPr>
          <p:cNvSpPr>
            <a:spLocks/>
          </p:cNvSpPr>
          <p:nvPr/>
        </p:nvSpPr>
        <p:spPr bwMode="auto">
          <a:xfrm>
            <a:off x="722582" y="30468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2</a:t>
            </a:r>
          </a:p>
        </p:txBody>
      </p:sp>
      <p:sp>
        <p:nvSpPr>
          <p:cNvPr id="80" name="Graphic 26">
            <a:extLst>
              <a:ext uri="{FF2B5EF4-FFF2-40B4-BE49-F238E27FC236}">
                <a16:creationId xmlns:a16="http://schemas.microsoft.com/office/drawing/2014/main" id="{418E937C-CFE4-BFF7-66E6-3CF62230E72E}"/>
              </a:ext>
              <a:ext uri="{C183D7F6-B498-43B3-948B-1728B52AA6E4}">
                <adec:decorative xmlns:adec="http://schemas.microsoft.com/office/drawing/2017/decorative" val="1"/>
              </a:ext>
            </a:extLst>
          </p:cNvPr>
          <p:cNvSpPr>
            <a:spLocks/>
          </p:cNvSpPr>
          <p:nvPr/>
        </p:nvSpPr>
        <p:spPr>
          <a:xfrm>
            <a:off x="1263852" y="374582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78" name="Oval 77">
            <a:extLst>
              <a:ext uri="{FF2B5EF4-FFF2-40B4-BE49-F238E27FC236}">
                <a16:creationId xmlns:a16="http://schemas.microsoft.com/office/drawing/2014/main" id="{3E81E59C-F713-B3B6-1A21-5412008CC242}"/>
              </a:ext>
              <a:ext uri="{C183D7F6-B498-43B3-948B-1728B52AA6E4}">
                <adec:decorative xmlns:adec="http://schemas.microsoft.com/office/drawing/2017/decorative" val="1"/>
              </a:ext>
            </a:extLst>
          </p:cNvPr>
          <p:cNvSpPr>
            <a:spLocks/>
          </p:cNvSpPr>
          <p:nvPr/>
        </p:nvSpPr>
        <p:spPr bwMode="auto">
          <a:xfrm>
            <a:off x="722582" y="449622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dirty="0">
                <a:ln>
                  <a:noFill/>
                </a:ln>
                <a:solidFill>
                  <a:schemeClr val="tx1"/>
                </a:solidFill>
                <a:effectLst/>
                <a:uLnTx/>
                <a:uFillTx/>
              </a:rPr>
              <a:t>3</a:t>
            </a:r>
          </a:p>
        </p:txBody>
      </p:sp>
      <p:sp>
        <p:nvSpPr>
          <p:cNvPr id="81" name="Graphic 26">
            <a:extLst>
              <a:ext uri="{FF2B5EF4-FFF2-40B4-BE49-F238E27FC236}">
                <a16:creationId xmlns:a16="http://schemas.microsoft.com/office/drawing/2014/main" id="{028574AF-01B9-3216-4869-8CE679BBE532}"/>
              </a:ext>
              <a:ext uri="{C183D7F6-B498-43B3-948B-1728B52AA6E4}">
                <adec:decorative xmlns:adec="http://schemas.microsoft.com/office/drawing/2017/decorative" val="1"/>
              </a:ext>
            </a:extLst>
          </p:cNvPr>
          <p:cNvSpPr>
            <a:spLocks/>
          </p:cNvSpPr>
          <p:nvPr/>
        </p:nvSpPr>
        <p:spPr>
          <a:xfrm>
            <a:off x="1263852" y="500280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 name="Graphic 26">
            <a:extLst>
              <a:ext uri="{FF2B5EF4-FFF2-40B4-BE49-F238E27FC236}">
                <a16:creationId xmlns:a16="http://schemas.microsoft.com/office/drawing/2014/main" id="{E49A37FE-7FC0-D112-B00A-1C253DC1806E}"/>
              </a:ext>
              <a:ext uri="{C183D7F6-B498-43B3-948B-1728B52AA6E4}">
                <adec:decorative xmlns:adec="http://schemas.microsoft.com/office/drawing/2017/decorative" val="1"/>
              </a:ext>
            </a:extLst>
          </p:cNvPr>
          <p:cNvSpPr>
            <a:spLocks/>
          </p:cNvSpPr>
          <p:nvPr/>
        </p:nvSpPr>
        <p:spPr>
          <a:xfrm>
            <a:off x="1263852" y="256816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4093340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5249</Words>
  <Application>Microsoft Office PowerPoint</Application>
  <PresentationFormat>Widescreen</PresentationFormat>
  <Paragraphs>557</Paragraphs>
  <Slides>37</Slides>
  <Notes>37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Amasis MT Pro Medium</vt:lpstr>
      <vt:lpstr>Aptos</vt:lpstr>
      <vt:lpstr>Aptos Display</vt:lpstr>
      <vt:lpstr>Arial</vt:lpstr>
      <vt:lpstr>Cambria Math</vt:lpstr>
      <vt:lpstr>Comic Sans MS</vt:lpstr>
      <vt:lpstr>Segoe UI</vt:lpstr>
      <vt:lpstr>Segoe UI Semibold</vt:lpstr>
      <vt:lpstr>Office Theme</vt:lpstr>
      <vt:lpstr>Introduction to Agents</vt:lpstr>
      <vt:lpstr>What is Artificial Intelligence?</vt:lpstr>
      <vt:lpstr>Our focus today</vt:lpstr>
      <vt:lpstr>Get started with AI agent development on Azure</vt:lpstr>
      <vt:lpstr>What are AI agents?</vt:lpstr>
      <vt:lpstr>Options for agent development</vt:lpstr>
      <vt:lpstr>Our focus in this course</vt:lpstr>
      <vt:lpstr>Components of an agent</vt:lpstr>
      <vt:lpstr>Creating an agent in Azure AI Foundry portal</vt:lpstr>
      <vt:lpstr>Exercise</vt:lpstr>
      <vt:lpstr>Knowledge check</vt:lpstr>
      <vt:lpstr>Develop an AI agent with Azure AI Foundry Agent Service</vt:lpstr>
      <vt:lpstr>Why are AI agents useful?</vt:lpstr>
      <vt:lpstr>Agent resource setup</vt:lpstr>
      <vt:lpstr>Using the SDK to chat with an agent</vt:lpstr>
      <vt:lpstr>Using tools with your agent</vt:lpstr>
      <vt:lpstr>Exercise</vt:lpstr>
      <vt:lpstr>Knowledge check</vt:lpstr>
      <vt:lpstr>Integrate custom tools into your agent</vt:lpstr>
      <vt:lpstr>Why use custom tools?</vt:lpstr>
      <vt:lpstr>Options for integrating custom tool functionality</vt:lpstr>
      <vt:lpstr>Exercise</vt:lpstr>
      <vt:lpstr>Knowledge check</vt:lpstr>
      <vt:lpstr>Develop an AI agent with the Semantic Kernel SDK</vt:lpstr>
      <vt:lpstr>What is Semantic Kernel?</vt:lpstr>
      <vt:lpstr>Why use Semantic Kernel with Foundry Agent Service?</vt:lpstr>
      <vt:lpstr>Creating an Azure AI agent with Semantic Kernel</vt:lpstr>
      <vt:lpstr>Using plugins</vt:lpstr>
      <vt:lpstr>Exercise</vt:lpstr>
      <vt:lpstr>Knowledge check</vt:lpstr>
      <vt:lpstr>Orchestrate a multi-agent solution using Semantic Kernel</vt:lpstr>
      <vt:lpstr>What is a multi-agent solution?</vt:lpstr>
      <vt:lpstr>Agent selection strategy</vt:lpstr>
      <vt:lpstr>Termination strategy</vt:lpstr>
      <vt:lpstr>Creating a group chat</vt:lpstr>
      <vt:lpstr>Exercise</vt:lpstr>
      <vt:lpstr>Knowledge check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Conniff</dc:creator>
  <cp:lastModifiedBy>Andrew Conniff</cp:lastModifiedBy>
  <cp:revision>1</cp:revision>
  <dcterms:created xsi:type="dcterms:W3CDTF">2026-10-23T19:14:36Z</dcterms:created>
  <dcterms:modified xsi:type="dcterms:W3CDTF">2026-10-23T19:14:36Z</dcterms:modified>
</cp:coreProperties>
</file>